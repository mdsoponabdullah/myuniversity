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86" r:id="rId12"/>
    <p:sldId id="265" r:id="rId13"/>
    <p:sldId id="266" r:id="rId14"/>
    <p:sldId id="288" r:id="rId15"/>
    <p:sldId id="287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92" r:id="rId32"/>
    <p:sldId id="289" r:id="rId33"/>
    <p:sldId id="291" r:id="rId34"/>
    <p:sldId id="293" r:id="rId35"/>
    <p:sldId id="290" r:id="rId36"/>
    <p:sldId id="295" r:id="rId37"/>
    <p:sldId id="294" r:id="rId38"/>
    <p:sldId id="297" r:id="rId39"/>
    <p:sldId id="298" r:id="rId40"/>
    <p:sldId id="282" r:id="rId41"/>
    <p:sldId id="283" r:id="rId42"/>
    <p:sldId id="284" r:id="rId43"/>
    <p:sldId id="285" r:id="rId44"/>
  </p:sldIdLst>
  <p:sldSz cx="4610100" cy="4610100"/>
  <p:notesSz cx="4610100" cy="4610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647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647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647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647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647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99764" y="323877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236595" y="3245129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602432" y="325147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513531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589732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66668" y="323877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790467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3866668" y="327687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1" y="127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51033" y="3269259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423969" y="324276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4329112" y="323877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82191"/>
            <a:ext cx="39128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444" y="674367"/>
            <a:ext cx="2911475" cy="2055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5300" y="3318429"/>
            <a:ext cx="1379855" cy="13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81931" y="3318429"/>
            <a:ext cx="168910" cy="13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647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mailto:rokan@cu.ac.bd" TargetMode="Externa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" Target="slide16.xml"/><Relationship Id="rId8" Type="http://schemas.openxmlformats.org/officeDocument/2006/relationships/slide" Target="slide8.xml"/><Relationship Id="rId7" Type="http://schemas.openxmlformats.org/officeDocument/2006/relationships/slide" Target="slide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3" Type="http://schemas.openxmlformats.org/officeDocument/2006/relationships/slideLayout" Target="../slideLayouts/slideLayout5.xml"/><Relationship Id="rId12" Type="http://schemas.openxmlformats.org/officeDocument/2006/relationships/slide" Target="slide1.xml"/><Relationship Id="rId11" Type="http://schemas.openxmlformats.org/officeDocument/2006/relationships/slide" Target="slide28.xml"/><Relationship Id="rId10" Type="http://schemas.openxmlformats.org/officeDocument/2006/relationships/slide" Target="slide25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slide" Target="slide25.xml"/><Relationship Id="rId7" Type="http://schemas.openxmlformats.org/officeDocument/2006/relationships/image" Target="../media/image13.png"/><Relationship Id="rId6" Type="http://schemas.openxmlformats.org/officeDocument/2006/relationships/slide" Target="slide16.xml"/><Relationship Id="rId5" Type="http://schemas.openxmlformats.org/officeDocument/2006/relationships/slide" Target="slide8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2" Type="http://schemas.openxmlformats.org/officeDocument/2006/relationships/slideLayout" Target="../slideLayouts/slideLayout2.xml"/><Relationship Id="rId11" Type="http://schemas.openxmlformats.org/officeDocument/2006/relationships/slide" Target="slide1.xml"/><Relationship Id="rId10" Type="http://schemas.openxmlformats.org/officeDocument/2006/relationships/slide" Target="slide28.xml"/><Relationship Id="rId1" Type="http://schemas.openxmlformats.org/officeDocument/2006/relationships/slide" Target="slide3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8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1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" Target="slide3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" Target="slide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slide" Target="slide25.xml"/><Relationship Id="rId7" Type="http://schemas.openxmlformats.org/officeDocument/2006/relationships/image" Target="../media/image13.png"/><Relationship Id="rId6" Type="http://schemas.openxmlformats.org/officeDocument/2006/relationships/slide" Target="slide16.xml"/><Relationship Id="rId5" Type="http://schemas.openxmlformats.org/officeDocument/2006/relationships/image" Target="../media/image12.png"/><Relationship Id="rId4" Type="http://schemas.openxmlformats.org/officeDocument/2006/relationships/image" Target="../media/image26.png"/><Relationship Id="rId3" Type="http://schemas.openxmlformats.org/officeDocument/2006/relationships/slide" Target="slide3.xml"/><Relationship Id="rId2" Type="http://schemas.openxmlformats.org/officeDocument/2006/relationships/image" Target="../media/image25.png"/><Relationship Id="rId12" Type="http://schemas.openxmlformats.org/officeDocument/2006/relationships/slideLayout" Target="../slideLayouts/slideLayout2.xml"/><Relationship Id="rId11" Type="http://schemas.openxmlformats.org/officeDocument/2006/relationships/slide" Target="slide1.xml"/><Relationship Id="rId10" Type="http://schemas.openxmlformats.org/officeDocument/2006/relationships/slide" Target="slide28.xml"/><Relationship Id="rId1" Type="http://schemas.openxmlformats.org/officeDocument/2006/relationships/slide" Target="slide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1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slide" Target="slide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" Target="slide8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1.xml"/><Relationship Id="rId2" Type="http://schemas.openxmlformats.org/officeDocument/2006/relationships/image" Target="../media/image38.png"/><Relationship Id="rId1" Type="http://schemas.openxmlformats.org/officeDocument/2006/relationships/slide" Target="slide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" Target="slide8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slide" Target="slide25.xml"/><Relationship Id="rId7" Type="http://schemas.openxmlformats.org/officeDocument/2006/relationships/image" Target="../media/image13.png"/><Relationship Id="rId6" Type="http://schemas.openxmlformats.org/officeDocument/2006/relationships/image" Target="../media/image44.png"/><Relationship Id="rId5" Type="http://schemas.openxmlformats.org/officeDocument/2006/relationships/slide" Target="slide8.xml"/><Relationship Id="rId4" Type="http://schemas.openxmlformats.org/officeDocument/2006/relationships/image" Target="../media/image11.png"/><Relationship Id="rId3" Type="http://schemas.openxmlformats.org/officeDocument/2006/relationships/slide" Target="slide3.xml"/><Relationship Id="rId2" Type="http://schemas.openxmlformats.org/officeDocument/2006/relationships/image" Target="../media/image25.png"/><Relationship Id="rId12" Type="http://schemas.openxmlformats.org/officeDocument/2006/relationships/slideLayout" Target="../slideLayouts/slideLayout2.xml"/><Relationship Id="rId11" Type="http://schemas.openxmlformats.org/officeDocument/2006/relationships/slide" Target="slide1.xml"/><Relationship Id="rId10" Type="http://schemas.openxmlformats.org/officeDocument/2006/relationships/slide" Target="slide28.xml"/><Relationship Id="rId1" Type="http://schemas.openxmlformats.org/officeDocument/2006/relationships/slide" Target="slide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1.xml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" Target="slide16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1.xml"/><Relationship Id="rId2" Type="http://schemas.openxmlformats.org/officeDocument/2006/relationships/image" Target="../media/image47.png"/><Relationship Id="rId1" Type="http://schemas.openxmlformats.org/officeDocument/2006/relationships/slide" Target="slide16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1.xml"/><Relationship Id="rId2" Type="http://schemas.openxmlformats.org/officeDocument/2006/relationships/image" Target="../media/image48.png"/><Relationship Id="rId1" Type="http://schemas.openxmlformats.org/officeDocument/2006/relationships/slide" Target="slide1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slide" Target="slide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33.png"/><Relationship Id="rId1" Type="http://schemas.openxmlformats.org/officeDocument/2006/relationships/slide" Target="slide16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slide" Target="slide1.xml"/><Relationship Id="rId7" Type="http://schemas.openxmlformats.org/officeDocument/2006/relationships/image" Target="../media/image57.png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33.png"/><Relationship Id="rId1" Type="http://schemas.openxmlformats.org/officeDocument/2006/relationships/slide" Target="slide16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slide" Target="slide1.xml"/><Relationship Id="rId7" Type="http://schemas.openxmlformats.org/officeDocument/2006/relationships/image" Target="../media/image58.png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33.png"/><Relationship Id="rId1" Type="http://schemas.openxmlformats.org/officeDocument/2006/relationships/slide" Target="slide1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slide" Target="slide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33.png"/><Relationship Id="rId1" Type="http://schemas.openxmlformats.org/officeDocument/2006/relationships/slide" Target="slide1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slide" Target="slide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21.png"/><Relationship Id="rId1" Type="http://schemas.openxmlformats.org/officeDocument/2006/relationships/slide" Target="slide16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image" Target="../media/image72.png"/><Relationship Id="rId7" Type="http://schemas.openxmlformats.org/officeDocument/2006/relationships/image" Target="../media/image71.png"/><Relationship Id="rId6" Type="http://schemas.openxmlformats.org/officeDocument/2006/relationships/slide" Target="slide24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3" Type="http://schemas.openxmlformats.org/officeDocument/2006/relationships/image" Target="../media/image68.png"/><Relationship Id="rId2" Type="http://schemas.openxmlformats.org/officeDocument/2006/relationships/slide" Target="slide25.xml"/><Relationship Id="rId1" Type="http://schemas.openxmlformats.org/officeDocument/2006/relationships/image" Target="../media/image67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75.png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" Target="slide25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1.xml"/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" Target="slide25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" Target="slide25.xml"/><Relationship Id="rId8" Type="http://schemas.openxmlformats.org/officeDocument/2006/relationships/image" Target="../media/image13.png"/><Relationship Id="rId7" Type="http://schemas.openxmlformats.org/officeDocument/2006/relationships/slide" Target="slide16.xml"/><Relationship Id="rId6" Type="http://schemas.openxmlformats.org/officeDocument/2006/relationships/slide" Target="slide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slide" Target="slide3.xml"/><Relationship Id="rId2" Type="http://schemas.openxmlformats.org/officeDocument/2006/relationships/image" Target="../media/image25.png"/><Relationship Id="rId12" Type="http://schemas.openxmlformats.org/officeDocument/2006/relationships/slideLayout" Target="../slideLayouts/slideLayout2.xml"/><Relationship Id="rId11" Type="http://schemas.openxmlformats.org/officeDocument/2006/relationships/slide" Target="slide1.xml"/><Relationship Id="rId10" Type="http://schemas.openxmlformats.org/officeDocument/2006/relationships/image" Target="../media/image78.png"/><Relationship Id="rId1" Type="http://schemas.openxmlformats.org/officeDocument/2006/relationships/slide" Target="slide28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85.png"/><Relationship Id="rId8" Type="http://schemas.openxmlformats.org/officeDocument/2006/relationships/image" Target="../media/image84.png"/><Relationship Id="rId7" Type="http://schemas.openxmlformats.org/officeDocument/2006/relationships/image" Target="../media/image83.png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3" Type="http://schemas.openxmlformats.org/officeDocument/2006/relationships/image" Target="../media/image79.png"/><Relationship Id="rId2" Type="http://schemas.openxmlformats.org/officeDocument/2006/relationships/image" Target="../media/image33.png"/><Relationship Id="rId12" Type="http://schemas.openxmlformats.org/officeDocument/2006/relationships/slideLayout" Target="../slideLayouts/slideLayout2.xml"/><Relationship Id="rId11" Type="http://schemas.openxmlformats.org/officeDocument/2006/relationships/slide" Target="slide1.xml"/><Relationship Id="rId10" Type="http://schemas.openxmlformats.org/officeDocument/2006/relationships/image" Target="../media/image86.png"/><Relationship Id="rId1" Type="http://schemas.openxmlformats.org/officeDocument/2006/relationships/slide" Target="slide2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2.png"/><Relationship Id="rId1" Type="http://schemas.openxmlformats.org/officeDocument/2006/relationships/image" Target="../media/image9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6.png"/><Relationship Id="rId1" Type="http://schemas.openxmlformats.org/officeDocument/2006/relationships/image" Target="../media/image9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549300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7" y="82384"/>
                </a:lnTo>
                <a:lnTo>
                  <a:pt x="4432567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2" y="4008"/>
                </a:lnTo>
                <a:lnTo>
                  <a:pt x="4381767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7743" y="593721"/>
            <a:ext cx="4483735" cy="844550"/>
            <a:chOff x="87743" y="593721"/>
            <a:chExt cx="4483735" cy="84455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38544" y="1336116"/>
              <a:ext cx="101600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344" y="1323416"/>
              <a:ext cx="4381767" cy="1143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0311" y="599859"/>
              <a:ext cx="50800" cy="73625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593721"/>
              <a:ext cx="4432935" cy="793750"/>
            </a:xfrm>
            <a:custGeom>
              <a:avLst/>
              <a:gdLst/>
              <a:ahLst/>
              <a:cxnLst/>
              <a:rect l="l" t="t" r="r" b="b"/>
              <a:pathLst>
                <a:path w="4432935" h="793750">
                  <a:moveTo>
                    <a:pt x="4432567" y="0"/>
                  </a:moveTo>
                  <a:lnTo>
                    <a:pt x="0" y="0"/>
                  </a:lnTo>
                  <a:lnTo>
                    <a:pt x="0" y="742395"/>
                  </a:lnTo>
                  <a:lnTo>
                    <a:pt x="4008" y="762119"/>
                  </a:lnTo>
                  <a:lnTo>
                    <a:pt x="14922" y="778272"/>
                  </a:lnTo>
                  <a:lnTo>
                    <a:pt x="31075" y="789186"/>
                  </a:lnTo>
                  <a:lnTo>
                    <a:pt x="50800" y="793195"/>
                  </a:lnTo>
                  <a:lnTo>
                    <a:pt x="4381767" y="793195"/>
                  </a:lnTo>
                  <a:lnTo>
                    <a:pt x="4401492" y="789186"/>
                  </a:lnTo>
                  <a:lnTo>
                    <a:pt x="4417644" y="778272"/>
                  </a:lnTo>
                  <a:lnTo>
                    <a:pt x="4428558" y="762119"/>
                  </a:lnTo>
                  <a:lnTo>
                    <a:pt x="4432567" y="742395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3300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20311" y="637957"/>
              <a:ext cx="0" cy="717550"/>
            </a:xfrm>
            <a:custGeom>
              <a:avLst/>
              <a:gdLst/>
              <a:ahLst/>
              <a:cxnLst/>
              <a:rect l="l" t="t" r="r" b="b"/>
              <a:pathLst>
                <a:path h="717550">
                  <a:moveTo>
                    <a:pt x="0" y="71720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520311" y="6252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520311" y="6125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59985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720938" y="653628"/>
            <a:ext cx="11664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Left</a:t>
            </a:r>
            <a:r>
              <a:rPr b="0" spc="13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Recursion</a:t>
            </a:r>
            <a:endParaRPr b="0" spc="-20" dirty="0">
              <a:solidFill>
                <a:srgbClr val="FFFFFF"/>
              </a:solidFill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06422" y="914906"/>
            <a:ext cx="79565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Lecture</a:t>
            </a:r>
            <a:r>
              <a:rPr sz="1100" spc="-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6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Section</a:t>
            </a:r>
            <a:r>
              <a:rPr sz="1100" spc="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4.3.3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71447" y="1595423"/>
            <a:ext cx="2065655" cy="8521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1100" cap="small" dirty="0">
                <a:latin typeface="Palatino Linotype" panose="02040502050505030304"/>
                <a:cs typeface="Palatino Linotype" panose="02040502050505030304"/>
              </a:rPr>
              <a:t>okan</a:t>
            </a:r>
            <a:r>
              <a:rPr sz="1100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1100" cap="small" dirty="0">
                <a:latin typeface="Palatino Linotype" panose="02040502050505030304"/>
                <a:cs typeface="Palatino Linotype" panose="02040502050505030304"/>
              </a:rPr>
              <a:t>ddin</a:t>
            </a:r>
            <a:r>
              <a:rPr sz="1100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</a:t>
            </a:r>
            <a:r>
              <a:rPr sz="1100" cap="small" spc="-10" dirty="0">
                <a:latin typeface="Palatino Linotype" panose="02040502050505030304"/>
                <a:cs typeface="Palatino Linotype" panose="02040502050505030304"/>
              </a:rPr>
              <a:t>aruqui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algn="ctr">
              <a:lnSpc>
                <a:spcPts val="955"/>
              </a:lnSpc>
              <a:spcBef>
                <a:spcPts val="1400"/>
              </a:spcBef>
            </a:pPr>
            <a:r>
              <a:rPr sz="800" dirty="0">
                <a:latin typeface="Palatino Linotype" panose="02040502050505030304"/>
                <a:cs typeface="Palatino Linotype" panose="02040502050505030304"/>
              </a:rPr>
              <a:t>Associate</a:t>
            </a:r>
            <a:r>
              <a:rPr sz="800" spc="1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-10" dirty="0">
                <a:latin typeface="Palatino Linotype" panose="02040502050505030304"/>
                <a:cs typeface="Palatino Linotype" panose="02040502050505030304"/>
              </a:rPr>
              <a:t>Professor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  <a:p>
            <a:pPr marL="12700" marR="5080" algn="ctr">
              <a:lnSpc>
                <a:spcPts val="950"/>
              </a:lnSpc>
              <a:spcBef>
                <a:spcPts val="30"/>
              </a:spcBef>
            </a:pPr>
            <a:r>
              <a:rPr sz="800" dirty="0">
                <a:latin typeface="Palatino Linotype" panose="02040502050505030304"/>
                <a:cs typeface="Palatino Linotype" panose="02040502050505030304"/>
              </a:rPr>
              <a:t>Dept</a:t>
            </a:r>
            <a:r>
              <a:rPr sz="8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800" spc="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Computer</a:t>
            </a:r>
            <a:r>
              <a:rPr sz="8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Science</a:t>
            </a:r>
            <a:r>
              <a:rPr sz="800" spc="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8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-10" dirty="0">
                <a:latin typeface="Palatino Linotype" panose="02040502050505030304"/>
                <a:cs typeface="Palatino Linotype" panose="02040502050505030304"/>
              </a:rPr>
              <a:t>Engineering</a:t>
            </a:r>
            <a:r>
              <a:rPr sz="800" spc="5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University</a:t>
            </a:r>
            <a:r>
              <a:rPr sz="800" spc="1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800" spc="1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Chittaong,</a:t>
            </a:r>
            <a:r>
              <a:rPr sz="800" spc="1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-10" dirty="0">
                <a:latin typeface="Palatino Linotype" panose="02040502050505030304"/>
                <a:cs typeface="Palatino Linotype" panose="02040502050505030304"/>
              </a:rPr>
              <a:t>Bangladesh</a:t>
            </a:r>
            <a:r>
              <a:rPr sz="800" spc="500" dirty="0"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Email:</a:t>
            </a:r>
            <a:r>
              <a:rPr sz="800" spc="2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i="1" spc="40" dirty="0">
                <a:latin typeface="Palatino Linotype" panose="02040502050505030304"/>
                <a:cs typeface="Palatino Linotype" panose="02040502050505030304"/>
                <a:hlinkClick r:id="rId4"/>
              </a:rPr>
              <a:t>rokan@cu.ac.bd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38730" y="3396588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59113" y="3392627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36915" y="3392627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3158299" y="3383746"/>
            <a:ext cx="203200" cy="55880"/>
            <a:chOff x="3158299" y="3383746"/>
            <a:chExt cx="203200" cy="55880"/>
          </a:xfrm>
        </p:grpSpPr>
        <p:sp>
          <p:nvSpPr>
            <p:cNvPr id="19" name="object 19"/>
            <p:cNvSpPr/>
            <p:nvPr/>
          </p:nvSpPr>
          <p:spPr>
            <a:xfrm>
              <a:off x="3221468" y="3386276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158299" y="339262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3457486" y="3382480"/>
            <a:ext cx="203200" cy="58419"/>
            <a:chOff x="3457486" y="3382480"/>
            <a:chExt cx="203200" cy="58419"/>
          </a:xfrm>
        </p:grpSpPr>
        <p:sp>
          <p:nvSpPr>
            <p:cNvPr id="22" name="object 22"/>
            <p:cNvSpPr/>
            <p:nvPr/>
          </p:nvSpPr>
          <p:spPr>
            <a:xfrm>
              <a:off x="3546387" y="3398976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457486" y="339262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533687" y="3386276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3756673" y="3382480"/>
            <a:ext cx="203200" cy="58419"/>
            <a:chOff x="3756673" y="3382480"/>
            <a:chExt cx="203200" cy="58419"/>
          </a:xfrm>
        </p:grpSpPr>
        <p:sp>
          <p:nvSpPr>
            <p:cNvPr id="26" name="object 26"/>
            <p:cNvSpPr/>
            <p:nvPr/>
          </p:nvSpPr>
          <p:spPr>
            <a:xfrm>
              <a:off x="3832873" y="3386276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756673" y="339262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832873" y="3424377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/>
          <p:nvPr/>
        </p:nvSpPr>
        <p:spPr>
          <a:xfrm>
            <a:off x="4132060" y="338627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0" name="object 30"/>
          <p:cNvGrpSpPr/>
          <p:nvPr/>
        </p:nvGrpSpPr>
        <p:grpSpPr>
          <a:xfrm>
            <a:off x="4337275" y="3383746"/>
            <a:ext cx="238760" cy="57150"/>
            <a:chOff x="4337275" y="3383746"/>
            <a:chExt cx="238760" cy="57150"/>
          </a:xfrm>
        </p:grpSpPr>
        <p:sp>
          <p:nvSpPr>
            <p:cNvPr id="31" name="object 31"/>
            <p:cNvSpPr/>
            <p:nvPr/>
          </p:nvSpPr>
          <p:spPr>
            <a:xfrm>
              <a:off x="4461727" y="341675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434663" y="33902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339806" y="3386276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3236595" y="3236248"/>
            <a:ext cx="203200" cy="55880"/>
            <a:chOff x="3236595" y="3236248"/>
            <a:chExt cx="203200" cy="55880"/>
          </a:xfrm>
        </p:grpSpPr>
        <p:sp>
          <p:nvSpPr>
            <p:cNvPr id="7" name="object 7"/>
            <p:cNvSpPr/>
            <p:nvPr/>
          </p:nvSpPr>
          <p:spPr>
            <a:xfrm>
              <a:off x="3299764" y="3238778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236595" y="3245129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3513531" y="3234982"/>
            <a:ext cx="203200" cy="58419"/>
            <a:chOff x="3513531" y="3234982"/>
            <a:chExt cx="203200" cy="58419"/>
          </a:xfrm>
        </p:grpSpPr>
        <p:sp>
          <p:nvSpPr>
            <p:cNvPr id="10" name="object 10"/>
            <p:cNvSpPr/>
            <p:nvPr/>
          </p:nvSpPr>
          <p:spPr>
            <a:xfrm>
              <a:off x="3602432" y="3251478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513531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589732" y="323877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3790467" y="3234982"/>
            <a:ext cx="203200" cy="58419"/>
            <a:chOff x="3790467" y="3234982"/>
            <a:chExt cx="203200" cy="58419"/>
          </a:xfrm>
        </p:grpSpPr>
        <p:sp>
          <p:nvSpPr>
            <p:cNvPr id="14" name="object 14"/>
            <p:cNvSpPr/>
            <p:nvPr/>
          </p:nvSpPr>
          <p:spPr>
            <a:xfrm>
              <a:off x="3866668" y="3238778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790467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866668" y="3276879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4326582" y="3236248"/>
            <a:ext cx="238760" cy="57150"/>
            <a:chOff x="4326582" y="3236248"/>
            <a:chExt cx="238760" cy="57150"/>
          </a:xfrm>
        </p:grpSpPr>
        <p:sp>
          <p:nvSpPr>
            <p:cNvPr id="19" name="object 19"/>
            <p:cNvSpPr/>
            <p:nvPr/>
          </p:nvSpPr>
          <p:spPr>
            <a:xfrm>
              <a:off x="4451033" y="326925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423969" y="3242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329112" y="3238778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/>
          <p:nvPr/>
        </p:nvSpPr>
        <p:spPr>
          <a:xfrm>
            <a:off x="0" y="50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5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656513"/>
            <a:ext cx="155257" cy="15525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79" y="1104049"/>
            <a:ext cx="155257" cy="15525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551584"/>
            <a:ext cx="155257" cy="155257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1999107"/>
            <a:ext cx="155257" cy="155257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779" y="2446642"/>
            <a:ext cx="155257" cy="155257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124675" y="624711"/>
            <a:ext cx="2216150" cy="19818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90"/>
              </a:spcBef>
              <a:buClr>
                <a:srgbClr val="EAE5EF"/>
              </a:buClr>
              <a:buSzPct val="73000"/>
              <a:buFont typeface="Comic Sans MS" panose="030F0702030302020204"/>
              <a:buAutoNum type="arabicPlain"/>
              <a:tabLst>
                <a:tab pos="177800" algn="l"/>
              </a:tabLst>
            </a:pP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Problems</a:t>
            </a:r>
            <a:r>
              <a:rPr sz="1100" spc="-5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with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Recursive</a:t>
            </a:r>
            <a:r>
              <a:rPr sz="1100" spc="-5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Descent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EAE5EF"/>
              </a:buClr>
              <a:buFont typeface="Comic Sans MS" panose="030F0702030302020204"/>
              <a:buAutoNum type="arabicPlain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EAE5EF"/>
              </a:buClr>
              <a:buSzPct val="73000"/>
              <a:buFont typeface="Comic Sans MS" panose="030F0702030302020204"/>
              <a:buAutoNum type="arabicPlain"/>
              <a:tabLst>
                <a:tab pos="177800" algn="l"/>
              </a:tabLst>
            </a:pPr>
            <a:r>
              <a:rPr sz="1100" dirty="0"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Left</a:t>
            </a:r>
            <a:r>
              <a:rPr sz="1100" spc="65" dirty="0"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Recursion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EAE5EF"/>
              </a:buClr>
              <a:buFont typeface="Comic Sans MS" panose="030F0702030302020204"/>
              <a:buAutoNum type="arabicPlain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EAE5EF"/>
              </a:buClr>
              <a:buSzPct val="73000"/>
              <a:buFont typeface="Comic Sans MS" panose="030F0702030302020204"/>
              <a:buAutoNum type="arabicPlain"/>
              <a:tabLst>
                <a:tab pos="177800" algn="l"/>
              </a:tabLst>
            </a:pP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Eliminating</a:t>
            </a:r>
            <a:r>
              <a:rPr sz="1100" spc="40" dirty="0"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Left</a:t>
            </a:r>
            <a:r>
              <a:rPr sz="1100" spc="45" dirty="0"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Recursion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EAE5EF"/>
              </a:buClr>
              <a:buFont typeface="Comic Sans MS" panose="030F0702030302020204"/>
              <a:buAutoNum type="arabicPlain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EAE5EF"/>
              </a:buClr>
              <a:buSzPct val="73000"/>
              <a:buFont typeface="Comic Sans MS" panose="030F0702030302020204"/>
              <a:buAutoNum type="arabicPlain"/>
              <a:tabLst>
                <a:tab pos="177800" algn="l"/>
              </a:tabLst>
            </a:pPr>
            <a:r>
              <a:rPr sz="1100" spc="-40" dirty="0"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Advantages</a:t>
            </a:r>
            <a:r>
              <a:rPr sz="1100" spc="35" dirty="0"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of</a:t>
            </a:r>
            <a:r>
              <a:rPr sz="1100" spc="40" dirty="0"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Left</a:t>
            </a:r>
            <a:r>
              <a:rPr sz="1100" spc="40" dirty="0"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Recursion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EAE5EF"/>
              </a:buClr>
              <a:buFont typeface="Comic Sans MS" panose="030F0702030302020204"/>
              <a:buAutoNum type="arabicPlain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EAE5EF"/>
              </a:buClr>
              <a:buSzPct val="73000"/>
              <a:buFont typeface="Comic Sans MS" panose="030F0702030302020204"/>
              <a:buAutoNum type="arabicPlain"/>
              <a:tabLst>
                <a:tab pos="177800" algn="l"/>
              </a:tabLst>
            </a:pP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1" action="ppaction://hlinksldjump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99296" y="3318429"/>
            <a:ext cx="70294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647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5779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Problems</a:t>
            </a:r>
            <a:r>
              <a:rPr sz="600" b="1" spc="2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with</a:t>
            </a:r>
            <a:r>
              <a:rPr sz="600" b="1" spc="2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Recursive</a:t>
            </a:r>
            <a:r>
              <a:rPr sz="600" b="1" spc="2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Descent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950861"/>
            <a:ext cx="155257" cy="1552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4675" y="947875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055" y="919059"/>
            <a:ext cx="20510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Problems</a:t>
            </a:r>
            <a:r>
              <a:rPr sz="1100" spc="-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with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Recursive</a:t>
            </a:r>
            <a:r>
              <a:rPr sz="1100" spc="-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Descent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79" y="1353108"/>
            <a:ext cx="155257" cy="15525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755356"/>
            <a:ext cx="155257" cy="15525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4675" y="1321306"/>
            <a:ext cx="1833880" cy="594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90"/>
              </a:spcBef>
              <a:buClr>
                <a:srgbClr val="FAF9FB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Left</a:t>
            </a:r>
            <a:r>
              <a:rPr sz="1100" spc="6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Recursion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Clr>
                <a:srgbClr val="FAF9FB"/>
              </a:buClr>
              <a:buFont typeface="Comic Sans MS" panose="030F0702030302020204"/>
              <a:buAutoNum type="arabicPlain" startAt="2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spcBef>
                <a:spcPts val="5"/>
              </a:spcBef>
              <a:buClr>
                <a:srgbClr val="FAF9FB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Eliminating</a:t>
            </a:r>
            <a:r>
              <a:rPr sz="1100" spc="4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Left</a:t>
            </a:r>
            <a:r>
              <a:rPr sz="1100" spc="4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Recursion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779" y="2157602"/>
            <a:ext cx="155257" cy="1552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4675" y="2154668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055" y="2125801"/>
            <a:ext cx="18091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Advantages</a:t>
            </a:r>
            <a:r>
              <a:rPr sz="1100" spc="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of</a:t>
            </a:r>
            <a:r>
              <a:rPr sz="1100" spc="4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Left</a:t>
            </a:r>
            <a:r>
              <a:rPr sz="1100" spc="4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Recursion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779" y="2559850"/>
            <a:ext cx="155257" cy="15525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24675" y="2528035"/>
            <a:ext cx="892810" cy="180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5</a:t>
            </a:r>
            <a:r>
              <a:rPr lang="en-US" altLang="en-US"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 </a:t>
            </a:r>
            <a:r>
              <a:rPr sz="1100" spc="-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99296" y="3318429"/>
            <a:ext cx="70294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647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5779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Problems</a:t>
            </a:r>
            <a:r>
              <a:rPr sz="600" b="1" spc="2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with</a:t>
            </a:r>
            <a:r>
              <a:rPr sz="600" b="1" spc="2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Recursive</a:t>
            </a:r>
            <a:r>
              <a:rPr sz="600" b="1" spc="2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Descent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30" dirty="0"/>
              <a:t>A</a:t>
            </a:r>
            <a:r>
              <a:rPr spc="225" dirty="0"/>
              <a:t> </a:t>
            </a:r>
            <a:r>
              <a:rPr spc="75" dirty="0"/>
              <a:t>Problem</a:t>
            </a:r>
            <a:r>
              <a:rPr spc="229" dirty="0"/>
              <a:t> </a:t>
            </a:r>
            <a:r>
              <a:rPr dirty="0"/>
              <a:t>with</a:t>
            </a:r>
            <a:r>
              <a:rPr spc="225" dirty="0"/>
              <a:t> </a:t>
            </a:r>
            <a:r>
              <a:rPr spc="60" dirty="0"/>
              <a:t>Recursive</a:t>
            </a:r>
            <a:r>
              <a:rPr spc="229" dirty="0"/>
              <a:t> </a:t>
            </a:r>
            <a:r>
              <a:rPr spc="55" dirty="0"/>
              <a:t>Descent</a:t>
            </a:r>
            <a:r>
              <a:rPr spc="229" dirty="0"/>
              <a:t> </a:t>
            </a:r>
            <a:r>
              <a:rPr spc="65" dirty="0"/>
              <a:t>Parsers</a:t>
            </a:r>
            <a:endParaRPr spc="6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724433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14960">
              <a:lnSpc>
                <a:spcPct val="100000"/>
              </a:lnSpc>
              <a:spcBef>
                <a:spcPts val="90"/>
              </a:spcBef>
            </a:pPr>
            <a:r>
              <a:rPr spc="-30" dirty="0"/>
              <a:t>Suppose</a:t>
            </a:r>
            <a:r>
              <a:rPr spc="40" dirty="0"/>
              <a:t> </a:t>
            </a:r>
            <a:r>
              <a:rPr dirty="0"/>
              <a:t>the</a:t>
            </a:r>
            <a:r>
              <a:rPr spc="40" dirty="0"/>
              <a:t> </a:t>
            </a:r>
            <a:r>
              <a:rPr spc="-30" dirty="0"/>
              <a:t>grammar</a:t>
            </a:r>
            <a:r>
              <a:rPr spc="40" dirty="0"/>
              <a:t> </a:t>
            </a:r>
            <a:r>
              <a:rPr spc="-20" dirty="0"/>
              <a:t>were</a:t>
            </a:r>
            <a:endParaRPr spc="-20" dirty="0"/>
          </a:p>
          <a:p>
            <a:pPr marL="1818640">
              <a:lnSpc>
                <a:spcPct val="100000"/>
              </a:lnSpc>
              <a:spcBef>
                <a:spcPts val="1130"/>
              </a:spcBef>
            </a:pP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i="1" spc="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AB</a:t>
            </a:r>
            <a:r>
              <a:rPr i="1" spc="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spc="4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CD</a:t>
            </a:r>
            <a:endParaRPr i="1" spc="45" dirty="0">
              <a:solidFill>
                <a:srgbClr val="0000CC"/>
              </a:solidFill>
              <a:latin typeface="Bookman Old Style" panose="02050604050505020204"/>
              <a:cs typeface="Bookman Old Style" panose="02050604050505020204"/>
            </a:endParaRPr>
          </a:p>
          <a:p>
            <a:pPr marL="1807845">
              <a:lnSpc>
                <a:spcPct val="100000"/>
              </a:lnSpc>
              <a:spcBef>
                <a:spcPts val="335"/>
              </a:spcBef>
            </a:pP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i="1" spc="-1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pc="8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BC</a:t>
            </a:r>
            <a:r>
              <a:rPr i="1" spc="7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pc="8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CA</a:t>
            </a:r>
            <a:r>
              <a:rPr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pc="7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b="1" spc="-50" dirty="0">
                <a:solidFill>
                  <a:srgbClr val="0000CC"/>
                </a:solidFill>
                <a:latin typeface="Lucida Bright" panose="02040602050505020304"/>
                <a:cs typeface="Lucida Bright" panose="02040602050505020304"/>
              </a:rPr>
              <a:t>a</a:t>
            </a:r>
            <a:endParaRPr b="1" spc="-50" dirty="0">
              <a:solidFill>
                <a:srgbClr val="0000CC"/>
              </a:solidFill>
              <a:latin typeface="Lucida Bright" panose="02040602050505020304"/>
              <a:cs typeface="Lucida Bright" panose="02040602050505020304"/>
            </a:endParaRPr>
          </a:p>
          <a:p>
            <a:pPr marL="1799590">
              <a:lnSpc>
                <a:spcPct val="100000"/>
              </a:lnSpc>
              <a:spcBef>
                <a:spcPts val="335"/>
              </a:spcBef>
            </a:pP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i="1" spc="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pc="7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CA</a:t>
            </a:r>
            <a:r>
              <a:rPr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pc="6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spc="7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DB</a:t>
            </a:r>
            <a:r>
              <a:rPr i="1" spc="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pc="7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b="1" spc="-50" dirty="0">
                <a:solidFill>
                  <a:srgbClr val="0000CC"/>
                </a:solidFill>
                <a:latin typeface="Lucida Bright" panose="02040602050505020304"/>
                <a:cs typeface="Lucida Bright" panose="02040602050505020304"/>
              </a:rPr>
              <a:t>b</a:t>
            </a:r>
            <a:endParaRPr b="1" spc="-50" dirty="0">
              <a:solidFill>
                <a:srgbClr val="0000CC"/>
              </a:solidFill>
              <a:latin typeface="Lucida Bright" panose="02040602050505020304"/>
              <a:cs typeface="Lucida Bright" panose="02040602050505020304"/>
            </a:endParaRPr>
          </a:p>
          <a:p>
            <a:pPr marL="1802765">
              <a:lnSpc>
                <a:spcPct val="100000"/>
              </a:lnSpc>
              <a:spcBef>
                <a:spcPts val="330"/>
              </a:spcBef>
            </a:pP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r>
              <a:rPr i="1" spc="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pc="4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spc="6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BA</a:t>
            </a:r>
            <a:r>
              <a:rPr i="1" spc="-4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pc="4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spc="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AD</a:t>
            </a:r>
            <a:r>
              <a:rPr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pc="4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b="1" spc="-50" dirty="0">
                <a:solidFill>
                  <a:srgbClr val="0000CC"/>
                </a:solidFill>
                <a:latin typeface="Lucida Bright" panose="02040602050505020304"/>
                <a:cs typeface="Lucida Bright" panose="02040602050505020304"/>
              </a:rPr>
              <a:t>a</a:t>
            </a:r>
            <a:endParaRPr b="1" spc="-50" dirty="0">
              <a:solidFill>
                <a:srgbClr val="0000CC"/>
              </a:solidFill>
              <a:latin typeface="Lucida Bright" panose="02040602050505020304"/>
              <a:cs typeface="Lucida Bright" panose="02040602050505020304"/>
            </a:endParaRPr>
          </a:p>
          <a:p>
            <a:pPr marL="1793240">
              <a:lnSpc>
                <a:spcPct val="100000"/>
              </a:lnSpc>
              <a:spcBef>
                <a:spcPts val="335"/>
              </a:spcBef>
            </a:pPr>
            <a:r>
              <a:rPr i="1" spc="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</a:t>
            </a:r>
            <a:r>
              <a:rPr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AC</a:t>
            </a:r>
            <a:r>
              <a:rPr i="1" spc="4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spc="9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BD</a:t>
            </a:r>
            <a:r>
              <a:rPr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b="1" spc="-50" dirty="0">
                <a:solidFill>
                  <a:srgbClr val="0000CC"/>
                </a:solidFill>
                <a:latin typeface="Lucida Bright" panose="02040602050505020304"/>
                <a:cs typeface="Lucida Bright" panose="02040602050505020304"/>
              </a:rPr>
              <a:t>b</a:t>
            </a:r>
            <a:endParaRPr b="1" spc="-50" dirty="0">
              <a:solidFill>
                <a:srgbClr val="0000CC"/>
              </a:solidFill>
              <a:latin typeface="Lucida Bright" panose="02040602050505020304"/>
              <a:cs typeface="Lucida Bright" panose="0204060205050502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2641181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3057334"/>
            <a:ext cx="65201" cy="6520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02932" y="2540069"/>
            <a:ext cx="4079240" cy="63817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195"/>
              </a:spcBef>
            </a:pPr>
            <a:r>
              <a:rPr sz="1100" spc="-85" dirty="0">
                <a:latin typeface="Palatino Linotype" panose="02040502050505030304"/>
                <a:cs typeface="Palatino Linotype" panose="02040502050505030304"/>
              </a:rPr>
              <a:t>How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could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top-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down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parser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decide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which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production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100" i="1" spc="1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use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derive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-10" dirty="0">
                <a:solidFill>
                  <a:srgbClr val="0000CC"/>
                </a:solidFill>
                <a:latin typeface="Lucida Bright" panose="02040602050505020304"/>
                <a:cs typeface="Lucida Bright" panose="02040602050505020304"/>
              </a:rPr>
              <a:t>babbb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?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Indeed,</a:t>
            </a:r>
            <a:r>
              <a:rPr sz="1100" spc="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can</a:t>
            </a:r>
            <a:r>
              <a:rPr sz="1100" spc="4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solidFill>
                  <a:srgbClr val="D8D8F7"/>
                </a:solidFill>
                <a:latin typeface="Lucida Bright" panose="02040602050505020304"/>
                <a:cs typeface="Lucida Bright" panose="02040602050505020304"/>
              </a:rPr>
              <a:t>babbb</a:t>
            </a:r>
            <a:r>
              <a:rPr sz="1100" b="1" spc="-30" dirty="0">
                <a:solidFill>
                  <a:srgbClr val="D8D8F7"/>
                </a:solidFill>
                <a:latin typeface="Lucida Bright" panose="02040602050505020304"/>
                <a:cs typeface="Lucida Bright" panose="0204060205050502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be</a:t>
            </a:r>
            <a:r>
              <a:rPr sz="1100" spc="4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derived?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9296" y="3318429"/>
            <a:ext cx="70294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647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5779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Problems</a:t>
            </a:r>
            <a:r>
              <a:rPr sz="600" b="1" spc="2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with</a:t>
            </a:r>
            <a:r>
              <a:rPr sz="600" b="1" spc="2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Recursive</a:t>
            </a:r>
            <a:r>
              <a:rPr sz="600" b="1" spc="2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Descent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30" dirty="0"/>
              <a:t>A</a:t>
            </a:r>
            <a:r>
              <a:rPr spc="225" dirty="0"/>
              <a:t> </a:t>
            </a:r>
            <a:r>
              <a:rPr spc="75" dirty="0"/>
              <a:t>Problem</a:t>
            </a:r>
            <a:r>
              <a:rPr spc="229" dirty="0"/>
              <a:t> </a:t>
            </a:r>
            <a:r>
              <a:rPr dirty="0"/>
              <a:t>with</a:t>
            </a:r>
            <a:r>
              <a:rPr spc="225" dirty="0"/>
              <a:t> </a:t>
            </a:r>
            <a:r>
              <a:rPr spc="60" dirty="0"/>
              <a:t>Recursive</a:t>
            </a:r>
            <a:r>
              <a:rPr spc="229" dirty="0"/>
              <a:t> </a:t>
            </a:r>
            <a:r>
              <a:rPr spc="55" dirty="0"/>
              <a:t>Descent</a:t>
            </a:r>
            <a:r>
              <a:rPr spc="229" dirty="0"/>
              <a:t> </a:t>
            </a:r>
            <a:r>
              <a:rPr spc="65" dirty="0"/>
              <a:t>Parsers</a:t>
            </a:r>
            <a:endParaRPr spc="6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724433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14960">
              <a:lnSpc>
                <a:spcPct val="100000"/>
              </a:lnSpc>
              <a:spcBef>
                <a:spcPts val="90"/>
              </a:spcBef>
            </a:pPr>
            <a:r>
              <a:rPr spc="-30" dirty="0"/>
              <a:t>Suppose</a:t>
            </a:r>
            <a:r>
              <a:rPr spc="40" dirty="0"/>
              <a:t> </a:t>
            </a:r>
            <a:r>
              <a:rPr dirty="0"/>
              <a:t>the</a:t>
            </a:r>
            <a:r>
              <a:rPr spc="40" dirty="0"/>
              <a:t> </a:t>
            </a:r>
            <a:r>
              <a:rPr spc="-30" dirty="0"/>
              <a:t>grammar</a:t>
            </a:r>
            <a:r>
              <a:rPr spc="40" dirty="0"/>
              <a:t> </a:t>
            </a:r>
            <a:r>
              <a:rPr spc="-20" dirty="0"/>
              <a:t>were</a:t>
            </a:r>
            <a:endParaRPr spc="-20" dirty="0"/>
          </a:p>
          <a:p>
            <a:pPr marL="1818640">
              <a:lnSpc>
                <a:spcPct val="100000"/>
              </a:lnSpc>
              <a:spcBef>
                <a:spcPts val="1130"/>
              </a:spcBef>
            </a:pP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i="1" spc="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AB</a:t>
            </a:r>
            <a:r>
              <a:rPr i="1" spc="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spc="4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CD</a:t>
            </a:r>
            <a:endParaRPr i="1" spc="45" dirty="0">
              <a:solidFill>
                <a:srgbClr val="0000CC"/>
              </a:solidFill>
              <a:latin typeface="Bookman Old Style" panose="02050604050505020204"/>
              <a:cs typeface="Bookman Old Style" panose="02050604050505020204"/>
            </a:endParaRPr>
          </a:p>
          <a:p>
            <a:pPr marL="1807845">
              <a:lnSpc>
                <a:spcPct val="100000"/>
              </a:lnSpc>
              <a:spcBef>
                <a:spcPts val="335"/>
              </a:spcBef>
            </a:pP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i="1" spc="-1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pc="8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BC</a:t>
            </a:r>
            <a:r>
              <a:rPr i="1" spc="7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pc="8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CA</a:t>
            </a:r>
            <a:r>
              <a:rPr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pc="7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b="1" spc="-50" dirty="0">
                <a:solidFill>
                  <a:srgbClr val="0000CC"/>
                </a:solidFill>
                <a:latin typeface="Lucida Bright" panose="02040602050505020304"/>
                <a:cs typeface="Lucida Bright" panose="02040602050505020304"/>
              </a:rPr>
              <a:t>a</a:t>
            </a:r>
            <a:endParaRPr b="1" spc="-50" dirty="0">
              <a:solidFill>
                <a:srgbClr val="0000CC"/>
              </a:solidFill>
              <a:latin typeface="Lucida Bright" panose="02040602050505020304"/>
              <a:cs typeface="Lucida Bright" panose="02040602050505020304"/>
            </a:endParaRPr>
          </a:p>
          <a:p>
            <a:pPr marL="1799590">
              <a:lnSpc>
                <a:spcPct val="100000"/>
              </a:lnSpc>
              <a:spcBef>
                <a:spcPts val="335"/>
              </a:spcBef>
            </a:pP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i="1" spc="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pc="7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CA</a:t>
            </a:r>
            <a:r>
              <a:rPr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pc="6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spc="7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DB</a:t>
            </a:r>
            <a:r>
              <a:rPr i="1" spc="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pc="7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b="1" spc="-50" dirty="0">
                <a:solidFill>
                  <a:srgbClr val="0000CC"/>
                </a:solidFill>
                <a:latin typeface="Lucida Bright" panose="02040602050505020304"/>
                <a:cs typeface="Lucida Bright" panose="02040602050505020304"/>
              </a:rPr>
              <a:t>b</a:t>
            </a:r>
            <a:endParaRPr b="1" spc="-50" dirty="0">
              <a:solidFill>
                <a:srgbClr val="0000CC"/>
              </a:solidFill>
              <a:latin typeface="Lucida Bright" panose="02040602050505020304"/>
              <a:cs typeface="Lucida Bright" panose="02040602050505020304"/>
            </a:endParaRPr>
          </a:p>
          <a:p>
            <a:pPr marL="1802765">
              <a:lnSpc>
                <a:spcPct val="100000"/>
              </a:lnSpc>
              <a:spcBef>
                <a:spcPts val="330"/>
              </a:spcBef>
            </a:pP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r>
              <a:rPr i="1" spc="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pc="4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spc="6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BA</a:t>
            </a:r>
            <a:r>
              <a:rPr i="1" spc="-4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pc="4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spc="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AD</a:t>
            </a:r>
            <a:r>
              <a:rPr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pc="4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b="1" spc="-50" dirty="0">
                <a:solidFill>
                  <a:srgbClr val="0000CC"/>
                </a:solidFill>
                <a:latin typeface="Lucida Bright" panose="02040602050505020304"/>
                <a:cs typeface="Lucida Bright" panose="02040602050505020304"/>
              </a:rPr>
              <a:t>a</a:t>
            </a:r>
            <a:endParaRPr b="1" spc="-50" dirty="0">
              <a:solidFill>
                <a:srgbClr val="0000CC"/>
              </a:solidFill>
              <a:latin typeface="Lucida Bright" panose="02040602050505020304"/>
              <a:cs typeface="Lucida Bright" panose="02040602050505020304"/>
            </a:endParaRPr>
          </a:p>
          <a:p>
            <a:pPr marL="1793240">
              <a:lnSpc>
                <a:spcPct val="100000"/>
              </a:lnSpc>
              <a:spcBef>
                <a:spcPts val="335"/>
              </a:spcBef>
            </a:pPr>
            <a:r>
              <a:rPr i="1" spc="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</a:t>
            </a:r>
            <a:r>
              <a:rPr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AC</a:t>
            </a:r>
            <a:r>
              <a:rPr i="1" spc="4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spc="9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BD</a:t>
            </a:r>
            <a:r>
              <a:rPr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b="1" spc="-50" dirty="0">
                <a:solidFill>
                  <a:srgbClr val="0000CC"/>
                </a:solidFill>
                <a:latin typeface="Lucida Bright" panose="02040602050505020304"/>
                <a:cs typeface="Lucida Bright" panose="02040602050505020304"/>
              </a:rPr>
              <a:t>b</a:t>
            </a:r>
            <a:endParaRPr b="1" spc="-50" dirty="0">
              <a:solidFill>
                <a:srgbClr val="0000CC"/>
              </a:solidFill>
              <a:latin typeface="Lucida Bright" panose="02040602050505020304"/>
              <a:cs typeface="Lucida Bright" panose="0204060205050502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2641181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3057334"/>
            <a:ext cx="65201" cy="6520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02932" y="2540069"/>
            <a:ext cx="4079240" cy="63817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195"/>
              </a:spcBef>
            </a:pPr>
            <a:r>
              <a:rPr sz="1100" spc="-85" dirty="0">
                <a:latin typeface="Palatino Linotype" panose="02040502050505030304"/>
                <a:cs typeface="Palatino Linotype" panose="02040502050505030304"/>
              </a:rPr>
              <a:t>How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could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top-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down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parser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decide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which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production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100" i="1" spc="1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use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derive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-10" dirty="0">
                <a:solidFill>
                  <a:srgbClr val="0000CC"/>
                </a:solidFill>
                <a:latin typeface="Lucida Bright" panose="02040602050505020304"/>
                <a:cs typeface="Lucida Bright" panose="02040602050505020304"/>
              </a:rPr>
              <a:t>babbb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?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Indeed,</a:t>
            </a:r>
            <a:r>
              <a:rPr sz="1100" spc="3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can</a:t>
            </a:r>
            <a:r>
              <a:rPr sz="1100" spc="4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solidFill>
                  <a:srgbClr val="D8D8F7"/>
                </a:solidFill>
                <a:latin typeface="Lucida Bright" panose="02040602050505020304"/>
                <a:cs typeface="Lucida Bright" panose="02040602050505020304"/>
              </a:rPr>
              <a:t>babbb</a:t>
            </a:r>
            <a:r>
              <a:rPr sz="1100" b="1" spc="-30" dirty="0">
                <a:solidFill>
                  <a:srgbClr val="D8D8F7"/>
                </a:solidFill>
                <a:latin typeface="Lucida Bright" panose="02040602050505020304"/>
                <a:cs typeface="Lucida Bright" panose="0204060205050502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be</a:t>
            </a:r>
            <a:r>
              <a:rPr sz="1100" spc="4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derived?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9296" y="3318429"/>
            <a:ext cx="70294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647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5779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Problems</a:t>
            </a:r>
            <a:r>
              <a:rPr sz="600" b="1" spc="2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with</a:t>
            </a:r>
            <a:r>
              <a:rPr sz="600" b="1" spc="2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Recursive</a:t>
            </a:r>
            <a:r>
              <a:rPr sz="600" b="1" spc="2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Descent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91"/>
            <a:ext cx="3775075" cy="47180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7000"/>
              </a:lnSpc>
              <a:spcBef>
                <a:spcPts val="20"/>
              </a:spcBef>
            </a:pPr>
            <a:r>
              <a:rPr spc="75" dirty="0"/>
              <a:t>Another</a:t>
            </a:r>
            <a:r>
              <a:rPr spc="235" dirty="0"/>
              <a:t> </a:t>
            </a:r>
            <a:r>
              <a:rPr spc="75" dirty="0"/>
              <a:t>Problem</a:t>
            </a:r>
            <a:r>
              <a:rPr spc="235" dirty="0"/>
              <a:t> </a:t>
            </a:r>
            <a:r>
              <a:rPr dirty="0"/>
              <a:t>with</a:t>
            </a:r>
            <a:r>
              <a:rPr spc="235" dirty="0"/>
              <a:t> </a:t>
            </a:r>
            <a:r>
              <a:rPr spc="60" dirty="0"/>
              <a:t>Recursive</a:t>
            </a:r>
            <a:r>
              <a:rPr spc="240" dirty="0"/>
              <a:t> </a:t>
            </a:r>
            <a:r>
              <a:rPr spc="45" dirty="0"/>
              <a:t>Descent </a:t>
            </a:r>
            <a:r>
              <a:rPr spc="65" dirty="0"/>
              <a:t>Parsers</a:t>
            </a:r>
            <a:endParaRPr spc="6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294053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594414"/>
            <a:ext cx="2609850" cy="11195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266950" algn="ctr">
              <a:lnSpc>
                <a:spcPct val="100000"/>
              </a:lnSpc>
              <a:spcBef>
                <a:spcPts val="215"/>
              </a:spcBef>
            </a:pPr>
            <a:r>
              <a:rPr sz="900" b="1" spc="190" dirty="0">
                <a:latin typeface="Book Antiqua" panose="02040602050305030304"/>
                <a:cs typeface="Book Antiqua" panose="02040602050305030304"/>
              </a:rPr>
              <a:t>S()</a:t>
            </a:r>
            <a:r>
              <a:rPr sz="900" b="1" spc="-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900" b="1" spc="130" dirty="0">
                <a:latin typeface="Book Antiqua" panose="02040602050305030304"/>
                <a:cs typeface="Book Antiqua" panose="02040602050305030304"/>
              </a:rPr>
              <a:t>{</a:t>
            </a:r>
            <a:endParaRPr sz="900">
              <a:latin typeface="Book Antiqua" panose="02040602050305030304"/>
              <a:cs typeface="Book Antiqua" panose="02040602050305030304"/>
            </a:endParaRPr>
          </a:p>
          <a:p>
            <a:pPr marL="2325370" algn="ctr">
              <a:lnSpc>
                <a:spcPct val="100000"/>
              </a:lnSpc>
              <a:spcBef>
                <a:spcPts val="120"/>
              </a:spcBef>
            </a:pPr>
            <a:r>
              <a:rPr sz="900" b="1" spc="145" dirty="0">
                <a:latin typeface="Book Antiqua" panose="02040602050305030304"/>
                <a:cs typeface="Book Antiqua" panose="02040602050305030304"/>
              </a:rPr>
              <a:t>S();</a:t>
            </a:r>
            <a:endParaRPr sz="900">
              <a:latin typeface="Book Antiqua" panose="02040602050305030304"/>
              <a:cs typeface="Book Antiqua" panose="02040602050305030304"/>
            </a:endParaRPr>
          </a:p>
          <a:p>
            <a:pPr marL="2266950" algn="ctr">
              <a:lnSpc>
                <a:spcPct val="100000"/>
              </a:lnSpc>
              <a:spcBef>
                <a:spcPts val="120"/>
              </a:spcBef>
            </a:pPr>
            <a:r>
              <a:rPr sz="900" b="1" spc="145" dirty="0">
                <a:latin typeface="Book Antiqua" panose="02040602050305030304"/>
                <a:cs typeface="Book Antiqua" panose="02040602050305030304"/>
              </a:rPr>
              <a:t>S();</a:t>
            </a:r>
            <a:endParaRPr sz="900">
              <a:latin typeface="Book Antiqua" panose="02040602050305030304"/>
              <a:cs typeface="Book Antiqua" panose="02040602050305030304"/>
            </a:endParaRPr>
          </a:p>
          <a:p>
            <a:pPr marL="2266950" algn="ctr">
              <a:lnSpc>
                <a:spcPct val="100000"/>
              </a:lnSpc>
              <a:spcBef>
                <a:spcPts val="120"/>
              </a:spcBef>
            </a:pPr>
            <a:r>
              <a:rPr sz="900" b="1" spc="130" dirty="0">
                <a:latin typeface="Book Antiqua" panose="02040602050305030304"/>
                <a:cs typeface="Book Antiqua" panose="02040602050305030304"/>
              </a:rPr>
              <a:t>}</a:t>
            </a:r>
            <a:endParaRPr sz="900">
              <a:latin typeface="Book Antiqua" panose="02040602050305030304"/>
              <a:cs typeface="Book Antiqua" panose="02040602050305030304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Suppose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grammar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were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678305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3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 S</a:t>
            </a:r>
            <a:r>
              <a:rPr sz="1100" i="1" spc="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3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2370658"/>
            <a:ext cx="65201" cy="652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2932" y="2287141"/>
            <a:ext cx="3478529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55"/>
              </a:spcBef>
            </a:pPr>
            <a:r>
              <a:rPr sz="1100" spc="-80" dirty="0">
                <a:latin typeface="Palatino Linotype" panose="02040502050505030304"/>
                <a:cs typeface="Palatino Linotype" panose="02040502050505030304"/>
              </a:rPr>
              <a:t>How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could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parser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decide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5" dirty="0">
                <a:latin typeface="Palatino Linotype" panose="02040502050505030304"/>
                <a:cs typeface="Palatino Linotype" panose="02040502050505030304"/>
              </a:rPr>
              <a:t>how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many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times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use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the production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100" i="1" spc="-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2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100" i="1" spc="-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100" i="1" spc="4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before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using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production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100" i="1" spc="-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2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?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9296" y="3318429"/>
            <a:ext cx="70294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5779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Problems</a:t>
            </a:r>
            <a:r>
              <a:rPr sz="600" b="1" spc="2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with</a:t>
            </a:r>
            <a:r>
              <a:rPr sz="600" b="1" spc="2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Recursive</a:t>
            </a:r>
            <a:r>
              <a:rPr sz="600" b="1" spc="2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Descent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Futile</a:t>
            </a:r>
            <a:r>
              <a:rPr spc="190" dirty="0"/>
              <a:t> </a:t>
            </a:r>
            <a:r>
              <a:rPr spc="95" dirty="0"/>
              <a:t>Attempt</a:t>
            </a:r>
            <a:endParaRPr spc="95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854608"/>
            <a:ext cx="4483735" cy="2125980"/>
            <a:chOff x="87743" y="854608"/>
            <a:chExt cx="4483735" cy="21259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987221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878836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866136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854608"/>
              <a:ext cx="50800" cy="202422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031481"/>
              <a:ext cx="4432935" cy="1898650"/>
            </a:xfrm>
            <a:custGeom>
              <a:avLst/>
              <a:gdLst/>
              <a:ahLst/>
              <a:cxnLst/>
              <a:rect l="l" t="t" r="r" b="b"/>
              <a:pathLst>
                <a:path w="4432935" h="1898650">
                  <a:moveTo>
                    <a:pt x="4432567" y="0"/>
                  </a:moveTo>
                  <a:lnTo>
                    <a:pt x="0" y="0"/>
                  </a:lnTo>
                  <a:lnTo>
                    <a:pt x="0" y="1847354"/>
                  </a:lnTo>
                  <a:lnTo>
                    <a:pt x="4008" y="1867079"/>
                  </a:lnTo>
                  <a:lnTo>
                    <a:pt x="14922" y="1883232"/>
                  </a:lnTo>
                  <a:lnTo>
                    <a:pt x="31075" y="1894146"/>
                  </a:lnTo>
                  <a:lnTo>
                    <a:pt x="50800" y="1898155"/>
                  </a:lnTo>
                  <a:lnTo>
                    <a:pt x="4381767" y="1898155"/>
                  </a:lnTo>
                  <a:lnTo>
                    <a:pt x="4401492" y="1894146"/>
                  </a:lnTo>
                  <a:lnTo>
                    <a:pt x="4417644" y="1883232"/>
                  </a:lnTo>
                  <a:lnTo>
                    <a:pt x="4428558" y="1867079"/>
                  </a:lnTo>
                  <a:lnTo>
                    <a:pt x="4432567" y="1847354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892708"/>
              <a:ext cx="0" cy="2005330"/>
            </a:xfrm>
            <a:custGeom>
              <a:avLst/>
              <a:gdLst/>
              <a:ahLst/>
              <a:cxnLst/>
              <a:rect l="l" t="t" r="r" b="b"/>
              <a:pathLst>
                <a:path h="2005330">
                  <a:moveTo>
                    <a:pt x="0" y="200517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88000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86730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85460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25844" y="757438"/>
            <a:ext cx="2571750" cy="215709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Futile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Attempt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  <a:tabLst>
                <a:tab pos="1030605" algn="l"/>
              </a:tabLst>
            </a:pP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void</a:t>
            </a:r>
            <a:r>
              <a:rPr sz="1100" b="1" spc="3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110" dirty="0">
                <a:latin typeface="Palatino Linotype" panose="02040502050505030304"/>
                <a:cs typeface="Palatino Linotype" panose="02040502050505030304"/>
              </a:rPr>
              <a:t>S()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	</a:t>
            </a:r>
            <a:r>
              <a:rPr sz="1100" spc="220" dirty="0">
                <a:latin typeface="Palatino Linotype" panose="02040502050505030304"/>
                <a:cs typeface="Palatino Linotype" panose="02040502050505030304"/>
              </a:rPr>
              <a:t>//</a:t>
            </a:r>
            <a:r>
              <a:rPr sz="1100" spc="2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Match</a:t>
            </a:r>
            <a:r>
              <a:rPr sz="1100" spc="2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</a:t>
            </a:r>
            <a:r>
              <a:rPr sz="1100" spc="2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90" dirty="0">
                <a:latin typeface="Palatino Linotype" panose="02040502050505030304"/>
                <a:cs typeface="Palatino Linotype" panose="02040502050505030304"/>
              </a:rPr>
              <a:t>-</a:t>
            </a:r>
            <a:r>
              <a:rPr sz="1100" spc="135" dirty="0">
                <a:latin typeface="Palatino Linotype" panose="02040502050505030304"/>
                <a:cs typeface="Palatino Linotype" panose="02040502050505030304"/>
              </a:rPr>
              <a:t>&gt;</a:t>
            </a:r>
            <a:r>
              <a:rPr sz="1100" spc="2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</a:t>
            </a:r>
            <a:r>
              <a:rPr sz="1100" spc="2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</a:t>
            </a:r>
            <a:r>
              <a:rPr sz="1100" spc="2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|</a:t>
            </a:r>
            <a:r>
              <a:rPr sz="1100" spc="2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a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155" dirty="0">
                <a:latin typeface="Palatino Linotype" panose="02040502050505030304"/>
                <a:cs typeface="Palatino Linotype" panose="02040502050505030304"/>
              </a:rPr>
              <a:t>{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594360" marR="1168400" indent="-291465">
              <a:lnSpc>
                <a:spcPct val="103000"/>
              </a:lnSpc>
            </a:pPr>
            <a:r>
              <a:rPr sz="1100" b="1" spc="175" dirty="0">
                <a:latin typeface="Palatino Linotype" panose="02040502050505030304"/>
                <a:cs typeface="Palatino Linotype" panose="02040502050505030304"/>
              </a:rPr>
              <a:t>if</a:t>
            </a:r>
            <a:r>
              <a:rPr sz="1100" b="1" spc="3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(token</a:t>
            </a:r>
            <a:r>
              <a:rPr sz="1100" spc="3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==</a:t>
            </a:r>
            <a:r>
              <a:rPr sz="1100" spc="3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85" dirty="0">
                <a:latin typeface="Palatino Linotype" panose="02040502050505030304"/>
                <a:cs typeface="Palatino Linotype" panose="02040502050505030304"/>
              </a:rPr>
              <a:t>a) 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match(a);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03530">
              <a:lnSpc>
                <a:spcPct val="100000"/>
              </a:lnSpc>
              <a:spcBef>
                <a:spcPts val="35"/>
              </a:spcBef>
            </a:pPr>
            <a:r>
              <a:rPr sz="1100" b="1" spc="60" dirty="0">
                <a:latin typeface="Palatino Linotype" panose="02040502050505030304"/>
                <a:cs typeface="Palatino Linotype" panose="02040502050505030304"/>
              </a:rPr>
              <a:t>else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03530">
              <a:lnSpc>
                <a:spcPct val="100000"/>
              </a:lnSpc>
              <a:spcBef>
                <a:spcPts val="35"/>
              </a:spcBef>
            </a:pPr>
            <a:r>
              <a:rPr sz="1100" spc="155" dirty="0">
                <a:latin typeface="Palatino Linotype" panose="02040502050505030304"/>
                <a:cs typeface="Palatino Linotype" panose="02040502050505030304"/>
              </a:rPr>
              <a:t>{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594360">
              <a:lnSpc>
                <a:spcPct val="100000"/>
              </a:lnSpc>
              <a:spcBef>
                <a:spcPts val="35"/>
              </a:spcBef>
            </a:pPr>
            <a:r>
              <a:rPr sz="1100" spc="155" dirty="0">
                <a:latin typeface="Palatino Linotype" panose="02040502050505030304"/>
                <a:cs typeface="Palatino Linotype" panose="02040502050505030304"/>
              </a:rPr>
              <a:t>S();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594360">
              <a:lnSpc>
                <a:spcPct val="100000"/>
              </a:lnSpc>
              <a:spcBef>
                <a:spcPts val="35"/>
              </a:spcBef>
            </a:pPr>
            <a:r>
              <a:rPr sz="1100" spc="155" dirty="0">
                <a:latin typeface="Palatino Linotype" panose="02040502050505030304"/>
                <a:cs typeface="Palatino Linotype" panose="02040502050505030304"/>
              </a:rPr>
              <a:t>S();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03530">
              <a:lnSpc>
                <a:spcPct val="100000"/>
              </a:lnSpc>
              <a:spcBef>
                <a:spcPts val="35"/>
              </a:spcBef>
            </a:pPr>
            <a:r>
              <a:rPr sz="1100" spc="155" dirty="0">
                <a:latin typeface="Palatino Linotype" panose="02040502050505030304"/>
                <a:cs typeface="Palatino Linotype" panose="02040502050505030304"/>
              </a:rPr>
              <a:t>}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03530">
              <a:lnSpc>
                <a:spcPct val="100000"/>
              </a:lnSpc>
              <a:spcBef>
                <a:spcPts val="35"/>
              </a:spcBef>
            </a:pPr>
            <a:r>
              <a:rPr sz="1100" b="1" spc="75" dirty="0"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;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155" dirty="0">
                <a:latin typeface="Palatino Linotype" panose="02040502050505030304"/>
                <a:cs typeface="Palatino Linotype" panose="02040502050505030304"/>
              </a:rPr>
              <a:t>}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99296" y="3318429"/>
            <a:ext cx="70294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702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950861"/>
            <a:ext cx="155257" cy="1552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4675" y="947875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055" y="919059"/>
            <a:ext cx="20510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Problems</a:t>
            </a:r>
            <a:r>
              <a:rPr sz="1100" spc="-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with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Recursive</a:t>
            </a:r>
            <a:r>
              <a:rPr sz="1100" spc="-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Descent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353108"/>
            <a:ext cx="155257" cy="15525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4460" y="1321435"/>
            <a:ext cx="2079625" cy="180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r>
              <a:rPr sz="1200" b="1" spc="675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Left</a:t>
            </a:r>
            <a:r>
              <a:rPr sz="1100" spc="8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Recursion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1755356"/>
            <a:ext cx="155257" cy="15525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4460" y="1723390"/>
            <a:ext cx="2554605" cy="180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3</a:t>
            </a:r>
            <a:r>
              <a:rPr sz="1200" b="1" spc="630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Eliminating</a:t>
            </a:r>
            <a:r>
              <a:rPr sz="1100" spc="6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Left</a:t>
            </a:r>
            <a:r>
              <a:rPr sz="1100" spc="6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Recursion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779" y="2157602"/>
            <a:ext cx="155257" cy="15525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4675" y="2154668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0055" y="2125801"/>
            <a:ext cx="18091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Advantages</a:t>
            </a:r>
            <a:r>
              <a:rPr sz="1100" spc="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of</a:t>
            </a:r>
            <a:r>
              <a:rPr sz="1100" spc="4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Left</a:t>
            </a:r>
            <a:r>
              <a:rPr sz="1100" spc="4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Recursion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779" y="2559850"/>
            <a:ext cx="155257" cy="15525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24460" y="2527935"/>
            <a:ext cx="2615565" cy="180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5</a:t>
            </a:r>
            <a:r>
              <a:rPr sz="1200" b="1" spc="697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99296" y="3318429"/>
            <a:ext cx="70294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702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Left</a:t>
            </a:r>
            <a:r>
              <a:rPr spc="200" dirty="0"/>
              <a:t> </a:t>
            </a:r>
            <a:r>
              <a:rPr spc="45" dirty="0"/>
              <a:t>Recursion</a:t>
            </a:r>
            <a:endParaRPr spc="45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789635"/>
            <a:ext cx="4483735" cy="1060450"/>
            <a:chOff x="87743" y="789635"/>
            <a:chExt cx="4483735" cy="10604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934707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48167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35467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789635"/>
              <a:ext cx="50800" cy="9585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978982"/>
              <a:ext cx="4432935" cy="820419"/>
            </a:xfrm>
            <a:custGeom>
              <a:avLst/>
              <a:gdLst/>
              <a:ahLst/>
              <a:cxnLst/>
              <a:rect l="l" t="t" r="r" b="b"/>
              <a:pathLst>
                <a:path w="4432935" h="820419">
                  <a:moveTo>
                    <a:pt x="4432567" y="0"/>
                  </a:moveTo>
                  <a:lnTo>
                    <a:pt x="0" y="0"/>
                  </a:lnTo>
                  <a:lnTo>
                    <a:pt x="0" y="769185"/>
                  </a:lnTo>
                  <a:lnTo>
                    <a:pt x="4008" y="788910"/>
                  </a:lnTo>
                  <a:lnTo>
                    <a:pt x="14922" y="805063"/>
                  </a:lnTo>
                  <a:lnTo>
                    <a:pt x="31075" y="815977"/>
                  </a:lnTo>
                  <a:lnTo>
                    <a:pt x="50800" y="819986"/>
                  </a:lnTo>
                  <a:lnTo>
                    <a:pt x="4381767" y="819986"/>
                  </a:lnTo>
                  <a:lnTo>
                    <a:pt x="4401492" y="815977"/>
                  </a:lnTo>
                  <a:lnTo>
                    <a:pt x="4417644" y="805063"/>
                  </a:lnTo>
                  <a:lnTo>
                    <a:pt x="4428558" y="788910"/>
                  </a:lnTo>
                  <a:lnTo>
                    <a:pt x="4432567" y="769185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827735"/>
              <a:ext cx="0" cy="939800"/>
            </a:xfrm>
            <a:custGeom>
              <a:avLst/>
              <a:gdLst/>
              <a:ahLst/>
              <a:cxnLst/>
              <a:rect l="l" t="t" r="r" b="b"/>
              <a:pathLst>
                <a:path h="939800">
                  <a:moveTo>
                    <a:pt x="0" y="9394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81503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80233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78963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87743" y="1995119"/>
            <a:ext cx="4483735" cy="1083310"/>
            <a:chOff x="87743" y="1995119"/>
            <a:chExt cx="4483735" cy="108331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2140191"/>
              <a:ext cx="4432566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44" y="2976321"/>
              <a:ext cx="101600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344" y="2963621"/>
              <a:ext cx="4381767" cy="11430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0311" y="1995119"/>
              <a:ext cx="50800" cy="98120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2184469"/>
              <a:ext cx="4432935" cy="843280"/>
            </a:xfrm>
            <a:custGeom>
              <a:avLst/>
              <a:gdLst/>
              <a:ahLst/>
              <a:cxnLst/>
              <a:rect l="l" t="t" r="r" b="b"/>
              <a:pathLst>
                <a:path w="4432935" h="843280">
                  <a:moveTo>
                    <a:pt x="4432567" y="0"/>
                  </a:moveTo>
                  <a:lnTo>
                    <a:pt x="0" y="0"/>
                  </a:lnTo>
                  <a:lnTo>
                    <a:pt x="0" y="791851"/>
                  </a:lnTo>
                  <a:lnTo>
                    <a:pt x="4008" y="811576"/>
                  </a:lnTo>
                  <a:lnTo>
                    <a:pt x="14922" y="827729"/>
                  </a:lnTo>
                  <a:lnTo>
                    <a:pt x="31075" y="838643"/>
                  </a:lnTo>
                  <a:lnTo>
                    <a:pt x="50800" y="842651"/>
                  </a:lnTo>
                  <a:lnTo>
                    <a:pt x="4381767" y="842651"/>
                  </a:lnTo>
                  <a:lnTo>
                    <a:pt x="4401492" y="838643"/>
                  </a:lnTo>
                  <a:lnTo>
                    <a:pt x="4417644" y="827729"/>
                  </a:lnTo>
                  <a:lnTo>
                    <a:pt x="4428558" y="811576"/>
                  </a:lnTo>
                  <a:lnTo>
                    <a:pt x="4432567" y="791851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520311" y="2033223"/>
              <a:ext cx="0" cy="962660"/>
            </a:xfrm>
            <a:custGeom>
              <a:avLst/>
              <a:gdLst/>
              <a:ahLst/>
              <a:cxnLst/>
              <a:rect l="l" t="t" r="r" b="b"/>
              <a:pathLst>
                <a:path h="962660">
                  <a:moveTo>
                    <a:pt x="0" y="9621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520311" y="20205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520311" y="20078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520311" y="19951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87744" y="686369"/>
            <a:ext cx="3146425" cy="230822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80"/>
              </a:spcBef>
            </a:pP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Definition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(Left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recursive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production)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50800">
              <a:lnSpc>
                <a:spcPct val="100000"/>
              </a:lnSpc>
              <a:spcBef>
                <a:spcPts val="38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production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left</a:t>
            </a:r>
            <a:r>
              <a:rPr sz="1100" spc="4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recursive</a:t>
            </a:r>
            <a:r>
              <a:rPr sz="1100" spc="4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if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it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form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940560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8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Aα.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50800">
              <a:lnSpc>
                <a:spcPct val="100000"/>
              </a:lnSpc>
              <a:spcBef>
                <a:spcPts val="113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some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nonterminal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i="1" spc="-4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some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string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α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50800">
              <a:lnSpc>
                <a:spcPct val="100000"/>
              </a:lnSpc>
            </a:pP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Definition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(Left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recursive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grammar)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50800">
              <a:lnSpc>
                <a:spcPct val="100000"/>
              </a:lnSpc>
              <a:spcBef>
                <a:spcPts val="38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grammar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left</a:t>
            </a:r>
            <a:r>
              <a:rPr sz="1100" spc="4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recursive</a:t>
            </a:r>
            <a:r>
              <a:rPr sz="1100" spc="4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if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there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derivation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959610">
              <a:lnSpc>
                <a:spcPct val="100000"/>
              </a:lnSpc>
              <a:spcBef>
                <a:spcPts val="1310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i="1" spc="-1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-7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⇒</a:t>
            </a:r>
            <a:r>
              <a:rPr sz="1200" spc="22" baseline="42000" dirty="0">
                <a:solidFill>
                  <a:srgbClr val="0000CC"/>
                </a:solidFill>
                <a:latin typeface="Verdana" panose="020B0604030504040204"/>
                <a:cs typeface="Verdana" panose="020B0604030504040204"/>
              </a:rPr>
              <a:t>+</a:t>
            </a:r>
            <a:r>
              <a:rPr sz="1200" spc="397" baseline="42000" dirty="0">
                <a:solidFill>
                  <a:srgbClr val="0000CC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100" i="1" spc="-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Aα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50800">
              <a:lnSpc>
                <a:spcPct val="100000"/>
              </a:lnSpc>
              <a:spcBef>
                <a:spcPts val="113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some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nonterminal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i="1" spc="-4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some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string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α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99296" y="3318429"/>
            <a:ext cx="70294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702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Left</a:t>
            </a:r>
            <a:r>
              <a:rPr spc="200" dirty="0"/>
              <a:t> </a:t>
            </a:r>
            <a:r>
              <a:rPr spc="45" dirty="0"/>
              <a:t>Recursion</a:t>
            </a:r>
            <a:endParaRPr spc="45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786231"/>
            <a:ext cx="4483735" cy="1944370"/>
            <a:chOff x="87743" y="786231"/>
            <a:chExt cx="4483735" cy="19443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909421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628963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616263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786231"/>
              <a:ext cx="50800" cy="184273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953693"/>
              <a:ext cx="4432935" cy="1726564"/>
            </a:xfrm>
            <a:custGeom>
              <a:avLst/>
              <a:gdLst/>
              <a:ahLst/>
              <a:cxnLst/>
              <a:rect l="l" t="t" r="r" b="b"/>
              <a:pathLst>
                <a:path w="4432935" h="1726564">
                  <a:moveTo>
                    <a:pt x="4432567" y="0"/>
                  </a:moveTo>
                  <a:lnTo>
                    <a:pt x="0" y="0"/>
                  </a:lnTo>
                  <a:lnTo>
                    <a:pt x="0" y="1675269"/>
                  </a:lnTo>
                  <a:lnTo>
                    <a:pt x="4008" y="1694994"/>
                  </a:lnTo>
                  <a:lnTo>
                    <a:pt x="14922" y="1711147"/>
                  </a:lnTo>
                  <a:lnTo>
                    <a:pt x="31075" y="1722061"/>
                  </a:lnTo>
                  <a:lnTo>
                    <a:pt x="50800" y="1726070"/>
                  </a:lnTo>
                  <a:lnTo>
                    <a:pt x="4381767" y="1726070"/>
                  </a:lnTo>
                  <a:lnTo>
                    <a:pt x="4401492" y="1722061"/>
                  </a:lnTo>
                  <a:lnTo>
                    <a:pt x="4417644" y="1711147"/>
                  </a:lnTo>
                  <a:lnTo>
                    <a:pt x="4428558" y="1694994"/>
                  </a:lnTo>
                  <a:lnTo>
                    <a:pt x="4432567" y="1675269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824331"/>
              <a:ext cx="0" cy="1823720"/>
            </a:xfrm>
            <a:custGeom>
              <a:avLst/>
              <a:gdLst/>
              <a:ahLst/>
              <a:cxnLst/>
              <a:rect l="l" t="t" r="r" b="b"/>
              <a:pathLst>
                <a:path h="1823720">
                  <a:moveTo>
                    <a:pt x="0" y="182368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81163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79893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78623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25844" y="695424"/>
            <a:ext cx="911860" cy="42037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Left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Recursion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void</a:t>
            </a:r>
            <a:r>
              <a:rPr sz="1100" b="1" spc="3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A()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44155" y="923911"/>
            <a:ext cx="11169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20" dirty="0">
                <a:latin typeface="Palatino Linotype" panose="02040502050505030304"/>
                <a:cs typeface="Palatino Linotype" panose="02040502050505030304"/>
              </a:rPr>
              <a:t>//</a:t>
            </a:r>
            <a:r>
              <a:rPr sz="1100" spc="2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Match</a:t>
            </a:r>
            <a:r>
              <a:rPr sz="1100" spc="2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85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2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90" dirty="0">
                <a:latin typeface="Palatino Linotype" panose="02040502050505030304"/>
                <a:cs typeface="Palatino Linotype" panose="02040502050505030304"/>
              </a:rPr>
              <a:t>-</a:t>
            </a:r>
            <a:r>
              <a:rPr sz="1100" spc="135" dirty="0">
                <a:latin typeface="Palatino Linotype" panose="02040502050505030304"/>
                <a:cs typeface="Palatino Linotype" panose="02040502050505030304"/>
              </a:rPr>
              <a:t>&gt;</a:t>
            </a:r>
            <a:r>
              <a:rPr sz="1100" spc="2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35" dirty="0">
                <a:latin typeface="Palatino Linotype" panose="02040502050505030304"/>
                <a:cs typeface="Palatino Linotype" panose="02040502050505030304"/>
              </a:rPr>
              <a:t>A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2910674"/>
            <a:ext cx="65201" cy="6520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5844" y="1440140"/>
            <a:ext cx="3953510" cy="15792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55" dirty="0">
                <a:latin typeface="Palatino Linotype" panose="02040502050505030304"/>
                <a:cs typeface="Palatino Linotype" panose="02040502050505030304"/>
              </a:rPr>
              <a:t>{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03530">
              <a:lnSpc>
                <a:spcPct val="100000"/>
              </a:lnSpc>
              <a:spcBef>
                <a:spcPts val="35"/>
              </a:spcBef>
            </a:pPr>
            <a:r>
              <a:rPr sz="1100" spc="85" dirty="0">
                <a:latin typeface="Palatino Linotype" panose="02040502050505030304"/>
                <a:cs typeface="Palatino Linotype" panose="02040502050505030304"/>
              </a:rPr>
              <a:t>A();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303530" algn="l"/>
              </a:tabLst>
            </a:pPr>
            <a:r>
              <a:rPr sz="1100" spc="195" dirty="0">
                <a:latin typeface="Palatino Linotype" panose="02040502050505030304"/>
                <a:cs typeface="Palatino Linotype" panose="02040502050505030304"/>
              </a:rPr>
              <a:t>//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	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Process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03530">
              <a:lnSpc>
                <a:spcPct val="100000"/>
              </a:lnSpc>
            </a:pPr>
            <a:r>
              <a:rPr sz="1100" b="1" spc="75" dirty="0"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;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155" dirty="0">
                <a:latin typeface="Palatino Linotype" panose="02040502050505030304"/>
                <a:cs typeface="Palatino Linotype" panose="02040502050505030304"/>
              </a:rPr>
              <a:t>}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>
              <a:lnSpc>
                <a:spcPct val="100000"/>
              </a:lnSpc>
              <a:spcBef>
                <a:spcPts val="147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Attempting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match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left-recursive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production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i="1" spc="-5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3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Aα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99296" y="3318429"/>
            <a:ext cx="70294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25" dirty="0"/>
            </a:fld>
            <a:endParaRPr spc="25" dirty="0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702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Left</a:t>
            </a:r>
            <a:r>
              <a:rPr spc="200" dirty="0"/>
              <a:t> </a:t>
            </a:r>
            <a:r>
              <a:rPr spc="45" dirty="0"/>
              <a:t>Recursion</a:t>
            </a:r>
            <a:endParaRPr spc="45" dirty="0"/>
          </a:p>
        </p:txBody>
      </p:sp>
      <p:sp>
        <p:nvSpPr>
          <p:cNvPr id="5" name="object 5"/>
          <p:cNvSpPr txBox="1"/>
          <p:nvPr/>
        </p:nvSpPr>
        <p:spPr>
          <a:xfrm>
            <a:off x="1742846" y="1057387"/>
            <a:ext cx="1122680" cy="10756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5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100" i="1" spc="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AB</a:t>
            </a:r>
            <a:r>
              <a:rPr sz="1100" i="1" spc="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4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CD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27305">
              <a:lnSpc>
                <a:spcPct val="100000"/>
              </a:lnSpc>
              <a:spcBef>
                <a:spcPts val="335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i="1" spc="-1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8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BC</a:t>
            </a:r>
            <a:r>
              <a:rPr sz="1100" i="1" spc="7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8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CA</a:t>
            </a:r>
            <a:r>
              <a:rPr sz="1100"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7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b="1" spc="-50" dirty="0">
                <a:solidFill>
                  <a:srgbClr val="0000CC"/>
                </a:solidFill>
                <a:latin typeface="Lucida Bright" panose="02040602050505020304"/>
                <a:cs typeface="Lucida Bright" panose="02040602050505020304"/>
              </a:rPr>
              <a:t>a</a:t>
            </a:r>
            <a:endParaRPr sz="1100">
              <a:latin typeface="Lucida Bright" panose="02040602050505020304"/>
              <a:cs typeface="Lucida Bright" panose="02040602050505020304"/>
            </a:endParaRPr>
          </a:p>
          <a:p>
            <a:pPr marL="19050">
              <a:lnSpc>
                <a:spcPct val="100000"/>
              </a:lnSpc>
              <a:spcBef>
                <a:spcPts val="330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sz="1100" i="1" spc="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7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CA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6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7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DB</a:t>
            </a:r>
            <a:r>
              <a:rPr sz="1100" i="1" spc="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7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b="1" spc="-50" dirty="0">
                <a:solidFill>
                  <a:srgbClr val="0000CC"/>
                </a:solidFill>
                <a:latin typeface="Lucida Bright" panose="02040602050505020304"/>
                <a:cs typeface="Lucida Bright" panose="02040602050505020304"/>
              </a:rPr>
              <a:t>b</a:t>
            </a:r>
            <a:endParaRPr sz="1100">
              <a:latin typeface="Lucida Bright" panose="02040602050505020304"/>
              <a:cs typeface="Lucida Bright" panose="02040602050505020304"/>
            </a:endParaRPr>
          </a:p>
          <a:p>
            <a:pPr marL="22225">
              <a:lnSpc>
                <a:spcPct val="100000"/>
              </a:lnSpc>
              <a:spcBef>
                <a:spcPts val="335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r>
              <a:rPr sz="1100" i="1" spc="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4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6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BA</a:t>
            </a:r>
            <a:r>
              <a:rPr sz="1100" i="1" spc="-4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4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AD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4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b="1" spc="-50" dirty="0">
                <a:solidFill>
                  <a:srgbClr val="0000CC"/>
                </a:solidFill>
                <a:latin typeface="Lucida Bright" panose="02040602050505020304"/>
                <a:cs typeface="Lucida Bright" panose="02040602050505020304"/>
              </a:rPr>
              <a:t>a</a:t>
            </a:r>
            <a:endParaRPr sz="1100">
              <a:latin typeface="Lucida Bright" panose="02040602050505020304"/>
              <a:cs typeface="Lucida Bright" panose="0204060205050502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i="1" spc="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</a:t>
            </a:r>
            <a:r>
              <a:rPr sz="1100"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AC</a:t>
            </a:r>
            <a:r>
              <a:rPr sz="1100" i="1" spc="4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9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BD</a:t>
            </a:r>
            <a:r>
              <a:rPr sz="1100"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b="1" spc="-50" dirty="0">
                <a:solidFill>
                  <a:srgbClr val="0000CC"/>
                </a:solidFill>
                <a:latin typeface="Lucida Bright" panose="02040602050505020304"/>
                <a:cs typeface="Lucida Bright" panose="02040602050505020304"/>
              </a:rPr>
              <a:t>b</a:t>
            </a:r>
            <a:endParaRPr sz="1100">
              <a:latin typeface="Lucida Bright" panose="02040602050505020304"/>
              <a:cs typeface="Lucida Bright" panose="020406020505050203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2756128"/>
            <a:ext cx="65201" cy="652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2932" y="2672612"/>
            <a:ext cx="1880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this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grammar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left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recursive?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9296" y="3318429"/>
            <a:ext cx="70294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81931" y="3318429"/>
            <a:ext cx="13081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7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11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5-11-27 0138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" y="552450"/>
            <a:ext cx="4610100" cy="29648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52525"/>
            <a:ext cx="4610100" cy="23050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702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Left</a:t>
            </a:r>
            <a:r>
              <a:rPr spc="200" dirty="0"/>
              <a:t> </a:t>
            </a:r>
            <a:r>
              <a:rPr spc="45" dirty="0"/>
              <a:t>Recursion</a:t>
            </a:r>
            <a:endParaRPr spc="4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905586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64832" y="822069"/>
            <a:ext cx="3763010" cy="2097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Recall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earlier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example,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5" dirty="0">
                <a:latin typeface="Palatino Linotype" panose="02040502050505030304"/>
                <a:cs typeface="Palatino Linotype" panose="02040502050505030304"/>
              </a:rPr>
              <a:t>we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0" dirty="0">
                <a:latin typeface="Palatino Linotype" panose="02040502050505030304"/>
                <a:cs typeface="Palatino Linotype" panose="02040502050505030304"/>
              </a:rPr>
              <a:t>added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production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92430" algn="ctr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200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r>
              <a:rPr sz="1200" spc="284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7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SS</a:t>
            </a:r>
            <a:r>
              <a:rPr sz="1200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r>
              <a:rPr sz="1200" spc="284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7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ε,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50800">
              <a:lnSpc>
                <a:spcPct val="100000"/>
              </a:lnSpc>
              <a:spcBef>
                <a:spcPts val="113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not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production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92430" algn="ctr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200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r>
              <a:rPr sz="1200" spc="277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7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200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S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7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ε.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>
              <a:lnSpc>
                <a:spcPct val="100000"/>
              </a:lnSpc>
            </a:pP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50800">
              <a:lnSpc>
                <a:spcPct val="100000"/>
              </a:lnSpc>
            </a:pP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Why?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50800" marR="17780">
              <a:lnSpc>
                <a:spcPct val="103000"/>
              </a:lnSpc>
              <a:spcBef>
                <a:spcPts val="57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Are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they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equivalent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far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language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grammar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is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concerned?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2394673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2638742"/>
            <a:ext cx="65201" cy="6520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9296" y="3318429"/>
            <a:ext cx="70294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5" dirty="0"/>
            </a:fld>
            <a:endParaRPr spc="45" dirty="0"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2757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Eliminating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950861"/>
            <a:ext cx="155257" cy="1552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4675" y="947875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055" y="919059"/>
            <a:ext cx="20510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Problems</a:t>
            </a:r>
            <a:r>
              <a:rPr sz="1100" spc="-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with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Recursive</a:t>
            </a:r>
            <a:r>
              <a:rPr sz="1100" spc="-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Descent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353108"/>
            <a:ext cx="155257" cy="15525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4675" y="1321306"/>
            <a:ext cx="10775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r>
              <a:rPr sz="1200" b="1" spc="675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Left</a:t>
            </a:r>
            <a:r>
              <a:rPr sz="1100" spc="8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Recursion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779" y="1755356"/>
            <a:ext cx="155257" cy="15525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4675" y="1723553"/>
            <a:ext cx="1833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3</a:t>
            </a:r>
            <a:r>
              <a:rPr sz="1200" b="1" spc="630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Eliminating</a:t>
            </a:r>
            <a:r>
              <a:rPr sz="1100" spc="6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Left</a:t>
            </a:r>
            <a:r>
              <a:rPr sz="1100" spc="6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Recursion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779" y="2157602"/>
            <a:ext cx="155257" cy="15525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4675" y="2154668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0055" y="2125801"/>
            <a:ext cx="18091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Advantages</a:t>
            </a:r>
            <a:r>
              <a:rPr sz="1100" spc="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of</a:t>
            </a:r>
            <a:r>
              <a:rPr sz="1100" spc="4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Left</a:t>
            </a:r>
            <a:r>
              <a:rPr sz="1100" spc="4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Recursion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779" y="2559850"/>
            <a:ext cx="155257" cy="15525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24675" y="2528035"/>
            <a:ext cx="892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5</a:t>
            </a:r>
            <a:r>
              <a:rPr sz="1200" b="1" spc="697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99296" y="3318429"/>
            <a:ext cx="70294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5" dirty="0"/>
            </a:fld>
            <a:endParaRPr spc="45" dirty="0"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2757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Eliminating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Eliminating</a:t>
            </a:r>
            <a:r>
              <a:rPr spc="190" dirty="0"/>
              <a:t> </a:t>
            </a:r>
            <a:r>
              <a:rPr spc="60" dirty="0"/>
              <a:t>Left</a:t>
            </a:r>
            <a:r>
              <a:rPr spc="195" dirty="0"/>
              <a:t> </a:t>
            </a:r>
            <a:r>
              <a:rPr spc="45" dirty="0"/>
              <a:t>Recursion</a:t>
            </a:r>
            <a:endParaRPr spc="4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919200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64832" y="835696"/>
            <a:ext cx="3950335" cy="206311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17780">
              <a:lnSpc>
                <a:spcPct val="103000"/>
              </a:lnSpc>
              <a:spcBef>
                <a:spcPts val="5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Left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recursion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production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may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removed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by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transforming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grammar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following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way.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50800">
              <a:lnSpc>
                <a:spcPct val="100000"/>
              </a:lnSpc>
              <a:spcBef>
                <a:spcPts val="60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Replace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20850">
              <a:lnSpc>
                <a:spcPct val="100000"/>
              </a:lnSpc>
              <a:spcBef>
                <a:spcPts val="1135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6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Aα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6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β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50800">
              <a:lnSpc>
                <a:spcPct val="100000"/>
              </a:lnSpc>
              <a:spcBef>
                <a:spcPts val="1130"/>
              </a:spcBef>
            </a:pP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with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11960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8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βA</a:t>
            </a:r>
            <a:r>
              <a:rPr sz="1200" spc="-37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endParaRPr sz="1200" baseline="31000">
              <a:latin typeface="Cambria" panose="02040503050406030204"/>
              <a:cs typeface="Cambria" panose="02040503050406030204"/>
            </a:endParaRPr>
          </a:p>
          <a:p>
            <a:pPr marL="1676400">
              <a:lnSpc>
                <a:spcPct val="100000"/>
              </a:lnSpc>
              <a:spcBef>
                <a:spcPts val="335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200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r>
              <a:rPr sz="1200" spc="284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7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αA</a:t>
            </a:r>
            <a:r>
              <a:rPr sz="1200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r>
              <a:rPr sz="1200" spc="284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7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ε.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50800">
              <a:lnSpc>
                <a:spcPct val="100000"/>
              </a:lnSpc>
              <a:spcBef>
                <a:spcPts val="1130"/>
              </a:spcBef>
            </a:pP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where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200" baseline="28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r>
              <a:rPr sz="1200" spc="277" baseline="28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new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nonterminal.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335354"/>
            <a:ext cx="65201" cy="65201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9296" y="3318429"/>
            <a:ext cx="70294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5" dirty="0"/>
            </a:fld>
            <a:endParaRPr spc="45" dirty="0"/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2757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Eliminating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Eliminating</a:t>
            </a:r>
            <a:r>
              <a:rPr spc="190" dirty="0"/>
              <a:t> </a:t>
            </a:r>
            <a:r>
              <a:rPr spc="60" dirty="0"/>
              <a:t>Left</a:t>
            </a:r>
            <a:r>
              <a:rPr spc="195" dirty="0"/>
              <a:t> </a:t>
            </a:r>
            <a:r>
              <a:rPr spc="45" dirty="0"/>
              <a:t>Recursion</a:t>
            </a:r>
            <a:endParaRPr spc="4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167244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1083740"/>
            <a:ext cx="3399790" cy="11334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Under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original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productions,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derivation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βααα</a:t>
            </a:r>
            <a:r>
              <a:rPr sz="1100"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480695" algn="ctr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3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⇒</a:t>
            </a:r>
            <a:r>
              <a:rPr sz="1100" spc="8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Aα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1826260">
              <a:lnSpc>
                <a:spcPct val="100000"/>
              </a:lnSpc>
              <a:spcBef>
                <a:spcPts val="335"/>
              </a:spcBef>
            </a:pPr>
            <a:r>
              <a:rPr sz="1100" spc="13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⇒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Aαα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1826260">
              <a:lnSpc>
                <a:spcPct val="100000"/>
              </a:lnSpc>
              <a:spcBef>
                <a:spcPts val="335"/>
              </a:spcBef>
            </a:pPr>
            <a:r>
              <a:rPr sz="1100" spc="13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⇒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Aααα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1826260">
              <a:lnSpc>
                <a:spcPct val="100000"/>
              </a:lnSpc>
              <a:spcBef>
                <a:spcPts val="330"/>
              </a:spcBef>
            </a:pPr>
            <a:r>
              <a:rPr sz="1100" spc="13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⇒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βααα.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9296" y="3318429"/>
            <a:ext cx="70294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5" dirty="0"/>
            </a:fld>
            <a:endParaRPr spc="45" dirty="0"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2757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Eliminating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Eliminating</a:t>
            </a:r>
            <a:r>
              <a:rPr spc="190" dirty="0"/>
              <a:t> </a:t>
            </a:r>
            <a:r>
              <a:rPr spc="60" dirty="0"/>
              <a:t>Left</a:t>
            </a:r>
            <a:r>
              <a:rPr spc="195" dirty="0"/>
              <a:t> </a:t>
            </a:r>
            <a:r>
              <a:rPr spc="45" dirty="0"/>
              <a:t>Recursion</a:t>
            </a:r>
            <a:endParaRPr spc="4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083233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7532" y="999730"/>
            <a:ext cx="3234055" cy="13436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Under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new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productions,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derivation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βααα</a:t>
            </a:r>
            <a:r>
              <a:rPr sz="1100" i="1" spc="-1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658620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3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⇒</a:t>
            </a:r>
            <a:r>
              <a:rPr sz="1100" spc="8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βA</a:t>
            </a:r>
            <a:r>
              <a:rPr sz="1200" spc="-37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endParaRPr sz="1200" baseline="31000">
              <a:latin typeface="Cambria" panose="02040503050406030204"/>
              <a:cs typeface="Cambria" panose="02040503050406030204"/>
            </a:endParaRPr>
          </a:p>
          <a:p>
            <a:pPr marL="1800860">
              <a:lnSpc>
                <a:spcPct val="100000"/>
              </a:lnSpc>
              <a:spcBef>
                <a:spcPts val="335"/>
              </a:spcBef>
            </a:pPr>
            <a:r>
              <a:rPr sz="1100" spc="13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⇒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βαA</a:t>
            </a:r>
            <a:r>
              <a:rPr sz="1200" spc="-30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endParaRPr sz="1200" baseline="31000">
              <a:latin typeface="Cambria" panose="02040503050406030204"/>
              <a:cs typeface="Cambria" panose="02040503050406030204"/>
            </a:endParaRPr>
          </a:p>
          <a:p>
            <a:pPr marL="1800860">
              <a:lnSpc>
                <a:spcPct val="100000"/>
              </a:lnSpc>
              <a:spcBef>
                <a:spcPts val="335"/>
              </a:spcBef>
            </a:pPr>
            <a:r>
              <a:rPr sz="1100" spc="13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⇒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βααA</a:t>
            </a:r>
            <a:r>
              <a:rPr sz="1200" spc="-15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endParaRPr sz="1200" baseline="31000">
              <a:latin typeface="Cambria" panose="02040503050406030204"/>
              <a:cs typeface="Cambria" panose="02040503050406030204"/>
            </a:endParaRPr>
          </a:p>
          <a:p>
            <a:pPr marL="1800860">
              <a:lnSpc>
                <a:spcPct val="100000"/>
              </a:lnSpc>
              <a:spcBef>
                <a:spcPts val="330"/>
              </a:spcBef>
            </a:pPr>
            <a:r>
              <a:rPr sz="1100" spc="13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⇒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βαααA</a:t>
            </a:r>
            <a:r>
              <a:rPr sz="1200" spc="-15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endParaRPr sz="1200" baseline="31000">
              <a:latin typeface="Cambria" panose="02040503050406030204"/>
              <a:cs typeface="Cambria" panose="02040503050406030204"/>
            </a:endParaRPr>
          </a:p>
          <a:p>
            <a:pPr marL="1800860">
              <a:lnSpc>
                <a:spcPct val="100000"/>
              </a:lnSpc>
              <a:spcBef>
                <a:spcPts val="335"/>
              </a:spcBef>
            </a:pPr>
            <a:r>
              <a:rPr sz="1100" spc="13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⇒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βααα.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9296" y="3318429"/>
            <a:ext cx="70294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5" dirty="0"/>
            </a:fld>
            <a:endParaRPr spc="45" dirty="0"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2757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Eliminating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5" dirty="0"/>
              <a:t>Example</a:t>
            </a:r>
            <a:endParaRPr spc="75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1124889"/>
            <a:ext cx="4483735" cy="1450340"/>
            <a:chOff x="87743" y="1124889"/>
            <a:chExt cx="4483735" cy="14503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269974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473426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460726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1124889"/>
              <a:ext cx="50800" cy="134853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314235"/>
              <a:ext cx="4432935" cy="1210310"/>
            </a:xfrm>
            <a:custGeom>
              <a:avLst/>
              <a:gdLst/>
              <a:ahLst/>
              <a:cxnLst/>
              <a:rect l="l" t="t" r="r" b="b"/>
              <a:pathLst>
                <a:path w="4432935" h="1210310">
                  <a:moveTo>
                    <a:pt x="4432567" y="0"/>
                  </a:moveTo>
                  <a:lnTo>
                    <a:pt x="0" y="0"/>
                  </a:lnTo>
                  <a:lnTo>
                    <a:pt x="0" y="1159191"/>
                  </a:lnTo>
                  <a:lnTo>
                    <a:pt x="4008" y="1178915"/>
                  </a:lnTo>
                  <a:lnTo>
                    <a:pt x="14922" y="1195068"/>
                  </a:lnTo>
                  <a:lnTo>
                    <a:pt x="31075" y="1205983"/>
                  </a:lnTo>
                  <a:lnTo>
                    <a:pt x="50800" y="1209991"/>
                  </a:lnTo>
                  <a:lnTo>
                    <a:pt x="4381767" y="1209991"/>
                  </a:lnTo>
                  <a:lnTo>
                    <a:pt x="4401492" y="1205983"/>
                  </a:lnTo>
                  <a:lnTo>
                    <a:pt x="4417644" y="1195068"/>
                  </a:lnTo>
                  <a:lnTo>
                    <a:pt x="4428558" y="1178915"/>
                  </a:lnTo>
                  <a:lnTo>
                    <a:pt x="4432567" y="1159191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1162989"/>
              <a:ext cx="0" cy="1329690"/>
            </a:xfrm>
            <a:custGeom>
              <a:avLst/>
              <a:gdLst/>
              <a:ahLst/>
              <a:cxnLst/>
              <a:rect l="l" t="t" r="r" b="b"/>
              <a:pathLst>
                <a:path h="1329689">
                  <a:moveTo>
                    <a:pt x="0" y="132948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115028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113758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112488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369504"/>
              <a:ext cx="65201" cy="6520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844" y="1023135"/>
            <a:ext cx="2809240" cy="1186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325755" indent="-277495">
              <a:lnSpc>
                <a:spcPct val="128000"/>
              </a:lnSpc>
              <a:spcBef>
                <a:spcPts val="10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(Eliminating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Left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Recursion)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Consider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left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recursive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grammar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817370">
              <a:lnSpc>
                <a:spcPct val="100000"/>
              </a:lnSpc>
              <a:spcBef>
                <a:spcPts val="1130"/>
              </a:spcBef>
            </a:pP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26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+</a:t>
            </a:r>
            <a:r>
              <a:rPr sz="1100" spc="20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100" i="1" spc="1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1819275" marR="36830" indent="7620">
              <a:lnSpc>
                <a:spcPct val="125000"/>
              </a:lnSpc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100" i="1" spc="1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100" i="1" spc="34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∗</a:t>
            </a:r>
            <a:r>
              <a:rPr sz="1100" spc="28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F</a:t>
            </a:r>
            <a:r>
              <a:rPr sz="1100" i="1" spc="1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5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F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F</a:t>
            </a:r>
            <a:r>
              <a:rPr sz="1100" i="1" spc="1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(</a:t>
            </a:r>
            <a:r>
              <a:rPr sz="1100" spc="-5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)</a:t>
            </a:r>
            <a:r>
              <a:rPr sz="1100" spc="-45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b="1" spc="-25" dirty="0">
                <a:solidFill>
                  <a:srgbClr val="0000CC"/>
                </a:solidFill>
                <a:latin typeface="Lucida Bright" panose="02040602050505020304"/>
                <a:cs typeface="Lucida Bright" panose="02040602050505020304"/>
              </a:rPr>
              <a:t>id</a:t>
            </a:r>
            <a:endParaRPr sz="1100">
              <a:latin typeface="Lucida Bright" panose="02040602050505020304"/>
              <a:cs typeface="Lucida Bright" panose="020406020505050203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99296" y="3318429"/>
            <a:ext cx="70294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5" dirty="0"/>
            </a:fld>
            <a:endParaRPr spc="45" dirty="0"/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2757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Eliminating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5" dirty="0"/>
              <a:t>Example</a:t>
            </a:r>
            <a:endParaRPr spc="75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777633"/>
            <a:ext cx="4483735" cy="2318385"/>
            <a:chOff x="87743" y="777633"/>
            <a:chExt cx="4483735" cy="23183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922731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994291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981591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777633"/>
              <a:ext cx="50800" cy="221665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966990"/>
              <a:ext cx="4432935" cy="2078355"/>
            </a:xfrm>
            <a:custGeom>
              <a:avLst/>
              <a:gdLst/>
              <a:ahLst/>
              <a:cxnLst/>
              <a:rect l="l" t="t" r="r" b="b"/>
              <a:pathLst>
                <a:path w="4432935" h="2078355">
                  <a:moveTo>
                    <a:pt x="4432567" y="0"/>
                  </a:moveTo>
                  <a:lnTo>
                    <a:pt x="0" y="0"/>
                  </a:lnTo>
                  <a:lnTo>
                    <a:pt x="0" y="2027301"/>
                  </a:lnTo>
                  <a:lnTo>
                    <a:pt x="4008" y="2047025"/>
                  </a:lnTo>
                  <a:lnTo>
                    <a:pt x="14922" y="2063178"/>
                  </a:lnTo>
                  <a:lnTo>
                    <a:pt x="31075" y="2074092"/>
                  </a:lnTo>
                  <a:lnTo>
                    <a:pt x="50800" y="2078101"/>
                  </a:lnTo>
                  <a:lnTo>
                    <a:pt x="4381767" y="2078101"/>
                  </a:lnTo>
                  <a:lnTo>
                    <a:pt x="4401492" y="2074092"/>
                  </a:lnTo>
                  <a:lnTo>
                    <a:pt x="4417644" y="2063178"/>
                  </a:lnTo>
                  <a:lnTo>
                    <a:pt x="4428558" y="2047025"/>
                  </a:lnTo>
                  <a:lnTo>
                    <a:pt x="4432567" y="2027301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815733"/>
              <a:ext cx="0" cy="2197735"/>
            </a:xfrm>
            <a:custGeom>
              <a:avLst/>
              <a:gdLst/>
              <a:ahLst/>
              <a:cxnLst/>
              <a:rect l="l" t="t" r="r" b="b"/>
              <a:pathLst>
                <a:path h="2197735">
                  <a:moveTo>
                    <a:pt x="0" y="219760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80303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79033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77763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023785"/>
              <a:ext cx="65201" cy="6520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165" y="2100389"/>
              <a:ext cx="65201" cy="65201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960" marR="539115" indent="-277495">
              <a:lnSpc>
                <a:spcPct val="129000"/>
              </a:lnSpc>
              <a:spcBef>
                <a:spcPts val="100"/>
              </a:spcBef>
            </a:pPr>
            <a:r>
              <a:rPr spc="-10" dirty="0"/>
              <a:t>Example</a:t>
            </a:r>
            <a:r>
              <a:rPr spc="15" dirty="0"/>
              <a:t> </a:t>
            </a:r>
            <a:r>
              <a:rPr dirty="0"/>
              <a:t>(Eliminating</a:t>
            </a:r>
            <a:r>
              <a:rPr spc="20" dirty="0"/>
              <a:t> </a:t>
            </a:r>
            <a:r>
              <a:rPr dirty="0"/>
              <a:t>Left</a:t>
            </a:r>
            <a:r>
              <a:rPr spc="20" dirty="0"/>
              <a:t> </a:t>
            </a:r>
            <a:r>
              <a:rPr spc="-10" dirty="0"/>
              <a:t>Recursion) </a:t>
            </a:r>
            <a:r>
              <a:rPr spc="-25" dirty="0"/>
              <a:t>Apply</a:t>
            </a:r>
            <a:r>
              <a:rPr spc="55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spc="-20" dirty="0"/>
              <a:t>transformation</a:t>
            </a:r>
            <a:r>
              <a:rPr spc="55" dirty="0"/>
              <a:t> </a:t>
            </a:r>
            <a:r>
              <a:rPr dirty="0"/>
              <a:t>to</a:t>
            </a:r>
            <a:r>
              <a:rPr spc="55" dirty="0"/>
              <a:t> </a:t>
            </a:r>
            <a:r>
              <a:rPr i="1" spc="4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pc="45" dirty="0"/>
              <a:t>:</a:t>
            </a:r>
            <a:endParaRPr spc="45" dirty="0"/>
          </a:p>
          <a:p>
            <a:pPr marL="1871980">
              <a:lnSpc>
                <a:spcPct val="100000"/>
              </a:lnSpc>
              <a:spcBef>
                <a:spcPts val="1130"/>
              </a:spcBef>
            </a:pPr>
            <a:r>
              <a:rPr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i="1" spc="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i="1" spc="1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i="1" spc="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200" spc="52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endParaRPr sz="1200" baseline="31000">
              <a:latin typeface="Cambria" panose="02040503050406030204"/>
              <a:cs typeface="Cambria" panose="02040503050406030204"/>
            </a:endParaRPr>
          </a:p>
          <a:p>
            <a:pPr marL="1836420">
              <a:lnSpc>
                <a:spcPct val="100000"/>
              </a:lnSpc>
              <a:spcBef>
                <a:spcPts val="335"/>
              </a:spcBef>
            </a:pPr>
            <a:r>
              <a:rPr i="1" spc="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200" spc="89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r>
              <a:rPr sz="1200" spc="254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+</a:t>
            </a:r>
            <a:r>
              <a:rPr sz="1100" spc="-45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100" i="1" spc="1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200" spc="89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r>
              <a:rPr sz="1200" spc="254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ε.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470"/>
              </a:spcBef>
            </a:pPr>
          </a:p>
          <a:p>
            <a:pPr marL="314960">
              <a:lnSpc>
                <a:spcPct val="100000"/>
              </a:lnSpc>
            </a:pPr>
            <a:r>
              <a:rPr dirty="0">
                <a:solidFill>
                  <a:srgbClr val="D8D8D8"/>
                </a:solidFill>
              </a:rPr>
              <a:t>Then</a:t>
            </a:r>
            <a:r>
              <a:rPr spc="55" dirty="0">
                <a:solidFill>
                  <a:srgbClr val="D8D8D8"/>
                </a:solidFill>
              </a:rPr>
              <a:t> </a:t>
            </a:r>
            <a:r>
              <a:rPr spc="-20" dirty="0">
                <a:solidFill>
                  <a:srgbClr val="D8D8D8"/>
                </a:solidFill>
              </a:rPr>
              <a:t>apply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the</a:t>
            </a:r>
            <a:r>
              <a:rPr spc="65" dirty="0">
                <a:solidFill>
                  <a:srgbClr val="D8D8D8"/>
                </a:solidFill>
              </a:rPr>
              <a:t> </a:t>
            </a:r>
            <a:r>
              <a:rPr spc="-20" dirty="0">
                <a:solidFill>
                  <a:srgbClr val="D8D8D8"/>
                </a:solidFill>
              </a:rPr>
              <a:t>transformation</a:t>
            </a:r>
            <a:r>
              <a:rPr spc="6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to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i="1" spc="-35" dirty="0">
                <a:solidFill>
                  <a:srgbClr val="D8D8F7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i="1" spc="-180" dirty="0">
                <a:solidFill>
                  <a:srgbClr val="D8D8F7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-50" dirty="0">
                <a:solidFill>
                  <a:srgbClr val="D8D8D8"/>
                </a:solidFill>
              </a:rPr>
              <a:t>:</a:t>
            </a:r>
            <a:endParaRPr spc="-50" dirty="0">
              <a:solidFill>
                <a:srgbClr val="D8D8D8"/>
              </a:solidFill>
            </a:endParaRPr>
          </a:p>
          <a:p>
            <a:pPr marL="1897380">
              <a:lnSpc>
                <a:spcPct val="100000"/>
              </a:lnSpc>
              <a:spcBef>
                <a:spcPts val="1130"/>
              </a:spcBef>
            </a:pPr>
            <a:r>
              <a:rPr i="1" dirty="0">
                <a:solidFill>
                  <a:srgbClr val="D8D8F7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i="1" spc="120" dirty="0">
                <a:solidFill>
                  <a:srgbClr val="D8D8F7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55" dirty="0">
                <a:solidFill>
                  <a:srgbClr val="D8D8F7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pc="60" dirty="0">
                <a:solidFill>
                  <a:srgbClr val="D8D8F7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dirty="0">
                <a:solidFill>
                  <a:srgbClr val="D8D8F7"/>
                </a:solidFill>
                <a:latin typeface="Bookman Old Style" panose="02050604050505020204"/>
                <a:cs typeface="Bookman Old Style" panose="02050604050505020204"/>
              </a:rPr>
              <a:t>F</a:t>
            </a:r>
            <a:r>
              <a:rPr i="1" spc="120" dirty="0">
                <a:solidFill>
                  <a:srgbClr val="D8D8F7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i="1" spc="-35" dirty="0">
                <a:solidFill>
                  <a:srgbClr val="D8D8F7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i="1" spc="-180" dirty="0">
                <a:solidFill>
                  <a:srgbClr val="D8D8F7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200" spc="-75" baseline="31000" dirty="0">
                <a:solidFill>
                  <a:srgbClr val="D8D8F7"/>
                </a:solidFill>
                <a:latin typeface="Cambria" panose="02040503050406030204"/>
                <a:cs typeface="Cambria" panose="02040503050406030204"/>
              </a:rPr>
              <a:t>′</a:t>
            </a:r>
            <a:endParaRPr sz="1200" baseline="31000">
              <a:latin typeface="Cambria" panose="02040503050406030204"/>
              <a:cs typeface="Cambria" panose="02040503050406030204"/>
            </a:endParaRPr>
          </a:p>
          <a:p>
            <a:pPr marL="1861820">
              <a:lnSpc>
                <a:spcPct val="100000"/>
              </a:lnSpc>
              <a:spcBef>
                <a:spcPts val="335"/>
              </a:spcBef>
            </a:pPr>
            <a:r>
              <a:rPr i="1" spc="-35" dirty="0">
                <a:solidFill>
                  <a:srgbClr val="D8D8F7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i="1" spc="-180" dirty="0">
                <a:solidFill>
                  <a:srgbClr val="D8D8F7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200" baseline="31000" dirty="0">
                <a:solidFill>
                  <a:srgbClr val="D8D8F7"/>
                </a:solidFill>
                <a:latin typeface="Cambria" panose="02040503050406030204"/>
                <a:cs typeface="Cambria" panose="02040503050406030204"/>
              </a:rPr>
              <a:t>′</a:t>
            </a:r>
            <a:r>
              <a:rPr sz="1200" spc="270" baseline="31000" dirty="0">
                <a:solidFill>
                  <a:srgbClr val="D8D8F7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spc="155" dirty="0">
                <a:solidFill>
                  <a:srgbClr val="D8D8F7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60" dirty="0">
                <a:solidFill>
                  <a:srgbClr val="D8D8F7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dirty="0">
                <a:solidFill>
                  <a:srgbClr val="D8D8F7"/>
                </a:solidFill>
                <a:latin typeface="Cambria" panose="02040503050406030204"/>
                <a:cs typeface="Cambria" panose="02040503050406030204"/>
              </a:rPr>
              <a:t>∗</a:t>
            </a:r>
            <a:r>
              <a:rPr sz="1100" spc="65" dirty="0">
                <a:solidFill>
                  <a:srgbClr val="D8D8F7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D8D8F7"/>
                </a:solidFill>
                <a:latin typeface="Bookman Old Style" panose="02050604050505020204"/>
                <a:cs typeface="Bookman Old Style" panose="02050604050505020204"/>
              </a:rPr>
              <a:t>F</a:t>
            </a:r>
            <a:r>
              <a:rPr sz="1100" i="1" spc="125" dirty="0">
                <a:solidFill>
                  <a:srgbClr val="D8D8F7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-35" dirty="0">
                <a:solidFill>
                  <a:srgbClr val="D8D8F7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100" i="1" spc="-180" dirty="0">
                <a:solidFill>
                  <a:srgbClr val="D8D8F7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200" baseline="31000" dirty="0">
                <a:solidFill>
                  <a:srgbClr val="D8D8F7"/>
                </a:solidFill>
                <a:latin typeface="Cambria" panose="02040503050406030204"/>
                <a:cs typeface="Cambria" panose="02040503050406030204"/>
              </a:rPr>
              <a:t>′</a:t>
            </a:r>
            <a:r>
              <a:rPr sz="1200" spc="270" baseline="31000" dirty="0">
                <a:solidFill>
                  <a:srgbClr val="D8D8F7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dirty="0">
                <a:solidFill>
                  <a:srgbClr val="D8D8F7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65" dirty="0">
                <a:solidFill>
                  <a:srgbClr val="D8D8F7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25" dirty="0">
                <a:solidFill>
                  <a:srgbClr val="D8D8F7"/>
                </a:solidFill>
                <a:latin typeface="Bookman Old Style" panose="02050604050505020204"/>
                <a:cs typeface="Bookman Old Style" panose="02050604050505020204"/>
              </a:rPr>
              <a:t>ε.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99296" y="3318429"/>
            <a:ext cx="70294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5" dirty="0"/>
            </a:fld>
            <a:endParaRPr spc="45" dirty="0"/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2757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Eliminating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5" dirty="0"/>
              <a:t>Example</a:t>
            </a:r>
            <a:endParaRPr spc="75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777633"/>
            <a:ext cx="4483735" cy="2318385"/>
            <a:chOff x="87743" y="777633"/>
            <a:chExt cx="4483735" cy="23183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922731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994291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981591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777633"/>
              <a:ext cx="50800" cy="221665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966990"/>
              <a:ext cx="4432935" cy="2078355"/>
            </a:xfrm>
            <a:custGeom>
              <a:avLst/>
              <a:gdLst/>
              <a:ahLst/>
              <a:cxnLst/>
              <a:rect l="l" t="t" r="r" b="b"/>
              <a:pathLst>
                <a:path w="4432935" h="2078355">
                  <a:moveTo>
                    <a:pt x="4432567" y="0"/>
                  </a:moveTo>
                  <a:lnTo>
                    <a:pt x="0" y="0"/>
                  </a:lnTo>
                  <a:lnTo>
                    <a:pt x="0" y="2027301"/>
                  </a:lnTo>
                  <a:lnTo>
                    <a:pt x="4008" y="2047025"/>
                  </a:lnTo>
                  <a:lnTo>
                    <a:pt x="14922" y="2063178"/>
                  </a:lnTo>
                  <a:lnTo>
                    <a:pt x="31075" y="2074092"/>
                  </a:lnTo>
                  <a:lnTo>
                    <a:pt x="50800" y="2078101"/>
                  </a:lnTo>
                  <a:lnTo>
                    <a:pt x="4381767" y="2078101"/>
                  </a:lnTo>
                  <a:lnTo>
                    <a:pt x="4401492" y="2074092"/>
                  </a:lnTo>
                  <a:lnTo>
                    <a:pt x="4417644" y="2063178"/>
                  </a:lnTo>
                  <a:lnTo>
                    <a:pt x="4428558" y="2047025"/>
                  </a:lnTo>
                  <a:lnTo>
                    <a:pt x="4432567" y="2027301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815733"/>
              <a:ext cx="0" cy="2197735"/>
            </a:xfrm>
            <a:custGeom>
              <a:avLst/>
              <a:gdLst/>
              <a:ahLst/>
              <a:cxnLst/>
              <a:rect l="l" t="t" r="r" b="b"/>
              <a:pathLst>
                <a:path h="2197735">
                  <a:moveTo>
                    <a:pt x="0" y="219760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80303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79033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77763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023785"/>
              <a:ext cx="65201" cy="6520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165" y="2100389"/>
              <a:ext cx="65201" cy="65201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960" marR="539115" indent="-277495">
              <a:lnSpc>
                <a:spcPct val="129000"/>
              </a:lnSpc>
              <a:spcBef>
                <a:spcPts val="100"/>
              </a:spcBef>
            </a:pPr>
            <a:r>
              <a:rPr spc="-10" dirty="0"/>
              <a:t>Example</a:t>
            </a:r>
            <a:r>
              <a:rPr spc="15" dirty="0"/>
              <a:t> </a:t>
            </a:r>
            <a:r>
              <a:rPr dirty="0"/>
              <a:t>(Eliminating</a:t>
            </a:r>
            <a:r>
              <a:rPr spc="20" dirty="0"/>
              <a:t> </a:t>
            </a:r>
            <a:r>
              <a:rPr dirty="0"/>
              <a:t>Left</a:t>
            </a:r>
            <a:r>
              <a:rPr spc="20" dirty="0"/>
              <a:t> </a:t>
            </a:r>
            <a:r>
              <a:rPr spc="-10" dirty="0"/>
              <a:t>Recursion) </a:t>
            </a:r>
            <a:r>
              <a:rPr spc="-25" dirty="0"/>
              <a:t>Apply</a:t>
            </a:r>
            <a:r>
              <a:rPr spc="55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spc="-20" dirty="0"/>
              <a:t>transformation</a:t>
            </a:r>
            <a:r>
              <a:rPr spc="55" dirty="0"/>
              <a:t> </a:t>
            </a:r>
            <a:r>
              <a:rPr dirty="0"/>
              <a:t>to</a:t>
            </a:r>
            <a:r>
              <a:rPr spc="55" dirty="0"/>
              <a:t> </a:t>
            </a:r>
            <a:r>
              <a:rPr i="1" spc="4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pc="45" dirty="0"/>
              <a:t>:</a:t>
            </a:r>
            <a:endParaRPr spc="45" dirty="0"/>
          </a:p>
          <a:p>
            <a:pPr marL="1871980">
              <a:lnSpc>
                <a:spcPct val="100000"/>
              </a:lnSpc>
              <a:spcBef>
                <a:spcPts val="1130"/>
              </a:spcBef>
            </a:pPr>
            <a:r>
              <a:rPr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i="1" spc="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i="1" spc="1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i="1" spc="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200" spc="52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endParaRPr sz="1200" baseline="31000">
              <a:latin typeface="Cambria" panose="02040503050406030204"/>
              <a:cs typeface="Cambria" panose="02040503050406030204"/>
            </a:endParaRPr>
          </a:p>
          <a:p>
            <a:pPr marL="1836420">
              <a:lnSpc>
                <a:spcPct val="100000"/>
              </a:lnSpc>
              <a:spcBef>
                <a:spcPts val="335"/>
              </a:spcBef>
            </a:pPr>
            <a:r>
              <a:rPr i="1" spc="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200" spc="89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r>
              <a:rPr sz="1200" spc="254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+</a:t>
            </a:r>
            <a:r>
              <a:rPr sz="1100" spc="-45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100" i="1" spc="1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200" spc="89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r>
              <a:rPr sz="1200" spc="254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ε.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470"/>
              </a:spcBef>
            </a:pPr>
          </a:p>
          <a:p>
            <a:pPr marL="314960">
              <a:lnSpc>
                <a:spcPct val="100000"/>
              </a:lnSpc>
            </a:pPr>
            <a:r>
              <a:rPr dirty="0"/>
              <a:t>Then</a:t>
            </a:r>
            <a:r>
              <a:rPr spc="55" dirty="0"/>
              <a:t> </a:t>
            </a:r>
            <a:r>
              <a:rPr spc="-20" dirty="0"/>
              <a:t>apply</a:t>
            </a:r>
            <a:r>
              <a:rPr spc="60" dirty="0"/>
              <a:t> </a:t>
            </a:r>
            <a:r>
              <a:rPr dirty="0"/>
              <a:t>the</a:t>
            </a:r>
            <a:r>
              <a:rPr spc="65" dirty="0"/>
              <a:t> </a:t>
            </a:r>
            <a:r>
              <a:rPr spc="-20" dirty="0"/>
              <a:t>transformation</a:t>
            </a:r>
            <a:r>
              <a:rPr spc="65" dirty="0"/>
              <a:t> </a:t>
            </a:r>
            <a:r>
              <a:rPr dirty="0"/>
              <a:t>to</a:t>
            </a:r>
            <a:r>
              <a:rPr spc="60" dirty="0"/>
              <a:t> </a:t>
            </a:r>
            <a:r>
              <a:rPr i="1" spc="-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i="1" spc="-18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-50" dirty="0"/>
              <a:t>:</a:t>
            </a:r>
            <a:endParaRPr spc="-50" dirty="0"/>
          </a:p>
          <a:p>
            <a:pPr marL="1897380">
              <a:lnSpc>
                <a:spcPct val="100000"/>
              </a:lnSpc>
              <a:spcBef>
                <a:spcPts val="1130"/>
              </a:spcBef>
            </a:pP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i="1" spc="1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F</a:t>
            </a:r>
            <a:r>
              <a:rPr i="1" spc="1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i="1" spc="-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i="1" spc="-18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200" spc="-75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endParaRPr sz="1200" baseline="31000">
              <a:latin typeface="Cambria" panose="02040503050406030204"/>
              <a:cs typeface="Cambria" panose="02040503050406030204"/>
            </a:endParaRPr>
          </a:p>
          <a:p>
            <a:pPr marL="1861820">
              <a:lnSpc>
                <a:spcPct val="100000"/>
              </a:lnSpc>
              <a:spcBef>
                <a:spcPts val="335"/>
              </a:spcBef>
            </a:pPr>
            <a:r>
              <a:rPr i="1" spc="-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i="1" spc="-18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200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r>
              <a:rPr sz="1200" spc="270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∗</a:t>
            </a:r>
            <a:r>
              <a:rPr sz="1100" spc="6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F</a:t>
            </a:r>
            <a:r>
              <a:rPr sz="1100" i="1" spc="1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-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100" i="1" spc="-18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200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r>
              <a:rPr sz="1200" spc="270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6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ε.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99296" y="3318429"/>
            <a:ext cx="70294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2757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Eliminating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5" dirty="0"/>
              <a:t>Example</a:t>
            </a:r>
            <a:endParaRPr spc="75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873455"/>
            <a:ext cx="4483735" cy="2078989"/>
            <a:chOff x="87743" y="873455"/>
            <a:chExt cx="4483735" cy="207898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018540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850578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837878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873455"/>
              <a:ext cx="50800" cy="197712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062799"/>
              <a:ext cx="4432935" cy="1838960"/>
            </a:xfrm>
            <a:custGeom>
              <a:avLst/>
              <a:gdLst/>
              <a:ahLst/>
              <a:cxnLst/>
              <a:rect l="l" t="t" r="r" b="b"/>
              <a:pathLst>
                <a:path w="4432935" h="1838960">
                  <a:moveTo>
                    <a:pt x="4432567" y="0"/>
                  </a:moveTo>
                  <a:lnTo>
                    <a:pt x="0" y="0"/>
                  </a:lnTo>
                  <a:lnTo>
                    <a:pt x="0" y="1787779"/>
                  </a:lnTo>
                  <a:lnTo>
                    <a:pt x="4008" y="1807503"/>
                  </a:lnTo>
                  <a:lnTo>
                    <a:pt x="14922" y="1823656"/>
                  </a:lnTo>
                  <a:lnTo>
                    <a:pt x="31075" y="1834570"/>
                  </a:lnTo>
                  <a:lnTo>
                    <a:pt x="50800" y="1838579"/>
                  </a:lnTo>
                  <a:lnTo>
                    <a:pt x="4381767" y="1838579"/>
                  </a:lnTo>
                  <a:lnTo>
                    <a:pt x="4401492" y="1834570"/>
                  </a:lnTo>
                  <a:lnTo>
                    <a:pt x="4417644" y="1823656"/>
                  </a:lnTo>
                  <a:lnTo>
                    <a:pt x="4428558" y="1807503"/>
                  </a:lnTo>
                  <a:lnTo>
                    <a:pt x="4432567" y="1787779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911555"/>
              <a:ext cx="0" cy="1958339"/>
            </a:xfrm>
            <a:custGeom>
              <a:avLst/>
              <a:gdLst/>
              <a:ahLst/>
              <a:cxnLst/>
              <a:rect l="l" t="t" r="r" b="b"/>
              <a:pathLst>
                <a:path h="1958339">
                  <a:moveTo>
                    <a:pt x="0" y="195807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8988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8861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8734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116545"/>
              <a:ext cx="65201" cy="6520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13144" y="773224"/>
            <a:ext cx="2866390" cy="1603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marR="506730" indent="-277495">
              <a:lnSpc>
                <a:spcPct val="127000"/>
              </a:lnSpc>
              <a:spcBef>
                <a:spcPts val="10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(Eliminating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Left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Recursion) </a:t>
            </a:r>
            <a:r>
              <a:rPr sz="1100" spc="-80" dirty="0">
                <a:latin typeface="Palatino Linotype" panose="02040502050505030304"/>
                <a:cs typeface="Palatino Linotype" panose="02040502050505030304"/>
              </a:rPr>
              <a:t>Now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grammar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878330">
              <a:lnSpc>
                <a:spcPct val="100000"/>
              </a:lnSpc>
              <a:spcBef>
                <a:spcPts val="1130"/>
              </a:spcBef>
            </a:pP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100" i="1" spc="1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200" spc="52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endParaRPr sz="1200" baseline="31000">
              <a:latin typeface="Cambria" panose="02040503050406030204"/>
              <a:cs typeface="Cambria" panose="02040503050406030204"/>
            </a:endParaRPr>
          </a:p>
          <a:p>
            <a:pPr marL="1888490" marR="43180" indent="-45720">
              <a:lnSpc>
                <a:spcPct val="125000"/>
              </a:lnSpc>
            </a:pPr>
            <a:r>
              <a:rPr sz="1100" i="1" spc="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200" spc="89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r>
              <a:rPr sz="1200" spc="254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+</a:t>
            </a:r>
            <a:r>
              <a:rPr sz="1100" spc="-45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100" i="1" spc="1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200" spc="89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r>
              <a:rPr sz="1200" spc="254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ε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100" i="1" spc="1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F</a:t>
            </a:r>
            <a:r>
              <a:rPr sz="1100" i="1" spc="1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-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100" i="1" spc="-18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200" spc="-75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endParaRPr sz="1200" baseline="31000">
              <a:latin typeface="Cambria" panose="02040503050406030204"/>
              <a:cs typeface="Cambria" panose="02040503050406030204"/>
            </a:endParaRPr>
          </a:p>
          <a:p>
            <a:pPr marL="1880235" marR="83185" indent="-27940">
              <a:lnSpc>
                <a:spcPct val="125000"/>
              </a:lnSpc>
            </a:pPr>
            <a:r>
              <a:rPr sz="1100" i="1" spc="-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100" i="1" spc="-18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200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r>
              <a:rPr sz="1200" spc="270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∗</a:t>
            </a:r>
            <a:r>
              <a:rPr sz="1100" spc="6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F</a:t>
            </a:r>
            <a:r>
              <a:rPr sz="1100" i="1" spc="1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-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100" i="1" spc="-18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200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r>
              <a:rPr sz="1200" spc="270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6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ε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F</a:t>
            </a:r>
            <a:r>
              <a:rPr sz="1100" i="1" spc="1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(</a:t>
            </a:r>
            <a:r>
              <a:rPr sz="1100" spc="-5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)</a:t>
            </a:r>
            <a:r>
              <a:rPr sz="1100" spc="-45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b="1" spc="-25" dirty="0">
                <a:solidFill>
                  <a:srgbClr val="0000CC"/>
                </a:solidFill>
                <a:latin typeface="Lucida Bright" panose="02040602050505020304"/>
                <a:cs typeface="Lucida Bright" panose="02040602050505020304"/>
              </a:rPr>
              <a:t>id</a:t>
            </a:r>
            <a:endParaRPr sz="1100">
              <a:latin typeface="Lucida Bright" panose="02040602050505020304"/>
              <a:cs typeface="Lucida Bright" panose="020406020505050203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99296" y="3318429"/>
            <a:ext cx="70294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2757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Eliminating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Eliminating</a:t>
            </a:r>
            <a:r>
              <a:rPr spc="190" dirty="0"/>
              <a:t> </a:t>
            </a:r>
            <a:r>
              <a:rPr spc="60" dirty="0"/>
              <a:t>Left</a:t>
            </a:r>
            <a:r>
              <a:rPr spc="195" dirty="0"/>
              <a:t> </a:t>
            </a:r>
            <a:r>
              <a:rPr spc="45" dirty="0"/>
              <a:t>Recursion</a:t>
            </a:r>
            <a:endParaRPr spc="45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793203"/>
            <a:ext cx="4483735" cy="1953895"/>
            <a:chOff x="87743" y="793203"/>
            <a:chExt cx="4483735" cy="195389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925969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645499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632798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793204"/>
              <a:ext cx="50800" cy="185229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970229"/>
              <a:ext cx="4432935" cy="1726564"/>
            </a:xfrm>
            <a:custGeom>
              <a:avLst/>
              <a:gdLst/>
              <a:ahLst/>
              <a:cxnLst/>
              <a:rect l="l" t="t" r="r" b="b"/>
              <a:pathLst>
                <a:path w="4432935" h="1726564">
                  <a:moveTo>
                    <a:pt x="4432567" y="0"/>
                  </a:moveTo>
                  <a:lnTo>
                    <a:pt x="0" y="0"/>
                  </a:lnTo>
                  <a:lnTo>
                    <a:pt x="0" y="1675269"/>
                  </a:lnTo>
                  <a:lnTo>
                    <a:pt x="4008" y="1694994"/>
                  </a:lnTo>
                  <a:lnTo>
                    <a:pt x="14922" y="1711147"/>
                  </a:lnTo>
                  <a:lnTo>
                    <a:pt x="31075" y="1722061"/>
                  </a:lnTo>
                  <a:lnTo>
                    <a:pt x="50800" y="1726070"/>
                  </a:lnTo>
                  <a:lnTo>
                    <a:pt x="4381767" y="1726070"/>
                  </a:lnTo>
                  <a:lnTo>
                    <a:pt x="4401492" y="1722061"/>
                  </a:lnTo>
                  <a:lnTo>
                    <a:pt x="4417644" y="1711147"/>
                  </a:lnTo>
                  <a:lnTo>
                    <a:pt x="4428558" y="1694994"/>
                  </a:lnTo>
                  <a:lnTo>
                    <a:pt x="4432567" y="1675269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831303"/>
              <a:ext cx="0" cy="1833245"/>
            </a:xfrm>
            <a:custGeom>
              <a:avLst/>
              <a:gdLst/>
              <a:ahLst/>
              <a:cxnLst/>
              <a:rect l="l" t="t" r="r" b="b"/>
              <a:pathLst>
                <a:path h="1833245">
                  <a:moveTo>
                    <a:pt x="0" y="183324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8186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8059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7932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2927223"/>
            <a:ext cx="65201" cy="6520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3144" y="692846"/>
            <a:ext cx="2960370" cy="234251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1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Eliminating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Left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Recursion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5400">
              <a:lnSpc>
                <a:spcPct val="100000"/>
              </a:lnSpc>
              <a:spcBef>
                <a:spcPts val="310"/>
              </a:spcBef>
              <a:tabLst>
                <a:tab pos="1407160" algn="l"/>
              </a:tabLst>
            </a:pP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void</a:t>
            </a:r>
            <a:r>
              <a:rPr sz="1100" b="1" spc="3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Eprime()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	</a:t>
            </a:r>
            <a:r>
              <a:rPr sz="1100" spc="220" dirty="0">
                <a:latin typeface="Palatino Linotype" panose="02040502050505030304"/>
                <a:cs typeface="Palatino Linotype" panose="02040502050505030304"/>
              </a:rPr>
              <a:t>//</a:t>
            </a:r>
            <a:r>
              <a:rPr sz="1100" spc="2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Match</a:t>
            </a:r>
            <a:r>
              <a:rPr sz="1100" spc="25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120" dirty="0">
                <a:latin typeface="Palatino Linotype" panose="02040502050505030304"/>
                <a:cs typeface="Palatino Linotype" panose="02040502050505030304"/>
              </a:rPr>
              <a:t>E'</a:t>
            </a:r>
            <a:r>
              <a:rPr sz="1100" spc="25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90" dirty="0">
                <a:latin typeface="Palatino Linotype" panose="02040502050505030304"/>
                <a:cs typeface="Palatino Linotype" panose="02040502050505030304"/>
              </a:rPr>
              <a:t>-</a:t>
            </a:r>
            <a:r>
              <a:rPr sz="1100" spc="135" dirty="0">
                <a:latin typeface="Palatino Linotype" panose="02040502050505030304"/>
                <a:cs typeface="Palatino Linotype" panose="02040502050505030304"/>
              </a:rPr>
              <a:t>&gt;</a:t>
            </a:r>
            <a:r>
              <a:rPr sz="1100" spc="25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+</a:t>
            </a:r>
            <a:r>
              <a:rPr sz="1100" spc="25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</a:t>
            </a:r>
            <a:r>
              <a:rPr sz="1100" spc="25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95" dirty="0">
                <a:latin typeface="Palatino Linotype" panose="02040502050505030304"/>
                <a:cs typeface="Palatino Linotype" panose="02040502050505030304"/>
              </a:rPr>
              <a:t>E'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5400">
              <a:lnSpc>
                <a:spcPct val="100000"/>
              </a:lnSpc>
              <a:spcBef>
                <a:spcPts val="35"/>
              </a:spcBef>
            </a:pPr>
            <a:r>
              <a:rPr sz="1100" spc="155" dirty="0">
                <a:latin typeface="Palatino Linotype" panose="02040502050505030304"/>
                <a:cs typeface="Palatino Linotype" panose="02040502050505030304"/>
              </a:rPr>
              <a:t>{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16230">
              <a:lnSpc>
                <a:spcPct val="100000"/>
              </a:lnSpc>
              <a:spcBef>
                <a:spcPts val="35"/>
              </a:spcBef>
            </a:pPr>
            <a:r>
              <a:rPr sz="1100" b="1" spc="175" dirty="0">
                <a:latin typeface="Palatino Linotype" panose="02040502050505030304"/>
                <a:cs typeface="Palatino Linotype" panose="02040502050505030304"/>
              </a:rPr>
              <a:t>if</a:t>
            </a:r>
            <a:r>
              <a:rPr sz="1100" b="1" spc="3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(token</a:t>
            </a:r>
            <a:r>
              <a:rPr sz="1100" spc="3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==</a:t>
            </a:r>
            <a:r>
              <a:rPr sz="1100" spc="3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PLUS)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16230">
              <a:lnSpc>
                <a:spcPct val="100000"/>
              </a:lnSpc>
              <a:spcBef>
                <a:spcPts val="35"/>
              </a:spcBef>
            </a:pPr>
            <a:r>
              <a:rPr sz="1100" spc="155" dirty="0">
                <a:latin typeface="Palatino Linotype" panose="02040502050505030304"/>
                <a:cs typeface="Palatino Linotype" panose="02040502050505030304"/>
              </a:rPr>
              <a:t>{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607060" marR="1471930">
              <a:lnSpc>
                <a:spcPct val="103000"/>
              </a:lnSpc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match(PLUS); </a:t>
            </a:r>
            <a:r>
              <a:rPr sz="1100" spc="130" dirty="0">
                <a:latin typeface="Palatino Linotype" panose="02040502050505030304"/>
                <a:cs typeface="Palatino Linotype" panose="02040502050505030304"/>
              </a:rPr>
              <a:t>T();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607060">
              <a:lnSpc>
                <a:spcPct val="100000"/>
              </a:lnSpc>
              <a:spcBef>
                <a:spcPts val="35"/>
              </a:spcBef>
            </a:pP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Eprime();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16230">
              <a:lnSpc>
                <a:spcPct val="100000"/>
              </a:lnSpc>
              <a:spcBef>
                <a:spcPts val="35"/>
              </a:spcBef>
            </a:pPr>
            <a:r>
              <a:rPr sz="1100" spc="155" dirty="0">
                <a:latin typeface="Palatino Linotype" panose="02040502050505030304"/>
                <a:cs typeface="Palatino Linotype" panose="02040502050505030304"/>
              </a:rPr>
              <a:t>}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16230">
              <a:lnSpc>
                <a:spcPct val="100000"/>
              </a:lnSpc>
              <a:spcBef>
                <a:spcPts val="35"/>
              </a:spcBef>
            </a:pPr>
            <a:r>
              <a:rPr sz="1100" b="1" spc="75" dirty="0"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;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5400">
              <a:lnSpc>
                <a:spcPct val="100000"/>
              </a:lnSpc>
              <a:spcBef>
                <a:spcPts val="35"/>
              </a:spcBef>
            </a:pPr>
            <a:r>
              <a:rPr sz="1100" spc="155" dirty="0">
                <a:latin typeface="Palatino Linotype" panose="02040502050505030304"/>
                <a:cs typeface="Palatino Linotype" panose="02040502050505030304"/>
              </a:rPr>
              <a:t>}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02260">
              <a:lnSpc>
                <a:spcPct val="100000"/>
              </a:lnSpc>
              <a:spcBef>
                <a:spcPts val="147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This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function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4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200" spc="60" baseline="28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99296" y="3318429"/>
            <a:ext cx="70294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61365" y="4394492"/>
            <a:ext cx="259190" cy="17752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76593" y="3039276"/>
            <a:ext cx="30480" cy="43180"/>
          </a:xfrm>
          <a:custGeom>
            <a:avLst/>
            <a:gdLst/>
            <a:ahLst/>
            <a:cxnLst/>
            <a:rect l="l" t="t" r="r" b="b"/>
            <a:pathLst>
              <a:path w="30479" h="43180">
                <a:moveTo>
                  <a:pt x="0" y="0"/>
                </a:moveTo>
                <a:lnTo>
                  <a:pt x="0" y="43019"/>
                </a:lnTo>
                <a:lnTo>
                  <a:pt x="30366" y="43019"/>
                </a:lnTo>
                <a:lnTo>
                  <a:pt x="30366" y="0"/>
                </a:lnTo>
                <a:lnTo>
                  <a:pt x="0" y="0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2821" y="2959659"/>
            <a:ext cx="38100" cy="25400"/>
          </a:xfrm>
          <a:custGeom>
            <a:avLst/>
            <a:gdLst/>
            <a:ahLst/>
            <a:cxnLst/>
            <a:rect l="l" t="t" r="r" b="b"/>
            <a:pathLst>
              <a:path w="38100" h="25400">
                <a:moveTo>
                  <a:pt x="38100" y="25400"/>
                </a:moveTo>
                <a:lnTo>
                  <a:pt x="19050" y="0"/>
                </a:lnTo>
                <a:lnTo>
                  <a:pt x="0" y="25400"/>
                </a:lnTo>
                <a:lnTo>
                  <a:pt x="38100" y="2540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2821" y="3137461"/>
            <a:ext cx="38100" cy="25400"/>
          </a:xfrm>
          <a:custGeom>
            <a:avLst/>
            <a:gdLst/>
            <a:ahLst/>
            <a:cxnLst/>
            <a:rect l="l" t="t" r="r" b="b"/>
            <a:pathLst>
              <a:path w="38100" h="25400">
                <a:moveTo>
                  <a:pt x="38100" y="0"/>
                </a:moveTo>
                <a:lnTo>
                  <a:pt x="0" y="0"/>
                </a:lnTo>
                <a:lnTo>
                  <a:pt x="19050" y="25399"/>
                </a:lnTo>
                <a:lnTo>
                  <a:pt x="381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163941" y="3236595"/>
            <a:ext cx="55880" cy="203200"/>
            <a:chOff x="163941" y="3236595"/>
            <a:chExt cx="55880" cy="203200"/>
          </a:xfrm>
        </p:grpSpPr>
        <p:sp>
          <p:nvSpPr>
            <p:cNvPr id="7" name="object 7"/>
            <p:cNvSpPr/>
            <p:nvPr/>
          </p:nvSpPr>
          <p:spPr>
            <a:xfrm>
              <a:off x="166471" y="3299764"/>
              <a:ext cx="50800" cy="64135"/>
            </a:xfrm>
            <a:custGeom>
              <a:avLst/>
              <a:gdLst/>
              <a:ahLst/>
              <a:cxnLst/>
              <a:rect l="l" t="t" r="r" b="b"/>
              <a:pathLst>
                <a:path w="50800" h="64135">
                  <a:moveTo>
                    <a:pt x="0" y="0"/>
                  </a:moveTo>
                  <a:lnTo>
                    <a:pt x="0" y="43019"/>
                  </a:lnTo>
                  <a:lnTo>
                    <a:pt x="30366" y="43019"/>
                  </a:lnTo>
                  <a:lnTo>
                    <a:pt x="30366" y="0"/>
                  </a:lnTo>
                  <a:lnTo>
                    <a:pt x="0" y="0"/>
                  </a:lnTo>
                  <a:close/>
                </a:path>
                <a:path w="50800" h="64135">
                  <a:moveTo>
                    <a:pt x="30480" y="10491"/>
                  </a:moveTo>
                  <a:lnTo>
                    <a:pt x="40640" y="10491"/>
                  </a:lnTo>
                  <a:lnTo>
                    <a:pt x="40640" y="53672"/>
                  </a:lnTo>
                  <a:lnTo>
                    <a:pt x="10160" y="53672"/>
                  </a:lnTo>
                  <a:lnTo>
                    <a:pt x="10160" y="43512"/>
                  </a:lnTo>
                </a:path>
                <a:path w="50800" h="64135">
                  <a:moveTo>
                    <a:pt x="40640" y="20652"/>
                  </a:moveTo>
                  <a:lnTo>
                    <a:pt x="50800" y="20652"/>
                  </a:lnTo>
                  <a:lnTo>
                    <a:pt x="50800" y="63833"/>
                  </a:lnTo>
                  <a:lnTo>
                    <a:pt x="20320" y="63833"/>
                  </a:lnTo>
                  <a:lnTo>
                    <a:pt x="20320" y="53672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72821" y="3236595"/>
              <a:ext cx="38100" cy="203200"/>
            </a:xfrm>
            <a:custGeom>
              <a:avLst/>
              <a:gdLst/>
              <a:ahLst/>
              <a:cxnLst/>
              <a:rect l="l" t="t" r="r" b="b"/>
              <a:pathLst>
                <a:path w="38100" h="203200">
                  <a:moveTo>
                    <a:pt x="38100" y="25400"/>
                  </a:moveTo>
                  <a:lnTo>
                    <a:pt x="19050" y="0"/>
                  </a:lnTo>
                  <a:lnTo>
                    <a:pt x="0" y="25400"/>
                  </a:lnTo>
                  <a:lnTo>
                    <a:pt x="38100" y="25400"/>
                  </a:lnTo>
                  <a:close/>
                </a:path>
                <a:path w="38100" h="203200">
                  <a:moveTo>
                    <a:pt x="38100" y="177802"/>
                  </a:moveTo>
                  <a:lnTo>
                    <a:pt x="0" y="177802"/>
                  </a:lnTo>
                  <a:lnTo>
                    <a:pt x="19050" y="203202"/>
                  </a:lnTo>
                  <a:lnTo>
                    <a:pt x="38100" y="177802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172821" y="3513531"/>
            <a:ext cx="48260" cy="203200"/>
            <a:chOff x="172821" y="3513531"/>
            <a:chExt cx="48260" cy="203200"/>
          </a:xfrm>
        </p:grpSpPr>
        <p:sp>
          <p:nvSpPr>
            <p:cNvPr id="10" name="object 10"/>
            <p:cNvSpPr/>
            <p:nvPr/>
          </p:nvSpPr>
          <p:spPr>
            <a:xfrm>
              <a:off x="204571" y="3602432"/>
              <a:ext cx="0" cy="38100"/>
            </a:xfrm>
            <a:custGeom>
              <a:avLst/>
              <a:gdLst/>
              <a:ahLst/>
              <a:cxnLst/>
              <a:rect l="l" t="t" r="r" b="b"/>
              <a:pathLst>
                <a:path h="38100">
                  <a:moveTo>
                    <a:pt x="0" y="0"/>
                  </a:moveTo>
                  <a:lnTo>
                    <a:pt x="0" y="38101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72821" y="3513531"/>
              <a:ext cx="38100" cy="203200"/>
            </a:xfrm>
            <a:custGeom>
              <a:avLst/>
              <a:gdLst/>
              <a:ahLst/>
              <a:cxnLst/>
              <a:rect l="l" t="t" r="r" b="b"/>
              <a:pathLst>
                <a:path w="38100" h="203200">
                  <a:moveTo>
                    <a:pt x="38100" y="25400"/>
                  </a:moveTo>
                  <a:lnTo>
                    <a:pt x="19050" y="0"/>
                  </a:lnTo>
                  <a:lnTo>
                    <a:pt x="0" y="25400"/>
                  </a:lnTo>
                  <a:lnTo>
                    <a:pt x="38100" y="25400"/>
                  </a:lnTo>
                  <a:close/>
                </a:path>
                <a:path w="38100" h="203200">
                  <a:moveTo>
                    <a:pt x="38100" y="177802"/>
                  </a:moveTo>
                  <a:lnTo>
                    <a:pt x="0" y="177802"/>
                  </a:lnTo>
                  <a:lnTo>
                    <a:pt x="19050" y="203202"/>
                  </a:lnTo>
                  <a:lnTo>
                    <a:pt x="38100" y="177802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91871" y="3589732"/>
              <a:ext cx="25400" cy="50800"/>
            </a:xfrm>
            <a:custGeom>
              <a:avLst/>
              <a:gdLst/>
              <a:ahLst/>
              <a:cxnLst/>
              <a:rect l="l" t="t" r="r" b="b"/>
              <a:pathLst>
                <a:path w="25400" h="50800">
                  <a:moveTo>
                    <a:pt x="25400" y="0"/>
                  </a:moveTo>
                  <a:lnTo>
                    <a:pt x="25400" y="38100"/>
                  </a:lnTo>
                </a:path>
                <a:path w="25400" h="50800">
                  <a:moveTo>
                    <a:pt x="0" y="12700"/>
                  </a:moveTo>
                  <a:lnTo>
                    <a:pt x="0" y="50801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/>
          <p:nvPr/>
        </p:nvSpPr>
        <p:spPr>
          <a:xfrm>
            <a:off x="166471" y="3589732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0"/>
                </a:moveTo>
                <a:lnTo>
                  <a:pt x="12700" y="38100"/>
                </a:lnTo>
              </a:path>
              <a:path w="12700" h="50800">
                <a:moveTo>
                  <a:pt x="0" y="12700"/>
                </a:moveTo>
                <a:lnTo>
                  <a:pt x="0" y="50801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04571" y="3866668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0"/>
                </a:moveTo>
                <a:lnTo>
                  <a:pt x="12700" y="38100"/>
                </a:lnTo>
              </a:path>
              <a:path w="12700" h="50800">
                <a:moveTo>
                  <a:pt x="0" y="12700"/>
                </a:moveTo>
                <a:lnTo>
                  <a:pt x="0" y="50801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5" name="object 15"/>
          <p:cNvGrpSpPr/>
          <p:nvPr/>
        </p:nvGrpSpPr>
        <p:grpSpPr>
          <a:xfrm>
            <a:off x="162675" y="3790467"/>
            <a:ext cx="48260" cy="203200"/>
            <a:chOff x="162675" y="3790467"/>
            <a:chExt cx="48260" cy="203200"/>
          </a:xfrm>
        </p:grpSpPr>
        <p:sp>
          <p:nvSpPr>
            <p:cNvPr id="16" name="object 16"/>
            <p:cNvSpPr/>
            <p:nvPr/>
          </p:nvSpPr>
          <p:spPr>
            <a:xfrm>
              <a:off x="191871" y="3879368"/>
              <a:ext cx="0" cy="38100"/>
            </a:xfrm>
            <a:custGeom>
              <a:avLst/>
              <a:gdLst/>
              <a:ahLst/>
              <a:cxnLst/>
              <a:rect l="l" t="t" r="r" b="b"/>
              <a:pathLst>
                <a:path h="38100">
                  <a:moveTo>
                    <a:pt x="0" y="0"/>
                  </a:moveTo>
                  <a:lnTo>
                    <a:pt x="0" y="38101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72821" y="3790467"/>
              <a:ext cx="38100" cy="203200"/>
            </a:xfrm>
            <a:custGeom>
              <a:avLst/>
              <a:gdLst/>
              <a:ahLst/>
              <a:cxnLst/>
              <a:rect l="l" t="t" r="r" b="b"/>
              <a:pathLst>
                <a:path w="38100" h="203200">
                  <a:moveTo>
                    <a:pt x="38100" y="25400"/>
                  </a:moveTo>
                  <a:lnTo>
                    <a:pt x="19050" y="0"/>
                  </a:lnTo>
                  <a:lnTo>
                    <a:pt x="0" y="25400"/>
                  </a:lnTo>
                  <a:lnTo>
                    <a:pt x="38100" y="25400"/>
                  </a:lnTo>
                  <a:close/>
                </a:path>
                <a:path w="38100" h="203200">
                  <a:moveTo>
                    <a:pt x="38100" y="177802"/>
                  </a:moveTo>
                  <a:lnTo>
                    <a:pt x="0" y="177802"/>
                  </a:lnTo>
                  <a:lnTo>
                    <a:pt x="19050" y="203202"/>
                  </a:lnTo>
                  <a:lnTo>
                    <a:pt x="38100" y="177802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66471" y="3866668"/>
              <a:ext cx="12700" cy="50800"/>
            </a:xfrm>
            <a:custGeom>
              <a:avLst/>
              <a:gdLst/>
              <a:ahLst/>
              <a:cxnLst/>
              <a:rect l="l" t="t" r="r" b="b"/>
              <a:pathLst>
                <a:path w="12700" h="50800">
                  <a:moveTo>
                    <a:pt x="12700" y="0"/>
                  </a:moveTo>
                  <a:lnTo>
                    <a:pt x="12700" y="38100"/>
                  </a:lnTo>
                </a:path>
                <a:path w="12700" h="50800">
                  <a:moveTo>
                    <a:pt x="0" y="12700"/>
                  </a:moveTo>
                  <a:lnTo>
                    <a:pt x="0" y="50801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/>
          <p:nvPr/>
        </p:nvSpPr>
        <p:spPr>
          <a:xfrm>
            <a:off x="204571" y="4143604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0"/>
                </a:moveTo>
                <a:lnTo>
                  <a:pt x="12700" y="38100"/>
                </a:lnTo>
              </a:path>
              <a:path w="12700" h="50800">
                <a:moveTo>
                  <a:pt x="0" y="12699"/>
                </a:moveTo>
                <a:lnTo>
                  <a:pt x="0" y="50801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66471" y="4143604"/>
            <a:ext cx="25400" cy="50800"/>
          </a:xfrm>
          <a:custGeom>
            <a:avLst/>
            <a:gdLst/>
            <a:ahLst/>
            <a:cxnLst/>
            <a:rect l="l" t="t" r="r" b="b"/>
            <a:pathLst>
              <a:path w="25400" h="50800">
                <a:moveTo>
                  <a:pt x="25400" y="12699"/>
                </a:moveTo>
                <a:lnTo>
                  <a:pt x="25400" y="50801"/>
                </a:lnTo>
              </a:path>
              <a:path w="25400" h="50800">
                <a:moveTo>
                  <a:pt x="12700" y="0"/>
                </a:moveTo>
                <a:lnTo>
                  <a:pt x="12700" y="38100"/>
                </a:lnTo>
              </a:path>
              <a:path w="25400" h="50800">
                <a:moveTo>
                  <a:pt x="0" y="12699"/>
                </a:moveTo>
                <a:lnTo>
                  <a:pt x="0" y="50801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1" name="object 21"/>
          <p:cNvGrpSpPr/>
          <p:nvPr/>
        </p:nvGrpSpPr>
        <p:grpSpPr>
          <a:xfrm>
            <a:off x="162675" y="4326582"/>
            <a:ext cx="57150" cy="238760"/>
            <a:chOff x="162675" y="4326582"/>
            <a:chExt cx="57150" cy="238760"/>
          </a:xfrm>
        </p:grpSpPr>
        <p:sp>
          <p:nvSpPr>
            <p:cNvPr id="22" name="object 22"/>
            <p:cNvSpPr/>
            <p:nvPr/>
          </p:nvSpPr>
          <p:spPr>
            <a:xfrm>
              <a:off x="166471" y="445103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20">
                  <a:moveTo>
                    <a:pt x="20320" y="0"/>
                  </a:moveTo>
                  <a:lnTo>
                    <a:pt x="0" y="20321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82920" y="44239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15183" y="30367"/>
                  </a:moveTo>
                  <a:lnTo>
                    <a:pt x="23568" y="30367"/>
                  </a:lnTo>
                  <a:lnTo>
                    <a:pt x="30366" y="23568"/>
                  </a:lnTo>
                  <a:lnTo>
                    <a:pt x="30366" y="15183"/>
                  </a:ln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7"/>
                  </a:lnTo>
                  <a:lnTo>
                    <a:pt x="15183" y="30367"/>
                  </a:lnTo>
                  <a:close/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66471" y="4329112"/>
              <a:ext cx="50800" cy="233679"/>
            </a:xfrm>
            <a:custGeom>
              <a:avLst/>
              <a:gdLst/>
              <a:ahLst/>
              <a:cxnLst/>
              <a:rect l="l" t="t" r="r" b="b"/>
              <a:pathLst>
                <a:path w="50800" h="233679">
                  <a:moveTo>
                    <a:pt x="0" y="40640"/>
                  </a:moveTo>
                  <a:lnTo>
                    <a:pt x="2004" y="50400"/>
                  </a:lnTo>
                  <a:lnTo>
                    <a:pt x="7461" y="58488"/>
                  </a:lnTo>
                  <a:lnTo>
                    <a:pt x="15537" y="64002"/>
                  </a:lnTo>
                  <a:lnTo>
                    <a:pt x="25400" y="66040"/>
                  </a:lnTo>
                  <a:lnTo>
                    <a:pt x="35262" y="64036"/>
                  </a:lnTo>
                  <a:lnTo>
                    <a:pt x="43339" y="58579"/>
                  </a:lnTo>
                  <a:lnTo>
                    <a:pt x="48796" y="50502"/>
                  </a:lnTo>
                  <a:lnTo>
                    <a:pt x="50800" y="40640"/>
                  </a:lnTo>
                  <a:lnTo>
                    <a:pt x="48796" y="30778"/>
                  </a:lnTo>
                  <a:lnTo>
                    <a:pt x="43339" y="22701"/>
                  </a:lnTo>
                  <a:lnTo>
                    <a:pt x="35262" y="17244"/>
                  </a:lnTo>
                  <a:lnTo>
                    <a:pt x="25400" y="15240"/>
                  </a:lnTo>
                </a:path>
                <a:path w="50800" h="233679">
                  <a:moveTo>
                    <a:pt x="33020" y="30480"/>
                  </a:moveTo>
                  <a:lnTo>
                    <a:pt x="20320" y="15240"/>
                  </a:lnTo>
                  <a:lnTo>
                    <a:pt x="33020" y="0"/>
                  </a:lnTo>
                </a:path>
                <a:path w="50800" h="233679">
                  <a:moveTo>
                    <a:pt x="0" y="193042"/>
                  </a:moveTo>
                  <a:lnTo>
                    <a:pt x="2004" y="183180"/>
                  </a:lnTo>
                  <a:lnTo>
                    <a:pt x="7461" y="175103"/>
                  </a:lnTo>
                  <a:lnTo>
                    <a:pt x="15537" y="169646"/>
                  </a:lnTo>
                  <a:lnTo>
                    <a:pt x="25400" y="167642"/>
                  </a:lnTo>
                  <a:lnTo>
                    <a:pt x="35262" y="169646"/>
                  </a:lnTo>
                  <a:lnTo>
                    <a:pt x="43339" y="175103"/>
                  </a:lnTo>
                  <a:lnTo>
                    <a:pt x="48796" y="183180"/>
                  </a:lnTo>
                  <a:lnTo>
                    <a:pt x="50800" y="193042"/>
                  </a:lnTo>
                  <a:lnTo>
                    <a:pt x="48796" y="202904"/>
                  </a:lnTo>
                  <a:lnTo>
                    <a:pt x="43339" y="210981"/>
                  </a:lnTo>
                  <a:lnTo>
                    <a:pt x="35262" y="216438"/>
                  </a:lnTo>
                  <a:lnTo>
                    <a:pt x="25400" y="218442"/>
                  </a:lnTo>
                </a:path>
                <a:path w="50800" h="233679">
                  <a:moveTo>
                    <a:pt x="33020" y="233682"/>
                  </a:moveTo>
                  <a:lnTo>
                    <a:pt x="20320" y="218442"/>
                  </a:lnTo>
                  <a:lnTo>
                    <a:pt x="33020" y="203202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/>
          <p:nvPr/>
        </p:nvSpPr>
        <p:spPr>
          <a:xfrm>
            <a:off x="3333813" y="12"/>
            <a:ext cx="122555" cy="4608195"/>
          </a:xfrm>
          <a:custGeom>
            <a:avLst/>
            <a:gdLst/>
            <a:ahLst/>
            <a:cxnLst/>
            <a:rect l="l" t="t" r="r" b="b"/>
            <a:pathLst>
              <a:path w="122554" h="4608195">
                <a:moveTo>
                  <a:pt x="122186" y="0"/>
                </a:moveTo>
                <a:lnTo>
                  <a:pt x="0" y="0"/>
                </a:lnTo>
                <a:lnTo>
                  <a:pt x="0" y="2303996"/>
                </a:lnTo>
                <a:lnTo>
                  <a:pt x="0" y="4607979"/>
                </a:lnTo>
                <a:lnTo>
                  <a:pt x="122186" y="4607979"/>
                </a:lnTo>
                <a:lnTo>
                  <a:pt x="122186" y="2303996"/>
                </a:lnTo>
                <a:lnTo>
                  <a:pt x="122186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013607" y="95300"/>
            <a:ext cx="457834" cy="1420495"/>
          </a:xfrm>
          <a:prstGeom prst="rect">
            <a:avLst/>
          </a:prstGeom>
        </p:spPr>
        <p:txBody>
          <a:bodyPr vert="vert" wrap="square" lIns="0" tIns="23495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Advantages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Left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6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Outline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931" y="90779"/>
            <a:ext cx="155257" cy="155257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2350480" y="124675"/>
            <a:ext cx="172085" cy="87630"/>
          </a:xfrm>
          <a:prstGeom prst="rect">
            <a:avLst/>
          </a:prstGeom>
        </p:spPr>
        <p:txBody>
          <a:bodyPr vert="vert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32867" y="290055"/>
            <a:ext cx="222250" cy="2051050"/>
          </a:xfrm>
          <a:prstGeom prst="rect">
            <a:avLst/>
          </a:prstGeom>
        </p:spPr>
        <p:txBody>
          <a:bodyPr vert="vert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0"/>
              </a:spcBef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</a:rPr>
              <a:t>Problems</a:t>
            </a:r>
            <a:r>
              <a:rPr sz="1100" spc="-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</a:rPr>
              <a:t>with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</a:rPr>
              <a:t>Recursive</a:t>
            </a:r>
            <a:r>
              <a:rPr sz="1100" spc="-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</a:rPr>
              <a:t>Descent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30" name="object 3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47684" y="90779"/>
            <a:ext cx="155257" cy="155257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1948233" y="124675"/>
            <a:ext cx="172085" cy="87630"/>
          </a:xfrm>
          <a:prstGeom prst="rect">
            <a:avLst/>
          </a:prstGeom>
        </p:spPr>
        <p:txBody>
          <a:bodyPr vert="vert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30620" y="290055"/>
            <a:ext cx="222250" cy="911860"/>
          </a:xfrm>
          <a:prstGeom prst="rect">
            <a:avLst/>
          </a:prstGeom>
        </p:spPr>
        <p:txBody>
          <a:bodyPr vert="vert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0"/>
              </a:spcBef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</a:rPr>
              <a:t>Left</a:t>
            </a:r>
            <a:r>
              <a:rPr sz="1100" spc="6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</a:rPr>
              <a:t>Recursion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33" name="object 3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45437" y="90779"/>
            <a:ext cx="155257" cy="155257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1528373" y="124675"/>
            <a:ext cx="222250" cy="1833880"/>
          </a:xfrm>
          <a:prstGeom prst="rect">
            <a:avLst/>
          </a:prstGeom>
        </p:spPr>
        <p:txBody>
          <a:bodyPr vert="vert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  <a:hlinkClick r:id="rId6" action="ppaction://hlinksldjump"/>
              </a:rPr>
              <a:t>3</a:t>
            </a:r>
            <a:r>
              <a:rPr sz="1200" b="1" spc="630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</a:rPr>
              <a:t>Eliminating</a:t>
            </a:r>
            <a:r>
              <a:rPr sz="1100" spc="6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</a:rPr>
              <a:t>Left</a:t>
            </a:r>
            <a:r>
              <a:rPr sz="1100" spc="6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</a:rPr>
              <a:t>Recursion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35" name="object 3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3190" y="90779"/>
            <a:ext cx="155257" cy="155257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1143688" y="124675"/>
            <a:ext cx="172085" cy="87630"/>
          </a:xfrm>
          <a:prstGeom prst="rect">
            <a:avLst/>
          </a:prstGeom>
        </p:spPr>
        <p:txBody>
          <a:bodyPr vert="vert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sz="800" b="1" spc="-5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  <a:hlinkClick r:id="rId2" action="ppaction://hlinksldjump"/>
              </a:rPr>
              <a:t>4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26126" y="290055"/>
            <a:ext cx="222250" cy="1809114"/>
          </a:xfrm>
          <a:prstGeom prst="rect">
            <a:avLst/>
          </a:prstGeom>
        </p:spPr>
        <p:txBody>
          <a:bodyPr vert="vert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0"/>
              </a:spcBef>
            </a:pPr>
            <a:r>
              <a:rPr sz="1100" spc="-40" dirty="0">
                <a:latin typeface="Palatino Linotype" panose="02040502050505030304"/>
                <a:cs typeface="Palatino Linotype" panose="02040502050505030304"/>
              </a:rPr>
              <a:t>Advantages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Left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Recursion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38" name="object 3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40943" y="90779"/>
            <a:ext cx="155257" cy="155257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742203" y="124675"/>
            <a:ext cx="172085" cy="87630"/>
          </a:xfrm>
          <a:prstGeom prst="rect">
            <a:avLst/>
          </a:prstGeom>
        </p:spPr>
        <p:txBody>
          <a:bodyPr vert="vert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  <a:hlinkClick r:id="rId6" action="ppaction://hlinksldjump"/>
              </a:rPr>
              <a:t>5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23891" y="290055"/>
            <a:ext cx="222250" cy="727710"/>
          </a:xfrm>
          <a:prstGeom prst="rect">
            <a:avLst/>
          </a:prstGeom>
        </p:spPr>
        <p:txBody>
          <a:bodyPr vert="vert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0"/>
              </a:spcBef>
            </a:pPr>
            <a:r>
              <a:rPr sz="1100" spc="-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0" y="0"/>
            <a:ext cx="122555" cy="2304415"/>
          </a:xfrm>
          <a:custGeom>
            <a:avLst/>
            <a:gdLst/>
            <a:ahLst/>
            <a:cxnLst/>
            <a:rect l="l" t="t" r="r" b="b"/>
            <a:pathLst>
              <a:path w="122555" h="2304415">
                <a:moveTo>
                  <a:pt x="122186" y="2303995"/>
                </a:moveTo>
                <a:lnTo>
                  <a:pt x="122186" y="0"/>
                </a:lnTo>
                <a:lnTo>
                  <a:pt x="0" y="0"/>
                </a:lnTo>
                <a:lnTo>
                  <a:pt x="0" y="2303995"/>
                </a:lnTo>
                <a:lnTo>
                  <a:pt x="122186" y="2303995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460" y="95300"/>
            <a:ext cx="136525" cy="1379855"/>
          </a:xfrm>
          <a:prstGeom prst="rect">
            <a:avLst/>
          </a:prstGeom>
        </p:spPr>
        <p:txBody>
          <a:bodyPr vert="vert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okan</a:t>
            </a:r>
            <a:r>
              <a:rPr sz="600" spc="6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ddin</a:t>
            </a:r>
            <a:r>
              <a:rPr sz="600" spc="6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F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aruqui</a:t>
            </a:r>
            <a:r>
              <a:rPr sz="600" spc="2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600" b="1" spc="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CSE,</a:t>
            </a:r>
            <a:r>
              <a:rPr sz="600" b="1" spc="114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CU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0" y="2303995"/>
            <a:ext cx="122555" cy="2304415"/>
          </a:xfrm>
          <a:custGeom>
            <a:avLst/>
            <a:gdLst/>
            <a:ahLst/>
            <a:cxnLst/>
            <a:rect l="l" t="t" r="r" b="b"/>
            <a:pathLst>
              <a:path w="122555" h="2304415">
                <a:moveTo>
                  <a:pt x="122186" y="2303995"/>
                </a:moveTo>
                <a:lnTo>
                  <a:pt x="122186" y="0"/>
                </a:lnTo>
                <a:lnTo>
                  <a:pt x="0" y="0"/>
                </a:lnTo>
                <a:lnTo>
                  <a:pt x="0" y="2303995"/>
                </a:lnTo>
                <a:lnTo>
                  <a:pt x="122186" y="2303995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460" y="2399296"/>
            <a:ext cx="136525" cy="702945"/>
          </a:xfrm>
          <a:prstGeom prst="rect">
            <a:avLst/>
          </a:prstGeom>
        </p:spPr>
        <p:txBody>
          <a:bodyPr vert="vert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460" y="4381931"/>
            <a:ext cx="136525" cy="130810"/>
          </a:xfrm>
          <a:prstGeom prst="rect">
            <a:avLst/>
          </a:prstGeom>
        </p:spPr>
        <p:txBody>
          <a:bodyPr vert="vert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22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3849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Advantages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Left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Advantages</a:t>
            </a:r>
            <a:r>
              <a:rPr spc="180" dirty="0"/>
              <a:t> </a:t>
            </a:r>
            <a:r>
              <a:rPr dirty="0"/>
              <a:t>of</a:t>
            </a:r>
            <a:r>
              <a:rPr spc="185" dirty="0"/>
              <a:t> </a:t>
            </a:r>
            <a:r>
              <a:rPr spc="60" dirty="0"/>
              <a:t>Left</a:t>
            </a:r>
            <a:r>
              <a:rPr spc="185" dirty="0"/>
              <a:t> </a:t>
            </a:r>
            <a:r>
              <a:rPr spc="45" dirty="0"/>
              <a:t>Recursion</a:t>
            </a:r>
            <a:endParaRPr spc="4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323962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1240445"/>
            <a:ext cx="4079240" cy="10242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91820">
              <a:lnSpc>
                <a:spcPct val="103000"/>
              </a:lnSpc>
              <a:spcBef>
                <a:spcPts val="5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left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recursive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grammar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often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more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intuitive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than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the transformed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grammar.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27305">
              <a:lnSpc>
                <a:spcPct val="103000"/>
              </a:lnSpc>
              <a:spcBef>
                <a:spcPts val="56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left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recursive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grammar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will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match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expressions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earlier,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leading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to </a:t>
            </a:r>
            <a:r>
              <a:rPr sz="1100" spc="-40" dirty="0">
                <a:latin typeface="Palatino Linotype" panose="02040502050505030304"/>
                <a:cs typeface="Palatino Linotype" panose="02040502050505030304"/>
              </a:rPr>
              <a:t>shallower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recursion.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Bottom-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up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parsing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 takes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advantage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 of the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benefits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 of left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recursion.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740103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2156256"/>
            <a:ext cx="65201" cy="6520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9296" y="3318429"/>
            <a:ext cx="70294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3849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Advantages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Left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5" dirty="0"/>
              <a:t>Example</a:t>
            </a:r>
            <a:endParaRPr spc="7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988644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90232" y="905127"/>
            <a:ext cx="2598420" cy="15798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Consider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simple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grammar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531620">
              <a:lnSpc>
                <a:spcPct val="100000"/>
              </a:lnSpc>
              <a:spcBef>
                <a:spcPts val="1130"/>
              </a:spcBef>
            </a:pP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27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+</a:t>
            </a:r>
            <a:r>
              <a:rPr sz="1100" spc="204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b="1" spc="-25" dirty="0">
                <a:solidFill>
                  <a:srgbClr val="0000CC"/>
                </a:solidFill>
                <a:latin typeface="Lucida Bright" panose="02040602050505020304"/>
                <a:cs typeface="Lucida Bright" panose="02040602050505020304"/>
              </a:rPr>
              <a:t>id</a:t>
            </a:r>
            <a:endParaRPr sz="1100">
              <a:latin typeface="Lucida Bright" panose="02040602050505020304"/>
              <a:cs typeface="Lucida Bright" panose="02040602050505020304"/>
            </a:endParaRPr>
          </a:p>
          <a:p>
            <a:pPr>
              <a:lnSpc>
                <a:spcPct val="100000"/>
              </a:lnSpc>
            </a:pPr>
            <a:endParaRPr sz="1100">
              <a:latin typeface="Lucida Bright" panose="02040602050505020304"/>
              <a:cs typeface="Lucida Bright" panose="02040602050505020304"/>
            </a:endParaRPr>
          </a:p>
          <a:p>
            <a:pPr>
              <a:lnSpc>
                <a:spcPct val="100000"/>
              </a:lnSpc>
              <a:spcBef>
                <a:spcPts val="460"/>
              </a:spcBef>
            </a:pPr>
            <a:endParaRPr sz="1100">
              <a:latin typeface="Lucida Bright" panose="02040602050505020304"/>
              <a:cs typeface="Lucida Bright" panose="02040602050505020304"/>
            </a:endParaRPr>
          </a:p>
          <a:p>
            <a:pPr marL="25400">
              <a:lnSpc>
                <a:spcPct val="100000"/>
              </a:lnSpc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Convert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it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to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596390">
              <a:lnSpc>
                <a:spcPct val="100000"/>
              </a:lnSpc>
              <a:spcBef>
                <a:spcPts val="1135"/>
              </a:spcBef>
            </a:pP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b="1" dirty="0">
                <a:solidFill>
                  <a:srgbClr val="0000CC"/>
                </a:solidFill>
                <a:latin typeface="Lucida Bright" panose="02040602050505020304"/>
                <a:cs typeface="Lucida Bright" panose="02040602050505020304"/>
              </a:rPr>
              <a:t>id</a:t>
            </a:r>
            <a:r>
              <a:rPr sz="1100" b="1" spc="-50" dirty="0">
                <a:solidFill>
                  <a:srgbClr val="0000CC"/>
                </a:solidFill>
                <a:latin typeface="Lucida Bright" panose="02040602050505020304"/>
                <a:cs typeface="Lucida Bright" panose="02040602050505020304"/>
              </a:rPr>
              <a:t> </a:t>
            </a:r>
            <a:r>
              <a:rPr sz="1100" i="1" spc="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200" spc="52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endParaRPr sz="1200" baseline="31000">
              <a:latin typeface="Cambria" panose="02040503050406030204"/>
              <a:cs typeface="Cambria" panose="02040503050406030204"/>
            </a:endParaRPr>
          </a:p>
          <a:p>
            <a:pPr marL="1560830">
              <a:lnSpc>
                <a:spcPct val="100000"/>
              </a:lnSpc>
              <a:spcBef>
                <a:spcPts val="330"/>
              </a:spcBef>
            </a:pPr>
            <a:r>
              <a:rPr sz="1100" i="1" spc="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200" spc="89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r>
              <a:rPr sz="1200" spc="262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+</a:t>
            </a:r>
            <a:r>
              <a:rPr sz="1100" spc="-35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i="1" spc="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100" i="1" spc="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r>
              <a:rPr sz="1200" spc="89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′</a:t>
            </a:r>
            <a:r>
              <a:rPr sz="1200" spc="270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ε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855228"/>
            <a:ext cx="65201" cy="65201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9296" y="3318429"/>
            <a:ext cx="70294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5600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Assignment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950861"/>
            <a:ext cx="155257" cy="1552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4675" y="947875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055" y="919059"/>
            <a:ext cx="20510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Problems</a:t>
            </a:r>
            <a:r>
              <a:rPr sz="1100" spc="-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with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Recursive</a:t>
            </a:r>
            <a:r>
              <a:rPr sz="1100" spc="-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Descent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353108"/>
            <a:ext cx="155257" cy="15525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1755356"/>
            <a:ext cx="155257" cy="15525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4675" y="1321306"/>
            <a:ext cx="1833880" cy="594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90"/>
              </a:spcBef>
              <a:buClr>
                <a:srgbClr val="FAF9FB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Left</a:t>
            </a:r>
            <a:r>
              <a:rPr sz="1100" spc="6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Recursion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Clr>
                <a:srgbClr val="FAF9FB"/>
              </a:buClr>
              <a:buFont typeface="Comic Sans MS" panose="030F0702030302020204"/>
              <a:buAutoNum type="arabicPlain" startAt="2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spcBef>
                <a:spcPts val="5"/>
              </a:spcBef>
              <a:buClr>
                <a:srgbClr val="FAF9FB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Eliminating</a:t>
            </a:r>
            <a:r>
              <a:rPr sz="1100" spc="4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Left</a:t>
            </a:r>
            <a:r>
              <a:rPr sz="1100" spc="4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Recursion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779" y="2157602"/>
            <a:ext cx="155257" cy="1552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4675" y="2154668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055" y="2125801"/>
            <a:ext cx="18091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Advantages</a:t>
            </a:r>
            <a:r>
              <a:rPr sz="1100" spc="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of</a:t>
            </a:r>
            <a:r>
              <a:rPr sz="1100" spc="4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Left</a:t>
            </a:r>
            <a:r>
              <a:rPr sz="1100" spc="4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Recursion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0779" y="2559850"/>
            <a:ext cx="155257" cy="15525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24675" y="2528035"/>
            <a:ext cx="892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5</a:t>
            </a:r>
            <a:r>
              <a:rPr sz="1200" b="1" spc="697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99296" y="3318429"/>
            <a:ext cx="70294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5600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Assignment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Assignment</a:t>
            </a:r>
            <a:endParaRPr spc="-10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949185"/>
            <a:ext cx="4483735" cy="1889760"/>
            <a:chOff x="87743" y="949185"/>
            <a:chExt cx="4483735" cy="18897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070851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736977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724277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949185"/>
              <a:ext cx="50800" cy="178779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115110"/>
              <a:ext cx="4432935" cy="1673225"/>
            </a:xfrm>
            <a:custGeom>
              <a:avLst/>
              <a:gdLst/>
              <a:ahLst/>
              <a:cxnLst/>
              <a:rect l="l" t="t" r="r" b="b"/>
              <a:pathLst>
                <a:path w="4432935" h="1673225">
                  <a:moveTo>
                    <a:pt x="4432567" y="0"/>
                  </a:moveTo>
                  <a:lnTo>
                    <a:pt x="0" y="0"/>
                  </a:lnTo>
                  <a:lnTo>
                    <a:pt x="0" y="1621866"/>
                  </a:lnTo>
                  <a:lnTo>
                    <a:pt x="4008" y="1641590"/>
                  </a:lnTo>
                  <a:lnTo>
                    <a:pt x="14922" y="1657743"/>
                  </a:lnTo>
                  <a:lnTo>
                    <a:pt x="31075" y="1668658"/>
                  </a:lnTo>
                  <a:lnTo>
                    <a:pt x="50800" y="1672666"/>
                  </a:lnTo>
                  <a:lnTo>
                    <a:pt x="4381767" y="1672666"/>
                  </a:lnTo>
                  <a:lnTo>
                    <a:pt x="4401492" y="1668658"/>
                  </a:lnTo>
                  <a:lnTo>
                    <a:pt x="4417644" y="1657743"/>
                  </a:lnTo>
                  <a:lnTo>
                    <a:pt x="4428558" y="1641590"/>
                  </a:lnTo>
                  <a:lnTo>
                    <a:pt x="4432567" y="1621866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987285"/>
              <a:ext cx="0" cy="1769110"/>
            </a:xfrm>
            <a:custGeom>
              <a:avLst/>
              <a:gdLst/>
              <a:ahLst/>
              <a:cxnLst/>
              <a:rect l="l" t="t" r="r" b="b"/>
              <a:pathLst>
                <a:path h="1769110">
                  <a:moveTo>
                    <a:pt x="0" y="17687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97458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96188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94918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166507"/>
              <a:ext cx="65201" cy="6520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165" y="1410576"/>
              <a:ext cx="65201" cy="6520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165" y="1654644"/>
              <a:ext cx="65201" cy="6520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0915" y="2463076"/>
              <a:ext cx="52527" cy="5252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0915" y="2686901"/>
              <a:ext cx="52527" cy="52527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13144" y="859203"/>
            <a:ext cx="3860800" cy="192087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315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Homework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02260">
              <a:lnSpc>
                <a:spcPct val="100000"/>
              </a:lnSpc>
              <a:spcBef>
                <a:spcPts val="21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4.2.1,</a:t>
            </a:r>
            <a:r>
              <a:rPr sz="1100" spc="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4.2.2.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02260">
              <a:lnSpc>
                <a:spcPct val="100000"/>
              </a:lnSpc>
              <a:spcBef>
                <a:spcPts val="60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4.4.1,</a:t>
            </a:r>
            <a:r>
              <a:rPr sz="1100" spc="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4.4.3,</a:t>
            </a:r>
            <a:r>
              <a:rPr sz="1100" spc="1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4..4.4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02260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grammar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01420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R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6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R</a:t>
            </a:r>
            <a:r>
              <a:rPr sz="1100" i="1" spc="2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∪</a:t>
            </a:r>
            <a:r>
              <a:rPr sz="1100" spc="30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R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6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R</a:t>
            </a:r>
            <a:r>
              <a:rPr sz="1100" i="1" spc="-1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R</a:t>
            </a:r>
            <a:r>
              <a:rPr sz="1100" i="1" spc="-1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R</a:t>
            </a:r>
            <a:r>
              <a:rPr sz="1100" i="1" spc="-1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200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∗</a:t>
            </a:r>
            <a:r>
              <a:rPr sz="1200" spc="270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6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(</a:t>
            </a:r>
            <a:r>
              <a:rPr sz="1100" spc="-4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R</a:t>
            </a:r>
            <a:r>
              <a:rPr sz="1100" i="1" spc="-1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)</a:t>
            </a:r>
            <a:r>
              <a:rPr sz="1100" spc="-35" dirty="0">
                <a:solidFill>
                  <a:srgbClr val="0000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6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b="1" dirty="0">
                <a:solidFill>
                  <a:srgbClr val="0000CC"/>
                </a:solidFill>
                <a:latin typeface="Lucida Bright" panose="02040602050505020304"/>
                <a:cs typeface="Lucida Bright" panose="02040602050505020304"/>
              </a:rPr>
              <a:t>a</a:t>
            </a:r>
            <a:r>
              <a:rPr sz="1100" b="1" spc="-40" dirty="0">
                <a:solidFill>
                  <a:srgbClr val="0000CC"/>
                </a:solidFill>
                <a:latin typeface="Lucida Bright" panose="02040602050505020304"/>
                <a:cs typeface="Lucida Bright" panose="020406020505050203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6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b="1" spc="-50" dirty="0">
                <a:solidFill>
                  <a:srgbClr val="0000CC"/>
                </a:solidFill>
                <a:latin typeface="Lucida Bright" panose="02040602050505020304"/>
                <a:cs typeface="Lucida Bright" panose="02040602050505020304"/>
              </a:rPr>
              <a:t>b</a:t>
            </a:r>
            <a:endParaRPr sz="1100">
              <a:latin typeface="Lucida Bright" panose="02040602050505020304"/>
              <a:cs typeface="Lucida Bright" panose="02040602050505020304"/>
            </a:endParaRPr>
          </a:p>
          <a:p>
            <a:pPr marL="251460" algn="ctr">
              <a:lnSpc>
                <a:spcPct val="100000"/>
              </a:lnSpc>
              <a:spcBef>
                <a:spcPts val="1100"/>
              </a:spcBef>
            </a:pP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generates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regular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expressions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over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alphabet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{</a:t>
            </a:r>
            <a:r>
              <a:rPr sz="1100" b="1" dirty="0">
                <a:solidFill>
                  <a:srgbClr val="0000CC"/>
                </a:solidFill>
                <a:latin typeface="Lucida Bright" panose="02040602050505020304"/>
                <a:cs typeface="Lucida Bright" panose="02040602050505020304"/>
              </a:rPr>
              <a:t>a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,</a:t>
            </a:r>
            <a:r>
              <a:rPr sz="1100" i="1" spc="-1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b="1" spc="-25" dirty="0">
                <a:solidFill>
                  <a:srgbClr val="0000CC"/>
                </a:solidFill>
                <a:latin typeface="Lucida Bright" panose="02040602050505020304"/>
                <a:cs typeface="Lucida Bright" panose="02040602050505020304"/>
              </a:rPr>
              <a:t>b</a:t>
            </a:r>
            <a:r>
              <a:rPr sz="1100" spc="-2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}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19075" algn="ctr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Palatino Linotype" panose="02040502050505030304"/>
                <a:cs typeface="Palatino Linotype" panose="02040502050505030304"/>
              </a:rPr>
              <a:t>Rewrite</a:t>
            </a:r>
            <a:r>
              <a:rPr sz="10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0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20" dirty="0">
                <a:latin typeface="Palatino Linotype" panose="02040502050505030304"/>
                <a:cs typeface="Palatino Linotype" panose="02040502050505030304"/>
              </a:rPr>
              <a:t>grammar</a:t>
            </a:r>
            <a:r>
              <a:rPr sz="10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0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reflect</a:t>
            </a:r>
            <a:r>
              <a:rPr sz="10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0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25" dirty="0">
                <a:latin typeface="Palatino Linotype" panose="02040502050505030304"/>
                <a:cs typeface="Palatino Linotype" panose="02040502050505030304"/>
              </a:rPr>
              <a:t>precedence</a:t>
            </a:r>
            <a:r>
              <a:rPr sz="10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latin typeface="Palatino Linotype" panose="02040502050505030304"/>
                <a:cs typeface="Palatino Linotype" panose="02040502050505030304"/>
              </a:rPr>
              <a:t>rules.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  <a:p>
            <a:pPr marR="1358265" algn="ctr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Palatino Linotype" panose="02040502050505030304"/>
                <a:cs typeface="Palatino Linotype" panose="02040502050505030304"/>
              </a:rPr>
              <a:t>Eliminate</a:t>
            </a:r>
            <a:r>
              <a:rPr sz="10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>
                <a:latin typeface="Palatino Linotype" panose="02040502050505030304"/>
                <a:cs typeface="Palatino Linotype" panose="02040502050505030304"/>
              </a:rPr>
              <a:t>left</a:t>
            </a:r>
            <a:r>
              <a:rPr sz="10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>
                <a:latin typeface="Palatino Linotype" panose="02040502050505030304"/>
                <a:cs typeface="Palatino Linotype" panose="02040502050505030304"/>
              </a:rPr>
              <a:t>recursion.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99296" y="3318429"/>
            <a:ext cx="70294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Left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Recursion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5-11-27 0152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76250"/>
            <a:ext cx="4609465" cy="217614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5-11-27 0212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" y="687070"/>
            <a:ext cx="4610100" cy="38766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5-11-27 0212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99770"/>
            <a:ext cx="4610100" cy="215011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" y="0"/>
            <a:ext cx="4499610" cy="46101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5-11-27 0152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" y="182245"/>
            <a:ext cx="4609465" cy="384175"/>
          </a:xfrm>
          <a:prstGeom prst="rect">
            <a:avLst/>
          </a:prstGeom>
        </p:spPr>
      </p:pic>
      <p:pic>
        <p:nvPicPr>
          <p:cNvPr id="5" name="Picture 4" descr="Screenshot 2025-11-27 0152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2450"/>
            <a:ext cx="4610100" cy="288861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5-11-27 0246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" y="90170"/>
            <a:ext cx="3854450" cy="431101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5-11-27 0247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" y="102235"/>
            <a:ext cx="4457700" cy="433260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300" y="182191"/>
            <a:ext cx="3912870" cy="215265"/>
          </a:xfrm>
        </p:spPr>
        <p:txBody>
          <a:bodyPr/>
          <a:p>
            <a:r>
              <a:rPr lang="en-US">
                <a:sym typeface="+mn-ea"/>
              </a:rPr>
              <a:t>6 number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5" name="Picture 4" descr="Screenshot 2025-11-27 0311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76250"/>
            <a:ext cx="4610100" cy="2084705"/>
          </a:xfrm>
          <a:prstGeom prst="rect">
            <a:avLst/>
          </a:prstGeom>
        </p:spPr>
      </p:pic>
      <p:pic>
        <p:nvPicPr>
          <p:cNvPr id="6" name="Picture 5" descr="Screenshot 2025-11-27 0311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2195"/>
            <a:ext cx="4610100" cy="228790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364" y="704847"/>
            <a:ext cx="2911475" cy="2055495"/>
          </a:xfrm>
        </p:spPr>
        <p:txBody>
          <a:bodyPr/>
          <a:p>
            <a:endParaRPr lang="en-US"/>
          </a:p>
        </p:txBody>
      </p:sp>
      <p:pic>
        <p:nvPicPr>
          <p:cNvPr id="4" name="Picture 3" descr="Screenshot 2025-11-15 1504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0400"/>
            <a:ext cx="4609465" cy="328866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14095"/>
            <a:ext cx="4610100" cy="258127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27100"/>
            <a:ext cx="4610100" cy="275526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93065"/>
            <a:ext cx="4610100" cy="38239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5793</Words>
  <Application>WPS Presentation</Application>
  <PresentationFormat>On-screen Show (4:3)</PresentationFormat>
  <Paragraphs>503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8" baseType="lpstr">
      <vt:lpstr>Arial</vt:lpstr>
      <vt:lpstr>SimSun</vt:lpstr>
      <vt:lpstr>Wingdings</vt:lpstr>
      <vt:lpstr>Palatino Linotype</vt:lpstr>
      <vt:lpstr>Georgia</vt:lpstr>
      <vt:lpstr>Comic Sans MS</vt:lpstr>
      <vt:lpstr>Bookman Old Style</vt:lpstr>
      <vt:lpstr>Cambria</vt:lpstr>
      <vt:lpstr>Lucida Bright</vt:lpstr>
      <vt:lpstr>Book Antiqua</vt:lpstr>
      <vt:lpstr>Verdana</vt:lpstr>
      <vt:lpstr>Microsoft YaHei</vt:lpstr>
      <vt:lpstr>Arial Unicode MS</vt:lpstr>
      <vt:lpstr>Calibri</vt:lpstr>
      <vt:lpstr>Tahoma</vt:lpstr>
      <vt:lpstr>Office Theme</vt:lpstr>
      <vt:lpstr>Left Recursion</vt:lpstr>
      <vt:lpstr>PowerPoint 演示文稿</vt:lpstr>
      <vt:lpstr>Outline</vt:lpstr>
      <vt:lpstr>A Problem with Recursive Descent Parsers</vt:lpstr>
      <vt:lpstr>A Problem with Recursive Descent Parsers</vt:lpstr>
      <vt:lpstr>Another Problem with Recursive Descent Parsers</vt:lpstr>
      <vt:lpstr>Futile Attempt</vt:lpstr>
      <vt:lpstr>Outline</vt:lpstr>
      <vt:lpstr>Left Recursion</vt:lpstr>
      <vt:lpstr>PowerPoint 演示文稿</vt:lpstr>
      <vt:lpstr>Left Recursion</vt:lpstr>
      <vt:lpstr>Left Recursion</vt:lpstr>
      <vt:lpstr>PowerPoint 演示文稿</vt:lpstr>
      <vt:lpstr>PowerPoint 演示文稿</vt:lpstr>
      <vt:lpstr>Left Recursion</vt:lpstr>
      <vt:lpstr>Outline</vt:lpstr>
      <vt:lpstr>Eliminating Left Recursion</vt:lpstr>
      <vt:lpstr>Eliminating Left Recursion</vt:lpstr>
      <vt:lpstr>Eliminating Left Recursion</vt:lpstr>
      <vt:lpstr>Example</vt:lpstr>
      <vt:lpstr>Example</vt:lpstr>
      <vt:lpstr>Example</vt:lpstr>
      <vt:lpstr>Example</vt:lpstr>
      <vt:lpstr>Eliminating Left Recursion</vt:lpstr>
      <vt:lpstr>PowerPoint 演示文稿</vt:lpstr>
      <vt:lpstr>Advantages of Left Recursion</vt:lpstr>
      <vt:lpstr>Example</vt:lpstr>
      <vt:lpstr>Outline</vt:lpstr>
      <vt:lpstr>Assignment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Left Recursion</dc:title>
  <dc:creator>Rokan Uddin Faruqui </dc:creator>
  <cp:lastModifiedBy>Sharifunnaher Snigdha</cp:lastModifiedBy>
  <cp:revision>7</cp:revision>
  <dcterms:created xsi:type="dcterms:W3CDTF">2025-11-15T09:23:00Z</dcterms:created>
  <dcterms:modified xsi:type="dcterms:W3CDTF">2025-11-26T21:14:28Z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2020-01-20T12:00:00Z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2025-11-15T12:00:00Z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ICV">
    <vt:lpwstr>0E14D99939A944B6BA817FC9101EEE45_12</vt:lpwstr>
  </property>
  <property fmtid="{D5CDD505-2E9C-101B-9397-08002B2CF9AE}" pid="7" name="KSOProductBuildVer">
    <vt:lpwstr>1033-12.2.0.23155</vt:lpwstr>
  </property>
</Properties>
</file>