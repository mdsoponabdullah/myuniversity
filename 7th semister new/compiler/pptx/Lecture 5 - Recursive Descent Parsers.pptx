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3" r:id="rId6"/>
    <p:sldId id="276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7" r:id="rId15"/>
    <p:sldId id="278" r:id="rId16"/>
    <p:sldId id="279" r:id="rId17"/>
    <p:sldId id="281" r:id="rId18"/>
    <p:sldId id="280" r:id="rId19"/>
    <p:sldId id="283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tx1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2191"/>
            <a:ext cx="239268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705534"/>
            <a:ext cx="4291965" cy="2155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tx1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318429"/>
            <a:ext cx="1379855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81931" y="3318429"/>
            <a:ext cx="168910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mailto:rokan@cu.ac.bd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slide" Target="slide22.xml"/><Relationship Id="rId7" Type="http://schemas.openxmlformats.org/officeDocument/2006/relationships/slide" Target="slide12.xml"/><Relationship Id="rId6" Type="http://schemas.openxmlformats.org/officeDocument/2006/relationships/slide" Target="slide10.xml"/><Relationship Id="rId5" Type="http://schemas.openxmlformats.org/officeDocument/2006/relationships/slide" Target="slide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slide" Target="slide22.xml"/><Relationship Id="rId7" Type="http://schemas.openxmlformats.org/officeDocument/2006/relationships/slide" Target="slide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slide" Target="slide10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slideLayout" Target="../slideLayouts/slideLayout5.xml"/><Relationship Id="rId1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1" Type="http://schemas.openxmlformats.org/officeDocument/2006/relationships/slideLayout" Target="../slideLayouts/slideLayout2.xml"/><Relationship Id="rId10" Type="http://schemas.openxmlformats.org/officeDocument/2006/relationships/slide" Target="slide1.xml"/><Relationship Id="rId1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slide" Target="slide22.xml"/><Relationship Id="rId7" Type="http://schemas.openxmlformats.org/officeDocument/2006/relationships/slide" Target="slide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5.png"/><Relationship Id="rId3" Type="http://schemas.openxmlformats.org/officeDocument/2006/relationships/slide" Target="slide3.xml"/><Relationship Id="rId2" Type="http://schemas.openxmlformats.org/officeDocument/2006/relationships/image" Target="../media/image34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1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15.png"/><Relationship Id="rId2" Type="http://schemas.openxmlformats.org/officeDocument/2006/relationships/image" Target="../media/image36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image" Target="../media/image43.png"/><Relationship Id="rId1" Type="http://schemas.openxmlformats.org/officeDocument/2006/relationships/slide" Target="slide1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slide" Target="slide22.xml"/><Relationship Id="rId7" Type="http://schemas.openxmlformats.org/officeDocument/2006/relationships/image" Target="../media/image12.png"/><Relationship Id="rId6" Type="http://schemas.openxmlformats.org/officeDocument/2006/relationships/image" Target="../media/image44.png"/><Relationship Id="rId5" Type="http://schemas.openxmlformats.org/officeDocument/2006/relationships/slide" Target="slide10.xml"/><Relationship Id="rId4" Type="http://schemas.openxmlformats.org/officeDocument/2006/relationships/image" Target="../media/image10.png"/><Relationship Id="rId3" Type="http://schemas.openxmlformats.org/officeDocument/2006/relationships/slide" Target="slide3.xml"/><Relationship Id="rId2" Type="http://schemas.openxmlformats.org/officeDocument/2006/relationships/image" Target="../media/image34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15.png"/><Relationship Id="rId14" Type="http://schemas.openxmlformats.org/officeDocument/2006/relationships/slideLayout" Target="../slideLayouts/slideLayout5.xml"/><Relationship Id="rId13" Type="http://schemas.openxmlformats.org/officeDocument/2006/relationships/slide" Target="slide1.xml"/><Relationship Id="rId12" Type="http://schemas.openxmlformats.org/officeDocument/2006/relationships/image" Target="../media/image60.png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" Type="http://schemas.openxmlformats.org/officeDocument/2006/relationships/slide" Target="slide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" Target="slide12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" Target="slide1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69.png"/><Relationship Id="rId7" Type="http://schemas.openxmlformats.org/officeDocument/2006/relationships/slide" Target="slide12.xml"/><Relationship Id="rId6" Type="http://schemas.openxmlformats.org/officeDocument/2006/relationships/image" Target="../media/image11.png"/><Relationship Id="rId5" Type="http://schemas.openxmlformats.org/officeDocument/2006/relationships/slide" Target="slide10.xml"/><Relationship Id="rId4" Type="http://schemas.openxmlformats.org/officeDocument/2006/relationships/image" Target="../media/image10.png"/><Relationship Id="rId3" Type="http://schemas.openxmlformats.org/officeDocument/2006/relationships/slide" Target="slide3.xml"/><Relationship Id="rId2" Type="http://schemas.openxmlformats.org/officeDocument/2006/relationships/image" Target="../media/image34.png"/><Relationship Id="rId10" Type="http://schemas.openxmlformats.org/officeDocument/2006/relationships/slideLayout" Target="../slideLayouts/slideLayout5.xml"/><Relationship Id="rId1" Type="http://schemas.openxmlformats.org/officeDocument/2006/relationships/slide" Target="slide2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slide" Target="slide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22.png"/><Relationship Id="rId1" Type="http://schemas.openxmlformats.org/officeDocument/2006/relationships/slide" Target="slide2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17.png"/><Relationship Id="rId3" Type="http://schemas.openxmlformats.org/officeDocument/2006/relationships/image" Target="../media/image74.png"/><Relationship Id="rId2" Type="http://schemas.openxmlformats.org/officeDocument/2006/relationships/image" Target="../media/image15.png"/><Relationship Id="rId1" Type="http://schemas.openxmlformats.org/officeDocument/2006/relationships/slide" Target="slide2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22.png"/><Relationship Id="rId1" Type="http://schemas.openxmlformats.org/officeDocument/2006/relationships/slide" Target="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627481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7743" y="671898"/>
            <a:ext cx="4483735" cy="668655"/>
            <a:chOff x="87743" y="671898"/>
            <a:chExt cx="4483735" cy="66865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8544" y="1238389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344" y="1225689"/>
              <a:ext cx="4381767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311" y="678040"/>
              <a:ext cx="50800" cy="5603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671898"/>
              <a:ext cx="4432935" cy="617855"/>
            </a:xfrm>
            <a:custGeom>
              <a:avLst/>
              <a:gdLst/>
              <a:ahLst/>
              <a:cxnLst/>
              <a:rect l="l" t="t" r="r" b="b"/>
              <a:pathLst>
                <a:path w="4432935" h="617855">
                  <a:moveTo>
                    <a:pt x="4432567" y="0"/>
                  </a:moveTo>
                  <a:lnTo>
                    <a:pt x="0" y="0"/>
                  </a:lnTo>
                  <a:lnTo>
                    <a:pt x="0" y="566491"/>
                  </a:lnTo>
                  <a:lnTo>
                    <a:pt x="4008" y="586215"/>
                  </a:lnTo>
                  <a:lnTo>
                    <a:pt x="14922" y="602368"/>
                  </a:lnTo>
                  <a:lnTo>
                    <a:pt x="31075" y="613283"/>
                  </a:lnTo>
                  <a:lnTo>
                    <a:pt x="50800" y="617291"/>
                  </a:lnTo>
                  <a:lnTo>
                    <a:pt x="4381767" y="617291"/>
                  </a:lnTo>
                  <a:lnTo>
                    <a:pt x="4401492" y="613283"/>
                  </a:lnTo>
                  <a:lnTo>
                    <a:pt x="4417644" y="602368"/>
                  </a:lnTo>
                  <a:lnTo>
                    <a:pt x="4428558" y="586215"/>
                  </a:lnTo>
                  <a:lnTo>
                    <a:pt x="4432567" y="56649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0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20311" y="716135"/>
              <a:ext cx="0" cy="541655"/>
            </a:xfrm>
            <a:custGeom>
              <a:avLst/>
              <a:gdLst/>
              <a:ahLst/>
              <a:cxnLst/>
              <a:rect l="l" t="t" r="r" b="b"/>
              <a:pathLst>
                <a:path h="541655">
                  <a:moveTo>
                    <a:pt x="0" y="5413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20311" y="7034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20311" y="6907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6780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272273" y="671896"/>
            <a:ext cx="2063750" cy="5092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b="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b="0" spc="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Descent</a:t>
            </a:r>
            <a:r>
              <a:rPr b="0" spc="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Parsers</a:t>
            </a:r>
            <a:endParaRPr b="0" spc="-10" dirty="0">
              <a:solidFill>
                <a:srgbClr val="FFFFFF"/>
              </a:solidFill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1100" b="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Lecture</a:t>
            </a:r>
            <a:r>
              <a:rPr sz="1100" b="0" spc="-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0" spc="-5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5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1447" y="1497696"/>
            <a:ext cx="2065655" cy="8521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1100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1100" cap="small" spc="-10" dirty="0">
                <a:latin typeface="Palatino Linotype" panose="02040502050505030304"/>
                <a:cs typeface="Palatino Linotype" panose="02040502050505030304"/>
              </a:rPr>
              <a:t>aruqui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ts val="955"/>
              </a:lnSpc>
              <a:spcBef>
                <a:spcPts val="140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Associate</a:t>
            </a:r>
            <a:r>
              <a:rPr sz="800" spc="1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Professor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12700" marR="5080" algn="ctr">
              <a:lnSpc>
                <a:spcPts val="950"/>
              </a:lnSpc>
              <a:spcBef>
                <a:spcPts val="3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Dept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Computer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Science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Engineering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University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Chittaong,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Bangladesh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Email:</a:t>
            </a:r>
            <a:r>
              <a:rPr sz="800" spc="2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i="1" spc="40" dirty="0">
                <a:latin typeface="Palatino Linotype" panose="02040502050505030304"/>
                <a:cs typeface="Palatino Linotype" panose="02040502050505030304"/>
                <a:hlinkClick r:id="rId4"/>
              </a:rPr>
              <a:t>rokan@cu.ac.bd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38730" y="339658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9113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36915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3158299" y="3383746"/>
            <a:ext cx="203200" cy="55880"/>
            <a:chOff x="3158299" y="3383746"/>
            <a:chExt cx="203200" cy="55880"/>
          </a:xfrm>
        </p:grpSpPr>
        <p:sp>
          <p:nvSpPr>
            <p:cNvPr id="18" name="object 18"/>
            <p:cNvSpPr/>
            <p:nvPr/>
          </p:nvSpPr>
          <p:spPr>
            <a:xfrm>
              <a:off x="3221468" y="3386276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158299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3457486" y="3382480"/>
            <a:ext cx="203200" cy="58419"/>
            <a:chOff x="3457486" y="3382480"/>
            <a:chExt cx="203200" cy="58419"/>
          </a:xfrm>
        </p:grpSpPr>
        <p:sp>
          <p:nvSpPr>
            <p:cNvPr id="21" name="object 21"/>
            <p:cNvSpPr/>
            <p:nvPr/>
          </p:nvSpPr>
          <p:spPr>
            <a:xfrm>
              <a:off x="3546387" y="339897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457486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533687" y="338627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3756673" y="3382480"/>
            <a:ext cx="203200" cy="58419"/>
            <a:chOff x="3756673" y="3382480"/>
            <a:chExt cx="203200" cy="58419"/>
          </a:xfrm>
        </p:grpSpPr>
        <p:sp>
          <p:nvSpPr>
            <p:cNvPr id="25" name="object 25"/>
            <p:cNvSpPr/>
            <p:nvPr/>
          </p:nvSpPr>
          <p:spPr>
            <a:xfrm>
              <a:off x="3832873" y="3386276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756673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832873" y="342437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/>
          <p:nvPr/>
        </p:nvSpPr>
        <p:spPr>
          <a:xfrm>
            <a:off x="4132060" y="338627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9" name="object 29"/>
          <p:cNvGrpSpPr/>
          <p:nvPr/>
        </p:nvGrpSpPr>
        <p:grpSpPr>
          <a:xfrm>
            <a:off x="4337275" y="3383746"/>
            <a:ext cx="238760" cy="57150"/>
            <a:chOff x="4337275" y="3383746"/>
            <a:chExt cx="238760" cy="57150"/>
          </a:xfrm>
        </p:grpSpPr>
        <p:sp>
          <p:nvSpPr>
            <p:cNvPr id="30" name="object 30"/>
            <p:cNvSpPr/>
            <p:nvPr/>
          </p:nvSpPr>
          <p:spPr>
            <a:xfrm>
              <a:off x="4461727" y="341675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434663" y="33902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339806" y="3386276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0779" y="776300"/>
            <a:ext cx="155257" cy="1552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283728"/>
            <a:ext cx="155257" cy="1552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1791144"/>
            <a:ext cx="155257" cy="1552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2298573"/>
            <a:ext cx="155257" cy="1552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4675" y="744485"/>
            <a:ext cx="1838960" cy="1714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LL</a:t>
            </a:r>
            <a:r>
              <a:rPr sz="1100" spc="5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Parsers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and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LR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Parsers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Recursive</a:t>
            </a:r>
            <a:r>
              <a:rPr sz="1100" spc="15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Descent</a:t>
            </a:r>
            <a:r>
              <a:rPr sz="1100" spc="15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Parser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Example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3714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694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Outline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058570"/>
            <a:ext cx="155257" cy="1552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4675" y="1055584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055" y="1026768"/>
            <a:ext cx="479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1514678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511692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0055" y="1482863"/>
            <a:ext cx="1673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LL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Parsers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and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LR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Parsers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970773"/>
            <a:ext cx="155257" cy="15525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2426881"/>
            <a:ext cx="155257" cy="15525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4675" y="1938971"/>
            <a:ext cx="1720214" cy="6483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3"/>
              <a:tabLst>
                <a:tab pos="177800" algn="l"/>
              </a:tabLst>
            </a:pP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Recursive</a:t>
            </a:r>
            <a:r>
              <a:rPr sz="1100" spc="1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Descent</a:t>
            </a:r>
            <a:r>
              <a:rPr sz="1100" spc="1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Parser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FAF9FB"/>
              </a:buClr>
              <a:buFont typeface="Comic Sans MS" panose="030F0702030302020204"/>
              <a:buAutoNum type="arabicPlain" startAt="3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FAF9FB"/>
              </a:buClr>
              <a:buSzPct val="73000"/>
              <a:buFont typeface="Comic Sans MS" panose="030F0702030302020204"/>
              <a:buAutoNum type="arabicPlain" startAt="3"/>
              <a:tabLst>
                <a:tab pos="177800" algn="l"/>
              </a:tabLst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Example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ec-7_ What is Parsing &amp; Types of Parsers _ Syntax Analysis - 0-0-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6731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ec-7_ What is Parsing &amp; Types of Parsers _ Syntax Analysis - 0-9-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18859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3714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Parsing</a:t>
            </a:r>
            <a:endParaRPr spc="5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1392237"/>
            <a:ext cx="4483735" cy="782320"/>
            <a:chOff x="87743" y="1392237"/>
            <a:chExt cx="4483735" cy="7823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537309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72411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59711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392237"/>
              <a:ext cx="50800" cy="6801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581585"/>
              <a:ext cx="4432935" cy="541655"/>
            </a:xfrm>
            <a:custGeom>
              <a:avLst/>
              <a:gdLst/>
              <a:ahLst/>
              <a:cxnLst/>
              <a:rect l="l" t="t" r="r" b="b"/>
              <a:pathLst>
                <a:path w="4432935" h="541655">
                  <a:moveTo>
                    <a:pt x="4432567" y="0"/>
                  </a:moveTo>
                  <a:lnTo>
                    <a:pt x="0" y="0"/>
                  </a:lnTo>
                  <a:lnTo>
                    <a:pt x="0" y="490825"/>
                  </a:lnTo>
                  <a:lnTo>
                    <a:pt x="4008" y="510550"/>
                  </a:lnTo>
                  <a:lnTo>
                    <a:pt x="14922" y="526703"/>
                  </a:lnTo>
                  <a:lnTo>
                    <a:pt x="31075" y="537617"/>
                  </a:lnTo>
                  <a:lnTo>
                    <a:pt x="50800" y="541626"/>
                  </a:lnTo>
                  <a:lnTo>
                    <a:pt x="4381767" y="541626"/>
                  </a:lnTo>
                  <a:lnTo>
                    <a:pt x="4401492" y="537617"/>
                  </a:lnTo>
                  <a:lnTo>
                    <a:pt x="4417644" y="526703"/>
                  </a:lnTo>
                  <a:lnTo>
                    <a:pt x="4428558" y="510550"/>
                  </a:lnTo>
                  <a:lnTo>
                    <a:pt x="4432567" y="49082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430338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h="661669">
                  <a:moveTo>
                    <a:pt x="0" y="66112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4176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40493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3922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43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b="0" spc="-20" dirty="0">
                <a:latin typeface="Palatino Linotype" panose="02040502050505030304"/>
                <a:cs typeface="Palatino Linotype" panose="02040502050505030304"/>
              </a:rPr>
              <a:t>Definition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(Parser)</a:t>
            </a:r>
            <a:endParaRPr b="0" spc="-10" dirty="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3000"/>
              </a:lnSpc>
              <a:spcBef>
                <a:spcPts val="350"/>
              </a:spcBef>
            </a:pPr>
            <a:r>
              <a:rPr b="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b="0" spc="3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b="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30" dirty="0">
                <a:latin typeface="Palatino Linotype" panose="02040502050505030304"/>
                <a:cs typeface="Palatino Linotype" panose="02040502050505030304"/>
              </a:rPr>
              <a:t>program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b="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matches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b="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30" dirty="0">
                <a:latin typeface="Palatino Linotype" panose="02040502050505030304"/>
                <a:cs typeface="Palatino Linotype" panose="02040502050505030304"/>
              </a:rPr>
              <a:t>sequence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tokens</a:t>
            </a:r>
            <a:r>
              <a:rPr b="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5" dirty="0">
                <a:latin typeface="Palatino Linotype" panose="02040502050505030304"/>
                <a:cs typeface="Palatino Linotype" panose="02040502050505030304"/>
              </a:rPr>
              <a:t>the </a:t>
            </a:r>
            <a:r>
              <a:rPr b="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b="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rules</a:t>
            </a:r>
            <a:r>
              <a:rPr b="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b="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b="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5" dirty="0">
                <a:latin typeface="Palatino Linotype" panose="02040502050505030304"/>
                <a:cs typeface="Palatino Linotype" panose="02040502050505030304"/>
              </a:rPr>
              <a:t>context-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free</a:t>
            </a:r>
            <a:r>
              <a:rPr b="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0" dirty="0">
                <a:latin typeface="Palatino Linotype" panose="02040502050505030304"/>
                <a:cs typeface="Palatino Linotype" panose="02040502050505030304"/>
              </a:rPr>
              <a:t>grammar,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thereby</a:t>
            </a:r>
            <a:r>
              <a:rPr b="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35" dirty="0">
                <a:latin typeface="Palatino Linotype" panose="02040502050505030304"/>
                <a:cs typeface="Palatino Linotype" panose="02040502050505030304"/>
              </a:rPr>
              <a:t>building</a:t>
            </a:r>
            <a:r>
              <a:rPr b="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b="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syntax </a:t>
            </a:r>
            <a:r>
              <a:rPr b="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tree</a:t>
            </a:r>
            <a:r>
              <a:rPr b="0" spc="3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30" dirty="0">
                <a:latin typeface="Palatino Linotype" panose="02040502050505030304"/>
                <a:cs typeface="Palatino Linotype" panose="02040502050505030304"/>
              </a:rPr>
              <a:t>representing</a:t>
            </a:r>
            <a:r>
              <a:rPr b="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those</a:t>
            </a:r>
            <a:r>
              <a:rPr b="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tokens.</a:t>
            </a:r>
            <a:endParaRPr b="0" spc="-10" dirty="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3714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91"/>
            <a:ext cx="17697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Parsing</a:t>
            </a:r>
            <a:r>
              <a:rPr spc="200" dirty="0"/>
              <a:t> </a:t>
            </a:r>
            <a:r>
              <a:rPr spc="45" dirty="0"/>
              <a:t>Algorithms</a:t>
            </a:r>
            <a:endParaRPr spc="4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1108456"/>
            <a:ext cx="4483735" cy="586740"/>
            <a:chOff x="87743" y="1108456"/>
            <a:chExt cx="4483735" cy="5867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231633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92999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80299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108456"/>
              <a:ext cx="50800" cy="48454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275913"/>
              <a:ext cx="4432935" cy="368300"/>
            </a:xfrm>
            <a:custGeom>
              <a:avLst/>
              <a:gdLst/>
              <a:ahLst/>
              <a:cxnLst/>
              <a:rect l="l" t="t" r="r" b="b"/>
              <a:pathLst>
                <a:path w="4432935" h="368300">
                  <a:moveTo>
                    <a:pt x="4432567" y="0"/>
                  </a:moveTo>
                  <a:lnTo>
                    <a:pt x="0" y="0"/>
                  </a:lnTo>
                  <a:lnTo>
                    <a:pt x="0" y="317085"/>
                  </a:lnTo>
                  <a:lnTo>
                    <a:pt x="4008" y="336810"/>
                  </a:lnTo>
                  <a:lnTo>
                    <a:pt x="14922" y="352963"/>
                  </a:lnTo>
                  <a:lnTo>
                    <a:pt x="31075" y="363877"/>
                  </a:lnTo>
                  <a:lnTo>
                    <a:pt x="50800" y="367886"/>
                  </a:lnTo>
                  <a:lnTo>
                    <a:pt x="4381767" y="367886"/>
                  </a:lnTo>
                  <a:lnTo>
                    <a:pt x="4401492" y="363877"/>
                  </a:lnTo>
                  <a:lnTo>
                    <a:pt x="4417644" y="352963"/>
                  </a:lnTo>
                  <a:lnTo>
                    <a:pt x="4428558" y="336810"/>
                  </a:lnTo>
                  <a:lnTo>
                    <a:pt x="4432567" y="31708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146558"/>
              <a:ext cx="0" cy="466090"/>
            </a:xfrm>
            <a:custGeom>
              <a:avLst/>
              <a:gdLst/>
              <a:ahLst/>
              <a:cxnLst/>
              <a:rect l="l" t="t" r="r" b="b"/>
              <a:pathLst>
                <a:path h="466090">
                  <a:moveTo>
                    <a:pt x="0" y="4654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13385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1211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1084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315457" y="1619184"/>
              <a:ext cx="11430" cy="13335"/>
            </a:xfrm>
            <a:custGeom>
              <a:avLst/>
              <a:gdLst/>
              <a:ahLst/>
              <a:cxnLst/>
              <a:rect l="l" t="t" r="r" b="b"/>
              <a:pathLst>
                <a:path w="11429" h="13335">
                  <a:moveTo>
                    <a:pt x="8670" y="0"/>
                  </a:moveTo>
                  <a:lnTo>
                    <a:pt x="5612" y="0"/>
                  </a:lnTo>
                  <a:lnTo>
                    <a:pt x="3813" y="932"/>
                  </a:lnTo>
                  <a:lnTo>
                    <a:pt x="2405" y="2071"/>
                  </a:lnTo>
                  <a:lnTo>
                    <a:pt x="206" y="3853"/>
                  </a:lnTo>
                  <a:lnTo>
                    <a:pt x="0" y="4582"/>
                  </a:lnTo>
                  <a:lnTo>
                    <a:pt x="2889" y="12844"/>
                  </a:lnTo>
                  <a:lnTo>
                    <a:pt x="11281" y="11783"/>
                  </a:lnTo>
                  <a:lnTo>
                    <a:pt x="11281" y="3189"/>
                  </a:lnTo>
                  <a:lnTo>
                    <a:pt x="867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87743" y="1759673"/>
            <a:ext cx="4483735" cy="840105"/>
            <a:chOff x="87743" y="1759673"/>
            <a:chExt cx="4483735" cy="840105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3" y="1963127"/>
              <a:ext cx="4432566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498090"/>
              <a:ext cx="101600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485389"/>
              <a:ext cx="4381767" cy="1143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311" y="1839950"/>
              <a:ext cx="50800" cy="65813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7743" y="2007402"/>
              <a:ext cx="4432935" cy="541655"/>
            </a:xfrm>
            <a:custGeom>
              <a:avLst/>
              <a:gdLst/>
              <a:ahLst/>
              <a:cxnLst/>
              <a:rect l="l" t="t" r="r" b="b"/>
              <a:pathLst>
                <a:path w="4432935" h="541655">
                  <a:moveTo>
                    <a:pt x="4432567" y="0"/>
                  </a:moveTo>
                  <a:lnTo>
                    <a:pt x="0" y="0"/>
                  </a:lnTo>
                  <a:lnTo>
                    <a:pt x="0" y="490687"/>
                  </a:lnTo>
                  <a:lnTo>
                    <a:pt x="4008" y="510412"/>
                  </a:lnTo>
                  <a:lnTo>
                    <a:pt x="14922" y="526565"/>
                  </a:lnTo>
                  <a:lnTo>
                    <a:pt x="31075" y="537479"/>
                  </a:lnTo>
                  <a:lnTo>
                    <a:pt x="50800" y="541487"/>
                  </a:lnTo>
                  <a:lnTo>
                    <a:pt x="4381767" y="541487"/>
                  </a:lnTo>
                  <a:lnTo>
                    <a:pt x="4401492" y="537479"/>
                  </a:lnTo>
                  <a:lnTo>
                    <a:pt x="4417644" y="526565"/>
                  </a:lnTo>
                  <a:lnTo>
                    <a:pt x="4428558" y="510412"/>
                  </a:lnTo>
                  <a:lnTo>
                    <a:pt x="4432567" y="490687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20311" y="1878048"/>
              <a:ext cx="0" cy="639445"/>
            </a:xfrm>
            <a:custGeom>
              <a:avLst/>
              <a:gdLst/>
              <a:ahLst/>
              <a:cxnLst/>
              <a:rect l="l" t="t" r="r" b="b"/>
              <a:pathLst>
                <a:path h="639444">
                  <a:moveTo>
                    <a:pt x="0" y="6390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520311" y="186534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520311" y="185264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520311" y="183994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24846" y="1759673"/>
              <a:ext cx="441959" cy="119380"/>
            </a:xfrm>
            <a:custGeom>
              <a:avLst/>
              <a:gdLst/>
              <a:ahLst/>
              <a:cxnLst/>
              <a:rect l="l" t="t" r="r" b="b"/>
              <a:pathLst>
                <a:path w="441960" h="119380">
                  <a:moveTo>
                    <a:pt x="14135" y="113372"/>
                  </a:moveTo>
                  <a:lnTo>
                    <a:pt x="12573" y="108432"/>
                  </a:lnTo>
                  <a:lnTo>
                    <a:pt x="9829" y="104940"/>
                  </a:lnTo>
                  <a:lnTo>
                    <a:pt x="5854" y="104648"/>
                  </a:lnTo>
                  <a:lnTo>
                    <a:pt x="2794" y="107708"/>
                  </a:lnTo>
                  <a:lnTo>
                    <a:pt x="12" y="110502"/>
                  </a:lnTo>
                  <a:lnTo>
                    <a:pt x="0" y="114477"/>
                  </a:lnTo>
                  <a:lnTo>
                    <a:pt x="2755" y="116979"/>
                  </a:lnTo>
                  <a:lnTo>
                    <a:pt x="7696" y="118986"/>
                  </a:lnTo>
                  <a:lnTo>
                    <a:pt x="12001" y="117335"/>
                  </a:lnTo>
                  <a:lnTo>
                    <a:pt x="14135" y="113372"/>
                  </a:lnTo>
                  <a:close/>
                </a:path>
                <a:path w="441960" h="119380">
                  <a:moveTo>
                    <a:pt x="441477" y="95097"/>
                  </a:moveTo>
                  <a:lnTo>
                    <a:pt x="440956" y="93776"/>
                  </a:lnTo>
                  <a:lnTo>
                    <a:pt x="438023" y="90119"/>
                  </a:lnTo>
                  <a:lnTo>
                    <a:pt x="434136" y="84455"/>
                  </a:lnTo>
                  <a:lnTo>
                    <a:pt x="420306" y="47802"/>
                  </a:lnTo>
                  <a:lnTo>
                    <a:pt x="415074" y="8712"/>
                  </a:lnTo>
                  <a:lnTo>
                    <a:pt x="414248" y="2692"/>
                  </a:lnTo>
                  <a:lnTo>
                    <a:pt x="412115" y="0"/>
                  </a:lnTo>
                  <a:lnTo>
                    <a:pt x="408508" y="241"/>
                  </a:lnTo>
                  <a:lnTo>
                    <a:pt x="407708" y="2311"/>
                  </a:lnTo>
                  <a:lnTo>
                    <a:pt x="407339" y="3276"/>
                  </a:lnTo>
                  <a:lnTo>
                    <a:pt x="407365" y="9296"/>
                  </a:lnTo>
                  <a:lnTo>
                    <a:pt x="415556" y="60274"/>
                  </a:lnTo>
                  <a:lnTo>
                    <a:pt x="435394" y="99301"/>
                  </a:lnTo>
                  <a:lnTo>
                    <a:pt x="438264" y="100215"/>
                  </a:lnTo>
                  <a:lnTo>
                    <a:pt x="441477" y="95097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8077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E=&gt;</a:t>
            </a:r>
            <a:r>
              <a:rPr spc="-20" dirty="0"/>
              <a:t> </a:t>
            </a:r>
            <a:r>
              <a:rPr spc="60" dirty="0"/>
              <a:t>E*E=&gt;</a:t>
            </a:r>
            <a:r>
              <a:rPr spc="-5" dirty="0"/>
              <a:t> </a:t>
            </a:r>
            <a:r>
              <a:rPr spc="-25" dirty="0"/>
              <a:t>….=&gt;</a:t>
            </a:r>
            <a:r>
              <a:rPr spc="-10" dirty="0"/>
              <a:t> </a:t>
            </a:r>
            <a:r>
              <a:rPr spc="135" dirty="0"/>
              <a:t>(id</a:t>
            </a:r>
            <a:r>
              <a:rPr spc="-5" dirty="0"/>
              <a:t> </a:t>
            </a:r>
            <a:r>
              <a:rPr spc="-120" dirty="0"/>
              <a:t>+</a:t>
            </a:r>
            <a:r>
              <a:rPr dirty="0"/>
              <a:t> </a:t>
            </a:r>
            <a:r>
              <a:rPr spc="135" dirty="0"/>
              <a:t>id)</a:t>
            </a:r>
            <a:r>
              <a:rPr spc="-10" dirty="0"/>
              <a:t> </a:t>
            </a:r>
            <a:r>
              <a:rPr spc="235" dirty="0"/>
              <a:t>*</a:t>
            </a:r>
            <a:r>
              <a:rPr spc="-10" dirty="0"/>
              <a:t> </a:t>
            </a:r>
            <a:r>
              <a:rPr spc="-25" dirty="0"/>
              <a:t>id</a:t>
            </a:r>
            <a:endParaRPr spc="-25" dirty="0"/>
          </a:p>
          <a:p>
            <a:pPr>
              <a:lnSpc>
                <a:spcPct val="100000"/>
              </a:lnSpc>
              <a:spcBef>
                <a:spcPts val="35"/>
              </a:spcBef>
            </a:pPr>
          </a:p>
          <a:p>
            <a:pPr marL="12700">
              <a:lnSpc>
                <a:spcPct val="100000"/>
              </a:lnSpc>
            </a:pP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Definition</a:t>
            </a:r>
            <a:endParaRPr b="0" spc="-10" dirty="0">
              <a:latin typeface="Palatino Linotype" panose="02040502050505030304"/>
              <a:cs typeface="Palatino Linotype" panose="02040502050505030304"/>
            </a:endParaRPr>
          </a:p>
          <a:p>
            <a:pPr marL="12700" marR="147955">
              <a:lnSpc>
                <a:spcPct val="103000"/>
              </a:lnSpc>
              <a:spcBef>
                <a:spcPts val="225"/>
              </a:spcBef>
            </a:pPr>
            <a:r>
              <a:rPr b="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b="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3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top-</a:t>
            </a:r>
            <a:r>
              <a:rPr b="0" spc="-4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down</a:t>
            </a:r>
            <a:r>
              <a:rPr b="0" spc="2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b="0" spc="2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begins</a:t>
            </a:r>
            <a:r>
              <a:rPr b="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b="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b="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start</a:t>
            </a:r>
            <a:r>
              <a:rPr b="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5" dirty="0">
                <a:latin typeface="Palatino Linotype" panose="02040502050505030304"/>
                <a:cs typeface="Palatino Linotype" panose="02040502050505030304"/>
              </a:rPr>
              <a:t>symbol</a:t>
            </a:r>
            <a:r>
              <a:rPr b="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b="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applies </a:t>
            </a:r>
            <a:r>
              <a:rPr b="0" spc="-25" dirty="0">
                <a:latin typeface="Palatino Linotype" panose="02040502050505030304"/>
                <a:cs typeface="Palatino Linotype" panose="02040502050505030304"/>
              </a:rPr>
              <a:t>productions</a:t>
            </a:r>
            <a:r>
              <a:rPr b="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i="1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b="0" i="1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i="1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b="0" i="1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i="1" dirty="0">
                <a:latin typeface="Palatino Linotype" panose="02040502050505030304"/>
                <a:cs typeface="Palatino Linotype" panose="02040502050505030304"/>
              </a:rPr>
              <a:t>matched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b="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until</a:t>
            </a:r>
            <a:r>
              <a:rPr b="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all</a:t>
            </a:r>
            <a:r>
              <a:rPr b="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b="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tokens</a:t>
            </a:r>
            <a:r>
              <a:rPr b="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5" dirty="0">
                <a:latin typeface="Palatino Linotype" panose="02040502050505030304"/>
                <a:cs typeface="Palatino Linotype" panose="02040502050505030304"/>
              </a:rPr>
              <a:t>have</a:t>
            </a:r>
            <a:r>
              <a:rPr b="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been</a:t>
            </a:r>
            <a:r>
              <a:rPr b="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5" dirty="0">
                <a:latin typeface="Palatino Linotype" panose="02040502050505030304"/>
                <a:cs typeface="Palatino Linotype" panose="02040502050505030304"/>
              </a:rPr>
              <a:t>processed.</a:t>
            </a:r>
            <a:endParaRPr b="0" spc="-25" dirty="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</a:p>
          <a:p>
            <a:pPr marL="12700">
              <a:lnSpc>
                <a:spcPct val="100000"/>
              </a:lnSpc>
            </a:pP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Definition</a:t>
            </a:r>
            <a:endParaRPr b="0" spc="-10" dirty="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3000"/>
              </a:lnSpc>
              <a:spcBef>
                <a:spcPts val="225"/>
              </a:spcBef>
            </a:pPr>
            <a:r>
              <a:rPr b="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b="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bottom-</a:t>
            </a:r>
            <a:r>
              <a:rPr b="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up</a:t>
            </a:r>
            <a:r>
              <a:rPr b="0" spc="4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b="0" spc="5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0" dirty="0">
                <a:latin typeface="Palatino Linotype" panose="02040502050505030304"/>
                <a:cs typeface="Palatino Linotype" panose="02040502050505030304"/>
              </a:rPr>
              <a:t>begins</a:t>
            </a:r>
            <a:r>
              <a:rPr b="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b="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0" dirty="0">
                <a:latin typeface="Palatino Linotype" panose="02040502050505030304"/>
                <a:cs typeface="Palatino Linotype" panose="02040502050505030304"/>
              </a:rPr>
              <a:t>matching</a:t>
            </a:r>
            <a:r>
              <a:rPr b="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5" dirty="0">
                <a:latin typeface="Palatino Linotype" panose="02040502050505030304"/>
                <a:cs typeface="Palatino Linotype" panose="02040502050505030304"/>
              </a:rPr>
              <a:t>productions</a:t>
            </a:r>
            <a:r>
              <a:rPr b="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b="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tokens</a:t>
            </a:r>
            <a:r>
              <a:rPr b="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i="1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b="0" i="1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i="1" spc="-20" dirty="0">
                <a:latin typeface="Palatino Linotype" panose="02040502050505030304"/>
                <a:cs typeface="Palatino Linotype" panose="02040502050505030304"/>
              </a:rPr>
              <a:t>they </a:t>
            </a:r>
            <a:r>
              <a:rPr b="0" i="1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b="0" i="1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i="1" dirty="0">
                <a:latin typeface="Palatino Linotype" panose="02040502050505030304"/>
                <a:cs typeface="Palatino Linotype" panose="02040502050505030304"/>
              </a:rPr>
              <a:t>read</a:t>
            </a:r>
            <a:r>
              <a:rPr b="0" i="1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5" dirty="0">
                <a:latin typeface="Palatino Linotype" panose="02040502050505030304"/>
                <a:cs typeface="Palatino Linotype" panose="02040502050505030304"/>
              </a:rPr>
              <a:t>continues</a:t>
            </a:r>
            <a:r>
              <a:rPr b="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until</a:t>
            </a:r>
            <a:r>
              <a:rPr b="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30" dirty="0">
                <a:latin typeface="Palatino Linotype" panose="02040502050505030304"/>
                <a:cs typeface="Palatino Linotype" panose="02040502050505030304"/>
              </a:rPr>
              <a:t>sequence</a:t>
            </a:r>
            <a:r>
              <a:rPr b="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all</a:t>
            </a:r>
            <a:r>
              <a:rPr b="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tokens</a:t>
            </a:r>
            <a:r>
              <a:rPr b="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has</a:t>
            </a:r>
            <a:r>
              <a:rPr b="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0" dirty="0">
                <a:latin typeface="Palatino Linotype" panose="02040502050505030304"/>
                <a:cs typeface="Palatino Linotype" panose="02040502050505030304"/>
              </a:rPr>
              <a:t>been </a:t>
            </a:r>
            <a:r>
              <a:rPr b="0" spc="-35" dirty="0">
                <a:latin typeface="Palatino Linotype" panose="02040502050505030304"/>
                <a:cs typeface="Palatino Linotype" panose="02040502050505030304"/>
              </a:rPr>
              <a:t>reduced</a:t>
            </a:r>
            <a:r>
              <a:rPr b="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b="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b="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latin typeface="Palatino Linotype" panose="02040502050505030304"/>
                <a:cs typeface="Palatino Linotype" panose="02040502050505030304"/>
              </a:rPr>
              <a:t>start</a:t>
            </a:r>
            <a:r>
              <a:rPr b="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latin typeface="Palatino Linotype" panose="02040502050505030304"/>
                <a:cs typeface="Palatino Linotype" panose="02040502050505030304"/>
              </a:rPr>
              <a:t>symbol.</a:t>
            </a:r>
            <a:endParaRPr b="0" spc="-10" dirty="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</a:p>
          <a:p>
            <a:pPr marR="337820" algn="ctr">
              <a:lnSpc>
                <a:spcPct val="100000"/>
              </a:lnSpc>
            </a:pPr>
            <a:r>
              <a:rPr sz="900" dirty="0"/>
              <a:t>id</a:t>
            </a:r>
            <a:r>
              <a:rPr sz="900" spc="35" dirty="0"/>
              <a:t> </a:t>
            </a:r>
            <a:r>
              <a:rPr sz="900" spc="-100" dirty="0"/>
              <a:t>+</a:t>
            </a:r>
            <a:r>
              <a:rPr sz="900" spc="35" dirty="0"/>
              <a:t> </a:t>
            </a:r>
            <a:r>
              <a:rPr sz="900" spc="-25" dirty="0"/>
              <a:t>id</a:t>
            </a:r>
            <a:endParaRPr sz="900"/>
          </a:p>
        </p:txBody>
      </p:sp>
      <p:sp>
        <p:nvSpPr>
          <p:cNvPr id="28" name="object 2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754929" y="349936"/>
            <a:ext cx="93281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135" dirty="0">
                <a:latin typeface="Book Antiqua" panose="02040602050305030304"/>
                <a:cs typeface="Book Antiqua" panose="02040602050305030304"/>
              </a:rPr>
              <a:t>(id</a:t>
            </a:r>
            <a:r>
              <a:rPr sz="11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1100" b="1" spc="-120" dirty="0">
                <a:latin typeface="Book Antiqua" panose="02040602050305030304"/>
                <a:cs typeface="Book Antiqua" panose="02040602050305030304"/>
              </a:rPr>
              <a:t>+</a:t>
            </a:r>
            <a:r>
              <a:rPr sz="11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1100" b="1" spc="135" dirty="0">
                <a:latin typeface="Book Antiqua" panose="02040602050305030304"/>
                <a:cs typeface="Book Antiqua" panose="02040602050305030304"/>
              </a:rPr>
              <a:t>id)</a:t>
            </a:r>
            <a:r>
              <a:rPr sz="11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1100" b="1" spc="235" dirty="0">
                <a:latin typeface="Book Antiqua" panose="02040602050305030304"/>
                <a:cs typeface="Book Antiqua" panose="02040602050305030304"/>
              </a:rPr>
              <a:t>*</a:t>
            </a:r>
            <a:r>
              <a:rPr sz="11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1100" b="1" spc="-25" dirty="0">
                <a:latin typeface="Book Antiqua" panose="02040602050305030304"/>
                <a:cs typeface="Book Antiqua" panose="02040602050305030304"/>
              </a:rPr>
              <a:t>id</a:t>
            </a:r>
            <a:endParaRPr sz="11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3714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Parsing</a:t>
            </a:r>
            <a:r>
              <a:rPr spc="200" dirty="0"/>
              <a:t> </a:t>
            </a:r>
            <a:r>
              <a:rPr spc="45" dirty="0"/>
              <a:t>Algorithms</a:t>
            </a:r>
            <a:endParaRPr spc="4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64043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202700"/>
            <a:ext cx="385064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0970">
              <a:lnSpc>
                <a:spcPct val="146000"/>
              </a:lnSpc>
              <a:spcBef>
                <a:spcPts val="100"/>
              </a:spcBef>
            </a:pP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Top-</a:t>
            </a:r>
            <a:r>
              <a:rPr sz="1100" spc="-65" dirty="0">
                <a:latin typeface="Palatino Linotype" panose="02040502050505030304"/>
                <a:cs typeface="Palatino Linotype" panose="02040502050505030304"/>
              </a:rPr>
              <a:t>down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parsers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traverse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tree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top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down.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They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tend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simpler,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but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le</a:t>
            </a:r>
            <a:r>
              <a:rPr sz="1100" u="heavy" spc="-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ss</a:t>
            </a:r>
            <a:r>
              <a:rPr sz="1100" u="heavy" spc="4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powerful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46000"/>
              </a:lnSpc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Bottom-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up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parsers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traverse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tree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bottom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up.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They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tend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2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more</a:t>
            </a:r>
            <a:r>
              <a:rPr sz="1100" u="heavy" spc="3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heavy" spc="-2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com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plex,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but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more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powerful.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608112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852193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096261"/>
            <a:ext cx="65201" cy="652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74423" y="1496865"/>
            <a:ext cx="543560" cy="218440"/>
          </a:xfrm>
          <a:custGeom>
            <a:avLst/>
            <a:gdLst/>
            <a:ahLst/>
            <a:cxnLst/>
            <a:rect l="l" t="t" r="r" b="b"/>
            <a:pathLst>
              <a:path w="543560" h="218439">
                <a:moveTo>
                  <a:pt x="90600" y="84"/>
                </a:moveTo>
                <a:lnTo>
                  <a:pt x="41254" y="0"/>
                </a:lnTo>
                <a:lnTo>
                  <a:pt x="4490" y="10163"/>
                </a:lnTo>
                <a:lnTo>
                  <a:pt x="0" y="75463"/>
                </a:lnTo>
                <a:lnTo>
                  <a:pt x="362" y="103539"/>
                </a:lnTo>
                <a:lnTo>
                  <a:pt x="7032" y="141532"/>
                </a:lnTo>
                <a:lnTo>
                  <a:pt x="31962" y="181726"/>
                </a:lnTo>
                <a:lnTo>
                  <a:pt x="72884" y="208789"/>
                </a:lnTo>
                <a:lnTo>
                  <a:pt x="125515" y="217397"/>
                </a:lnTo>
                <a:lnTo>
                  <a:pt x="153012" y="217916"/>
                </a:lnTo>
                <a:lnTo>
                  <a:pt x="182389" y="217454"/>
                </a:lnTo>
                <a:lnTo>
                  <a:pt x="207889" y="216004"/>
                </a:lnTo>
                <a:lnTo>
                  <a:pt x="233354" y="214109"/>
                </a:lnTo>
                <a:lnTo>
                  <a:pt x="261734" y="212878"/>
                </a:lnTo>
                <a:lnTo>
                  <a:pt x="296457" y="212208"/>
                </a:lnTo>
                <a:lnTo>
                  <a:pt x="382513" y="211788"/>
                </a:lnTo>
                <a:lnTo>
                  <a:pt x="410179" y="211051"/>
                </a:lnTo>
                <a:lnTo>
                  <a:pt x="466662" y="200979"/>
                </a:lnTo>
                <a:lnTo>
                  <a:pt x="513828" y="185717"/>
                </a:lnTo>
                <a:lnTo>
                  <a:pt x="543165" y="151376"/>
                </a:lnTo>
                <a:lnTo>
                  <a:pt x="540124" y="138558"/>
                </a:lnTo>
                <a:lnTo>
                  <a:pt x="518111" y="95131"/>
                </a:lnTo>
                <a:lnTo>
                  <a:pt x="498789" y="61633"/>
                </a:lnTo>
                <a:lnTo>
                  <a:pt x="494922" y="61633"/>
                </a:lnTo>
                <a:lnTo>
                  <a:pt x="521953" y="117307"/>
                </a:lnTo>
                <a:lnTo>
                  <a:pt x="531072" y="135808"/>
                </a:lnTo>
                <a:lnTo>
                  <a:pt x="535111" y="147615"/>
                </a:lnTo>
                <a:lnTo>
                  <a:pt x="535613" y="156286"/>
                </a:lnTo>
                <a:lnTo>
                  <a:pt x="534917" y="163961"/>
                </a:lnTo>
                <a:lnTo>
                  <a:pt x="498060" y="183465"/>
                </a:lnTo>
                <a:lnTo>
                  <a:pt x="454160" y="196600"/>
                </a:lnTo>
                <a:lnTo>
                  <a:pt x="391525" y="203683"/>
                </a:lnTo>
                <a:lnTo>
                  <a:pt x="270863" y="205321"/>
                </a:lnTo>
                <a:lnTo>
                  <a:pt x="247146" y="205892"/>
                </a:lnTo>
                <a:lnTo>
                  <a:pt x="234131" y="206422"/>
                </a:lnTo>
                <a:lnTo>
                  <a:pt x="194768" y="209370"/>
                </a:lnTo>
                <a:lnTo>
                  <a:pt x="166801" y="210595"/>
                </a:lnTo>
                <a:lnTo>
                  <a:pt x="112307" y="208470"/>
                </a:lnTo>
                <a:lnTo>
                  <a:pt x="62899" y="195929"/>
                </a:lnTo>
                <a:lnTo>
                  <a:pt x="31393" y="169074"/>
                </a:lnTo>
                <a:lnTo>
                  <a:pt x="10933" y="129422"/>
                </a:lnTo>
                <a:lnTo>
                  <a:pt x="8388" y="100022"/>
                </a:lnTo>
                <a:lnTo>
                  <a:pt x="8463" y="41882"/>
                </a:lnTo>
                <a:lnTo>
                  <a:pt x="42713" y="5422"/>
                </a:lnTo>
                <a:lnTo>
                  <a:pt x="87270" y="5529"/>
                </a:lnTo>
                <a:lnTo>
                  <a:pt x="142090" y="6825"/>
                </a:lnTo>
                <a:lnTo>
                  <a:pt x="195315" y="9144"/>
                </a:lnTo>
                <a:lnTo>
                  <a:pt x="252907" y="12444"/>
                </a:lnTo>
                <a:lnTo>
                  <a:pt x="327251" y="18178"/>
                </a:lnTo>
                <a:lnTo>
                  <a:pt x="434224" y="29409"/>
                </a:lnTo>
                <a:lnTo>
                  <a:pt x="445111" y="30404"/>
                </a:lnTo>
                <a:lnTo>
                  <a:pt x="471250" y="31914"/>
                </a:lnTo>
                <a:lnTo>
                  <a:pt x="514235" y="32965"/>
                </a:lnTo>
                <a:lnTo>
                  <a:pt x="513496" y="27738"/>
                </a:lnTo>
                <a:lnTo>
                  <a:pt x="474598" y="26699"/>
                </a:lnTo>
                <a:lnTo>
                  <a:pt x="453625" y="25662"/>
                </a:lnTo>
                <a:lnTo>
                  <a:pt x="330214" y="12787"/>
                </a:lnTo>
                <a:lnTo>
                  <a:pt x="253136" y="6748"/>
                </a:lnTo>
                <a:lnTo>
                  <a:pt x="191488" y="3094"/>
                </a:lnTo>
                <a:lnTo>
                  <a:pt x="146654" y="1182"/>
                </a:lnTo>
                <a:lnTo>
                  <a:pt x="90600" y="84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507221" y="2229496"/>
            <a:ext cx="918210" cy="19685"/>
          </a:xfrm>
          <a:custGeom>
            <a:avLst/>
            <a:gdLst/>
            <a:ahLst/>
            <a:cxnLst/>
            <a:rect l="l" t="t" r="r" b="b"/>
            <a:pathLst>
              <a:path w="918210" h="19685">
                <a:moveTo>
                  <a:pt x="305264" y="0"/>
                </a:moveTo>
                <a:lnTo>
                  <a:pt x="190206" y="452"/>
                </a:lnTo>
                <a:lnTo>
                  <a:pt x="132059" y="2119"/>
                </a:lnTo>
                <a:lnTo>
                  <a:pt x="74214" y="5554"/>
                </a:lnTo>
                <a:lnTo>
                  <a:pt x="27911" y="9004"/>
                </a:lnTo>
                <a:lnTo>
                  <a:pt x="13089" y="9635"/>
                </a:lnTo>
                <a:lnTo>
                  <a:pt x="4825" y="9641"/>
                </a:lnTo>
                <a:lnTo>
                  <a:pt x="2253" y="10015"/>
                </a:lnTo>
                <a:lnTo>
                  <a:pt x="71" y="12645"/>
                </a:lnTo>
                <a:lnTo>
                  <a:pt x="0" y="13592"/>
                </a:lnTo>
                <a:lnTo>
                  <a:pt x="1861" y="16493"/>
                </a:lnTo>
                <a:lnTo>
                  <a:pt x="3859" y="16704"/>
                </a:lnTo>
                <a:lnTo>
                  <a:pt x="21515" y="16173"/>
                </a:lnTo>
                <a:lnTo>
                  <a:pt x="46577" y="14533"/>
                </a:lnTo>
                <a:lnTo>
                  <a:pt x="86956" y="11427"/>
                </a:lnTo>
                <a:lnTo>
                  <a:pt x="125059" y="9381"/>
                </a:lnTo>
                <a:lnTo>
                  <a:pt x="168667" y="8183"/>
                </a:lnTo>
                <a:lnTo>
                  <a:pt x="225562" y="7619"/>
                </a:lnTo>
                <a:lnTo>
                  <a:pt x="374914" y="7565"/>
                </a:lnTo>
                <a:lnTo>
                  <a:pt x="428572" y="7993"/>
                </a:lnTo>
                <a:lnTo>
                  <a:pt x="470730" y="8970"/>
                </a:lnTo>
                <a:lnTo>
                  <a:pt x="507622" y="10713"/>
                </a:lnTo>
                <a:lnTo>
                  <a:pt x="545482" y="13434"/>
                </a:lnTo>
                <a:lnTo>
                  <a:pt x="590541" y="17350"/>
                </a:lnTo>
                <a:lnTo>
                  <a:pt x="616979" y="18881"/>
                </a:lnTo>
                <a:lnTo>
                  <a:pt x="649087" y="19496"/>
                </a:lnTo>
                <a:lnTo>
                  <a:pt x="681855" y="19173"/>
                </a:lnTo>
                <a:lnTo>
                  <a:pt x="710268" y="17889"/>
                </a:lnTo>
                <a:lnTo>
                  <a:pt x="802113" y="12833"/>
                </a:lnTo>
                <a:lnTo>
                  <a:pt x="829824" y="11867"/>
                </a:lnTo>
                <a:lnTo>
                  <a:pt x="893264" y="10738"/>
                </a:lnTo>
                <a:lnTo>
                  <a:pt x="918145" y="6537"/>
                </a:lnTo>
                <a:lnTo>
                  <a:pt x="917386" y="5118"/>
                </a:lnTo>
                <a:lnTo>
                  <a:pt x="916070" y="3996"/>
                </a:lnTo>
                <a:lnTo>
                  <a:pt x="912119" y="3387"/>
                </a:lnTo>
                <a:lnTo>
                  <a:pt x="903227" y="3139"/>
                </a:lnTo>
                <a:lnTo>
                  <a:pt x="873804" y="3189"/>
                </a:lnTo>
                <a:lnTo>
                  <a:pt x="845132" y="3778"/>
                </a:lnTo>
                <a:lnTo>
                  <a:pt x="749927" y="8022"/>
                </a:lnTo>
                <a:lnTo>
                  <a:pt x="714177" y="10183"/>
                </a:lnTo>
                <a:lnTo>
                  <a:pt x="687132" y="11322"/>
                </a:lnTo>
                <a:lnTo>
                  <a:pt x="651031" y="11846"/>
                </a:lnTo>
                <a:lnTo>
                  <a:pt x="616688" y="11699"/>
                </a:lnTo>
                <a:lnTo>
                  <a:pt x="594915" y="10822"/>
                </a:lnTo>
                <a:lnTo>
                  <a:pt x="563871" y="7909"/>
                </a:lnTo>
                <a:lnTo>
                  <a:pt x="528101" y="5222"/>
                </a:lnTo>
                <a:lnTo>
                  <a:pt x="488973" y="2853"/>
                </a:lnTo>
                <a:lnTo>
                  <a:pt x="447853" y="894"/>
                </a:lnTo>
                <a:lnTo>
                  <a:pt x="418463" y="382"/>
                </a:lnTo>
                <a:lnTo>
                  <a:pt x="305264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3714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Parsing</a:t>
            </a:r>
            <a:r>
              <a:rPr spc="200" dirty="0"/>
              <a:t> </a:t>
            </a:r>
            <a:r>
              <a:rPr spc="45" dirty="0"/>
              <a:t>Algorithms</a:t>
            </a:r>
            <a:endParaRPr spc="4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87373"/>
            <a:ext cx="65201" cy="6520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70915" y="1577187"/>
            <a:ext cx="52705" cy="276860"/>
            <a:chOff x="570915" y="1577187"/>
            <a:chExt cx="52705" cy="2768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915" y="1577187"/>
              <a:ext cx="52527" cy="525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0915" y="1801012"/>
              <a:ext cx="52527" cy="5252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02932" y="802107"/>
            <a:ext cx="3924935" cy="1338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886460" algn="r">
              <a:lnSpc>
                <a:spcPct val="100000"/>
              </a:lnSpc>
              <a:spcBef>
                <a:spcPts val="110"/>
              </a:spcBef>
            </a:pPr>
            <a:r>
              <a:rPr sz="1100" b="1" spc="45" dirty="0">
                <a:latin typeface="Book Antiqua" panose="02040602050305030304"/>
                <a:cs typeface="Book Antiqua" panose="02040602050305030304"/>
              </a:rPr>
              <a:t>Bison</a:t>
            </a:r>
            <a:endParaRPr sz="1100">
              <a:latin typeface="Book Antiqua" panose="02040602050305030304"/>
              <a:cs typeface="Book Antiqua" panose="02040602050305030304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100"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There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two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basic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methods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implementing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top-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down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0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descent</a:t>
            </a:r>
            <a:r>
              <a:rPr sz="10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parsers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560"/>
              </a:spcBef>
            </a:pPr>
            <a:r>
              <a:rPr sz="1000" spc="-20" dirty="0">
                <a:latin typeface="Palatino Linotype" panose="02040502050505030304"/>
                <a:cs typeface="Palatino Linotype" panose="02040502050505030304"/>
              </a:rPr>
              <a:t>Table-driven</a:t>
            </a:r>
            <a:r>
              <a:rPr sz="10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parsers,</a:t>
            </a:r>
            <a:r>
              <a:rPr sz="10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also</a:t>
            </a:r>
            <a:r>
              <a:rPr sz="10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0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LL</a:t>
            </a:r>
            <a:r>
              <a:rPr sz="10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parsers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Bottom-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up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parsers,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also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</a:t>
            </a:r>
            <a:r>
              <a:rPr sz="1100" u="sng" spc="-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ed</a:t>
            </a:r>
            <a:r>
              <a:rPr sz="1100" u="sng" spc="3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sng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LR</a:t>
            </a:r>
            <a:r>
              <a:rPr sz="1100" u="sng" spc="35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u="sng" spc="-10" dirty="0"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s,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table-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driven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032419"/>
            <a:ext cx="65201" cy="6520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3146" y="1533309"/>
            <a:ext cx="454659" cy="334010"/>
          </a:xfrm>
          <a:custGeom>
            <a:avLst/>
            <a:gdLst/>
            <a:ahLst/>
            <a:cxnLst/>
            <a:rect l="l" t="t" r="r" b="b"/>
            <a:pathLst>
              <a:path w="454659" h="334010">
                <a:moveTo>
                  <a:pt x="357009" y="22694"/>
                </a:moveTo>
                <a:lnTo>
                  <a:pt x="317157" y="2171"/>
                </a:lnTo>
                <a:lnTo>
                  <a:pt x="285877" y="0"/>
                </a:lnTo>
                <a:lnTo>
                  <a:pt x="275831" y="647"/>
                </a:lnTo>
                <a:lnTo>
                  <a:pt x="233222" y="10490"/>
                </a:lnTo>
                <a:lnTo>
                  <a:pt x="193624" y="31089"/>
                </a:lnTo>
                <a:lnTo>
                  <a:pt x="149059" y="64300"/>
                </a:lnTo>
                <a:lnTo>
                  <a:pt x="102882" y="106908"/>
                </a:lnTo>
                <a:lnTo>
                  <a:pt x="89103" y="120510"/>
                </a:lnTo>
                <a:lnTo>
                  <a:pt x="80645" y="127825"/>
                </a:lnTo>
                <a:lnTo>
                  <a:pt x="75577" y="130238"/>
                </a:lnTo>
                <a:lnTo>
                  <a:pt x="71945" y="129184"/>
                </a:lnTo>
                <a:lnTo>
                  <a:pt x="64604" y="121132"/>
                </a:lnTo>
                <a:lnTo>
                  <a:pt x="41656" y="88696"/>
                </a:lnTo>
                <a:lnTo>
                  <a:pt x="26543" y="56400"/>
                </a:lnTo>
                <a:lnTo>
                  <a:pt x="26543" y="49339"/>
                </a:lnTo>
                <a:lnTo>
                  <a:pt x="25806" y="47269"/>
                </a:lnTo>
                <a:lnTo>
                  <a:pt x="22377" y="44411"/>
                </a:lnTo>
                <a:lnTo>
                  <a:pt x="19977" y="46024"/>
                </a:lnTo>
                <a:lnTo>
                  <a:pt x="19977" y="49847"/>
                </a:lnTo>
                <a:lnTo>
                  <a:pt x="36690" y="92583"/>
                </a:lnTo>
                <a:lnTo>
                  <a:pt x="60566" y="126136"/>
                </a:lnTo>
                <a:lnTo>
                  <a:pt x="74510" y="137325"/>
                </a:lnTo>
                <a:lnTo>
                  <a:pt x="81445" y="135216"/>
                </a:lnTo>
                <a:lnTo>
                  <a:pt x="92252" y="126504"/>
                </a:lnTo>
                <a:lnTo>
                  <a:pt x="109956" y="109347"/>
                </a:lnTo>
                <a:lnTo>
                  <a:pt x="145554" y="76123"/>
                </a:lnTo>
                <a:lnTo>
                  <a:pt x="178930" y="49110"/>
                </a:lnTo>
                <a:lnTo>
                  <a:pt x="235381" y="16471"/>
                </a:lnTo>
                <a:lnTo>
                  <a:pt x="273494" y="7620"/>
                </a:lnTo>
                <a:lnTo>
                  <a:pt x="292366" y="6248"/>
                </a:lnTo>
                <a:lnTo>
                  <a:pt x="308940" y="7175"/>
                </a:lnTo>
                <a:lnTo>
                  <a:pt x="352767" y="27228"/>
                </a:lnTo>
                <a:lnTo>
                  <a:pt x="354990" y="27965"/>
                </a:lnTo>
                <a:lnTo>
                  <a:pt x="357009" y="22694"/>
                </a:lnTo>
                <a:close/>
              </a:path>
              <a:path w="454659" h="334010">
                <a:moveTo>
                  <a:pt x="454609" y="160782"/>
                </a:moveTo>
                <a:lnTo>
                  <a:pt x="434263" y="160616"/>
                </a:lnTo>
                <a:lnTo>
                  <a:pt x="426402" y="160743"/>
                </a:lnTo>
                <a:lnTo>
                  <a:pt x="423989" y="160947"/>
                </a:lnTo>
                <a:lnTo>
                  <a:pt x="367512" y="176314"/>
                </a:lnTo>
                <a:lnTo>
                  <a:pt x="319709" y="200520"/>
                </a:lnTo>
                <a:lnTo>
                  <a:pt x="252425" y="244932"/>
                </a:lnTo>
                <a:lnTo>
                  <a:pt x="172034" y="302590"/>
                </a:lnTo>
                <a:lnTo>
                  <a:pt x="155181" y="314159"/>
                </a:lnTo>
                <a:lnTo>
                  <a:pt x="142062" y="320954"/>
                </a:lnTo>
                <a:lnTo>
                  <a:pt x="129413" y="325285"/>
                </a:lnTo>
                <a:lnTo>
                  <a:pt x="117182" y="327139"/>
                </a:lnTo>
                <a:lnTo>
                  <a:pt x="105308" y="326567"/>
                </a:lnTo>
                <a:lnTo>
                  <a:pt x="93027" y="323875"/>
                </a:lnTo>
                <a:lnTo>
                  <a:pt x="80619" y="319252"/>
                </a:lnTo>
                <a:lnTo>
                  <a:pt x="66522" y="312000"/>
                </a:lnTo>
                <a:lnTo>
                  <a:pt x="38354" y="294627"/>
                </a:lnTo>
                <a:lnTo>
                  <a:pt x="30162" y="290080"/>
                </a:lnTo>
                <a:lnTo>
                  <a:pt x="23037" y="286956"/>
                </a:lnTo>
                <a:lnTo>
                  <a:pt x="15367" y="284454"/>
                </a:lnTo>
                <a:lnTo>
                  <a:pt x="5003" y="281444"/>
                </a:lnTo>
                <a:lnTo>
                  <a:pt x="0" y="281698"/>
                </a:lnTo>
                <a:lnTo>
                  <a:pt x="787" y="287032"/>
                </a:lnTo>
                <a:lnTo>
                  <a:pt x="2781" y="287934"/>
                </a:lnTo>
                <a:lnTo>
                  <a:pt x="19621" y="292519"/>
                </a:lnTo>
                <a:lnTo>
                  <a:pt x="25996" y="295109"/>
                </a:lnTo>
                <a:lnTo>
                  <a:pt x="33858" y="299529"/>
                </a:lnTo>
                <a:lnTo>
                  <a:pt x="64033" y="318173"/>
                </a:lnTo>
                <a:lnTo>
                  <a:pt x="77444" y="325323"/>
                </a:lnTo>
                <a:lnTo>
                  <a:pt x="88684" y="329768"/>
                </a:lnTo>
                <a:lnTo>
                  <a:pt x="100012" y="332574"/>
                </a:lnTo>
                <a:lnTo>
                  <a:pt x="117589" y="333870"/>
                </a:lnTo>
                <a:lnTo>
                  <a:pt x="135166" y="330669"/>
                </a:lnTo>
                <a:lnTo>
                  <a:pt x="153746" y="322656"/>
                </a:lnTo>
                <a:lnTo>
                  <a:pt x="174307" y="309524"/>
                </a:lnTo>
                <a:lnTo>
                  <a:pt x="218973" y="277177"/>
                </a:lnTo>
                <a:lnTo>
                  <a:pt x="272135" y="239496"/>
                </a:lnTo>
                <a:lnTo>
                  <a:pt x="313296" y="212471"/>
                </a:lnTo>
                <a:lnTo>
                  <a:pt x="346671" y="193509"/>
                </a:lnTo>
                <a:lnTo>
                  <a:pt x="391274" y="174561"/>
                </a:lnTo>
                <a:lnTo>
                  <a:pt x="433285" y="167563"/>
                </a:lnTo>
                <a:lnTo>
                  <a:pt x="454609" y="166255"/>
                </a:lnTo>
                <a:lnTo>
                  <a:pt x="454609" y="160782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520861" y="1933034"/>
            <a:ext cx="626110" cy="27940"/>
          </a:xfrm>
          <a:custGeom>
            <a:avLst/>
            <a:gdLst/>
            <a:ahLst/>
            <a:cxnLst/>
            <a:rect l="l" t="t" r="r" b="b"/>
            <a:pathLst>
              <a:path w="626110" h="27939">
                <a:moveTo>
                  <a:pt x="263733" y="54"/>
                </a:moveTo>
                <a:lnTo>
                  <a:pt x="74955" y="0"/>
                </a:lnTo>
                <a:lnTo>
                  <a:pt x="24685" y="235"/>
                </a:lnTo>
                <a:lnTo>
                  <a:pt x="0" y="3410"/>
                </a:lnTo>
                <a:lnTo>
                  <a:pt x="71" y="4559"/>
                </a:lnTo>
                <a:lnTo>
                  <a:pt x="90626" y="7674"/>
                </a:lnTo>
                <a:lnTo>
                  <a:pt x="280172" y="8215"/>
                </a:lnTo>
                <a:lnTo>
                  <a:pt x="343159" y="8580"/>
                </a:lnTo>
                <a:lnTo>
                  <a:pt x="383881" y="9050"/>
                </a:lnTo>
                <a:lnTo>
                  <a:pt x="403049" y="9633"/>
                </a:lnTo>
                <a:lnTo>
                  <a:pt x="494348" y="16389"/>
                </a:lnTo>
                <a:lnTo>
                  <a:pt x="515392" y="17782"/>
                </a:lnTo>
                <a:lnTo>
                  <a:pt x="535430" y="19384"/>
                </a:lnTo>
                <a:lnTo>
                  <a:pt x="553710" y="21128"/>
                </a:lnTo>
                <a:lnTo>
                  <a:pt x="586285" y="24828"/>
                </a:lnTo>
                <a:lnTo>
                  <a:pt x="603414" y="26352"/>
                </a:lnTo>
                <a:lnTo>
                  <a:pt x="618959" y="27489"/>
                </a:lnTo>
                <a:lnTo>
                  <a:pt x="620956" y="27439"/>
                </a:lnTo>
                <a:lnTo>
                  <a:pt x="625779" y="22616"/>
                </a:lnTo>
                <a:lnTo>
                  <a:pt x="622663" y="21120"/>
                </a:lnTo>
                <a:lnTo>
                  <a:pt x="604826" y="19832"/>
                </a:lnTo>
                <a:lnTo>
                  <a:pt x="553745" y="14005"/>
                </a:lnTo>
                <a:lnTo>
                  <a:pt x="407305" y="2946"/>
                </a:lnTo>
                <a:lnTo>
                  <a:pt x="328037" y="450"/>
                </a:lnTo>
                <a:lnTo>
                  <a:pt x="263733" y="54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769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7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LL</a:t>
            </a:r>
            <a:r>
              <a:rPr sz="600" b="1" spc="2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Parsers</a:t>
            </a:r>
            <a:r>
              <a:rPr sz="600" b="1" spc="229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and</a:t>
            </a:r>
            <a:r>
              <a:rPr sz="600" b="1" spc="229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LR</a:t>
            </a:r>
            <a:r>
              <a:rPr sz="600" b="1" spc="2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058570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1055584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1026768"/>
            <a:ext cx="479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514678"/>
            <a:ext cx="155257" cy="15525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4675" y="1511692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0055" y="1482863"/>
            <a:ext cx="1673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LL</a:t>
            </a:r>
            <a:r>
              <a:rPr sz="1100" spc="5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Parsers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and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LR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Parsers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970773"/>
            <a:ext cx="155257" cy="15525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2426881"/>
            <a:ext cx="155257" cy="15525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4675" y="1938971"/>
            <a:ext cx="1720214" cy="6483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3"/>
              <a:tabLst>
                <a:tab pos="177800" algn="l"/>
              </a:tabLst>
            </a:pP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Recursive</a:t>
            </a:r>
            <a:r>
              <a:rPr sz="1100" spc="1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Descent</a:t>
            </a:r>
            <a:r>
              <a:rPr sz="1100" spc="1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Parser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FAF9FB"/>
              </a:buClr>
              <a:buFont typeface="Comic Sans MS" panose="030F0702030302020204"/>
              <a:buAutoNum type="arabicPlain" startAt="3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FAF9FB"/>
              </a:buClr>
              <a:buSzPct val="73000"/>
              <a:buFont typeface="Comic Sans MS" panose="030F0702030302020204"/>
              <a:buAutoNum type="arabicPlain" startAt="3"/>
              <a:tabLst>
                <a:tab pos="177800" algn="l"/>
              </a:tabLst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Example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769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7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LL</a:t>
            </a:r>
            <a:r>
              <a:rPr sz="600" b="1" spc="2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Parsers</a:t>
            </a:r>
            <a:r>
              <a:rPr sz="600" b="1" spc="229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and</a:t>
            </a:r>
            <a:r>
              <a:rPr sz="600" b="1" spc="229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LR</a:t>
            </a:r>
            <a:r>
              <a:rPr sz="600" b="1" spc="2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91"/>
            <a:ext cx="9975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14" dirty="0"/>
              <a:t>LL</a:t>
            </a:r>
            <a:r>
              <a:rPr spc="190" dirty="0"/>
              <a:t> </a:t>
            </a:r>
            <a:r>
              <a:rPr spc="65" dirty="0"/>
              <a:t>Parsers</a:t>
            </a:r>
            <a:endParaRPr spc="6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1150410"/>
            <a:ext cx="4483735" cy="621030"/>
            <a:chOff x="87743" y="1150410"/>
            <a:chExt cx="4483735" cy="6210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669313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295476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56613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150416"/>
              <a:ext cx="50800" cy="5188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339757"/>
              <a:ext cx="4432935" cy="380365"/>
            </a:xfrm>
            <a:custGeom>
              <a:avLst/>
              <a:gdLst/>
              <a:ahLst/>
              <a:cxnLst/>
              <a:rect l="l" t="t" r="r" b="b"/>
              <a:pathLst>
                <a:path w="4432935" h="380364">
                  <a:moveTo>
                    <a:pt x="4432567" y="0"/>
                  </a:moveTo>
                  <a:lnTo>
                    <a:pt x="0" y="0"/>
                  </a:lnTo>
                  <a:lnTo>
                    <a:pt x="0" y="329556"/>
                  </a:lnTo>
                  <a:lnTo>
                    <a:pt x="4008" y="349280"/>
                  </a:lnTo>
                  <a:lnTo>
                    <a:pt x="14922" y="365433"/>
                  </a:lnTo>
                  <a:lnTo>
                    <a:pt x="31075" y="376347"/>
                  </a:lnTo>
                  <a:lnTo>
                    <a:pt x="50800" y="380356"/>
                  </a:lnTo>
                  <a:lnTo>
                    <a:pt x="4381767" y="380356"/>
                  </a:lnTo>
                  <a:lnTo>
                    <a:pt x="4401492" y="376347"/>
                  </a:lnTo>
                  <a:lnTo>
                    <a:pt x="4417644" y="365433"/>
                  </a:lnTo>
                  <a:lnTo>
                    <a:pt x="4428558" y="349280"/>
                  </a:lnTo>
                  <a:lnTo>
                    <a:pt x="4432567" y="32955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188510"/>
              <a:ext cx="0" cy="500380"/>
            </a:xfrm>
            <a:custGeom>
              <a:avLst/>
              <a:gdLst/>
              <a:ahLst/>
              <a:cxnLst/>
              <a:rect l="l" t="t" r="r" b="b"/>
              <a:pathLst>
                <a:path h="500380">
                  <a:moveTo>
                    <a:pt x="0" y="4998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1758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1631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1504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87743" y="1916271"/>
            <a:ext cx="4483735" cy="621030"/>
            <a:chOff x="87743" y="1916271"/>
            <a:chExt cx="4483735" cy="62103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2061337"/>
              <a:ext cx="4432566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435174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422474"/>
              <a:ext cx="4381767" cy="1143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311" y="1916277"/>
              <a:ext cx="50800" cy="51889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2105618"/>
              <a:ext cx="4432935" cy="380365"/>
            </a:xfrm>
            <a:custGeom>
              <a:avLst/>
              <a:gdLst/>
              <a:ahLst/>
              <a:cxnLst/>
              <a:rect l="l" t="t" r="r" b="b"/>
              <a:pathLst>
                <a:path w="4432935" h="380364">
                  <a:moveTo>
                    <a:pt x="4432567" y="0"/>
                  </a:moveTo>
                  <a:lnTo>
                    <a:pt x="0" y="0"/>
                  </a:lnTo>
                  <a:lnTo>
                    <a:pt x="0" y="329556"/>
                  </a:lnTo>
                  <a:lnTo>
                    <a:pt x="4008" y="349280"/>
                  </a:lnTo>
                  <a:lnTo>
                    <a:pt x="14922" y="365433"/>
                  </a:lnTo>
                  <a:lnTo>
                    <a:pt x="31075" y="376347"/>
                  </a:lnTo>
                  <a:lnTo>
                    <a:pt x="50800" y="380356"/>
                  </a:lnTo>
                  <a:lnTo>
                    <a:pt x="4381767" y="380356"/>
                  </a:lnTo>
                  <a:lnTo>
                    <a:pt x="4401492" y="376347"/>
                  </a:lnTo>
                  <a:lnTo>
                    <a:pt x="4417644" y="365433"/>
                  </a:lnTo>
                  <a:lnTo>
                    <a:pt x="4428558" y="349280"/>
                  </a:lnTo>
                  <a:lnTo>
                    <a:pt x="4432567" y="32955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520311" y="1954371"/>
              <a:ext cx="0" cy="500380"/>
            </a:xfrm>
            <a:custGeom>
              <a:avLst/>
              <a:gdLst/>
              <a:ahLst/>
              <a:cxnLst/>
              <a:rect l="l" t="t" r="r" b="b"/>
              <a:pathLst>
                <a:path h="500380">
                  <a:moveTo>
                    <a:pt x="0" y="4998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20311" y="19416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520311" y="19289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520311" y="19162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25844" y="1042400"/>
            <a:ext cx="3877945" cy="140525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Definition</a:t>
            </a:r>
            <a:r>
              <a:rPr sz="1100" spc="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(LL</a:t>
            </a:r>
            <a:r>
              <a:rPr sz="1100" spc="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20320">
              <a:lnSpc>
                <a:spcPct val="103000"/>
              </a:lnSpc>
              <a:spcBef>
                <a:spcPts val="38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L</a:t>
            </a:r>
            <a:r>
              <a:rPr sz="1100" u="sng" dirty="0">
                <a:solidFill>
                  <a:srgbClr val="FF0000"/>
                </a:solidFill>
                <a:uFill>
                  <a:solidFill>
                    <a:srgbClr val="FF2600"/>
                  </a:solidFill>
                </a:uFill>
                <a:latin typeface="Palatino Linotype" panose="02040502050505030304"/>
                <a:cs typeface="Palatino Linotype" panose="02040502050505030304"/>
              </a:rPr>
              <a:t>L</a:t>
            </a:r>
            <a:r>
              <a:rPr sz="1100" spc="3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3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right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(L)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uses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a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leftmost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derivation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(L).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Definition</a:t>
            </a:r>
            <a:r>
              <a:rPr sz="11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(LR</a:t>
            </a:r>
            <a:r>
              <a:rPr sz="11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3000"/>
              </a:lnSpc>
              <a:spcBef>
                <a:spcPts val="38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LR</a:t>
            </a:r>
            <a:r>
              <a:rPr sz="1100" spc="3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3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right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(L)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uses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a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rightmost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derivation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(R).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756431" y="233338"/>
            <a:ext cx="89725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135" dirty="0">
                <a:latin typeface="Book Antiqua" panose="02040602050305030304"/>
                <a:cs typeface="Book Antiqua" panose="02040602050305030304"/>
              </a:rPr>
              <a:t>(id</a:t>
            </a:r>
            <a:r>
              <a:rPr sz="11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1100" b="1" spc="75" dirty="0">
                <a:latin typeface="Book Antiqua" panose="02040602050305030304"/>
                <a:cs typeface="Book Antiqua" panose="02040602050305030304"/>
              </a:rPr>
              <a:t>+id)</a:t>
            </a:r>
            <a:r>
              <a:rPr sz="11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1100" b="1" spc="235" dirty="0">
                <a:latin typeface="Book Antiqua" panose="02040602050305030304"/>
                <a:cs typeface="Book Antiqua" panose="02040602050305030304"/>
              </a:rPr>
              <a:t>*</a:t>
            </a:r>
            <a:r>
              <a:rPr sz="11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1100" b="1" spc="-25" dirty="0">
                <a:latin typeface="Book Antiqua" panose="02040602050305030304"/>
                <a:cs typeface="Book Antiqua" panose="02040602050305030304"/>
              </a:rPr>
              <a:t>id</a:t>
            </a:r>
            <a:endParaRPr sz="11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775193" y="439433"/>
            <a:ext cx="106045" cy="279400"/>
          </a:xfrm>
          <a:custGeom>
            <a:avLst/>
            <a:gdLst/>
            <a:ahLst/>
            <a:cxnLst/>
            <a:rect l="l" t="t" r="r" b="b"/>
            <a:pathLst>
              <a:path w="106044" h="279400">
                <a:moveTo>
                  <a:pt x="44824" y="0"/>
                </a:moveTo>
                <a:lnTo>
                  <a:pt x="7039" y="30244"/>
                </a:lnTo>
                <a:lnTo>
                  <a:pt x="0" y="55551"/>
                </a:lnTo>
                <a:lnTo>
                  <a:pt x="97" y="63642"/>
                </a:lnTo>
                <a:lnTo>
                  <a:pt x="2654" y="65956"/>
                </a:lnTo>
                <a:lnTo>
                  <a:pt x="5641" y="67768"/>
                </a:lnTo>
                <a:lnTo>
                  <a:pt x="8852" y="66169"/>
                </a:lnTo>
                <a:lnTo>
                  <a:pt x="13735" y="59723"/>
                </a:lnTo>
                <a:lnTo>
                  <a:pt x="31212" y="31982"/>
                </a:lnTo>
                <a:lnTo>
                  <a:pt x="32163" y="31418"/>
                </a:lnTo>
                <a:lnTo>
                  <a:pt x="31474" y="38246"/>
                </a:lnTo>
                <a:lnTo>
                  <a:pt x="29593" y="92493"/>
                </a:lnTo>
                <a:lnTo>
                  <a:pt x="28928" y="106135"/>
                </a:lnTo>
                <a:lnTo>
                  <a:pt x="28079" y="116582"/>
                </a:lnTo>
                <a:lnTo>
                  <a:pt x="24705" y="142177"/>
                </a:lnTo>
                <a:lnTo>
                  <a:pt x="23470" y="160702"/>
                </a:lnTo>
                <a:lnTo>
                  <a:pt x="23712" y="252179"/>
                </a:lnTo>
                <a:lnTo>
                  <a:pt x="25673" y="279347"/>
                </a:lnTo>
                <a:lnTo>
                  <a:pt x="28080" y="278895"/>
                </a:lnTo>
                <a:lnTo>
                  <a:pt x="29381" y="271827"/>
                </a:lnTo>
                <a:lnTo>
                  <a:pt x="29940" y="253123"/>
                </a:lnTo>
                <a:lnTo>
                  <a:pt x="30317" y="181628"/>
                </a:lnTo>
                <a:lnTo>
                  <a:pt x="30915" y="158510"/>
                </a:lnTo>
                <a:lnTo>
                  <a:pt x="32240" y="141596"/>
                </a:lnTo>
                <a:lnTo>
                  <a:pt x="35753" y="115028"/>
                </a:lnTo>
                <a:lnTo>
                  <a:pt x="36608" y="104384"/>
                </a:lnTo>
                <a:lnTo>
                  <a:pt x="37263" y="90875"/>
                </a:lnTo>
                <a:lnTo>
                  <a:pt x="38315" y="55568"/>
                </a:lnTo>
                <a:lnTo>
                  <a:pt x="38902" y="43247"/>
                </a:lnTo>
                <a:lnTo>
                  <a:pt x="39647" y="34848"/>
                </a:lnTo>
                <a:lnTo>
                  <a:pt x="40643" y="28950"/>
                </a:lnTo>
                <a:lnTo>
                  <a:pt x="41725" y="24139"/>
                </a:lnTo>
                <a:lnTo>
                  <a:pt x="42641" y="18480"/>
                </a:lnTo>
                <a:lnTo>
                  <a:pt x="42741" y="13034"/>
                </a:lnTo>
                <a:lnTo>
                  <a:pt x="42385" y="12507"/>
                </a:lnTo>
                <a:lnTo>
                  <a:pt x="39873" y="12215"/>
                </a:lnTo>
                <a:lnTo>
                  <a:pt x="37045" y="12818"/>
                </a:lnTo>
                <a:lnTo>
                  <a:pt x="33484" y="16333"/>
                </a:lnTo>
                <a:lnTo>
                  <a:pt x="27961" y="24316"/>
                </a:lnTo>
                <a:lnTo>
                  <a:pt x="7744" y="56903"/>
                </a:lnTo>
                <a:lnTo>
                  <a:pt x="6983" y="48092"/>
                </a:lnTo>
                <a:lnTo>
                  <a:pt x="29128" y="13000"/>
                </a:lnTo>
                <a:lnTo>
                  <a:pt x="48110" y="5812"/>
                </a:lnTo>
                <a:lnTo>
                  <a:pt x="54830" y="5813"/>
                </a:lnTo>
                <a:lnTo>
                  <a:pt x="87210" y="31747"/>
                </a:lnTo>
                <a:lnTo>
                  <a:pt x="98468" y="54782"/>
                </a:lnTo>
                <a:lnTo>
                  <a:pt x="99794" y="56831"/>
                </a:lnTo>
                <a:lnTo>
                  <a:pt x="105486" y="56831"/>
                </a:lnTo>
                <a:lnTo>
                  <a:pt x="104652" y="51480"/>
                </a:lnTo>
                <a:lnTo>
                  <a:pt x="82349" y="15073"/>
                </a:lnTo>
                <a:lnTo>
                  <a:pt x="52591" y="266"/>
                </a:lnTo>
                <a:lnTo>
                  <a:pt x="44824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927390" y="444252"/>
            <a:ext cx="577215" cy="30480"/>
          </a:xfrm>
          <a:custGeom>
            <a:avLst/>
            <a:gdLst/>
            <a:ahLst/>
            <a:cxnLst/>
            <a:rect l="l" t="t" r="r" b="b"/>
            <a:pathLst>
              <a:path w="577214" h="30479">
                <a:moveTo>
                  <a:pt x="577202" y="74"/>
                </a:moveTo>
                <a:lnTo>
                  <a:pt x="340956" y="0"/>
                </a:lnTo>
                <a:lnTo>
                  <a:pt x="239297" y="392"/>
                </a:lnTo>
                <a:lnTo>
                  <a:pt x="183360" y="2496"/>
                </a:lnTo>
                <a:lnTo>
                  <a:pt x="113892" y="8352"/>
                </a:lnTo>
                <a:lnTo>
                  <a:pt x="48927" y="18644"/>
                </a:lnTo>
                <a:lnTo>
                  <a:pt x="32513" y="21096"/>
                </a:lnTo>
                <a:lnTo>
                  <a:pt x="18078" y="22887"/>
                </a:lnTo>
                <a:lnTo>
                  <a:pt x="8806" y="23582"/>
                </a:lnTo>
                <a:lnTo>
                  <a:pt x="3138" y="23582"/>
                </a:lnTo>
                <a:lnTo>
                  <a:pt x="0" y="25541"/>
                </a:lnTo>
                <a:lnTo>
                  <a:pt x="1798" y="30227"/>
                </a:lnTo>
                <a:lnTo>
                  <a:pt x="2747" y="30346"/>
                </a:lnTo>
                <a:lnTo>
                  <a:pt x="23489" y="28420"/>
                </a:lnTo>
                <a:lnTo>
                  <a:pt x="38132" y="26465"/>
                </a:lnTo>
                <a:lnTo>
                  <a:pt x="53665" y="24031"/>
                </a:lnTo>
                <a:lnTo>
                  <a:pt x="85101" y="18507"/>
                </a:lnTo>
                <a:lnTo>
                  <a:pt x="104888" y="15718"/>
                </a:lnTo>
                <a:lnTo>
                  <a:pt x="181394" y="8593"/>
                </a:lnTo>
                <a:lnTo>
                  <a:pt x="232389" y="6983"/>
                </a:lnTo>
                <a:lnTo>
                  <a:pt x="292191" y="6539"/>
                </a:lnTo>
                <a:lnTo>
                  <a:pt x="577202" y="5541"/>
                </a:lnTo>
                <a:lnTo>
                  <a:pt x="577202" y="74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1785280" y="116598"/>
            <a:ext cx="1825625" cy="544830"/>
            <a:chOff x="1785280" y="116598"/>
            <a:chExt cx="1825625" cy="544830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5280" y="144462"/>
              <a:ext cx="99271" cy="2306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54709" y="116598"/>
              <a:ext cx="1055849" cy="544363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124142" y="2430733"/>
            <a:ext cx="1546860" cy="67945"/>
          </a:xfrm>
          <a:custGeom>
            <a:avLst/>
            <a:gdLst/>
            <a:ahLst/>
            <a:cxnLst/>
            <a:rect l="l" t="t" r="r" b="b"/>
            <a:pathLst>
              <a:path w="1546860" h="67944">
                <a:moveTo>
                  <a:pt x="638566" y="0"/>
                </a:moveTo>
                <a:lnTo>
                  <a:pt x="613699" y="906"/>
                </a:lnTo>
                <a:lnTo>
                  <a:pt x="605367" y="1874"/>
                </a:lnTo>
                <a:lnTo>
                  <a:pt x="595065" y="6450"/>
                </a:lnTo>
                <a:lnTo>
                  <a:pt x="591673" y="11626"/>
                </a:lnTo>
                <a:lnTo>
                  <a:pt x="589443" y="13238"/>
                </a:lnTo>
                <a:lnTo>
                  <a:pt x="587584" y="13886"/>
                </a:lnTo>
                <a:lnTo>
                  <a:pt x="577171" y="14415"/>
                </a:lnTo>
                <a:lnTo>
                  <a:pt x="548583" y="14776"/>
                </a:lnTo>
                <a:lnTo>
                  <a:pt x="315118" y="15325"/>
                </a:lnTo>
                <a:lnTo>
                  <a:pt x="275899" y="15675"/>
                </a:lnTo>
                <a:lnTo>
                  <a:pt x="231111" y="17402"/>
                </a:lnTo>
                <a:lnTo>
                  <a:pt x="187030" y="20610"/>
                </a:lnTo>
                <a:lnTo>
                  <a:pt x="135571" y="27444"/>
                </a:lnTo>
                <a:lnTo>
                  <a:pt x="62030" y="43784"/>
                </a:lnTo>
                <a:lnTo>
                  <a:pt x="16568" y="57792"/>
                </a:lnTo>
                <a:lnTo>
                  <a:pt x="6114" y="60981"/>
                </a:lnTo>
                <a:lnTo>
                  <a:pt x="2100" y="60981"/>
                </a:lnTo>
                <a:lnTo>
                  <a:pt x="0" y="64051"/>
                </a:lnTo>
                <a:lnTo>
                  <a:pt x="1439" y="66266"/>
                </a:lnTo>
                <a:lnTo>
                  <a:pt x="3596" y="67627"/>
                </a:lnTo>
                <a:lnTo>
                  <a:pt x="8442" y="67250"/>
                </a:lnTo>
                <a:lnTo>
                  <a:pt x="17659" y="64800"/>
                </a:lnTo>
                <a:lnTo>
                  <a:pt x="32931" y="59936"/>
                </a:lnTo>
                <a:lnTo>
                  <a:pt x="67096" y="49850"/>
                </a:lnTo>
                <a:lnTo>
                  <a:pt x="141027" y="33841"/>
                </a:lnTo>
                <a:lnTo>
                  <a:pt x="208609" y="25852"/>
                </a:lnTo>
                <a:lnTo>
                  <a:pt x="294611" y="22505"/>
                </a:lnTo>
                <a:lnTo>
                  <a:pt x="359233" y="21829"/>
                </a:lnTo>
                <a:lnTo>
                  <a:pt x="532878" y="21565"/>
                </a:lnTo>
                <a:lnTo>
                  <a:pt x="576894" y="21020"/>
                </a:lnTo>
                <a:lnTo>
                  <a:pt x="592984" y="19441"/>
                </a:lnTo>
                <a:lnTo>
                  <a:pt x="596803" y="16276"/>
                </a:lnTo>
                <a:lnTo>
                  <a:pt x="597610" y="15124"/>
                </a:lnTo>
                <a:lnTo>
                  <a:pt x="600047" y="13133"/>
                </a:lnTo>
                <a:lnTo>
                  <a:pt x="602220" y="11851"/>
                </a:lnTo>
                <a:lnTo>
                  <a:pt x="608783" y="9465"/>
                </a:lnTo>
                <a:lnTo>
                  <a:pt x="620166" y="8113"/>
                </a:lnTo>
                <a:lnTo>
                  <a:pt x="638932" y="7642"/>
                </a:lnTo>
                <a:lnTo>
                  <a:pt x="667647" y="7895"/>
                </a:lnTo>
                <a:lnTo>
                  <a:pt x="711831" y="8902"/>
                </a:lnTo>
                <a:lnTo>
                  <a:pt x="747784" y="10618"/>
                </a:lnTo>
                <a:lnTo>
                  <a:pt x="783851" y="13584"/>
                </a:lnTo>
                <a:lnTo>
                  <a:pt x="870989" y="22960"/>
                </a:lnTo>
                <a:lnTo>
                  <a:pt x="908018" y="26525"/>
                </a:lnTo>
                <a:lnTo>
                  <a:pt x="939121" y="29009"/>
                </a:lnTo>
                <a:lnTo>
                  <a:pt x="963957" y="30381"/>
                </a:lnTo>
                <a:lnTo>
                  <a:pt x="996625" y="30944"/>
                </a:lnTo>
                <a:lnTo>
                  <a:pt x="1050752" y="31278"/>
                </a:lnTo>
                <a:lnTo>
                  <a:pt x="1177755" y="31262"/>
                </a:lnTo>
                <a:lnTo>
                  <a:pt x="1227815" y="30915"/>
                </a:lnTo>
                <a:lnTo>
                  <a:pt x="1253707" y="30345"/>
                </a:lnTo>
                <a:lnTo>
                  <a:pt x="1269561" y="28752"/>
                </a:lnTo>
                <a:lnTo>
                  <a:pt x="1293806" y="25103"/>
                </a:lnTo>
                <a:lnTo>
                  <a:pt x="1302156" y="24127"/>
                </a:lnTo>
                <a:lnTo>
                  <a:pt x="1311032" y="23455"/>
                </a:lnTo>
                <a:lnTo>
                  <a:pt x="1321000" y="23034"/>
                </a:lnTo>
                <a:lnTo>
                  <a:pt x="1337202" y="22961"/>
                </a:lnTo>
                <a:lnTo>
                  <a:pt x="1353945" y="23953"/>
                </a:lnTo>
                <a:lnTo>
                  <a:pt x="1374704" y="26323"/>
                </a:lnTo>
                <a:lnTo>
                  <a:pt x="1443583" y="36273"/>
                </a:lnTo>
                <a:lnTo>
                  <a:pt x="1474296" y="40103"/>
                </a:lnTo>
                <a:lnTo>
                  <a:pt x="1498040" y="42193"/>
                </a:lnTo>
                <a:lnTo>
                  <a:pt x="1517762" y="42861"/>
                </a:lnTo>
                <a:lnTo>
                  <a:pt x="1533525" y="42781"/>
                </a:lnTo>
                <a:lnTo>
                  <a:pt x="1542287" y="42202"/>
                </a:lnTo>
                <a:lnTo>
                  <a:pt x="1545979" y="40820"/>
                </a:lnTo>
                <a:lnTo>
                  <a:pt x="1546533" y="38330"/>
                </a:lnTo>
                <a:lnTo>
                  <a:pt x="1546190" y="35436"/>
                </a:lnTo>
                <a:lnTo>
                  <a:pt x="1520495" y="35294"/>
                </a:lnTo>
                <a:lnTo>
                  <a:pt x="1501193" y="34796"/>
                </a:lnTo>
                <a:lnTo>
                  <a:pt x="1480807" y="33207"/>
                </a:lnTo>
                <a:lnTo>
                  <a:pt x="1454622" y="30046"/>
                </a:lnTo>
                <a:lnTo>
                  <a:pt x="1369292" y="18155"/>
                </a:lnTo>
                <a:lnTo>
                  <a:pt x="1335589" y="15065"/>
                </a:lnTo>
                <a:lnTo>
                  <a:pt x="1309970" y="15224"/>
                </a:lnTo>
                <a:lnTo>
                  <a:pt x="1266638" y="20825"/>
                </a:lnTo>
                <a:lnTo>
                  <a:pt x="1237978" y="22146"/>
                </a:lnTo>
                <a:lnTo>
                  <a:pt x="1184424" y="22581"/>
                </a:lnTo>
                <a:lnTo>
                  <a:pt x="938262" y="22069"/>
                </a:lnTo>
                <a:lnTo>
                  <a:pt x="771190" y="4579"/>
                </a:lnTo>
                <a:lnTo>
                  <a:pt x="760039" y="3594"/>
                </a:lnTo>
                <a:lnTo>
                  <a:pt x="722909" y="1549"/>
                </a:lnTo>
                <a:lnTo>
                  <a:pt x="678694" y="282"/>
                </a:lnTo>
                <a:lnTo>
                  <a:pt x="638566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014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058570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1055584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1026768"/>
            <a:ext cx="479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514678"/>
            <a:ext cx="155257" cy="15525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4675" y="1511692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0055" y="1482863"/>
            <a:ext cx="1673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LL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Parsers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and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LR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Parsers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1970773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1938971"/>
            <a:ext cx="17202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r>
              <a:rPr sz="1200" b="1" spc="585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Recursive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Descent</a:t>
            </a:r>
            <a:r>
              <a:rPr sz="1100" spc="5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Parser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9" y="2426881"/>
            <a:ext cx="155257" cy="15525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4675" y="2395066"/>
            <a:ext cx="720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Example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Recursive Descent Parsing in Compiler Design - 0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0802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Recursive Descent Parsing in Compiler Design - 0-4-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524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Recursive Descent Parsing in Compiler Design - 0-4-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510" y="67246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Recursive Descent Parsing in Compiler Design - 0-4-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51244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Recursive Descent Parsing in Compiler Design - 0-5-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0" y="56388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Recursive Descent Parsing in Compiler Design - 0-6-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510" y="51562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2014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7743" y="948372"/>
            <a:ext cx="4483735" cy="1891664"/>
            <a:chOff x="87743" y="948372"/>
            <a:chExt cx="4483735" cy="189166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93470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738183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725483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948385"/>
              <a:ext cx="50800" cy="178979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37729"/>
              <a:ext cx="4432935" cy="1651635"/>
            </a:xfrm>
            <a:custGeom>
              <a:avLst/>
              <a:gdLst/>
              <a:ahLst/>
              <a:cxnLst/>
              <a:rect l="l" t="t" r="r" b="b"/>
              <a:pathLst>
                <a:path w="4432935" h="1651635">
                  <a:moveTo>
                    <a:pt x="4432567" y="0"/>
                  </a:moveTo>
                  <a:lnTo>
                    <a:pt x="0" y="0"/>
                  </a:lnTo>
                  <a:lnTo>
                    <a:pt x="0" y="1600453"/>
                  </a:lnTo>
                  <a:lnTo>
                    <a:pt x="4008" y="1620178"/>
                  </a:lnTo>
                  <a:lnTo>
                    <a:pt x="14922" y="1636331"/>
                  </a:lnTo>
                  <a:lnTo>
                    <a:pt x="31075" y="1647245"/>
                  </a:lnTo>
                  <a:lnTo>
                    <a:pt x="50800" y="1651254"/>
                  </a:lnTo>
                  <a:lnTo>
                    <a:pt x="4381767" y="1651254"/>
                  </a:lnTo>
                  <a:lnTo>
                    <a:pt x="4401492" y="1647245"/>
                  </a:lnTo>
                  <a:lnTo>
                    <a:pt x="4417644" y="1636331"/>
                  </a:lnTo>
                  <a:lnTo>
                    <a:pt x="4428558" y="1620178"/>
                  </a:lnTo>
                  <a:lnTo>
                    <a:pt x="4432567" y="160045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986472"/>
              <a:ext cx="0" cy="1771014"/>
            </a:xfrm>
            <a:custGeom>
              <a:avLst/>
              <a:gdLst/>
              <a:ahLst/>
              <a:cxnLst/>
              <a:rect l="l" t="t" r="r" b="b"/>
              <a:pathLst>
                <a:path h="1771014">
                  <a:moveTo>
                    <a:pt x="0" y="17707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9737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9610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9483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401508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645577"/>
              <a:ext cx="65201" cy="652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1889645"/>
              <a:ext cx="65201" cy="652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165" y="2477871"/>
              <a:ext cx="65201" cy="6520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5844" y="848154"/>
            <a:ext cx="4356735" cy="191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54225">
              <a:lnSpc>
                <a:spcPct val="127000"/>
              </a:lnSpc>
              <a:spcBef>
                <a:spcPts val="100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Definition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(Recursive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Descent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Parser)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100" spc="5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descent</a:t>
            </a:r>
            <a:r>
              <a:rPr sz="1100" spc="5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,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Each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nonterminal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implemented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function.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60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Parsing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begins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start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symbol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calling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function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90" dirty="0">
                <a:latin typeface="Palatino Linotype" panose="02040502050505030304"/>
                <a:cs typeface="Palatino Linotype" panose="02040502050505030304"/>
              </a:rPr>
              <a:t>S().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18415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Based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first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token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received,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-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productions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selected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and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executed.</a:t>
            </a:r>
            <a:r>
              <a:rPr sz="1100" spc="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example,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1100" spc="-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u="heavy" spc="-110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u="heavy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u="heavy" spc="5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u="heavy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Times New Roman" panose="02020603050405020304"/>
                <a:cs typeface="Times New Roman" panose="02020603050405020304"/>
              </a:rPr>
              <a:t>→ </a:t>
            </a:r>
            <a:r>
              <a:rPr sz="1100" i="1" u="heavy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u="heavy" spc="-55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u="heavy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u="heavy" spc="-5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u="heavy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7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selected,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then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the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functions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A(),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B(),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C()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called,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order.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127635">
              <a:lnSpc>
                <a:spcPct val="103000"/>
              </a:lnSpc>
              <a:spcBef>
                <a:spcPts val="565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Continue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manner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until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“satisfied.”</a:t>
            </a: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is,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tokens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have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been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matched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bodies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productions.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400744" y="397514"/>
            <a:ext cx="614680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60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&gt;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+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80" dirty="0">
                <a:latin typeface="Book Antiqua" panose="02040602050305030304"/>
                <a:cs typeface="Book Antiqua" panose="02040602050305030304"/>
              </a:rPr>
              <a:t>E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300" y="182191"/>
            <a:ext cx="2312035" cy="660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6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400" b="1" spc="19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5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Descent</a:t>
            </a:r>
            <a:r>
              <a:rPr sz="1400" b="1" spc="19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8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Parser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 marL="1143635" marR="809625" algn="ctr">
              <a:lnSpc>
                <a:spcPct val="111000"/>
              </a:lnSpc>
              <a:spcBef>
                <a:spcPts val="880"/>
              </a:spcBef>
            </a:pPr>
            <a:r>
              <a:rPr sz="900" b="1" dirty="0">
                <a:latin typeface="Book Antiqua" panose="02040602050305030304"/>
                <a:cs typeface="Book Antiqua" panose="02040602050305030304"/>
              </a:rPr>
              <a:t>id</a:t>
            </a:r>
            <a:r>
              <a:rPr sz="900" b="1" spc="3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100" dirty="0">
                <a:latin typeface="Book Antiqua" panose="02040602050305030304"/>
                <a:cs typeface="Book Antiqua" panose="02040602050305030304"/>
              </a:rPr>
              <a:t>+</a:t>
            </a:r>
            <a:r>
              <a:rPr sz="900" b="1" spc="3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25" dirty="0">
                <a:latin typeface="Book Antiqua" panose="02040602050305030304"/>
                <a:cs typeface="Book Antiqua" panose="02040602050305030304"/>
              </a:rPr>
              <a:t>id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id</a:t>
            </a:r>
            <a:r>
              <a:rPr sz="900" b="1" spc="3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-</a:t>
            </a:r>
            <a:r>
              <a:rPr sz="900" b="1" spc="3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25" dirty="0">
                <a:latin typeface="Book Antiqua" panose="02040602050305030304"/>
                <a:cs typeface="Book Antiqua" panose="02040602050305030304"/>
              </a:rPr>
              <a:t>id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073007" y="1883790"/>
            <a:ext cx="644525" cy="135890"/>
            <a:chOff x="2073007" y="1883790"/>
            <a:chExt cx="644525" cy="13589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73007" y="1924660"/>
              <a:ext cx="141783" cy="7939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84844" y="1936267"/>
              <a:ext cx="168299" cy="8304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06459" y="1883790"/>
              <a:ext cx="110908" cy="10588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388602" y="67503"/>
            <a:ext cx="305435" cy="7874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900" b="1" spc="170" dirty="0">
                <a:latin typeface="Book Antiqua" panose="02040602050305030304"/>
                <a:cs typeface="Book Antiqua" panose="02040602050305030304"/>
              </a:rPr>
              <a:t>S(){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900" b="1" spc="145" dirty="0">
                <a:latin typeface="Book Antiqua" panose="02040602050305030304"/>
                <a:cs typeface="Book Antiqua" panose="02040602050305030304"/>
              </a:rPr>
              <a:t>A();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900" b="1" spc="160" dirty="0">
                <a:latin typeface="Book Antiqua" panose="02040602050305030304"/>
                <a:cs typeface="Book Antiqua" panose="02040602050305030304"/>
              </a:rPr>
              <a:t>B();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900" b="1" spc="120" dirty="0">
                <a:latin typeface="Book Antiqua" panose="02040602050305030304"/>
                <a:cs typeface="Book Antiqua" panose="02040602050305030304"/>
              </a:rPr>
              <a:t>C();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900" b="1" spc="130" dirty="0">
                <a:latin typeface="Book Antiqua" panose="02040602050305030304"/>
                <a:cs typeface="Book Antiqua" panose="02040602050305030304"/>
              </a:rPr>
              <a:t>}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  <p:sp>
        <p:nvSpPr>
          <p:cNvPr id="28" name="object 28"/>
          <p:cNvSpPr txBox="1"/>
          <p:nvPr/>
        </p:nvSpPr>
        <p:spPr>
          <a:xfrm>
            <a:off x="3835811" y="153279"/>
            <a:ext cx="716280" cy="7874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R="173990" algn="r">
              <a:lnSpc>
                <a:spcPct val="100000"/>
              </a:lnSpc>
              <a:spcBef>
                <a:spcPts val="215"/>
              </a:spcBef>
            </a:pPr>
            <a:r>
              <a:rPr sz="900" b="1" spc="130" dirty="0">
                <a:latin typeface="Book Antiqua" panose="02040602050305030304"/>
                <a:cs typeface="Book Antiqua" panose="02040602050305030304"/>
              </a:rPr>
              <a:t>E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280" dirty="0">
                <a:latin typeface="Book Antiqua" panose="02040602050305030304"/>
                <a:cs typeface="Book Antiqua" panose="02040602050305030304"/>
              </a:rPr>
              <a:t>()</a:t>
            </a:r>
            <a:r>
              <a:rPr sz="9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{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R="140335" algn="r">
              <a:lnSpc>
                <a:spcPct val="100000"/>
              </a:lnSpc>
              <a:spcBef>
                <a:spcPts val="120"/>
              </a:spcBef>
            </a:pPr>
            <a:r>
              <a:rPr sz="900" b="1" spc="170" dirty="0">
                <a:latin typeface="Book Antiqua" panose="02040602050305030304"/>
                <a:cs typeface="Book Antiqua" panose="02040602050305030304"/>
              </a:rPr>
              <a:t>E();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12700" marR="5080" algn="ctr">
              <a:lnSpc>
                <a:spcPct val="111000"/>
              </a:lnSpc>
            </a:pPr>
            <a:r>
              <a:rPr sz="900" b="1" spc="85" dirty="0">
                <a:latin typeface="Book Antiqua" panose="02040602050305030304"/>
                <a:cs typeface="Book Antiqua" panose="02040602050305030304"/>
              </a:rPr>
              <a:t>match(‘+’); </a:t>
            </a:r>
            <a:r>
              <a:rPr sz="900" b="1" spc="170" dirty="0">
                <a:latin typeface="Book Antiqua" panose="02040602050305030304"/>
                <a:cs typeface="Book Antiqua" panose="02040602050305030304"/>
              </a:rPr>
              <a:t>E();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900" b="1" spc="130" dirty="0">
                <a:latin typeface="Book Antiqua" panose="02040602050305030304"/>
                <a:cs typeface="Book Antiqua" panose="02040602050305030304"/>
              </a:rPr>
              <a:t>}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014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Recursive</a:t>
            </a:r>
            <a:r>
              <a:rPr spc="195" dirty="0"/>
              <a:t> </a:t>
            </a:r>
            <a:r>
              <a:rPr spc="55" dirty="0"/>
              <a:t>Descent</a:t>
            </a:r>
            <a:r>
              <a:rPr spc="195" dirty="0"/>
              <a:t> </a:t>
            </a:r>
            <a:r>
              <a:rPr spc="65" dirty="0"/>
              <a:t>Parsers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80757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424825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820735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2010549"/>
            <a:ext cx="52527" cy="52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2234374"/>
            <a:ext cx="52527" cy="525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62292" y="1044813"/>
            <a:ext cx="4019550" cy="14598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first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Pascal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compiler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used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descent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3000"/>
              </a:lnSpc>
              <a:spcBef>
                <a:spcPts val="570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descent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parsers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have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benefit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being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very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simple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to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implement.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However,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latin typeface="Palatino Linotype" panose="02040502050505030304"/>
                <a:cs typeface="Palatino Linotype" panose="02040502050505030304"/>
              </a:rPr>
              <a:t>Error-recovery</a:t>
            </a:r>
            <a:r>
              <a:rPr sz="10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0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difficult.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289560" marR="18161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Palatino Linotype" panose="02040502050505030304"/>
                <a:cs typeface="Palatino Linotype" panose="02040502050505030304"/>
              </a:rPr>
              <a:t>They</a:t>
            </a:r>
            <a:r>
              <a:rPr sz="10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0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not</a:t>
            </a:r>
            <a:r>
              <a:rPr sz="10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able</a:t>
            </a:r>
            <a:r>
              <a:rPr sz="10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0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20" dirty="0">
                <a:latin typeface="Palatino Linotype" panose="02040502050505030304"/>
                <a:cs typeface="Palatino Linotype" panose="02040502050505030304"/>
              </a:rPr>
              <a:t>handle</a:t>
            </a:r>
            <a:r>
              <a:rPr sz="10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sz="10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large</a:t>
            </a:r>
            <a:r>
              <a:rPr sz="10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0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set</a:t>
            </a:r>
            <a:r>
              <a:rPr sz="10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0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20" dirty="0">
                <a:latin typeface="Palatino Linotype" panose="02040502050505030304"/>
                <a:cs typeface="Palatino Linotype" panose="02040502050505030304"/>
              </a:rPr>
              <a:t>grammars</a:t>
            </a:r>
            <a:r>
              <a:rPr sz="10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sz="10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other </a:t>
            </a:r>
            <a:r>
              <a:rPr sz="1000" spc="-20" dirty="0">
                <a:latin typeface="Palatino Linotype" panose="02040502050505030304"/>
                <a:cs typeface="Palatino Linotype" panose="02040502050505030304"/>
              </a:rPr>
              <a:t>parsing</a:t>
            </a:r>
            <a:r>
              <a:rPr sz="10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methods.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014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10" dirty="0"/>
              <a:t>Error</a:t>
            </a:r>
            <a:r>
              <a:rPr spc="190" dirty="0"/>
              <a:t> </a:t>
            </a:r>
            <a:r>
              <a:rPr spc="55" dirty="0"/>
              <a:t>Recovery</a:t>
            </a:r>
            <a:endParaRPr spc="5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86967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103450"/>
            <a:ext cx="4079240" cy="13684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When a syntax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error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occurs,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order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 the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compiler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recover,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it usually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has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discard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last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few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tokens,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move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end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the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line,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resume.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67945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descent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parser,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discarding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tokens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involves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returning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several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nested function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14605">
              <a:lnSpc>
                <a:spcPct val="103000"/>
              </a:lnSpc>
              <a:spcBef>
                <a:spcPts val="56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table-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driven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parser,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discarding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tokens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requires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simply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clearing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part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stack.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775180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191334"/>
            <a:ext cx="65201" cy="6520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4241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Example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694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Outline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058570"/>
            <a:ext cx="155257" cy="1552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4675" y="1055584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055" y="1026768"/>
            <a:ext cx="479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514678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511692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0055" y="1482863"/>
            <a:ext cx="1673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LL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Parsers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and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LR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Parsers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1970773"/>
            <a:ext cx="155257" cy="15525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4460" y="1938655"/>
            <a:ext cx="2564765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r>
              <a:rPr sz="1200" b="1" spc="585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Recursive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Descent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Parser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779" y="2426881"/>
            <a:ext cx="155257" cy="1552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4460" y="2395220"/>
            <a:ext cx="2783840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r>
              <a:rPr sz="1200" b="1" spc="697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Example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4241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Example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1837689" cy="650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Example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 marL="43180">
              <a:lnSpc>
                <a:spcPct val="100000"/>
              </a:lnSpc>
              <a:spcBef>
                <a:spcPts val="188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(Recursive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Descent)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694055"/>
            <a:ext cx="4483735" cy="2527300"/>
            <a:chOff x="87743" y="694055"/>
            <a:chExt cx="4483735" cy="25273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39152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119653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106953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94067"/>
              <a:ext cx="50800" cy="24255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883412"/>
              <a:ext cx="4432935" cy="2287270"/>
            </a:xfrm>
            <a:custGeom>
              <a:avLst/>
              <a:gdLst/>
              <a:ahLst/>
              <a:cxnLst/>
              <a:rect l="l" t="t" r="r" b="b"/>
              <a:pathLst>
                <a:path w="4432935" h="2287270">
                  <a:moveTo>
                    <a:pt x="4432567" y="0"/>
                  </a:moveTo>
                  <a:lnTo>
                    <a:pt x="0" y="0"/>
                  </a:lnTo>
                  <a:lnTo>
                    <a:pt x="0" y="2236241"/>
                  </a:lnTo>
                  <a:lnTo>
                    <a:pt x="4008" y="2255966"/>
                  </a:lnTo>
                  <a:lnTo>
                    <a:pt x="14922" y="2272119"/>
                  </a:lnTo>
                  <a:lnTo>
                    <a:pt x="31075" y="2283033"/>
                  </a:lnTo>
                  <a:lnTo>
                    <a:pt x="50800" y="2287041"/>
                  </a:lnTo>
                  <a:lnTo>
                    <a:pt x="4381767" y="2287041"/>
                  </a:lnTo>
                  <a:lnTo>
                    <a:pt x="4401492" y="2283033"/>
                  </a:lnTo>
                  <a:lnTo>
                    <a:pt x="4417644" y="2272119"/>
                  </a:lnTo>
                  <a:lnTo>
                    <a:pt x="4428558" y="2255966"/>
                  </a:lnTo>
                  <a:lnTo>
                    <a:pt x="4432567" y="223624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732155"/>
              <a:ext cx="0" cy="2406650"/>
            </a:xfrm>
            <a:custGeom>
              <a:avLst/>
              <a:gdLst/>
              <a:ahLst/>
              <a:cxnLst/>
              <a:rect l="l" t="t" r="r" b="b"/>
              <a:pathLst>
                <a:path h="2406650">
                  <a:moveTo>
                    <a:pt x="0" y="24065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7194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7067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6940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938682"/>
              <a:ext cx="65201" cy="6520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02932" y="855166"/>
            <a:ext cx="2565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Write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following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grammar.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65300" y="1332672"/>
            <a:ext cx="114427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100" i="1" spc="3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22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1100" spc="3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u="heavy" dirty="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then</a:t>
            </a:r>
            <a:r>
              <a:rPr sz="1100" spc="3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23495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sz="1100" i="1" spc="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while</a:t>
            </a:r>
            <a:r>
              <a:rPr sz="1100" spc="4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7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-5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do</a:t>
            </a:r>
            <a:r>
              <a:rPr sz="1100" spc="4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234950">
              <a:lnSpc>
                <a:spcPct val="100000"/>
              </a:lnSpc>
              <a:spcBef>
                <a:spcPts val="330"/>
              </a:spcBef>
            </a:pP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sz="1100" i="1" spc="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b="1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r>
              <a:rPr sz="1100" b="1" spc="-2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=</a:t>
            </a:r>
            <a:r>
              <a:rPr sz="1100" spc="1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num</a:t>
            </a:r>
            <a:r>
              <a:rPr sz="1100" b="1" spc="-2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spc="23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3495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sz="1100" i="1" spc="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b="1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++</a:t>
            </a:r>
            <a:r>
              <a:rPr sz="1100" spc="4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24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49311" y="2216580"/>
            <a:ext cx="17868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100" i="1" spc="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b="1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r>
              <a:rPr sz="1100" b="1" spc="-2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==</a:t>
            </a:r>
            <a:r>
              <a:rPr sz="1100" spc="2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num</a:t>
            </a:r>
            <a:r>
              <a:rPr sz="1100" b="1" spc="-2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sz="1100" i="1" spc="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b="1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r>
              <a:rPr sz="1100" b="1" spc="-2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spc="14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!=</a:t>
            </a:r>
            <a:r>
              <a:rPr sz="1100" spc="2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-2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num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2932" y="2947897"/>
            <a:ext cx="3769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where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represents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statement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represents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condition.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26569" y="1594190"/>
            <a:ext cx="153670" cy="0"/>
          </a:xfrm>
          <a:custGeom>
            <a:avLst/>
            <a:gdLst/>
            <a:ahLst/>
            <a:cxnLst/>
            <a:rect l="l" t="t" r="r" b="b"/>
            <a:pathLst>
              <a:path w="153669">
                <a:moveTo>
                  <a:pt x="-5" y="2"/>
                </a:moveTo>
                <a:lnTo>
                  <a:pt x="38387" y="2"/>
                </a:lnTo>
                <a:lnTo>
                  <a:pt x="76780" y="2"/>
                </a:lnTo>
                <a:lnTo>
                  <a:pt x="115173" y="2"/>
                </a:lnTo>
                <a:lnTo>
                  <a:pt x="153566" y="2"/>
                </a:lnTo>
              </a:path>
            </a:pathLst>
          </a:custGeom>
          <a:ln w="24527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367351" y="161012"/>
            <a:ext cx="304800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1" spc="170" dirty="0">
                <a:latin typeface="Book Antiqua" panose="02040602050305030304"/>
                <a:cs typeface="Book Antiqua" panose="02040602050305030304"/>
              </a:rPr>
              <a:t>S(){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  <p:sp>
        <p:nvSpPr>
          <p:cNvPr id="24" name="object 24"/>
          <p:cNvSpPr txBox="1"/>
          <p:nvPr/>
        </p:nvSpPr>
        <p:spPr>
          <a:xfrm>
            <a:off x="2966707" y="453212"/>
            <a:ext cx="1105535" cy="4826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900" b="1" spc="65" dirty="0">
                <a:latin typeface="Book Antiqua" panose="02040602050305030304"/>
                <a:cs typeface="Book Antiqua" panose="02040602050305030304"/>
              </a:rPr>
              <a:t>case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75" dirty="0">
                <a:latin typeface="Book Antiqua" panose="02040602050305030304"/>
                <a:cs typeface="Book Antiqua" panose="02040602050305030304"/>
              </a:rPr>
              <a:t>1: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12700" marR="5080" algn="ctr">
              <a:lnSpc>
                <a:spcPct val="111000"/>
              </a:lnSpc>
            </a:pPr>
            <a:r>
              <a:rPr sz="900" b="1" dirty="0">
                <a:latin typeface="Book Antiqua" panose="02040602050305030304"/>
                <a:cs typeface="Book Antiqua" panose="02040602050305030304"/>
              </a:rPr>
              <a:t>‘if’</a:t>
            </a:r>
            <a:r>
              <a:rPr sz="900" b="1" spc="5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65" dirty="0">
                <a:latin typeface="Book Antiqua" panose="02040602050305030304"/>
                <a:cs typeface="Book Antiqua" panose="02040602050305030304"/>
              </a:rPr>
              <a:t>C()</a:t>
            </a:r>
            <a:r>
              <a:rPr sz="900" b="1" spc="6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55" dirty="0">
                <a:latin typeface="Book Antiqua" panose="02040602050305030304"/>
                <a:cs typeface="Book Antiqua" panose="02040602050305030304"/>
              </a:rPr>
              <a:t>‘then’</a:t>
            </a:r>
            <a:r>
              <a:rPr sz="900" b="1" spc="6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45" dirty="0">
                <a:latin typeface="Book Antiqua" panose="02040602050305030304"/>
                <a:cs typeface="Book Antiqua" panose="02040602050305030304"/>
              </a:rPr>
              <a:t>S(); </a:t>
            </a:r>
            <a:r>
              <a:rPr sz="900" b="1" spc="65" dirty="0">
                <a:latin typeface="Book Antiqua" panose="02040602050305030304"/>
                <a:cs typeface="Book Antiqua" panose="02040602050305030304"/>
              </a:rPr>
              <a:t>case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75" dirty="0">
                <a:latin typeface="Book Antiqua" panose="02040602050305030304"/>
                <a:cs typeface="Book Antiqua" panose="02040602050305030304"/>
              </a:rPr>
              <a:t>2: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11660" y="910412"/>
            <a:ext cx="12160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1000"/>
              </a:lnSpc>
              <a:spcBef>
                <a:spcPts val="95"/>
              </a:spcBef>
            </a:pPr>
            <a:r>
              <a:rPr sz="900" b="1" spc="20" dirty="0">
                <a:latin typeface="Book Antiqua" panose="02040602050305030304"/>
                <a:cs typeface="Book Antiqua" panose="02040602050305030304"/>
              </a:rPr>
              <a:t>‘while’</a:t>
            </a:r>
            <a:r>
              <a:rPr sz="900" b="1" spc="7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65" dirty="0">
                <a:latin typeface="Book Antiqua" panose="02040602050305030304"/>
                <a:cs typeface="Book Antiqua" panose="02040602050305030304"/>
              </a:rPr>
              <a:t>C()</a:t>
            </a:r>
            <a:r>
              <a:rPr sz="900" b="1" spc="8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20" dirty="0">
                <a:latin typeface="Book Antiqua" panose="02040602050305030304"/>
                <a:cs typeface="Book Antiqua" panose="02040602050305030304"/>
              </a:rPr>
              <a:t>‘do’</a:t>
            </a:r>
            <a:r>
              <a:rPr sz="900" b="1" spc="8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45" dirty="0">
                <a:latin typeface="Book Antiqua" panose="02040602050305030304"/>
                <a:cs typeface="Book Antiqua" panose="02040602050305030304"/>
              </a:rPr>
              <a:t>S(); </a:t>
            </a:r>
            <a:r>
              <a:rPr sz="900" b="1" spc="65" dirty="0">
                <a:latin typeface="Book Antiqua" panose="02040602050305030304"/>
                <a:cs typeface="Book Antiqua" panose="02040602050305030304"/>
              </a:rPr>
              <a:t>case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75" dirty="0">
                <a:latin typeface="Book Antiqua" panose="02040602050305030304"/>
                <a:cs typeface="Book Antiqua" panose="02040602050305030304"/>
              </a:rPr>
              <a:t>3: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172085" marR="164465" algn="ctr">
              <a:lnSpc>
                <a:spcPct val="111000"/>
              </a:lnSpc>
            </a:pPr>
            <a:r>
              <a:rPr sz="900" b="1" dirty="0">
                <a:latin typeface="Book Antiqua" panose="02040602050305030304"/>
                <a:cs typeface="Book Antiqua" panose="02040602050305030304"/>
              </a:rPr>
              <a:t>‘id’</a:t>
            </a:r>
            <a:r>
              <a:rPr sz="900" b="1" spc="5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‘=‘</a:t>
            </a:r>
            <a:r>
              <a:rPr sz="900" b="1" spc="6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55" dirty="0">
                <a:latin typeface="Book Antiqua" panose="02040602050305030304"/>
                <a:cs typeface="Book Antiqua" panose="02040602050305030304"/>
              </a:rPr>
              <a:t>‘num’</a:t>
            </a:r>
            <a:r>
              <a:rPr sz="900" b="1" spc="6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30" dirty="0">
                <a:latin typeface="Book Antiqua" panose="02040602050305030304"/>
                <a:cs typeface="Book Antiqua" panose="02040602050305030304"/>
              </a:rPr>
              <a:t>‘;’ </a:t>
            </a:r>
            <a:r>
              <a:rPr sz="900" b="1" spc="65" dirty="0">
                <a:latin typeface="Book Antiqua" panose="02040602050305030304"/>
                <a:cs typeface="Book Antiqua" panose="02040602050305030304"/>
              </a:rPr>
              <a:t>case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75" dirty="0">
                <a:latin typeface="Book Antiqua" panose="02040602050305030304"/>
                <a:cs typeface="Book Antiqua" panose="02040602050305030304"/>
              </a:rPr>
              <a:t>4: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Book Antiqua" panose="02040602050305030304"/>
                <a:cs typeface="Book Antiqua" panose="02040602050305030304"/>
              </a:rPr>
              <a:t>‘id’</a:t>
            </a:r>
            <a:r>
              <a:rPr sz="900" b="1" spc="5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‘+’</a:t>
            </a:r>
            <a:r>
              <a:rPr sz="900" b="1" spc="5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‘+’</a:t>
            </a:r>
            <a:r>
              <a:rPr sz="900" b="1" spc="5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30" dirty="0">
                <a:latin typeface="Book Antiqua" panose="02040602050305030304"/>
                <a:cs typeface="Book Antiqua" panose="02040602050305030304"/>
              </a:rPr>
              <a:t>‘;’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216535" marR="208915" algn="ctr">
              <a:lnSpc>
                <a:spcPct val="111000"/>
              </a:lnSpc>
            </a:pPr>
            <a:r>
              <a:rPr sz="900" b="1" spc="40" dirty="0">
                <a:latin typeface="Book Antiqua" panose="02040602050305030304"/>
                <a:cs typeface="Book Antiqua" panose="02040602050305030304"/>
              </a:rPr>
              <a:t>default: </a:t>
            </a:r>
            <a:r>
              <a:rPr sz="900" b="1" spc="85" dirty="0">
                <a:latin typeface="Book Antiqua" panose="02040602050305030304"/>
                <a:cs typeface="Book Antiqua" panose="02040602050305030304"/>
              </a:rPr>
              <a:t>syntax</a:t>
            </a:r>
            <a:r>
              <a:rPr sz="900" b="1" spc="2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75" dirty="0">
                <a:latin typeface="Book Antiqua" panose="02040602050305030304"/>
                <a:cs typeface="Book Antiqua" panose="02040602050305030304"/>
              </a:rPr>
              <a:t>error;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900" b="1" spc="130" dirty="0">
                <a:latin typeface="Book Antiqua" panose="02040602050305030304"/>
                <a:cs typeface="Book Antiqua" panose="02040602050305030304"/>
              </a:rPr>
              <a:t>}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0413" y="1356770"/>
            <a:ext cx="306705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1" spc="150" dirty="0">
                <a:latin typeface="Book Antiqua" panose="02040602050305030304"/>
                <a:cs typeface="Book Antiqua" panose="02040602050305030304"/>
              </a:rPr>
              <a:t>C(){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7063" y="1648970"/>
            <a:ext cx="7734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5260">
              <a:lnSpc>
                <a:spcPct val="111000"/>
              </a:lnSpc>
              <a:spcBef>
                <a:spcPts val="95"/>
              </a:spcBef>
            </a:pPr>
            <a:r>
              <a:rPr sz="900" b="1" spc="65" dirty="0">
                <a:latin typeface="Book Antiqua" panose="02040602050305030304"/>
                <a:cs typeface="Book Antiqua" panose="02040602050305030304"/>
              </a:rPr>
              <a:t>case</a:t>
            </a:r>
            <a:r>
              <a:rPr sz="9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85" dirty="0">
                <a:latin typeface="Book Antiqua" panose="02040602050305030304"/>
                <a:cs typeface="Book Antiqua" panose="02040602050305030304"/>
              </a:rPr>
              <a:t>1:</a:t>
            </a:r>
            <a:r>
              <a:rPr sz="900" b="1" spc="50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dirty="0">
                <a:latin typeface="Book Antiqua" panose="02040602050305030304"/>
                <a:cs typeface="Book Antiqua" panose="02040602050305030304"/>
              </a:rPr>
              <a:t>‘id’</a:t>
            </a:r>
            <a:r>
              <a:rPr sz="900" b="1" spc="7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-20" dirty="0">
                <a:latin typeface="Book Antiqua" panose="02040602050305030304"/>
                <a:cs typeface="Book Antiqua" panose="02040602050305030304"/>
              </a:rPr>
              <a:t>‘==‘</a:t>
            </a:r>
            <a:r>
              <a:rPr sz="900" b="1" spc="7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35" dirty="0">
                <a:latin typeface="Book Antiqua" panose="02040602050305030304"/>
                <a:cs typeface="Book Antiqua" panose="02040602050305030304"/>
              </a:rPr>
              <a:t>num’</a:t>
            </a:r>
            <a:endParaRPr sz="900">
              <a:latin typeface="Book Antiqua" panose="02040602050305030304"/>
              <a:cs typeface="Book Antiqua" panose="02040602050305030304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4241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Example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1040879"/>
            <a:ext cx="4483735" cy="1660525"/>
            <a:chOff x="87743" y="1040879"/>
            <a:chExt cx="4483735" cy="16605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18595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599448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586748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040879"/>
              <a:ext cx="50800" cy="155856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230223"/>
              <a:ext cx="4432935" cy="1420495"/>
            </a:xfrm>
            <a:custGeom>
              <a:avLst/>
              <a:gdLst/>
              <a:ahLst/>
              <a:cxnLst/>
              <a:rect l="l" t="t" r="r" b="b"/>
              <a:pathLst>
                <a:path w="4432935" h="1420495">
                  <a:moveTo>
                    <a:pt x="4432567" y="0"/>
                  </a:moveTo>
                  <a:lnTo>
                    <a:pt x="0" y="0"/>
                  </a:lnTo>
                  <a:lnTo>
                    <a:pt x="0" y="1369225"/>
                  </a:lnTo>
                  <a:lnTo>
                    <a:pt x="4008" y="1388949"/>
                  </a:lnTo>
                  <a:lnTo>
                    <a:pt x="14922" y="1405102"/>
                  </a:lnTo>
                  <a:lnTo>
                    <a:pt x="31075" y="1416016"/>
                  </a:lnTo>
                  <a:lnTo>
                    <a:pt x="50800" y="1420025"/>
                  </a:lnTo>
                  <a:lnTo>
                    <a:pt x="4381767" y="1420025"/>
                  </a:lnTo>
                  <a:lnTo>
                    <a:pt x="4401492" y="1416016"/>
                  </a:lnTo>
                  <a:lnTo>
                    <a:pt x="4417644" y="1405102"/>
                  </a:lnTo>
                  <a:lnTo>
                    <a:pt x="4428558" y="1388949"/>
                  </a:lnTo>
                  <a:lnTo>
                    <a:pt x="4432567" y="136922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078979"/>
              <a:ext cx="0" cy="1539875"/>
            </a:xfrm>
            <a:custGeom>
              <a:avLst/>
              <a:gdLst/>
              <a:ahLst/>
              <a:cxnLst/>
              <a:rect l="l" t="t" r="r" b="b"/>
              <a:pathLst>
                <a:path h="1539875">
                  <a:moveTo>
                    <a:pt x="0" y="15395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0662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0535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0408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285481"/>
              <a:ext cx="65201" cy="6520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844" y="939124"/>
            <a:ext cx="3711575" cy="118618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(Recursive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Descent)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37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Modify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previous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adding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productions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01165">
              <a:lnSpc>
                <a:spcPct val="100000"/>
              </a:lnSpc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100" i="1" spc="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-5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do</a:t>
            </a:r>
            <a:r>
              <a:rPr sz="1100" spc="2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while</a:t>
            </a:r>
            <a:r>
              <a:rPr sz="1100" spc="2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24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68529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100" i="1" spc="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b="1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id</a:t>
            </a:r>
            <a:r>
              <a:rPr sz="1100" b="1" spc="-2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&lt;</a:t>
            </a:r>
            <a:r>
              <a:rPr sz="1100" spc="3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-2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num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4241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Example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1114132"/>
            <a:ext cx="4483735" cy="1477645"/>
            <a:chOff x="87743" y="1114132"/>
            <a:chExt cx="4483735" cy="14776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25921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489555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476855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114145"/>
              <a:ext cx="50800" cy="137541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303486"/>
              <a:ext cx="4432935" cy="1236980"/>
            </a:xfrm>
            <a:custGeom>
              <a:avLst/>
              <a:gdLst/>
              <a:ahLst/>
              <a:cxnLst/>
              <a:rect l="l" t="t" r="r" b="b"/>
              <a:pathLst>
                <a:path w="4432935" h="1236980">
                  <a:moveTo>
                    <a:pt x="4432567" y="0"/>
                  </a:moveTo>
                  <a:lnTo>
                    <a:pt x="0" y="0"/>
                  </a:lnTo>
                  <a:lnTo>
                    <a:pt x="0" y="1186069"/>
                  </a:lnTo>
                  <a:lnTo>
                    <a:pt x="4008" y="1205794"/>
                  </a:lnTo>
                  <a:lnTo>
                    <a:pt x="14922" y="1221947"/>
                  </a:lnTo>
                  <a:lnTo>
                    <a:pt x="31075" y="1232861"/>
                  </a:lnTo>
                  <a:lnTo>
                    <a:pt x="50800" y="1236869"/>
                  </a:lnTo>
                  <a:lnTo>
                    <a:pt x="4381767" y="1236869"/>
                  </a:lnTo>
                  <a:lnTo>
                    <a:pt x="4401492" y="1232861"/>
                  </a:lnTo>
                  <a:lnTo>
                    <a:pt x="4417644" y="1221947"/>
                  </a:lnTo>
                  <a:lnTo>
                    <a:pt x="4428558" y="1205794"/>
                  </a:lnTo>
                  <a:lnTo>
                    <a:pt x="4432567" y="118606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152232"/>
              <a:ext cx="0" cy="1356995"/>
            </a:xfrm>
            <a:custGeom>
              <a:avLst/>
              <a:gdLst/>
              <a:ahLst/>
              <a:cxnLst/>
              <a:rect l="l" t="t" r="r" b="b"/>
              <a:pathLst>
                <a:path h="1356995">
                  <a:moveTo>
                    <a:pt x="0" y="13563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1395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1268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1141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358747"/>
              <a:ext cx="65201" cy="6520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0444" y="1012378"/>
            <a:ext cx="3707765" cy="14973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7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(Recursive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Descent)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14960">
              <a:lnSpc>
                <a:spcPct val="100000"/>
              </a:lnSpc>
              <a:spcBef>
                <a:spcPts val="37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Modify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previous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adding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production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950085">
              <a:lnSpc>
                <a:spcPct val="100000"/>
              </a:lnSpc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200" i="1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254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100" i="1" spc="4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200" i="1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262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sz="1100" i="1" spc="4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i="1" spc="-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ε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>
              <a:lnSpc>
                <a:spcPct val="100000"/>
              </a:lnSpc>
            </a:pP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314960">
              <a:lnSpc>
                <a:spcPct val="100000"/>
              </a:lnSpc>
            </a:pP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where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200" i="1" baseline="2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247" baseline="2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represents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sequence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statements.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124333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Recursive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Descent</a:t>
            </a:r>
            <a:r>
              <a:rPr sz="600" b="1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Parsers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4709</Words>
  <Application>WPS Presentation</Application>
  <PresentationFormat>On-screen Show (4:3)</PresentationFormat>
  <Paragraphs>323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Arial</vt:lpstr>
      <vt:lpstr>SimSun</vt:lpstr>
      <vt:lpstr>Wingdings</vt:lpstr>
      <vt:lpstr>Palatino Linotype</vt:lpstr>
      <vt:lpstr>Book Antiqua</vt:lpstr>
      <vt:lpstr>Georgia</vt:lpstr>
      <vt:lpstr>Comic Sans MS</vt:lpstr>
      <vt:lpstr>Bookman Old Style</vt:lpstr>
      <vt:lpstr>Times New Roman</vt:lpstr>
      <vt:lpstr>Tahoma</vt:lpstr>
      <vt:lpstr>Microsoft YaHei</vt:lpstr>
      <vt:lpstr>Arial Unicode MS</vt:lpstr>
      <vt:lpstr>Calibri</vt:lpstr>
      <vt:lpstr>Office Theme</vt:lpstr>
      <vt:lpstr>Lecture 5</vt:lpstr>
      <vt:lpstr>PowerPoint 演示文稿</vt:lpstr>
      <vt:lpstr>PowerPoint 演示文稿</vt:lpstr>
      <vt:lpstr>PowerPoint 演示文稿</vt:lpstr>
      <vt:lpstr>PowerPoint 演示文稿</vt:lpstr>
      <vt:lpstr>Parsing</vt:lpstr>
      <vt:lpstr>Parsing Algorithms</vt:lpstr>
      <vt:lpstr>Parsing Algorithms</vt:lpstr>
      <vt:lpstr>Parsing Algorithms</vt:lpstr>
      <vt:lpstr>Outline</vt:lpstr>
      <vt:lpstr>LL Parsers</vt:lpstr>
      <vt:lpstr>Outline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Recursive Descent Parsers</vt:lpstr>
      <vt:lpstr>Error Recovery</vt:lpstr>
      <vt:lpstr>PowerPoint 演示文稿</vt:lpstr>
      <vt:lpstr>PowerPoint 演示文稿</vt:lpstr>
      <vt:lpstr>Example</vt:lpstr>
      <vt:lpstr>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Recursive Descent ParsersLecture 5</dc:title>
  <dc:creator>Rokan Uddin Faruqui </dc:creator>
  <cp:lastModifiedBy>Sharifunnaher Snigdha</cp:lastModifiedBy>
  <cp:revision>3</cp:revision>
  <dcterms:created xsi:type="dcterms:W3CDTF">2025-11-25T17:51:37Z</dcterms:created>
  <dcterms:modified xsi:type="dcterms:W3CDTF">2025-11-25T18:01:54Z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2020-01-20T06:00:00Z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2025-11-25T06:00:00Z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ICV">
    <vt:lpwstr>6DD6E5218E704787B36D4648C76699A7_12</vt:lpwstr>
  </property>
  <property fmtid="{D5CDD505-2E9C-101B-9397-08002B2CF9AE}" pid="7" name="KSOProductBuildVer">
    <vt:lpwstr>1033-12.2.0.23155</vt:lpwstr>
  </property>
</Properties>
</file>