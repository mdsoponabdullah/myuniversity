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50075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743" y="1247075"/>
            <a:ext cx="2282190" cy="1447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D6D6E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99203" y="3351784"/>
            <a:ext cx="33782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rokan@cu.ac.bd" TargetMode="External"/><Relationship Id="rId3" Type="http://schemas.openxmlformats.org/officeDocument/2006/relationships/slide" Target="slide2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8.xml"/><Relationship Id="rId8" Type="http://schemas.openxmlformats.org/officeDocument/2006/relationships/slide" Target="slide16.xml"/><Relationship Id="rId9" Type="http://schemas.openxmlformats.org/officeDocument/2006/relationships/slide" Target="slide22.xml"/><Relationship Id="rId10" Type="http://schemas.openxmlformats.org/officeDocument/2006/relationships/image" Target="../media/image5.png"/><Relationship Id="rId11" Type="http://schemas.openxmlformats.org/officeDocument/2006/relationships/slide" Target="slide1.xml"/><Relationship Id="rId12" Type="http://schemas.openxmlformats.org/officeDocument/2006/relationships/slide" Target="slide26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" Target="slide8.xml"/><Relationship Id="rId8" Type="http://schemas.openxmlformats.org/officeDocument/2006/relationships/slide" Target="slide16.xml"/><Relationship Id="rId9" Type="http://schemas.openxmlformats.org/officeDocument/2006/relationships/slide" Target="slide22.xml"/><Relationship Id="rId10" Type="http://schemas.openxmlformats.org/officeDocument/2006/relationships/image" Target="../media/image9.png"/><Relationship Id="rId11" Type="http://schemas.openxmlformats.org/officeDocument/2006/relationships/slide" Target="slide1.xml"/><Relationship Id="rId12" Type="http://schemas.openxmlformats.org/officeDocument/2006/relationships/slide" Target="slide26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slide" Target="slide3.xml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" Target="slide8.xml"/><Relationship Id="rId9" Type="http://schemas.openxmlformats.org/officeDocument/2006/relationships/slide" Target="slide16.xml"/><Relationship Id="rId10" Type="http://schemas.openxmlformats.org/officeDocument/2006/relationships/slide" Target="slide22.xml"/><Relationship Id="rId11" Type="http://schemas.openxmlformats.org/officeDocument/2006/relationships/slide" Target="slide26.xml"/><Relationship Id="rId12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slide" Target="slide3.xml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" Target="slide8.xml"/><Relationship Id="rId9" Type="http://schemas.openxmlformats.org/officeDocument/2006/relationships/slide" Target="slide16.xml"/><Relationship Id="rId10" Type="http://schemas.openxmlformats.org/officeDocument/2006/relationships/slide" Target="slide22.xml"/><Relationship Id="rId11" Type="http://schemas.openxmlformats.org/officeDocument/2006/relationships/slide" Target="slide26.xml"/><Relationship Id="rId12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slide" Target="slide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slide" Target="slide8.xml"/><Relationship Id="rId9" Type="http://schemas.openxmlformats.org/officeDocument/2006/relationships/slide" Target="slide16.xml"/><Relationship Id="rId10" Type="http://schemas.openxmlformats.org/officeDocument/2006/relationships/slide" Target="slide22.xml"/><Relationship Id="rId11" Type="http://schemas.openxmlformats.org/officeDocument/2006/relationships/slide" Target="slide26.xml"/><Relationship Id="rId12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slide" Target="slide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slide" Target="slide8.xml"/><Relationship Id="rId9" Type="http://schemas.openxmlformats.org/officeDocument/2006/relationships/slide" Target="slide16.xml"/><Relationship Id="rId10" Type="http://schemas.openxmlformats.org/officeDocument/2006/relationships/slide" Target="slide22.xml"/><Relationship Id="rId11" Type="http://schemas.openxmlformats.org/officeDocument/2006/relationships/slide" Target="slide26.xml"/><Relationship Id="rId12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554913"/>
            <a:ext cx="4483735" cy="900430"/>
            <a:chOff x="87743" y="554913"/>
            <a:chExt cx="4483735" cy="90043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554913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618162"/>
              <a:ext cx="4432935" cy="836930"/>
            </a:xfrm>
            <a:custGeom>
              <a:avLst/>
              <a:gdLst/>
              <a:ahLst/>
              <a:cxnLst/>
              <a:rect l="l" t="t" r="r" b="b"/>
              <a:pathLst>
                <a:path w="4432935" h="836930">
                  <a:moveTo>
                    <a:pt x="4432566" y="0"/>
                  </a:moveTo>
                  <a:lnTo>
                    <a:pt x="0" y="0"/>
                  </a:lnTo>
                  <a:lnTo>
                    <a:pt x="0" y="836738"/>
                  </a:lnTo>
                  <a:lnTo>
                    <a:pt x="4432566" y="836738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599324"/>
              <a:ext cx="4432935" cy="805180"/>
            </a:xfrm>
            <a:custGeom>
              <a:avLst/>
              <a:gdLst/>
              <a:ahLst/>
              <a:cxnLst/>
              <a:rect l="l" t="t" r="r" b="b"/>
              <a:pathLst>
                <a:path w="4432935" h="805180">
                  <a:moveTo>
                    <a:pt x="4432567" y="0"/>
                  </a:moveTo>
                  <a:lnTo>
                    <a:pt x="0" y="0"/>
                  </a:lnTo>
                  <a:lnTo>
                    <a:pt x="0" y="753974"/>
                  </a:lnTo>
                  <a:lnTo>
                    <a:pt x="4008" y="773699"/>
                  </a:lnTo>
                  <a:lnTo>
                    <a:pt x="14922" y="789852"/>
                  </a:lnTo>
                  <a:lnTo>
                    <a:pt x="31075" y="800766"/>
                  </a:lnTo>
                  <a:lnTo>
                    <a:pt x="50800" y="804775"/>
                  </a:lnTo>
                  <a:lnTo>
                    <a:pt x="4381767" y="804775"/>
                  </a:lnTo>
                  <a:lnTo>
                    <a:pt x="4401492" y="800766"/>
                  </a:lnTo>
                  <a:lnTo>
                    <a:pt x="4417644" y="789852"/>
                  </a:lnTo>
                  <a:lnTo>
                    <a:pt x="4428558" y="773699"/>
                  </a:lnTo>
                  <a:lnTo>
                    <a:pt x="4432567" y="75397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544" y="618162"/>
            <a:ext cx="4432935" cy="83693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4615">
              <a:lnSpc>
                <a:spcPct val="100000"/>
              </a:lnSpc>
              <a:spcBef>
                <a:spcPts val="44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Strategies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LR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Conflicts</a:t>
            </a:r>
            <a:endParaRPr sz="1400">
              <a:latin typeface="Tahoma"/>
              <a:cs typeface="Tahoma"/>
            </a:endParaRPr>
          </a:p>
          <a:p>
            <a:pPr algn="ctr" marR="93980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10</a:t>
            </a:r>
            <a:endParaRPr sz="1100">
              <a:latin typeface="Tahoma"/>
              <a:cs typeface="Tahoma"/>
            </a:endParaRPr>
          </a:p>
          <a:p>
            <a:pPr algn="ctr" marR="92710">
              <a:lnSpc>
                <a:spcPct val="100000"/>
              </a:lnSpc>
              <a:spcBef>
                <a:spcPts val="35"/>
              </a:spcBef>
            </a:pP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Section</a:t>
            </a:r>
            <a:r>
              <a:rPr dirty="0" sz="11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4.1.4,</a:t>
            </a:r>
            <a:r>
              <a:rPr dirty="0" sz="11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4.4.5,</a:t>
            </a:r>
            <a:r>
              <a:rPr dirty="0" sz="11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4.5.4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18704" y="1614181"/>
            <a:ext cx="1971039" cy="8826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370205" marR="362585">
              <a:lnSpc>
                <a:spcPct val="102699"/>
              </a:lnSpc>
              <a:spcBef>
                <a:spcPts val="55"/>
              </a:spcBef>
            </a:pPr>
            <a:r>
              <a:rPr dirty="0" sz="1100" spc="-30">
                <a:latin typeface="Tahoma"/>
                <a:cs typeface="Tahoma"/>
              </a:rPr>
              <a:t>Rokan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Uddin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Faruqui </a:t>
            </a:r>
            <a:r>
              <a:rPr dirty="0" sz="1100" spc="-20">
                <a:latin typeface="Tahoma"/>
                <a:cs typeface="Tahoma"/>
              </a:rPr>
              <a:t>Associate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Professor</a:t>
            </a:r>
            <a:endParaRPr sz="1100">
              <a:latin typeface="Tahoma"/>
              <a:cs typeface="Tahoma"/>
            </a:endParaRPr>
          </a:p>
          <a:p>
            <a:pPr algn="ctr" marL="12700" marR="5080">
              <a:lnSpc>
                <a:spcPts val="950"/>
              </a:lnSpc>
              <a:spcBef>
                <a:spcPts val="1265"/>
              </a:spcBef>
            </a:pPr>
            <a:r>
              <a:rPr dirty="0" sz="800">
                <a:latin typeface="Tahoma"/>
                <a:cs typeface="Tahoma"/>
              </a:rPr>
              <a:t>Dept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of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Computer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Science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and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Engineering </a:t>
            </a:r>
            <a:r>
              <a:rPr dirty="0" sz="800">
                <a:latin typeface="Tahoma"/>
                <a:cs typeface="Tahoma"/>
              </a:rPr>
              <a:t>University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of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Chittagong,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Bangladesh</a:t>
            </a:r>
            <a:r>
              <a:rPr dirty="0" sz="800" spc="50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Email:</a:t>
            </a:r>
            <a:r>
              <a:rPr dirty="0" sz="800" spc="12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  <a:hlinkClick r:id="rId2"/>
              </a:rPr>
              <a:t>rokan@cu.ac.bd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55440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solidFill>
                  <a:srgbClr val="3333B2"/>
                </a:solidFill>
                <a:hlinkClick r:id="rId7" action="ppaction://hlinksldjump"/>
              </a:rPr>
              <a:t>Error</a:t>
            </a:r>
            <a:r>
              <a:rPr dirty="0" sz="1100" spc="-35">
                <a:solidFill>
                  <a:srgbClr val="3333B2"/>
                </a:solidFill>
                <a:hlinkClick r:id="rId7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hlinkClick r:id="rId7" action="ppaction://hlinksldjump"/>
              </a:rPr>
              <a:t>Recovery</a:t>
            </a:r>
            <a:r>
              <a:rPr dirty="0" sz="1100" spc="-40">
                <a:solidFill>
                  <a:srgbClr val="3333B2"/>
                </a:solidFill>
                <a:hlinkClick r:id="rId7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hlinkClick r:id="rId7" action="ppaction://hlinksldjump"/>
              </a:rPr>
              <a:t>in</a:t>
            </a:r>
            <a:r>
              <a:rPr dirty="0" sz="1100" spc="-30">
                <a:solidFill>
                  <a:srgbClr val="3333B2"/>
                </a:solidFill>
                <a:hlinkClick r:id="rId7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hlinkClick r:id="rId7" action="ppaction://hlinksldjump"/>
              </a:rPr>
              <a:t>Predictive</a:t>
            </a:r>
            <a:r>
              <a:rPr dirty="0" sz="1100" spc="-35">
                <a:solidFill>
                  <a:srgbClr val="3333B2"/>
                </a:solidFill>
                <a:hlinkClick r:id="rId7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hlinkClick r:id="rId7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EAEAF7"/>
              </a:buClr>
              <a:buFont typeface="Tahoma"/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solidFill>
                  <a:srgbClr val="3333B2"/>
                </a:solidFill>
                <a:hlinkClick r:id="rId8" action="ppaction://hlinksldjump"/>
              </a:rPr>
              <a:t>Shift/Reduce</a:t>
            </a:r>
            <a:r>
              <a:rPr dirty="0" sz="1100" spc="10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hlinkClick r:id="rId8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EAEAF7"/>
              </a:buClr>
              <a:buFont typeface="Tahoma"/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solidFill>
                  <a:srgbClr val="3333B2"/>
                </a:solidFill>
                <a:hlinkClick r:id="rId9" action="ppaction://hlinksldjump"/>
              </a:rPr>
              <a:t>Precedence</a:t>
            </a:r>
            <a:r>
              <a:rPr dirty="0" sz="1100" spc="-40">
                <a:solidFill>
                  <a:srgbClr val="3333B2"/>
                </a:solidFill>
                <a:hlinkClick r:id="rId9" action="ppaction://hlinksldjump"/>
              </a:rPr>
              <a:t> </a:t>
            </a:r>
            <a:r>
              <a:rPr dirty="0" sz="1100" spc="-35">
                <a:solidFill>
                  <a:srgbClr val="3333B2"/>
                </a:solidFill>
                <a:hlinkClick r:id="rId9" action="ppaction://hlinksldjump"/>
              </a:rPr>
              <a:t>and </a:t>
            </a:r>
            <a:r>
              <a:rPr dirty="0" sz="1100" spc="-10">
                <a:solidFill>
                  <a:srgbClr val="3333B2"/>
                </a:solidFill>
                <a:hlinkClick r:id="rId9" action="ppaction://hlinksldjump"/>
              </a:rPr>
              <a:t>Associativity</a:t>
            </a:r>
            <a:endParaRPr sz="1100"/>
          </a:p>
        </p:txBody>
      </p:sp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38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95173" y="2535364"/>
            <a:ext cx="69088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Assignment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9743" y="2553611"/>
            <a:ext cx="7937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7" action="ppaction://hlinksldjump"/>
              </a:rPr>
              <a:t>Error</a:t>
            </a:r>
            <a:r>
              <a:rPr dirty="0" sz="1100" spc="-35">
                <a:hlinkClick r:id="rId7" action="ppaction://hlinksldjump"/>
              </a:rPr>
              <a:t> </a:t>
            </a:r>
            <a:r>
              <a:rPr dirty="0" sz="1100" spc="-45">
                <a:hlinkClick r:id="rId7" action="ppaction://hlinksldjump"/>
              </a:rPr>
              <a:t>Recovery</a:t>
            </a:r>
            <a:r>
              <a:rPr dirty="0" sz="1100" spc="-40">
                <a:hlinkClick r:id="rId7" action="ppaction://hlinksldjump"/>
              </a:rPr>
              <a:t> </a:t>
            </a:r>
            <a:r>
              <a:rPr dirty="0" sz="1100">
                <a:hlinkClick r:id="rId7" action="ppaction://hlinksldjump"/>
              </a:rPr>
              <a:t>in</a:t>
            </a:r>
            <a:r>
              <a:rPr dirty="0" sz="1100" spc="-30">
                <a:hlinkClick r:id="rId7" action="ppaction://hlinksldjump"/>
              </a:rPr>
              <a:t> </a:t>
            </a:r>
            <a:r>
              <a:rPr dirty="0" sz="1100" spc="-20">
                <a:hlinkClick r:id="rId7" action="ppaction://hlinksldjump"/>
              </a:rPr>
              <a:t>Predictive</a:t>
            </a:r>
            <a:r>
              <a:rPr dirty="0" sz="1100" spc="-35">
                <a:hlinkClick r:id="rId7" action="ppaction://hlinksldjump"/>
              </a:rPr>
              <a:t> </a:t>
            </a:r>
            <a:r>
              <a:rPr dirty="0" sz="1100" spc="-20">
                <a:hlinkClick r:id="rId7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AFAFD"/>
              </a:buClr>
              <a:buFont typeface="Tahoma"/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hlinkClick r:id="rId8" action="ppaction://hlinksldjump"/>
              </a:rPr>
              <a:t>Shift/Reduce</a:t>
            </a:r>
            <a:r>
              <a:rPr dirty="0" sz="1100" spc="10">
                <a:hlinkClick r:id="rId8" action="ppaction://hlinksldjump"/>
              </a:rPr>
              <a:t> </a:t>
            </a:r>
            <a:r>
              <a:rPr dirty="0" sz="1100" spc="-10">
                <a:hlinkClick r:id="rId8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AFAFD"/>
              </a:buClr>
              <a:buFont typeface="Tahoma"/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hlinkClick r:id="rId9" action="ppaction://hlinksldjump"/>
              </a:rPr>
              <a:t>Precedence</a:t>
            </a:r>
            <a:r>
              <a:rPr dirty="0" sz="1100" spc="-40">
                <a:hlinkClick r:id="rId9" action="ppaction://hlinksldjump"/>
              </a:rPr>
              <a:t> </a:t>
            </a:r>
            <a:r>
              <a:rPr dirty="0" sz="1100" spc="-35">
                <a:hlinkClick r:id="rId9" action="ppaction://hlinksldjump"/>
              </a:rPr>
              <a:t>and </a:t>
            </a:r>
            <a:r>
              <a:rPr dirty="0" sz="1100" spc="-10">
                <a:hlinkClick r:id="rId9" action="ppaction://hlinksldjump"/>
              </a:rPr>
              <a:t>Associativity</a:t>
            </a:r>
            <a:endParaRPr sz="1100"/>
          </a:p>
        </p:txBody>
      </p:sp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38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95173" y="2535364"/>
            <a:ext cx="69088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2" action="ppaction://hlinksldjump"/>
              </a:rPr>
              <a:t>Assignment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9743" y="2553611"/>
            <a:ext cx="7937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1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10"/>
              <a:t>2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8"/>
            <a:ext cx="11239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490369"/>
            <a:ext cx="412051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000000"/>
                </a:solidFill>
              </a:rPr>
              <a:t>When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10">
                <a:solidFill>
                  <a:srgbClr val="000000"/>
                </a:solidFill>
              </a:rPr>
              <a:t>the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60">
                <a:solidFill>
                  <a:srgbClr val="000000"/>
                </a:solidFill>
              </a:rPr>
              <a:t>parser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25">
                <a:solidFill>
                  <a:srgbClr val="000000"/>
                </a:solidFill>
              </a:rPr>
              <a:t>finds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10">
                <a:solidFill>
                  <a:srgbClr val="000000"/>
                </a:solidFill>
              </a:rPr>
              <a:t>an</a:t>
            </a:r>
            <a:r>
              <a:rPr dirty="0" sz="1100" spc="-35">
                <a:solidFill>
                  <a:srgbClr val="000000"/>
                </a:solidFill>
              </a:rPr>
              <a:t> </a:t>
            </a:r>
            <a:r>
              <a:rPr dirty="0" sz="1100" spc="-50">
                <a:solidFill>
                  <a:srgbClr val="000000"/>
                </a:solidFill>
              </a:rPr>
              <a:t>error</a:t>
            </a:r>
            <a:r>
              <a:rPr dirty="0" sz="1100" spc="-30">
                <a:solidFill>
                  <a:srgbClr val="000000"/>
                </a:solidFill>
              </a:rPr>
              <a:t> during</a:t>
            </a:r>
            <a:r>
              <a:rPr dirty="0" sz="1100" spc="-35">
                <a:solidFill>
                  <a:srgbClr val="000000"/>
                </a:solidFill>
              </a:rPr>
              <a:t> </a:t>
            </a:r>
            <a:r>
              <a:rPr dirty="0" sz="1100" spc="-40">
                <a:solidFill>
                  <a:srgbClr val="000000"/>
                </a:solidFill>
              </a:rPr>
              <a:t>parsing,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20">
                <a:solidFill>
                  <a:srgbClr val="000000"/>
                </a:solidFill>
              </a:rPr>
              <a:t>what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45">
                <a:solidFill>
                  <a:srgbClr val="000000"/>
                </a:solidFill>
              </a:rPr>
              <a:t>should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it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 spc="-10">
                <a:solidFill>
                  <a:srgbClr val="000000"/>
                </a:solidFill>
              </a:rPr>
              <a:t>do</a:t>
            </a:r>
            <a:r>
              <a:rPr dirty="0" sz="1100" spc="-40">
                <a:solidFill>
                  <a:srgbClr val="000000"/>
                </a:solidFill>
              </a:rPr>
              <a:t> </a:t>
            </a:r>
            <a:r>
              <a:rPr dirty="0" sz="1100" spc="-10">
                <a:solidFill>
                  <a:srgbClr val="000000"/>
                </a:solidFill>
              </a:rPr>
              <a:t>next?</a:t>
            </a:r>
            <a:endParaRPr sz="1100"/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50"/>
              <a:t>Recovery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096681"/>
            <a:ext cx="4356100" cy="1176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parser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stop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80">
                <a:latin typeface="Tahoma"/>
                <a:cs typeface="Tahoma"/>
              </a:rPr>
              <a:t>show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error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80">
                <a:latin typeface="Tahoma"/>
                <a:cs typeface="Tahoma"/>
              </a:rPr>
              <a:t>message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when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finds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first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error.</a:t>
            </a:r>
            <a:endParaRPr sz="1100">
              <a:latin typeface="Tahoma"/>
              <a:cs typeface="Tahoma"/>
            </a:endParaRPr>
          </a:p>
          <a:p>
            <a:pPr marL="12700" marR="936625">
              <a:lnSpc>
                <a:spcPct val="167100"/>
              </a:lnSpc>
              <a:spcBef>
                <a:spcPts val="565"/>
              </a:spcBef>
            </a:pP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it’s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better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 </a:t>
            </a:r>
            <a:r>
              <a:rPr dirty="0" sz="1100" spc="-60">
                <a:latin typeface="Tahoma"/>
                <a:cs typeface="Tahoma"/>
              </a:rPr>
              <a:t>parser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errors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go.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helps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programmers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fix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errors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10">
                <a:latin typeface="Tahoma"/>
                <a:cs typeface="Tahoma"/>
              </a:rPr>
              <a:t> once.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Tahoma"/>
                <a:cs typeface="Tahoma"/>
              </a:rPr>
              <a:t>However,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many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errors,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compiler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stop.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806956"/>
            <a:ext cx="4308475" cy="19005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92075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latin typeface="Gill Sans MT"/>
                <a:cs typeface="Gill Sans MT"/>
              </a:rPr>
              <a:t>Panic</a:t>
            </a:r>
            <a:r>
              <a:rPr dirty="0" sz="1100" spc="4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Mode:</a:t>
            </a:r>
            <a:r>
              <a:rPr dirty="0" sz="1100" spc="110" b="1">
                <a:latin typeface="Gill Sans MT"/>
                <a:cs typeface="Gill Sans MT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parser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skips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until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finds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25">
                <a:latin typeface="Tahoma"/>
                <a:cs typeface="Tahoma"/>
              </a:rPr>
              <a:t>special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”sync”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symbol.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850"/>
              </a:spcBef>
            </a:pPr>
            <a:r>
              <a:rPr dirty="0" sz="1100" spc="-10">
                <a:latin typeface="Tahoma"/>
                <a:cs typeface="Tahoma"/>
              </a:rPr>
              <a:t>Sync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usually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delimiters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like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semicolon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(;)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closing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brace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</a:t>
            </a:r>
            <a:r>
              <a:rPr dirty="0" sz="1100" spc="-20">
                <a:latin typeface="Cambria"/>
                <a:cs typeface="Cambria"/>
              </a:rPr>
              <a:t>}</a:t>
            </a:r>
            <a:r>
              <a:rPr dirty="0" sz="1100" spc="-20">
                <a:latin typeface="Tahoma"/>
                <a:cs typeface="Tahoma"/>
              </a:rPr>
              <a:t>),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clear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meaning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program.</a:t>
            </a:r>
            <a:endParaRPr sz="1100">
              <a:latin typeface="Tahoma"/>
              <a:cs typeface="Tahoma"/>
            </a:endParaRPr>
          </a:p>
          <a:p>
            <a:pPr marL="12700" marR="315595">
              <a:lnSpc>
                <a:spcPct val="167100"/>
              </a:lnSpc>
              <a:spcBef>
                <a:spcPts val="570"/>
              </a:spcBef>
            </a:pPr>
            <a:r>
              <a:rPr dirty="0" sz="1100" spc="-35" b="1">
                <a:latin typeface="Gill Sans MT"/>
                <a:cs typeface="Gill Sans MT"/>
              </a:rPr>
              <a:t>Phrase-</a:t>
            </a:r>
            <a:r>
              <a:rPr dirty="0" sz="1100" b="1">
                <a:latin typeface="Gill Sans MT"/>
                <a:cs typeface="Gill Sans MT"/>
              </a:rPr>
              <a:t>Level </a:t>
            </a:r>
            <a:r>
              <a:rPr dirty="0" sz="1100" spc="-10" b="1">
                <a:latin typeface="Gill Sans MT"/>
                <a:cs typeface="Gill Sans MT"/>
              </a:rPr>
              <a:t>Recovery:</a:t>
            </a:r>
            <a:r>
              <a:rPr dirty="0" sz="1100" spc="95" b="1">
                <a:latin typeface="Gill Sans MT"/>
                <a:cs typeface="Gill Sans MT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parser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makes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small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fixes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input.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remaining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help </a:t>
            </a:r>
            <a:r>
              <a:rPr dirty="0" sz="1100" spc="-50">
                <a:latin typeface="Tahoma"/>
                <a:cs typeface="Tahoma"/>
              </a:rPr>
              <a:t>parsing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continue.</a:t>
            </a:r>
            <a:endParaRPr sz="1100">
              <a:latin typeface="Tahoma"/>
              <a:cs typeface="Tahoma"/>
            </a:endParaRPr>
          </a:p>
          <a:p>
            <a:pPr marL="12700" marR="468630">
              <a:lnSpc>
                <a:spcPct val="102600"/>
              </a:lnSpc>
              <a:spcBef>
                <a:spcPts val="85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example: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replace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comma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semicolon,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remove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extra </a:t>
            </a:r>
            <a:r>
              <a:rPr dirty="0" sz="1100" spc="-45">
                <a:latin typeface="Tahoma"/>
                <a:cs typeface="Tahoma"/>
              </a:rPr>
              <a:t>semicolon,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add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missing </a:t>
            </a:r>
            <a:r>
              <a:rPr dirty="0" sz="1100" spc="-10">
                <a:latin typeface="Tahoma"/>
                <a:cs typeface="Tahoma"/>
              </a:rPr>
              <a:t>semicolon.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15909"/>
            <a:ext cx="4356735" cy="16205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35585">
              <a:lnSpc>
                <a:spcPct val="102600"/>
              </a:lnSpc>
              <a:spcBef>
                <a:spcPts val="55"/>
              </a:spcBef>
            </a:pPr>
            <a:r>
              <a:rPr dirty="0" sz="1100" spc="-50" b="1">
                <a:latin typeface="Gill Sans MT"/>
                <a:cs typeface="Gill Sans MT"/>
              </a:rPr>
              <a:t>Error</a:t>
            </a:r>
            <a:r>
              <a:rPr dirty="0" sz="1100" spc="2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Productions:</a:t>
            </a:r>
            <a:r>
              <a:rPr dirty="0" sz="1100" spc="100" b="1">
                <a:latin typeface="Gill Sans MT"/>
                <a:cs typeface="Gill Sans MT"/>
              </a:rPr>
              <a:t>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add </a:t>
            </a:r>
            <a:r>
              <a:rPr dirty="0" sz="1100" spc="-25">
                <a:latin typeface="Tahoma"/>
                <a:cs typeface="Tahoma"/>
              </a:rPr>
              <a:t>special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rules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handle common </a:t>
            </a:r>
            <a:r>
              <a:rPr dirty="0" sz="1100" spc="-10">
                <a:latin typeface="Tahoma"/>
                <a:cs typeface="Tahoma"/>
              </a:rPr>
              <a:t>mistakes.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parser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25">
                <a:latin typeface="Tahoma"/>
                <a:cs typeface="Tahoma"/>
              </a:rPr>
              <a:t> then </a:t>
            </a:r>
            <a:r>
              <a:rPr dirty="0" sz="1100" spc="-65">
                <a:latin typeface="Tahoma"/>
                <a:cs typeface="Tahoma"/>
              </a:rPr>
              <a:t>show</a:t>
            </a:r>
            <a:r>
              <a:rPr dirty="0" sz="1100" spc="-20">
                <a:latin typeface="Tahoma"/>
                <a:cs typeface="Tahoma"/>
              </a:rPr>
              <a:t> better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80">
                <a:latin typeface="Tahoma"/>
                <a:cs typeface="Tahoma"/>
              </a:rPr>
              <a:t>messages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about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what </a:t>
            </a:r>
            <a:r>
              <a:rPr dirty="0" sz="1100" spc="-50">
                <a:latin typeface="Tahoma"/>
                <a:cs typeface="Tahoma"/>
              </a:rPr>
              <a:t>went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wrong.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ahoma"/>
              <a:cs typeface="Tahoma"/>
            </a:endParaRPr>
          </a:p>
          <a:p>
            <a:pPr marL="12700" marR="69215">
              <a:lnSpc>
                <a:spcPct val="102600"/>
              </a:lnSpc>
            </a:pPr>
            <a:r>
              <a:rPr dirty="0" sz="1100" spc="-25" b="1">
                <a:latin typeface="Gill Sans MT"/>
                <a:cs typeface="Gill Sans MT"/>
              </a:rPr>
              <a:t>Global</a:t>
            </a:r>
            <a:r>
              <a:rPr dirty="0" sz="1100" b="1">
                <a:latin typeface="Gill Sans MT"/>
                <a:cs typeface="Gill Sans MT"/>
              </a:rPr>
              <a:t> </a:t>
            </a:r>
            <a:r>
              <a:rPr dirty="0" sz="1100" spc="-35" b="1">
                <a:latin typeface="Gill Sans MT"/>
                <a:cs typeface="Gill Sans MT"/>
              </a:rPr>
              <a:t>Correction:</a:t>
            </a:r>
            <a:r>
              <a:rPr dirty="0" sz="1100" spc="100" b="1">
                <a:latin typeface="Gill Sans MT"/>
                <a:cs typeface="Gill Sans MT"/>
              </a:rPr>
              <a:t> </a:t>
            </a:r>
            <a:r>
              <a:rPr dirty="0" sz="1100" spc="-25">
                <a:latin typeface="Tahoma"/>
                <a:cs typeface="Tahoma"/>
              </a:rPr>
              <a:t>Given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wrong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x</a:t>
            </a:r>
            <a:r>
              <a:rPr dirty="0" sz="1100" spc="40" i="1">
                <a:latin typeface="Lucida Sans"/>
                <a:cs typeface="Lucida Sans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 i="1">
                <a:latin typeface="Lucida Sans"/>
                <a:cs typeface="Lucida Sans"/>
              </a:rPr>
              <a:t>G</a:t>
            </a:r>
            <a:r>
              <a:rPr dirty="0" sz="1100" spc="-220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30">
                <a:latin typeface="Tahoma"/>
                <a:cs typeface="Tahoma"/>
              </a:rPr>
              <a:t>correct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y</a:t>
            </a:r>
            <a:r>
              <a:rPr dirty="0" sz="1100" spc="5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closest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10" i="1">
                <a:latin typeface="Lucida Sans"/>
                <a:cs typeface="Lucida Sans"/>
              </a:rPr>
              <a:t>x</a:t>
            </a:r>
            <a:r>
              <a:rPr dirty="0" sz="1100" spc="-250" i="1">
                <a:latin typeface="Lucida Sans"/>
                <a:cs typeface="Lucida Sans"/>
              </a:rPr>
              <a:t> </a:t>
            </a:r>
            <a:r>
              <a:rPr dirty="0" sz="1100" spc="-5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”Closest”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means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minimum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number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changes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(insertions,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deletions,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or </a:t>
            </a:r>
            <a:r>
              <a:rPr dirty="0" sz="1100" spc="-45">
                <a:latin typeface="Tahoma"/>
                <a:cs typeface="Tahoma"/>
              </a:rPr>
              <a:t>replacements) </a:t>
            </a:r>
            <a:r>
              <a:rPr dirty="0" sz="1100" spc="-75">
                <a:latin typeface="Tahoma"/>
                <a:cs typeface="Tahoma"/>
              </a:rPr>
              <a:t>needed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fix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solidFill>
                  <a:srgbClr val="3333B2"/>
                </a:solidFill>
                <a:hlinkClick r:id="rId8" action="ppaction://hlinksldjump"/>
              </a:rPr>
              <a:t>Error</a:t>
            </a:r>
            <a:r>
              <a:rPr dirty="0" sz="1100" spc="-35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hlinkClick r:id="rId8" action="ppaction://hlinksldjump"/>
              </a:rPr>
              <a:t>Recovery</a:t>
            </a:r>
            <a:r>
              <a:rPr dirty="0" sz="1100" spc="-40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hlinkClick r:id="rId8" action="ppaction://hlinksldjump"/>
              </a:rPr>
              <a:t>in</a:t>
            </a:r>
            <a:r>
              <a:rPr dirty="0" sz="1100" spc="-30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hlinkClick r:id="rId8" action="ppaction://hlinksldjump"/>
              </a:rPr>
              <a:t>Predictive</a:t>
            </a:r>
            <a:r>
              <a:rPr dirty="0" sz="1100" spc="-35">
                <a:solidFill>
                  <a:srgbClr val="3333B2"/>
                </a:solidFill>
                <a:hlinkClick r:id="rId8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hlinkClick r:id="rId8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hlinkClick r:id="rId9" action="ppaction://hlinksldjump"/>
              </a:rPr>
              <a:t>Shift/Reduce</a:t>
            </a:r>
            <a:r>
              <a:rPr dirty="0" sz="1100" spc="1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hlinkClick r:id="rId10" action="ppaction://hlinksldjump"/>
              </a:rPr>
              <a:t>Precedence</a:t>
            </a:r>
            <a:r>
              <a:rPr dirty="0" sz="1100" spc="-40">
                <a:hlinkClick r:id="rId10" action="ppaction://hlinksldjump"/>
              </a:rPr>
              <a:t> </a:t>
            </a:r>
            <a:r>
              <a:rPr dirty="0" sz="1100" spc="-35">
                <a:hlinkClick r:id="rId10" action="ppaction://hlinksldjump"/>
              </a:rPr>
              <a:t>and </a:t>
            </a:r>
            <a:r>
              <a:rPr dirty="0" sz="1100" spc="-10">
                <a:hlinkClick r:id="rId10" action="ppaction://hlinksldjump"/>
              </a:rPr>
              <a:t>Associativity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11" action="ppaction://hlinksldjump"/>
              </a:rPr>
              <a:t>Assignment</a:t>
            </a:r>
            <a:endParaRPr sz="11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Error</a:t>
            </a:r>
            <a:r>
              <a:rPr dirty="0" spc="-4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25"/>
              <a:t>Parsing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280806"/>
            <a:ext cx="432816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detected</a:t>
            </a:r>
            <a:r>
              <a:rPr dirty="0" sz="1100" spc="-30">
                <a:latin typeface="Tahoma"/>
                <a:cs typeface="Tahoma"/>
              </a:rPr>
              <a:t> during </a:t>
            </a:r>
            <a:r>
              <a:rPr dirty="0" sz="1100" spc="-35">
                <a:latin typeface="Tahoma"/>
                <a:cs typeface="Tahoma"/>
              </a:rPr>
              <a:t>predictive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parsing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terminal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stack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match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next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symbol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nonterminal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 spc="-45" i="1">
                <a:latin typeface="Lucida Sans"/>
                <a:cs typeface="Lucida Sans"/>
              </a:rPr>
              <a:t> </a:t>
            </a:r>
            <a:r>
              <a:rPr dirty="0" sz="1100" spc="-25">
                <a:latin typeface="Tahoma"/>
                <a:cs typeface="Tahoma"/>
              </a:rPr>
              <a:t>is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stack,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65" i="1">
                <a:latin typeface="Lucida Sans"/>
                <a:cs typeface="Lucida Sans"/>
              </a:rPr>
              <a:t>a</a:t>
            </a:r>
            <a:r>
              <a:rPr dirty="0" sz="1100" spc="2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next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5">
                <a:latin typeface="Tahoma"/>
                <a:cs typeface="Tahoma"/>
              </a:rPr>
              <a:t> symbol, and </a:t>
            </a:r>
            <a:r>
              <a:rPr dirty="0" sz="1100" spc="-10" i="1">
                <a:latin typeface="Lucida Sans"/>
                <a:cs typeface="Lucida Sans"/>
              </a:rPr>
              <a:t>M</a:t>
            </a:r>
            <a:r>
              <a:rPr dirty="0" sz="1100" spc="-10">
                <a:latin typeface="Tahoma"/>
                <a:cs typeface="Tahoma"/>
              </a:rPr>
              <a:t>[</a:t>
            </a:r>
            <a:r>
              <a:rPr dirty="0" sz="1100" spc="-10" i="1">
                <a:latin typeface="Lucida Sans"/>
                <a:cs typeface="Lucida Sans"/>
              </a:rPr>
              <a:t>A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130" i="1">
                <a:latin typeface="Lucida Sans"/>
                <a:cs typeface="Lucida Sans"/>
              </a:rPr>
              <a:t>a</a:t>
            </a:r>
            <a:r>
              <a:rPr dirty="0" sz="1100" spc="-130">
                <a:latin typeface="Tahoma"/>
                <a:cs typeface="Tahoma"/>
              </a:rPr>
              <a:t>]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(i.e., 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parsing-</a:t>
            </a:r>
            <a:r>
              <a:rPr dirty="0" sz="1100" spc="-20">
                <a:latin typeface="Tahoma"/>
                <a:cs typeface="Tahoma"/>
              </a:rPr>
              <a:t>table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entry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empty).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Error</a:t>
            </a:r>
            <a:r>
              <a:rPr dirty="0" spc="-45"/>
              <a:t> Recovery</a:t>
            </a:r>
            <a:r>
              <a:rPr dirty="0" spc="-40"/>
              <a:t> </a:t>
            </a:r>
            <a:r>
              <a:rPr dirty="0" spc="-35"/>
              <a:t>Strategies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10"/>
              <a:t>Parsing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779804"/>
            <a:ext cx="78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Gill Sans MT"/>
                <a:cs typeface="Gill Sans MT"/>
              </a:rPr>
              <a:t>Panic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Mode</a:t>
            </a:r>
            <a:endParaRPr sz="1100">
              <a:latin typeface="Gill Sans MT"/>
              <a:cs typeface="Gill Sans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043949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0310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2932" y="989836"/>
            <a:ext cx="4079240" cy="1720214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9588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Place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FOLLOW(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25">
                <a:latin typeface="Tahoma"/>
                <a:cs typeface="Tahoma"/>
              </a:rPr>
              <a:t> for </a:t>
            </a:r>
            <a:r>
              <a:rPr dirty="0" sz="1100" spc="-35">
                <a:latin typeface="Tahoma"/>
                <a:cs typeface="Tahoma"/>
              </a:rPr>
              <a:t>nonterminal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>
                <a:latin typeface="Tahoma"/>
                <a:cs typeface="Tahoma"/>
              </a:rPr>
              <a:t>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Skip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until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element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FOLLOW(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seen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 spc="-55" i="1">
                <a:latin typeface="Lucida Sans"/>
                <a:cs typeface="Lucida Sans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stack.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Tahoma"/>
                <a:cs typeface="Tahoma"/>
              </a:rPr>
              <a:t>Additional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delimiters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Add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FIRST(</a:t>
            </a:r>
            <a:r>
              <a:rPr dirty="0" sz="1100" i="1">
                <a:latin typeface="Lucida Sans"/>
                <a:cs typeface="Lucida Sans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nonterminal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 i="1">
                <a:latin typeface="Lucida Sans"/>
                <a:cs typeface="Lucida Sans"/>
              </a:rPr>
              <a:t>A</a:t>
            </a:r>
            <a:r>
              <a:rPr dirty="0" sz="1100" spc="-25">
                <a:latin typeface="Tahoma"/>
                <a:cs typeface="Tahoma"/>
              </a:rPr>
              <a:t>.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nonterminal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nullable,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ϵ </a:t>
            </a:r>
            <a:r>
              <a:rPr dirty="0" sz="1100" spc="-35">
                <a:latin typeface="Tahoma"/>
                <a:cs typeface="Tahoma"/>
              </a:rPr>
              <a:t>production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default.</a:t>
            </a:r>
            <a:endParaRPr sz="1100">
              <a:latin typeface="Tahoma"/>
              <a:cs typeface="Tahoma"/>
            </a:endParaRPr>
          </a:p>
          <a:p>
            <a:pPr marL="12700" marR="5715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terminal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stack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cannot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matched,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simple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idea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terminal, </a:t>
            </a:r>
            <a:r>
              <a:rPr dirty="0" sz="1100" spc="-55">
                <a:latin typeface="Tahoma"/>
                <a:cs typeface="Tahoma"/>
              </a:rPr>
              <a:t>issue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message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saying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terminal was </a:t>
            </a:r>
            <a:r>
              <a:rPr dirty="0" sz="1100" spc="-40">
                <a:latin typeface="Tahoma"/>
                <a:cs typeface="Tahoma"/>
              </a:rPr>
              <a:t>inserted,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continue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parsing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98139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8520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08171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9523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018204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200527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228237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21530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144" y="895437"/>
            <a:ext cx="2677795" cy="151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Example</a:t>
            </a:r>
            <a:endParaRPr sz="1100">
              <a:latin typeface="Gill Sans MT"/>
              <a:cs typeface="Gill Sans MT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be</a:t>
            </a:r>
            <a:endParaRPr sz="1100">
              <a:latin typeface="Tahoma"/>
              <a:cs typeface="Tahoma"/>
            </a:endParaRPr>
          </a:p>
          <a:p>
            <a:pPr marL="1803400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1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75" i="1">
                <a:latin typeface="Lucida Sans"/>
                <a:cs typeface="Lucida Sans"/>
              </a:rPr>
              <a:t>TE</a:t>
            </a:r>
            <a:r>
              <a:rPr dirty="0" baseline="31250" sz="1200" spc="112" i="1">
                <a:latin typeface="Arial"/>
                <a:cs typeface="Arial"/>
              </a:rPr>
              <a:t>′</a:t>
            </a:r>
            <a:endParaRPr baseline="31250" sz="1200">
              <a:latin typeface="Arial"/>
              <a:cs typeface="Arial"/>
            </a:endParaRPr>
          </a:p>
          <a:p>
            <a:pPr marL="1767839">
              <a:lnSpc>
                <a:spcPct val="100000"/>
              </a:lnSpc>
              <a:spcBef>
                <a:spcPts val="335"/>
              </a:spcBef>
            </a:pPr>
            <a:r>
              <a:rPr dirty="0" sz="1100" spc="125" i="1">
                <a:latin typeface="Lucida Sans"/>
                <a:cs typeface="Lucida Sans"/>
              </a:rPr>
              <a:t>E</a:t>
            </a:r>
            <a:r>
              <a:rPr dirty="0" baseline="31250" sz="1200" spc="187" i="1">
                <a:latin typeface="Arial"/>
                <a:cs typeface="Arial"/>
              </a:rPr>
              <a:t>′</a:t>
            </a:r>
            <a:r>
              <a:rPr dirty="0" baseline="31250" sz="1200" spc="179" i="1">
                <a:latin typeface="Arial"/>
                <a:cs typeface="Arial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85">
                <a:latin typeface="Tahoma"/>
                <a:cs typeface="Tahoma"/>
              </a:rPr>
              <a:t>+</a:t>
            </a:r>
            <a:r>
              <a:rPr dirty="0" sz="1100" spc="85" i="1">
                <a:latin typeface="Lucida Sans"/>
                <a:cs typeface="Lucida Sans"/>
              </a:rPr>
              <a:t>TE</a:t>
            </a:r>
            <a:r>
              <a:rPr dirty="0" baseline="31250" sz="1200" spc="127" i="1">
                <a:latin typeface="Arial"/>
                <a:cs typeface="Arial"/>
              </a:rPr>
              <a:t>′</a:t>
            </a:r>
            <a:r>
              <a:rPr dirty="0" baseline="31250" sz="1200" spc="179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60" i="1">
                <a:latin typeface="Arial"/>
                <a:cs typeface="Arial"/>
              </a:rPr>
              <a:t>ϵ</a:t>
            </a:r>
            <a:endParaRPr sz="1100">
              <a:latin typeface="Arial"/>
              <a:cs typeface="Arial"/>
            </a:endParaRPr>
          </a:p>
          <a:p>
            <a:pPr marL="1790064">
              <a:lnSpc>
                <a:spcPct val="100000"/>
              </a:lnSpc>
              <a:spcBef>
                <a:spcPts val="334"/>
              </a:spcBef>
            </a:pPr>
            <a:r>
              <a:rPr dirty="0" sz="1100" i="1">
                <a:latin typeface="Lucida Sans"/>
                <a:cs typeface="Lucida Sans"/>
              </a:rPr>
              <a:t>T</a:t>
            </a:r>
            <a:r>
              <a:rPr dirty="0" sz="1100" spc="13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75" i="1">
                <a:latin typeface="Lucida Sans"/>
                <a:cs typeface="Lucida Sans"/>
              </a:rPr>
              <a:t>FT</a:t>
            </a:r>
            <a:r>
              <a:rPr dirty="0" baseline="31250" sz="1200" spc="112" i="1">
                <a:latin typeface="Arial"/>
                <a:cs typeface="Arial"/>
              </a:rPr>
              <a:t>′</a:t>
            </a:r>
            <a:endParaRPr baseline="31250" sz="1200">
              <a:latin typeface="Arial"/>
              <a:cs typeface="Arial"/>
            </a:endParaRPr>
          </a:p>
          <a:p>
            <a:pPr marL="1754505">
              <a:lnSpc>
                <a:spcPct val="100000"/>
              </a:lnSpc>
              <a:spcBef>
                <a:spcPts val="330"/>
              </a:spcBef>
            </a:pPr>
            <a:r>
              <a:rPr dirty="0" sz="1100" spc="135" i="1">
                <a:latin typeface="Lucida Sans"/>
                <a:cs typeface="Lucida Sans"/>
              </a:rPr>
              <a:t>T</a:t>
            </a:r>
            <a:r>
              <a:rPr dirty="0" baseline="31250" sz="1200" spc="202" i="1">
                <a:latin typeface="Arial"/>
                <a:cs typeface="Arial"/>
              </a:rPr>
              <a:t>′</a:t>
            </a:r>
            <a:r>
              <a:rPr dirty="0" baseline="31250" sz="1200" spc="179" i="1">
                <a:latin typeface="Arial"/>
                <a:cs typeface="Arial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75">
                <a:latin typeface="Cambria"/>
                <a:cs typeface="Cambria"/>
              </a:rPr>
              <a:t>∗</a:t>
            </a:r>
            <a:r>
              <a:rPr dirty="0" sz="1100" spc="75" i="1">
                <a:latin typeface="Lucida Sans"/>
                <a:cs typeface="Lucida Sans"/>
              </a:rPr>
              <a:t>FT</a:t>
            </a:r>
            <a:r>
              <a:rPr dirty="0" baseline="31250" sz="1200" spc="112" i="1">
                <a:latin typeface="Arial"/>
                <a:cs typeface="Arial"/>
              </a:rPr>
              <a:t>′</a:t>
            </a:r>
            <a:r>
              <a:rPr dirty="0" baseline="31250" sz="1200" spc="179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0" i="1">
                <a:latin typeface="Arial"/>
                <a:cs typeface="Arial"/>
              </a:rPr>
              <a:t>ϵ</a:t>
            </a:r>
            <a:endParaRPr sz="1100">
              <a:latin typeface="Arial"/>
              <a:cs typeface="Arial"/>
            </a:endParaRPr>
          </a:p>
          <a:p>
            <a:pPr marL="1805305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Lucida Sans"/>
                <a:cs typeface="Lucida Sans"/>
              </a:rPr>
              <a:t>F</a:t>
            </a:r>
            <a:r>
              <a:rPr dirty="0" sz="1100" spc="105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20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25">
                <a:latin typeface="Tahoma"/>
                <a:cs typeface="Tahoma"/>
              </a:rPr>
              <a:t>id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965008"/>
            <a:ext cx="146875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(Parse</a:t>
            </a:r>
            <a:r>
              <a:rPr dirty="0" sz="1100" spc="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Table)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Tahoma"/>
                <a:cs typeface="Tahoma"/>
              </a:rPr>
              <a:t>Recall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6017" y="1408976"/>
          <a:ext cx="2943860" cy="104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/>
                <a:gridCol w="620395"/>
                <a:gridCol w="533400"/>
                <a:gridCol w="843915"/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Nonterminal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Nullable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FIRST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ahoma"/>
                          <a:cs typeface="Tahoma"/>
                        </a:rPr>
                        <a:t>FOLLOW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4869">
                <a:tc>
                  <a:txBody>
                    <a:bodyPr/>
                    <a:lstStyle/>
                    <a:p>
                      <a:pPr marL="75565">
                        <a:lnSpc>
                          <a:spcPts val="1010"/>
                        </a:lnSpc>
                      </a:pPr>
                      <a:r>
                        <a:rPr dirty="0" sz="1100" spc="-50" i="1">
                          <a:latin typeface="Lucida Sans"/>
                          <a:cs typeface="Lucida Sans"/>
                        </a:rPr>
                        <a:t>E</a:t>
                      </a:r>
                      <a:endParaRPr sz="1100">
                        <a:latin typeface="Lucida Sans"/>
                        <a:cs typeface="Lucida Sans"/>
                      </a:endParaRPr>
                    </a:p>
                    <a:p>
                      <a:pPr marL="75565">
                        <a:lnSpc>
                          <a:spcPts val="1140"/>
                        </a:lnSpc>
                      </a:pPr>
                      <a:r>
                        <a:rPr dirty="0" baseline="-20202" sz="1650" spc="15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800" spc="100" i="1">
                          <a:latin typeface="Arial"/>
                          <a:cs typeface="Arial"/>
                        </a:rPr>
                        <a:t>′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1140"/>
                        </a:lnSpc>
                        <a:spcBef>
                          <a:spcPts val="430"/>
                        </a:spcBef>
                      </a:pPr>
                      <a:r>
                        <a:rPr dirty="0" sz="1100" spc="-50" i="1">
                          <a:latin typeface="Lucida Sans"/>
                          <a:cs typeface="Lucida Sans"/>
                        </a:rPr>
                        <a:t>T</a:t>
                      </a:r>
                      <a:endParaRPr sz="1100">
                        <a:latin typeface="Lucida Sans"/>
                        <a:cs typeface="Lucida Sans"/>
                      </a:endParaRPr>
                    </a:p>
                    <a:p>
                      <a:pPr marL="75565">
                        <a:lnSpc>
                          <a:spcPts val="1140"/>
                        </a:lnSpc>
                      </a:pPr>
                      <a:r>
                        <a:rPr dirty="0" baseline="-20202" sz="1650" spc="16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800" spc="110" i="1">
                          <a:latin typeface="Arial"/>
                          <a:cs typeface="Arial"/>
                        </a:rPr>
                        <a:t>′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100" spc="-50" i="1">
                          <a:latin typeface="Lucida Sans"/>
                          <a:cs typeface="Lucida Sans"/>
                        </a:rPr>
                        <a:t>F</a:t>
                      </a:r>
                      <a:endParaRPr sz="11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ahoma"/>
                          <a:cs typeface="Tahoma"/>
                        </a:rPr>
                        <a:t>No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algn="just" marL="212090" marR="204470">
                        <a:lnSpc>
                          <a:spcPct val="102600"/>
                        </a:lnSpc>
                      </a:pPr>
                      <a:r>
                        <a:rPr dirty="0" sz="1100" spc="-65">
                          <a:latin typeface="Tahoma"/>
                          <a:cs typeface="Tahoma"/>
                        </a:rPr>
                        <a:t>Yes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No </a:t>
                      </a:r>
                      <a:r>
                        <a:rPr dirty="0" sz="1100" spc="-65">
                          <a:latin typeface="Tahoma"/>
                          <a:cs typeface="Tahoma"/>
                        </a:rPr>
                        <a:t>Yes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No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1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65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 spc="65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100" spc="65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1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1625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3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*</a:t>
                      </a:r>
                      <a:r>
                        <a:rPr dirty="0" sz="1100" spc="3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1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119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100" spc="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100" spc="3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2489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100" spc="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100" spc="3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4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100" spc="4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1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1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4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100" spc="4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*,</a:t>
                      </a:r>
                      <a:r>
                        <a:rPr dirty="0" sz="11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1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1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100" spc="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100" spc="50">
                          <a:latin typeface="Cambria"/>
                          <a:cs typeface="Cambria"/>
                        </a:rPr>
                        <a:t>}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060461"/>
            <a:ext cx="1468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(Parse</a:t>
            </a:r>
            <a:r>
              <a:rPr dirty="0" sz="1100" spc="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Table)</a:t>
            </a:r>
            <a:endParaRPr sz="1100">
              <a:latin typeface="Gill Sans MT"/>
              <a:cs typeface="Gill Sans M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6017" y="1367002"/>
          <a:ext cx="4319905" cy="941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/>
                <a:gridCol w="785495"/>
                <a:gridCol w="760729"/>
                <a:gridCol w="661669"/>
                <a:gridCol w="537844"/>
                <a:gridCol w="661669"/>
                <a:gridCol w="537845"/>
              </a:tblGrid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+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*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(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$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698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Lucida Sans"/>
                          <a:cs typeface="Lucida Sans"/>
                        </a:rPr>
                        <a:t>E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dirty="0" baseline="-19444" sz="1500" spc="135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700" spc="90" i="1">
                          <a:latin typeface="Times New Roman"/>
                          <a:cs typeface="Times New Roman"/>
                        </a:rPr>
                        <a:t>′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6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6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89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8890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T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000" spc="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000" spc="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dirty="0" baseline="-19444" sz="1500" spc="1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700" spc="100" i="1">
                          <a:latin typeface="Times New Roman"/>
                          <a:cs typeface="Times New Roman"/>
                        </a:rPr>
                        <a:t>′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∗</a:t>
                      </a:r>
                      <a:r>
                        <a:rPr dirty="0" sz="1000" spc="5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75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8890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Lucida Sans"/>
                          <a:cs typeface="Lucida Sans"/>
                        </a:rPr>
                        <a:t>F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F</a:t>
                      </a:r>
                      <a:r>
                        <a:rPr dirty="0" sz="1000" spc="12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-1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F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060461"/>
            <a:ext cx="2781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-10" b="1">
                <a:latin typeface="Gill Sans MT"/>
                <a:cs typeface="Gill Sans MT"/>
              </a:rPr>
              <a:t> (Parse</a:t>
            </a:r>
            <a:r>
              <a:rPr dirty="0" sz="1100" spc="-5" b="1">
                <a:latin typeface="Gill Sans MT"/>
                <a:cs typeface="Gill Sans MT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Table</a:t>
            </a:r>
            <a:r>
              <a:rPr dirty="0" sz="1100" spc="-5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with</a:t>
            </a:r>
            <a:r>
              <a:rPr dirty="0" sz="1100" spc="-5" b="1">
                <a:latin typeface="Gill Sans MT"/>
                <a:cs typeface="Gill Sans MT"/>
              </a:rPr>
              <a:t> </a:t>
            </a:r>
            <a:r>
              <a:rPr dirty="0" sz="1100" spc="-50" b="1">
                <a:latin typeface="Gill Sans MT"/>
                <a:cs typeface="Gill Sans MT"/>
              </a:rPr>
              <a:t>Error</a:t>
            </a:r>
            <a:r>
              <a:rPr dirty="0" sz="1100" spc="-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Recovery)</a:t>
            </a:r>
            <a:endParaRPr sz="1100">
              <a:latin typeface="Gill Sans MT"/>
              <a:cs typeface="Gill Sans M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6017" y="1367002"/>
          <a:ext cx="4319905" cy="941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195"/>
                <a:gridCol w="785495"/>
                <a:gridCol w="760729"/>
                <a:gridCol w="661669"/>
                <a:gridCol w="537844"/>
                <a:gridCol w="661669"/>
                <a:gridCol w="537845"/>
              </a:tblGrid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+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*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(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$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6985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Lucida Sans"/>
                          <a:cs typeface="Lucida Sans"/>
                        </a:rPr>
                        <a:t>E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dirty="0" baseline="-19444" sz="1500" spc="135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700" spc="90" i="1">
                          <a:latin typeface="Times New Roman"/>
                          <a:cs typeface="Times New Roman"/>
                        </a:rPr>
                        <a:t>′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6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60" i="1">
                          <a:latin typeface="Lucida Sans"/>
                          <a:cs typeface="Lucida Sans"/>
                        </a:rPr>
                        <a:t>TE</a:t>
                      </a:r>
                      <a:r>
                        <a:rPr dirty="0" baseline="27777" sz="1050" spc="89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14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baseline="27777" sz="1050" spc="172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8890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T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000" spc="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000" spc="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7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104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dirty="0" baseline="-19444" sz="1500" spc="15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700" spc="100" i="1">
                          <a:latin typeface="Times New Roman"/>
                          <a:cs typeface="Times New Roman"/>
                        </a:rPr>
                        <a:t>′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∗</a:t>
                      </a:r>
                      <a:r>
                        <a:rPr dirty="0" sz="1000" spc="50" i="1">
                          <a:latin typeface="Lucida Sans"/>
                          <a:cs typeface="Lucida Sans"/>
                        </a:rPr>
                        <a:t>FT</a:t>
                      </a:r>
                      <a:r>
                        <a:rPr dirty="0" baseline="27777" sz="1050" spc="75" i="1">
                          <a:latin typeface="Times New Roman"/>
                          <a:cs typeface="Times New Roman"/>
                        </a:rPr>
                        <a:t>′</a:t>
                      </a:r>
                      <a:endParaRPr baseline="27777"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125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baseline="27777" sz="1050" spc="187" i="1">
                          <a:latin typeface="Times New Roman"/>
                          <a:cs typeface="Times New Roman"/>
                        </a:rPr>
                        <a:t>′</a:t>
                      </a:r>
                      <a:r>
                        <a:rPr dirty="0" baseline="27777" sz="1050" spc="2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ϵ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algn="ctr" marR="8890">
                        <a:lnSpc>
                          <a:spcPts val="1055"/>
                        </a:lnSpc>
                      </a:pPr>
                      <a:r>
                        <a:rPr dirty="0" sz="1000" spc="-50" i="1">
                          <a:latin typeface="Lucida Sans"/>
                          <a:cs typeface="Lucida Sans"/>
                        </a:rPr>
                        <a:t>F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F</a:t>
                      </a:r>
                      <a:r>
                        <a:rPr dirty="0" sz="1000" spc="12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000" i="1"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-19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i="1">
                          <a:latin typeface="Lucida Sans"/>
                          <a:cs typeface="Lucida Sans"/>
                        </a:rPr>
                        <a:t>F</a:t>
                      </a:r>
                      <a:r>
                        <a:rPr dirty="0" sz="1000" spc="105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150">
                          <a:latin typeface="Cambria"/>
                          <a:cs typeface="Cambria"/>
                        </a:rPr>
                        <a:t>→</a:t>
                      </a:r>
                      <a:r>
                        <a:rPr dirty="0" sz="1000" spc="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sync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" name="object 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8" action="ppaction://hlinksldjump"/>
              </a:rPr>
              <a:t>Error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5">
                <a:hlinkClick r:id="rId8" action="ppaction://hlinksldjump"/>
              </a:rPr>
              <a:t>Recovery</a:t>
            </a:r>
            <a:r>
              <a:rPr dirty="0" sz="1100" spc="-40">
                <a:hlinkClick r:id="rId8" action="ppaction://hlinksldjump"/>
              </a:rPr>
              <a:t> </a:t>
            </a:r>
            <a:r>
              <a:rPr dirty="0" sz="1100">
                <a:hlinkClick r:id="rId8" action="ppaction://hlinksldjump"/>
              </a:rPr>
              <a:t>in</a:t>
            </a:r>
            <a:r>
              <a:rPr dirty="0" sz="1100" spc="-30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Predictive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solidFill>
                  <a:srgbClr val="3333B2"/>
                </a:solidFill>
                <a:hlinkClick r:id="rId9" action="ppaction://hlinksldjump"/>
              </a:rPr>
              <a:t>Shift/Reduce</a:t>
            </a:r>
            <a:r>
              <a:rPr dirty="0" sz="1100" spc="10">
                <a:solidFill>
                  <a:srgbClr val="3333B2"/>
                </a:solidFill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hlinkClick r:id="rId9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hlinkClick r:id="rId10" action="ppaction://hlinksldjump"/>
              </a:rPr>
              <a:t>Precedence</a:t>
            </a:r>
            <a:r>
              <a:rPr dirty="0" sz="1100" spc="-40">
                <a:hlinkClick r:id="rId10" action="ppaction://hlinksldjump"/>
              </a:rPr>
              <a:t> </a:t>
            </a:r>
            <a:r>
              <a:rPr dirty="0" sz="1100" spc="-35">
                <a:hlinkClick r:id="rId10" action="ppaction://hlinksldjump"/>
              </a:rPr>
              <a:t>and </a:t>
            </a:r>
            <a:r>
              <a:rPr dirty="0" sz="1100" spc="-10">
                <a:hlinkClick r:id="rId10" action="ppaction://hlinksldjump"/>
              </a:rPr>
              <a:t>Associativity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11" action="ppaction://hlinksldjump"/>
              </a:rPr>
              <a:t>Assignment</a:t>
            </a:r>
            <a:endParaRPr sz="11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52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851673"/>
            <a:ext cx="4330700" cy="1788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(A</a:t>
            </a:r>
            <a:r>
              <a:rPr dirty="0" sz="1100" spc="40" b="1">
                <a:latin typeface="Gill Sans MT"/>
                <a:cs typeface="Gill Sans MT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Simplified</a:t>
            </a:r>
            <a:r>
              <a:rPr dirty="0" sz="1100" spc="4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Grammar)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simplify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  <a:p>
            <a:pPr marL="1836420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25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6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50" i="1">
                <a:latin typeface="Lucida Sans"/>
                <a:cs typeface="Lucida Sans"/>
              </a:rPr>
              <a:t>E</a:t>
            </a:r>
            <a:endParaRPr sz="1100">
              <a:latin typeface="Lucida Sans"/>
              <a:cs typeface="Lucida Sans"/>
            </a:endParaRPr>
          </a:p>
          <a:p>
            <a:pPr marL="1836420" marR="1858010">
              <a:lnSpc>
                <a:spcPct val="125299"/>
              </a:lnSpc>
            </a:pP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2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55" i="1">
                <a:latin typeface="Lucida Sans"/>
                <a:cs typeface="Lucida Sans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 i="1">
                <a:latin typeface="Lucida Sans"/>
                <a:cs typeface="Lucida Sans"/>
              </a:rPr>
              <a:t>E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3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04" i="1">
                <a:latin typeface="Lucida Sans"/>
                <a:cs typeface="Lucida Sans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836420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1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25">
                <a:latin typeface="Tahoma"/>
                <a:cs typeface="Tahoma"/>
              </a:rPr>
              <a:t>id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095"/>
              </a:spcBef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form,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precedence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rules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*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implicit.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must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incorporated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tables.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58569"/>
            <a:ext cx="4332605" cy="15481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29539">
              <a:lnSpc>
                <a:spcPct val="102600"/>
              </a:lnSpc>
              <a:spcBef>
                <a:spcPts val="55"/>
              </a:spcBef>
            </a:pPr>
            <a:r>
              <a:rPr dirty="0" sz="1100" spc="-45">
                <a:latin typeface="Tahoma"/>
                <a:cs typeface="Tahoma"/>
              </a:rPr>
              <a:t>Sometimes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parsing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table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both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shift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shift/reduce</a:t>
            </a:r>
            <a:r>
              <a:rPr dirty="0" sz="1100" spc="3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194945">
              <a:lnSpc>
                <a:spcPct val="102699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”shift”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”reduce,”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look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case </a:t>
            </a:r>
            <a:r>
              <a:rPr dirty="0" sz="1100" spc="-10">
                <a:latin typeface="Tahoma"/>
                <a:cs typeface="Tahoma"/>
              </a:rPr>
              <a:t>carefully.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7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75" i="1">
                <a:latin typeface="Lucida Sans"/>
                <a:cs typeface="Lucida Sans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5" i="1">
                <a:latin typeface="Lucida Sans"/>
                <a:cs typeface="Lucida Sans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10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30" i="1">
                <a:latin typeface="Lucida Sans"/>
                <a:cs typeface="Lucida Sans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inputs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like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+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*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c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25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*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+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c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Reduce/Reduce</a:t>
            </a:r>
            <a:r>
              <a:rPr dirty="0" spc="-30"/>
              <a:t> </a:t>
            </a:r>
            <a:r>
              <a:rPr dirty="0" spc="-10"/>
              <a:t>Conflicts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835760"/>
            <a:ext cx="4156075" cy="182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</a:t>
            </a:r>
            <a:r>
              <a:rPr dirty="0" sz="1100" spc="-35">
                <a:latin typeface="Tahoma"/>
                <a:cs typeface="Tahoma"/>
              </a:rPr>
              <a:t> different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operations.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reduce/reduce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occurs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sequence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matches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right-</a:t>
            </a:r>
            <a:r>
              <a:rPr dirty="0" sz="1100" spc="-25">
                <a:latin typeface="Tahoma"/>
                <a:cs typeface="Tahoma"/>
              </a:rPr>
              <a:t>hand </a:t>
            </a:r>
            <a:r>
              <a:rPr dirty="0" sz="1100" spc="-55">
                <a:latin typeface="Tahoma"/>
                <a:cs typeface="Tahoma"/>
              </a:rPr>
              <a:t>sides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 productions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time.</a:t>
            </a:r>
            <a:endParaRPr sz="1100">
              <a:latin typeface="Tahoma"/>
              <a:cs typeface="Tahoma"/>
            </a:endParaRPr>
          </a:p>
          <a:p>
            <a:pPr marL="12700" marR="26034">
              <a:lnSpc>
                <a:spcPct val="102600"/>
              </a:lnSpc>
              <a:spcBef>
                <a:spcPts val="85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table,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reduction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10">
                <a:latin typeface="Tahoma"/>
                <a:cs typeface="Tahoma"/>
              </a:rPr>
              <a:t>apply.</a:t>
            </a:r>
            <a:endParaRPr sz="1100">
              <a:latin typeface="Tahoma"/>
              <a:cs typeface="Tahoma"/>
            </a:endParaRPr>
          </a:p>
          <a:p>
            <a:pPr marL="12700" marR="11430">
              <a:lnSpc>
                <a:spcPct val="102600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presence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reduce/reduce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30">
                <a:latin typeface="Tahoma"/>
                <a:cs typeface="Tahoma"/>
              </a:rPr>
              <a:t> indicates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should</a:t>
            </a:r>
            <a:r>
              <a:rPr dirty="0" sz="1100" spc="-25">
                <a:latin typeface="Tahoma"/>
                <a:cs typeface="Tahoma"/>
              </a:rPr>
              <a:t> find </a:t>
            </a:r>
            <a:r>
              <a:rPr dirty="0" sz="1100" spc="-35">
                <a:latin typeface="Tahoma"/>
                <a:cs typeface="Tahoma"/>
              </a:rPr>
              <a:t>another </a:t>
            </a:r>
            <a:r>
              <a:rPr dirty="0" sz="1100" spc="-10">
                <a:latin typeface="Tahoma"/>
                <a:cs typeface="Tahoma"/>
              </a:rPr>
              <a:t>grammar.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Reduce/Reduce</a:t>
            </a:r>
            <a:r>
              <a:rPr dirty="0" spc="-30"/>
              <a:t> </a:t>
            </a:r>
            <a:r>
              <a:rPr dirty="0" spc="-10"/>
              <a:t>Conflicts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835760"/>
            <a:ext cx="4156075" cy="182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</a:t>
            </a:r>
            <a:r>
              <a:rPr dirty="0" sz="1100" spc="-35">
                <a:latin typeface="Tahoma"/>
                <a:cs typeface="Tahoma"/>
              </a:rPr>
              <a:t> different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operations.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reduce/reduce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occurs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sequence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matches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right-</a:t>
            </a:r>
            <a:r>
              <a:rPr dirty="0" sz="1100" spc="-25">
                <a:latin typeface="Tahoma"/>
                <a:cs typeface="Tahoma"/>
              </a:rPr>
              <a:t>hand </a:t>
            </a:r>
            <a:r>
              <a:rPr dirty="0" sz="1100" spc="-55">
                <a:latin typeface="Tahoma"/>
                <a:cs typeface="Tahoma"/>
              </a:rPr>
              <a:t>sides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 productions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time.</a:t>
            </a:r>
            <a:endParaRPr sz="1100">
              <a:latin typeface="Tahoma"/>
              <a:cs typeface="Tahoma"/>
            </a:endParaRPr>
          </a:p>
          <a:p>
            <a:pPr marL="12700" marR="26034">
              <a:lnSpc>
                <a:spcPct val="102600"/>
              </a:lnSpc>
              <a:spcBef>
                <a:spcPts val="85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table,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reduction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10">
                <a:latin typeface="Tahoma"/>
                <a:cs typeface="Tahoma"/>
              </a:rPr>
              <a:t>apply.</a:t>
            </a:r>
            <a:endParaRPr sz="1100">
              <a:latin typeface="Tahoma"/>
              <a:cs typeface="Tahoma"/>
            </a:endParaRPr>
          </a:p>
          <a:p>
            <a:pPr marL="12700" marR="11430">
              <a:lnSpc>
                <a:spcPct val="102600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presence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reduce/reduce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30">
                <a:latin typeface="Tahoma"/>
                <a:cs typeface="Tahoma"/>
              </a:rPr>
              <a:t> indicates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should</a:t>
            </a:r>
            <a:r>
              <a:rPr dirty="0" sz="1100" spc="-25">
                <a:latin typeface="Tahoma"/>
                <a:cs typeface="Tahoma"/>
              </a:rPr>
              <a:t> find </a:t>
            </a:r>
            <a:r>
              <a:rPr dirty="0" sz="1100" spc="-35">
                <a:latin typeface="Tahoma"/>
                <a:cs typeface="Tahoma"/>
              </a:rPr>
              <a:t>another </a:t>
            </a:r>
            <a:r>
              <a:rPr dirty="0" sz="1100" spc="-10">
                <a:latin typeface="Tahoma"/>
                <a:cs typeface="Tahoma"/>
              </a:rPr>
              <a:t>grammar.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704175"/>
            <a:ext cx="2540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(The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Action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and</a:t>
            </a:r>
            <a:r>
              <a:rPr dirty="0" sz="1100" spc="15" b="1">
                <a:latin typeface="Gill Sans MT"/>
                <a:cs typeface="Gill Sans MT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Goto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Tables)</a:t>
            </a:r>
            <a:endParaRPr sz="1100">
              <a:latin typeface="Gill Sans MT"/>
              <a:cs typeface="Gill Sans M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6017" y="1010704"/>
          <a:ext cx="3029585" cy="183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895"/>
                <a:gridCol w="433070"/>
                <a:gridCol w="433070"/>
                <a:gridCol w="263525"/>
                <a:gridCol w="263525"/>
                <a:gridCol w="263525"/>
                <a:gridCol w="325119"/>
                <a:gridCol w="408305"/>
              </a:tblGrid>
              <a:tr h="156845">
                <a:tc rowSpan="2"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2*State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Goto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+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*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(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$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acc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s4/r1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s5/r1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s4/r2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s5/r2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8" action="ppaction://hlinksldjump"/>
              </a:rPr>
              <a:t>Error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5">
                <a:hlinkClick r:id="rId8" action="ppaction://hlinksldjump"/>
              </a:rPr>
              <a:t>Recovery</a:t>
            </a:r>
            <a:r>
              <a:rPr dirty="0" sz="1100" spc="-40">
                <a:hlinkClick r:id="rId8" action="ppaction://hlinksldjump"/>
              </a:rPr>
              <a:t> </a:t>
            </a:r>
            <a:r>
              <a:rPr dirty="0" sz="1100">
                <a:hlinkClick r:id="rId8" action="ppaction://hlinksldjump"/>
              </a:rPr>
              <a:t>in</a:t>
            </a:r>
            <a:r>
              <a:rPr dirty="0" sz="1100" spc="-30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Predictive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hlinkClick r:id="rId9" action="ppaction://hlinksldjump"/>
              </a:rPr>
              <a:t>Shift/Reduce</a:t>
            </a:r>
            <a:r>
              <a:rPr dirty="0" sz="1100" spc="1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solidFill>
                  <a:srgbClr val="3333B2"/>
                </a:solidFill>
                <a:hlinkClick r:id="rId10" action="ppaction://hlinksldjump"/>
              </a:rPr>
              <a:t>Precedence</a:t>
            </a:r>
            <a:r>
              <a:rPr dirty="0" sz="1100" spc="-40">
                <a:solidFill>
                  <a:srgbClr val="3333B2"/>
                </a:solidFill>
                <a:hlinkClick r:id="rId10" action="ppaction://hlinksldjump"/>
              </a:rPr>
              <a:t> </a:t>
            </a:r>
            <a:r>
              <a:rPr dirty="0" sz="1100" spc="-35">
                <a:solidFill>
                  <a:srgbClr val="3333B2"/>
                </a:solidFill>
                <a:hlinkClick r:id="rId10" action="ppaction://hlinksldjump"/>
              </a:rPr>
              <a:t>and </a:t>
            </a:r>
            <a:r>
              <a:rPr dirty="0" sz="1100" spc="-10">
                <a:solidFill>
                  <a:srgbClr val="3333B2"/>
                </a:solidFill>
                <a:hlinkClick r:id="rId10" action="ppaction://hlinksldjump"/>
              </a:rPr>
              <a:t>Associativity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11" action="ppaction://hlinksldjump"/>
              </a:rPr>
              <a:t>Assignment</a:t>
            </a:r>
            <a:endParaRPr sz="11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52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013535"/>
            <a:ext cx="3902710" cy="13760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5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(Shift/Reduce</a:t>
            </a:r>
            <a:r>
              <a:rPr dirty="0" sz="1100" spc="5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Conflicts</a:t>
            </a:r>
            <a:r>
              <a:rPr dirty="0" sz="1100" spc="6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and</a:t>
            </a:r>
            <a:r>
              <a:rPr dirty="0" sz="1100" spc="5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Associativity)</a:t>
            </a:r>
            <a:endParaRPr sz="1100">
              <a:latin typeface="Gill Sans MT"/>
              <a:cs typeface="Gill Sans MT"/>
            </a:endParaRPr>
          </a:p>
          <a:p>
            <a:pPr algn="just" marL="12700" marR="5080">
              <a:lnSpc>
                <a:spcPct val="102600"/>
              </a:lnSpc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shift/reduce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(7,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shifting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and </a:t>
            </a:r>
            <a:r>
              <a:rPr dirty="0" sz="1100" spc="-40">
                <a:latin typeface="Tahoma"/>
                <a:cs typeface="Tahoma"/>
              </a:rPr>
              <a:t>reducing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95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3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20" i="1">
                <a:latin typeface="Lucida Sans"/>
                <a:cs typeface="Lucida Sans"/>
              </a:rPr>
              <a:t> </a:t>
            </a:r>
            <a:r>
              <a:rPr dirty="0" sz="1100" spc="-5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algn="just" marL="12700" marR="33655">
              <a:lnSpc>
                <a:spcPct val="167100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“shift,”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addition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right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associative.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 </a:t>
            </a:r>
            <a:r>
              <a:rPr dirty="0" sz="1100" spc="-10">
                <a:latin typeface="Tahoma"/>
                <a:cs typeface="Tahoma"/>
              </a:rPr>
              <a:t>“reduce,”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addition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left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associative.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similar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(8,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*)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regarding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multiplication.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52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875879"/>
            <a:ext cx="4356100" cy="17202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5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(Shift/Reduce</a:t>
            </a:r>
            <a:r>
              <a:rPr dirty="0" sz="1100" spc="5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Conflicts</a:t>
            </a:r>
            <a:r>
              <a:rPr dirty="0" sz="1100" spc="6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and</a:t>
            </a:r>
            <a:r>
              <a:rPr dirty="0" sz="1100" spc="5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Precedence)</a:t>
            </a:r>
            <a:endParaRPr sz="1100">
              <a:latin typeface="Gill Sans MT"/>
              <a:cs typeface="Gill Sans MT"/>
            </a:endParaRPr>
          </a:p>
          <a:p>
            <a:pPr marL="12700" marR="458470">
              <a:lnSpc>
                <a:spcPct val="102699"/>
              </a:lnSpc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shift/reduce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(8,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shifting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and </a:t>
            </a:r>
            <a:r>
              <a:rPr dirty="0" sz="1100" spc="-40">
                <a:latin typeface="Tahoma"/>
                <a:cs typeface="Tahoma"/>
              </a:rPr>
              <a:t>reducing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9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30" i="1">
                <a:latin typeface="Lucida Sans"/>
                <a:cs typeface="Lucida Sans"/>
              </a:rPr>
              <a:t> </a:t>
            </a:r>
            <a:r>
              <a:rPr dirty="0" sz="1100">
                <a:latin typeface="Cambria"/>
                <a:cs typeface="Cambria"/>
              </a:rPr>
              <a:t>∗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15" i="1">
                <a:latin typeface="Lucida Sans"/>
                <a:cs typeface="Lucida Sans"/>
              </a:rPr>
              <a:t> </a:t>
            </a:r>
            <a:r>
              <a:rPr dirty="0" sz="1100" spc="-5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12700" marR="111760">
              <a:lnSpc>
                <a:spcPct val="102600"/>
              </a:lnSpc>
              <a:spcBef>
                <a:spcPts val="85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“shift,”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higher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precedence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addition.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85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 </a:t>
            </a:r>
            <a:r>
              <a:rPr dirty="0" sz="1100" spc="-10">
                <a:latin typeface="Tahoma"/>
                <a:cs typeface="Tahoma"/>
              </a:rPr>
              <a:t>“reduce,”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0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addition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higher </a:t>
            </a:r>
            <a:r>
              <a:rPr dirty="0" sz="1100" spc="-65">
                <a:latin typeface="Tahoma"/>
                <a:cs typeface="Tahoma"/>
              </a:rPr>
              <a:t>precedence</a:t>
            </a:r>
            <a:r>
              <a:rPr dirty="0" sz="1100" spc="-20">
                <a:latin typeface="Tahoma"/>
                <a:cs typeface="Tahoma"/>
              </a:rPr>
              <a:t> than </a:t>
            </a:r>
            <a:r>
              <a:rPr dirty="0" sz="1100" spc="-10">
                <a:latin typeface="Tahoma"/>
                <a:cs typeface="Tahoma"/>
              </a:rPr>
              <a:t>multiplication.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similar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(7,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*).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6527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704175"/>
            <a:ext cx="2540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(The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Action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and</a:t>
            </a:r>
            <a:r>
              <a:rPr dirty="0" sz="1100" spc="15" b="1">
                <a:latin typeface="Gill Sans MT"/>
                <a:cs typeface="Gill Sans MT"/>
              </a:rPr>
              <a:t> </a:t>
            </a:r>
            <a:r>
              <a:rPr dirty="0" sz="1100" spc="-25" b="1">
                <a:latin typeface="Gill Sans MT"/>
                <a:cs typeface="Gill Sans MT"/>
              </a:rPr>
              <a:t>Goto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Tables)</a:t>
            </a:r>
            <a:endParaRPr sz="1100">
              <a:latin typeface="Gill Sans MT"/>
              <a:cs typeface="Gill Sans M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6017" y="1010704"/>
          <a:ext cx="2689860" cy="183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895"/>
                <a:gridCol w="263524"/>
                <a:gridCol w="263525"/>
                <a:gridCol w="263525"/>
                <a:gridCol w="263525"/>
                <a:gridCol w="263525"/>
                <a:gridCol w="325119"/>
                <a:gridCol w="408305"/>
              </a:tblGrid>
              <a:tr h="156845">
                <a:tc rowSpan="2"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2*State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Tahoma"/>
                          <a:cs typeface="Tahoma"/>
                        </a:rPr>
                        <a:t>Action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0">
                          <a:latin typeface="Tahoma"/>
                          <a:cs typeface="Tahoma"/>
                        </a:rPr>
                        <a:t>Goto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+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*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(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$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acc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s5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r3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56856"/>
            <a:ext cx="160096" cy="1600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9743" y="85620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5173" y="828762"/>
            <a:ext cx="149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Error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Recovery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Strategies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275169"/>
            <a:ext cx="160096" cy="1600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693468"/>
            <a:ext cx="160096" cy="1600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111768"/>
            <a:ext cx="160096" cy="1600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2530068"/>
            <a:ext cx="160096" cy="160096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hlinkClick r:id="rId8" action="ppaction://hlinksldjump"/>
              </a:rPr>
              <a:t>Error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45">
                <a:hlinkClick r:id="rId8" action="ppaction://hlinksldjump"/>
              </a:rPr>
              <a:t>Recovery</a:t>
            </a:r>
            <a:r>
              <a:rPr dirty="0" sz="1100" spc="-40">
                <a:hlinkClick r:id="rId8" action="ppaction://hlinksldjump"/>
              </a:rPr>
              <a:t> </a:t>
            </a:r>
            <a:r>
              <a:rPr dirty="0" sz="1100">
                <a:hlinkClick r:id="rId8" action="ppaction://hlinksldjump"/>
              </a:rPr>
              <a:t>in</a:t>
            </a:r>
            <a:r>
              <a:rPr dirty="0" sz="1100" spc="-30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Predictive</a:t>
            </a:r>
            <a:r>
              <a:rPr dirty="0" sz="1100" spc="-35">
                <a:hlinkClick r:id="rId8" action="ppaction://hlinksldjump"/>
              </a:rPr>
              <a:t> </a:t>
            </a:r>
            <a:r>
              <a:rPr dirty="0" sz="1100" spc="-20">
                <a:hlinkClick r:id="rId8" action="ppaction://hlinksldjump"/>
              </a:rPr>
              <a:t>Parsing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20">
                <a:hlinkClick r:id="rId9" action="ppaction://hlinksldjump"/>
              </a:rPr>
              <a:t>Shift/Reduce</a:t>
            </a:r>
            <a:r>
              <a:rPr dirty="0" sz="1100" spc="10">
                <a:hlinkClick r:id="rId9" action="ppaction://hlinksldjump"/>
              </a:rPr>
              <a:t> </a:t>
            </a:r>
            <a:r>
              <a:rPr dirty="0" sz="1100" spc="-10">
                <a:hlinkClick r:id="rId9" action="ppaction://hlinksldjump"/>
              </a:rPr>
              <a:t>Conflicts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FAFAFD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45">
                <a:hlinkClick r:id="rId10" action="ppaction://hlinksldjump"/>
              </a:rPr>
              <a:t>Precedence</a:t>
            </a:r>
            <a:r>
              <a:rPr dirty="0" sz="1100" spc="-40">
                <a:hlinkClick r:id="rId10" action="ppaction://hlinksldjump"/>
              </a:rPr>
              <a:t> </a:t>
            </a:r>
            <a:r>
              <a:rPr dirty="0" sz="1100" spc="-35">
                <a:hlinkClick r:id="rId10" action="ppaction://hlinksldjump"/>
              </a:rPr>
              <a:t>and </a:t>
            </a:r>
            <a:r>
              <a:rPr dirty="0" sz="1100" spc="-10">
                <a:hlinkClick r:id="rId10" action="ppaction://hlinksldjump"/>
              </a:rPr>
              <a:t>Associativity</a:t>
            </a:r>
            <a:endParaRPr sz="1100"/>
          </a:p>
          <a:p>
            <a:pPr>
              <a:lnSpc>
                <a:spcPct val="100000"/>
              </a:lnSpc>
              <a:spcBef>
                <a:spcPts val="645"/>
              </a:spcBef>
              <a:buAutoNum type="arabicPlain" startAt="2"/>
            </a:pPr>
          </a:p>
          <a:p>
            <a:pPr marL="177165" indent="-164465">
              <a:lnSpc>
                <a:spcPct val="100000"/>
              </a:lnSpc>
              <a:buClr>
                <a:srgbClr val="EAEAF7"/>
              </a:buClr>
              <a:buSzPct val="72727"/>
              <a:buAutoNum type="arabicPlain" startAt="2"/>
              <a:tabLst>
                <a:tab pos="177165" algn="l"/>
              </a:tabLst>
            </a:pPr>
            <a:r>
              <a:rPr dirty="0" sz="1100" spc="-10">
                <a:solidFill>
                  <a:srgbClr val="3333B2"/>
                </a:solidFill>
                <a:hlinkClick r:id="rId11" action="ppaction://hlinksldjump"/>
              </a:rPr>
              <a:t>Assignment</a:t>
            </a:r>
            <a:endParaRPr sz="11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1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Assignment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973415"/>
            <a:ext cx="2546985" cy="1476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Assignment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be</a:t>
            </a:r>
            <a:endParaRPr sz="1100">
              <a:latin typeface="Tahoma"/>
              <a:cs typeface="Tahoma"/>
            </a:endParaRPr>
          </a:p>
          <a:p>
            <a:pPr marL="1809750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3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Lucida Sans"/>
                <a:cs typeface="Lucida Sans"/>
              </a:rPr>
              <a:t>L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5">
                <a:latin typeface="Tahoma"/>
                <a:cs typeface="Tahoma"/>
              </a:rPr>
              <a:t>id</a:t>
            </a:r>
            <a:endParaRPr sz="1100">
              <a:latin typeface="Tahoma"/>
              <a:cs typeface="Tahoma"/>
            </a:endParaRPr>
          </a:p>
          <a:p>
            <a:pPr marL="1824355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Lucida Sans"/>
                <a:cs typeface="Lucida Sans"/>
              </a:rPr>
              <a:t>L</a:t>
            </a:r>
            <a:r>
              <a:rPr dirty="0" sz="1100" spc="-7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 i="1">
                <a:latin typeface="Lucida Sans"/>
                <a:cs typeface="Lucida Sans"/>
              </a:rPr>
              <a:t>L</a:t>
            </a:r>
            <a:r>
              <a:rPr dirty="0" sz="1100" spc="-1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40" i="1">
                <a:latin typeface="Lucida Sans"/>
                <a:cs typeface="Lucida Sans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 i="1">
                <a:latin typeface="Lucida Sans"/>
                <a:cs typeface="Lucida Sans"/>
              </a:rPr>
              <a:t>S</a:t>
            </a:r>
            <a:endParaRPr sz="1100">
              <a:latin typeface="Lucida Sans"/>
              <a:cs typeface="Lucida Sans"/>
            </a:endParaRPr>
          </a:p>
          <a:p>
            <a:pPr marL="12700" marR="764540">
              <a:lnSpc>
                <a:spcPct val="167100"/>
              </a:lnSpc>
              <a:spcBef>
                <a:spcPts val="245"/>
              </a:spcBef>
            </a:pPr>
            <a:r>
              <a:rPr dirty="0" sz="1100" spc="-30">
                <a:latin typeface="Tahoma"/>
                <a:cs typeface="Tahoma"/>
              </a:rPr>
              <a:t>Parse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expression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100">
                <a:latin typeface="Georgia"/>
                <a:cs typeface="Georgia"/>
              </a:rPr>
              <a:t>(id,id)</a:t>
            </a:r>
            <a:r>
              <a:rPr dirty="0" sz="1100" spc="100">
                <a:latin typeface="Tahoma"/>
                <a:cs typeface="Tahoma"/>
              </a:rPr>
              <a:t>. </a:t>
            </a:r>
            <a:r>
              <a:rPr dirty="0" sz="1100" spc="-10">
                <a:latin typeface="Tahoma"/>
                <a:cs typeface="Tahoma"/>
              </a:rPr>
              <a:t>(continued...)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Assignment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736560"/>
            <a:ext cx="3786504" cy="20688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Assignment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if-</a:t>
            </a:r>
            <a:r>
              <a:rPr dirty="0" sz="1100" spc="-30">
                <a:latin typeface="Tahoma"/>
                <a:cs typeface="Tahoma"/>
              </a:rPr>
              <a:t>else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statements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  <a:p>
            <a:pPr marL="1624965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6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15" i="1">
                <a:latin typeface="Lucida Sans"/>
                <a:cs typeface="Lucida Sans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25" i="1">
                <a:latin typeface="Lucida Sans"/>
                <a:cs typeface="Lucida Sans"/>
              </a:rPr>
              <a:t>S</a:t>
            </a:r>
            <a:endParaRPr sz="1100">
              <a:latin typeface="Lucida Sans"/>
              <a:cs typeface="Lucida Sans"/>
            </a:endParaRPr>
          </a:p>
          <a:p>
            <a:pPr marL="1624965" marR="1050290">
              <a:lnSpc>
                <a:spcPct val="125299"/>
              </a:lnSpc>
            </a:pP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4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-220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105" i="1">
                <a:latin typeface="Lucida Sans"/>
                <a:cs typeface="Lucida Sans"/>
              </a:rPr>
              <a:t> </a:t>
            </a:r>
            <a:r>
              <a:rPr dirty="0" sz="1100" spc="-50">
                <a:latin typeface="Tahoma"/>
                <a:cs typeface="Tahoma"/>
              </a:rPr>
              <a:t>else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50" i="1">
                <a:latin typeface="Lucida Sans"/>
                <a:cs typeface="Lucida Sans"/>
              </a:rPr>
              <a:t>S </a:t>
            </a: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55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Tahoma"/>
                <a:cs typeface="Tahoma"/>
              </a:rPr>
              <a:t>id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num</a:t>
            </a:r>
            <a:endParaRPr sz="1100">
              <a:latin typeface="Tahoma"/>
              <a:cs typeface="Tahoma"/>
            </a:endParaRPr>
          </a:p>
          <a:p>
            <a:pPr marL="1615440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110" i="1">
                <a:latin typeface="Lucida Sans"/>
                <a:cs typeface="Lucida Sans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id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==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num</a:t>
            </a:r>
            <a:endParaRPr sz="1100">
              <a:latin typeface="Tahoma"/>
              <a:cs typeface="Tahoma"/>
            </a:endParaRPr>
          </a:p>
          <a:p>
            <a:pPr marL="12700" marR="436880">
              <a:lnSpc>
                <a:spcPct val="167100"/>
              </a:lnSpc>
              <a:spcBef>
                <a:spcPts val="245"/>
              </a:spcBef>
            </a:pP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S</a:t>
            </a:r>
            <a:r>
              <a:rPr dirty="0" sz="1100" spc="6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statement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Lucida Sans"/>
                <a:cs typeface="Lucida Sans"/>
              </a:rPr>
              <a:t>E</a:t>
            </a:r>
            <a:r>
              <a:rPr dirty="0" sz="1100" spc="95" i="1">
                <a:latin typeface="Lucida Sans"/>
                <a:cs typeface="Lucida Sans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expression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(boolean). </a:t>
            </a:r>
            <a:r>
              <a:rPr dirty="0" sz="1100">
                <a:latin typeface="Tahoma"/>
                <a:cs typeface="Tahoma"/>
              </a:rPr>
              <a:t>Write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goto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tables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grammar.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shift/reduce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conflict(s)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decide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handle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them.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87579" y="3364484"/>
            <a:ext cx="16510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Dept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17" y="3364484"/>
            <a:ext cx="152844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1825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600" spc="9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Associate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Professor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600" spc="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15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/>
              <a:t>28</a:t>
            </a:r>
            <a:r>
              <a:rPr dirty="0" spc="125"/>
              <a:t> </a:t>
            </a:r>
            <a:r>
              <a:rPr dirty="0" spc="-50"/>
              <a:t>o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Rokan Uddin Faruqui  Associate Professor</dc:creator>
  <dc:title>Error Recovery Strategies and LR Parsing Conflicts - Lecture 10   Section 4.1.4, 4.4.5, 4.5.4</dc:title>
  <dcterms:created xsi:type="dcterms:W3CDTF">2025-11-30T18:58:29Z</dcterms:created>
  <dcterms:modified xsi:type="dcterms:W3CDTF">2025-11-30T18:58:29Z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2025-11-30T00:00:00Z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3-Heights(TM) PDF Security Shell 4.8.25.2 (http://www.pdf-tools.com)</vt:lpwstr>
  </property>
</Properties>
</file>