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93" r:id="rId20"/>
    <p:sldId id="294" r:id="rId21"/>
    <p:sldId id="295" r:id="rId23"/>
    <p:sldId id="297" r:id="rId24"/>
    <p:sldId id="296" r:id="rId25"/>
    <p:sldId id="298" r:id="rId26"/>
    <p:sldId id="301" r:id="rId27"/>
    <p:sldId id="299" r:id="rId28"/>
    <p:sldId id="300" r:id="rId29"/>
    <p:sldId id="302" r:id="rId30"/>
    <p:sldId id="304" r:id="rId31"/>
    <p:sldId id="303" r:id="rId32"/>
    <p:sldId id="308" r:id="rId33"/>
    <p:sldId id="306" r:id="rId34"/>
    <p:sldId id="305" r:id="rId35"/>
    <p:sldId id="307" r:id="rId36"/>
    <p:sldId id="273" r:id="rId37"/>
    <p:sldId id="274" r:id="rId38"/>
    <p:sldId id="275" r:id="rId39"/>
    <p:sldId id="276" r:id="rId40"/>
    <p:sldId id="277" r:id="rId41"/>
    <p:sldId id="278" r:id="rId42"/>
    <p:sldId id="279" r:id="rId43"/>
    <p:sldId id="280" r:id="rId44"/>
    <p:sldId id="281" r:id="rId45"/>
    <p:sldId id="282" r:id="rId46"/>
    <p:sldId id="283" r:id="rId47"/>
    <p:sldId id="284" r:id="rId48"/>
    <p:sldId id="285" r:id="rId49"/>
    <p:sldId id="286" r:id="rId50"/>
    <p:sldId id="287" r:id="rId51"/>
    <p:sldId id="288" r:id="rId52"/>
    <p:sldId id="289" r:id="rId53"/>
    <p:sldId id="309" r:id="rId54"/>
    <p:sldId id="290" r:id="rId55"/>
    <p:sldId id="291" r:id="rId56"/>
    <p:sldId id="292" r:id="rId57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8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0" Type="http://schemas.openxmlformats.org/officeDocument/2006/relationships/tableStyles" Target="tableStyles.xml"/><Relationship Id="rId6" Type="http://schemas.openxmlformats.org/officeDocument/2006/relationships/slide" Target="slides/slide4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342905" cy="65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755389" y="0"/>
            <a:ext cx="1342905" cy="65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56567" y="163725"/>
            <a:ext cx="785879" cy="44205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09901" y="630340"/>
            <a:ext cx="2479209" cy="51573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244081"/>
            <a:ext cx="1342905" cy="6571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755389" y="1244081"/>
            <a:ext cx="1342905" cy="6571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99764" y="323877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236595" y="3245129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602432" y="325147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513531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589732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66668" y="323877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790467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3866668" y="327687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1" y="127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51033" y="3269259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423969" y="3242764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4329112" y="323877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99764" y="323877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236595" y="3245129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602432" y="325147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513531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589732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66668" y="323877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790467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3866668" y="327687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1" y="127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51033" y="3269259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423969" y="3242764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4329112" y="323877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82191"/>
            <a:ext cx="182435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947126"/>
            <a:ext cx="4079240" cy="178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5300" y="3318429"/>
            <a:ext cx="1379855" cy="13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81931" y="3318429"/>
            <a:ext cx="168910" cy="13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mailto:rokan@cu.ac.bd" TargetMode="Externa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" Target="slide37.xml"/><Relationship Id="rId8" Type="http://schemas.openxmlformats.org/officeDocument/2006/relationships/slide" Target="slide17.xml"/><Relationship Id="rId7" Type="http://schemas.openxmlformats.org/officeDocument/2006/relationships/slide" Target="slide9.xml"/><Relationship Id="rId6" Type="http://schemas.openxmlformats.org/officeDocument/2006/relationships/slide" Target="slide3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2" Type="http://schemas.openxmlformats.org/officeDocument/2006/relationships/slideLayout" Target="../slideLayouts/slideLayout5.xml"/><Relationship Id="rId11" Type="http://schemas.openxmlformats.org/officeDocument/2006/relationships/slide" Target="slide1.xml"/><Relationship Id="rId10" Type="http://schemas.openxmlformats.org/officeDocument/2006/relationships/slide" Target="slide52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slide" Target="slide37.xml"/><Relationship Id="rId7" Type="http://schemas.openxmlformats.org/officeDocument/2006/relationships/image" Target="../media/image13.png"/><Relationship Id="rId6" Type="http://schemas.openxmlformats.org/officeDocument/2006/relationships/slide" Target="slide17.xml"/><Relationship Id="rId5" Type="http://schemas.openxmlformats.org/officeDocument/2006/relationships/slide" Target="slide9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2" Type="http://schemas.openxmlformats.org/officeDocument/2006/relationships/slideLayout" Target="../slideLayouts/slideLayout2.xml"/><Relationship Id="rId11" Type="http://schemas.openxmlformats.org/officeDocument/2006/relationships/slide" Target="slide1.xml"/><Relationship Id="rId10" Type="http://schemas.openxmlformats.org/officeDocument/2006/relationships/slide" Target="slide52.xml"/><Relationship Id="rId1" Type="http://schemas.openxmlformats.org/officeDocument/2006/relationships/slide" Target="slide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slide" Target="slide3.xml"/><Relationship Id="rId13" Type="http://schemas.openxmlformats.org/officeDocument/2006/relationships/slideLayout" Target="../slideLayouts/slideLayout5.xml"/><Relationship Id="rId12" Type="http://schemas.openxmlformats.org/officeDocument/2006/relationships/slide" Target="slide1.xml"/><Relationship Id="rId11" Type="http://schemas.openxmlformats.org/officeDocument/2006/relationships/image" Target="../media/image23.png"/><Relationship Id="rId10" Type="http://schemas.openxmlformats.org/officeDocument/2006/relationships/image" Target="../media/image2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slide" Target="slide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png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5" Type="http://schemas.openxmlformats.org/officeDocument/2006/relationships/slideLayout" Target="../slideLayouts/slideLayout5.xml"/><Relationship Id="rId34" Type="http://schemas.openxmlformats.org/officeDocument/2006/relationships/slide" Target="slide1.xml"/><Relationship Id="rId33" Type="http://schemas.openxmlformats.org/officeDocument/2006/relationships/image" Target="../media/image60.png"/><Relationship Id="rId32" Type="http://schemas.openxmlformats.org/officeDocument/2006/relationships/image" Target="../media/image59.png"/><Relationship Id="rId31" Type="http://schemas.openxmlformats.org/officeDocument/2006/relationships/image" Target="../media/image58.png"/><Relationship Id="rId30" Type="http://schemas.openxmlformats.org/officeDocument/2006/relationships/image" Target="../media/image57.png"/><Relationship Id="rId3" Type="http://schemas.openxmlformats.org/officeDocument/2006/relationships/image" Target="../media/image30.png"/><Relationship Id="rId29" Type="http://schemas.openxmlformats.org/officeDocument/2006/relationships/image" Target="../media/image56.png"/><Relationship Id="rId28" Type="http://schemas.openxmlformats.org/officeDocument/2006/relationships/image" Target="../media/image55.png"/><Relationship Id="rId27" Type="http://schemas.openxmlformats.org/officeDocument/2006/relationships/image" Target="../media/image54.png"/><Relationship Id="rId26" Type="http://schemas.openxmlformats.org/officeDocument/2006/relationships/image" Target="../media/image53.png"/><Relationship Id="rId25" Type="http://schemas.openxmlformats.org/officeDocument/2006/relationships/image" Target="../media/image52.png"/><Relationship Id="rId24" Type="http://schemas.openxmlformats.org/officeDocument/2006/relationships/image" Target="../media/image51.png"/><Relationship Id="rId23" Type="http://schemas.openxmlformats.org/officeDocument/2006/relationships/image" Target="../media/image50.png"/><Relationship Id="rId22" Type="http://schemas.openxmlformats.org/officeDocument/2006/relationships/image" Target="../media/image49.png"/><Relationship Id="rId21" Type="http://schemas.openxmlformats.org/officeDocument/2006/relationships/image" Target="../media/image48.png"/><Relationship Id="rId20" Type="http://schemas.openxmlformats.org/officeDocument/2006/relationships/image" Target="../media/image47.png"/><Relationship Id="rId2" Type="http://schemas.openxmlformats.org/officeDocument/2006/relationships/image" Target="../media/image29.png"/><Relationship Id="rId19" Type="http://schemas.openxmlformats.org/officeDocument/2006/relationships/image" Target="../media/image46.png"/><Relationship Id="rId18" Type="http://schemas.openxmlformats.org/officeDocument/2006/relationships/image" Target="../media/image45.png"/><Relationship Id="rId17" Type="http://schemas.openxmlformats.org/officeDocument/2006/relationships/image" Target="../media/image44.png"/><Relationship Id="rId16" Type="http://schemas.openxmlformats.org/officeDocument/2006/relationships/image" Target="../media/image43.png"/><Relationship Id="rId15" Type="http://schemas.openxmlformats.org/officeDocument/2006/relationships/image" Target="../media/image42.png"/><Relationship Id="rId14" Type="http://schemas.openxmlformats.org/officeDocument/2006/relationships/image" Target="../media/image41.png"/><Relationship Id="rId13" Type="http://schemas.openxmlformats.org/officeDocument/2006/relationships/image" Target="../media/image40.png"/><Relationship Id="rId12" Type="http://schemas.openxmlformats.org/officeDocument/2006/relationships/image" Target="../media/image39.png"/><Relationship Id="rId11" Type="http://schemas.openxmlformats.org/officeDocument/2006/relationships/image" Target="../media/image38.png"/><Relationship Id="rId10" Type="http://schemas.openxmlformats.org/officeDocument/2006/relationships/image" Target="../media/image37.png"/><Relationship Id="rId1" Type="http://schemas.openxmlformats.org/officeDocument/2006/relationships/slide" Target="slide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7.png"/><Relationship Id="rId8" Type="http://schemas.openxmlformats.org/officeDocument/2006/relationships/image" Target="../media/image66.png"/><Relationship Id="rId7" Type="http://schemas.openxmlformats.org/officeDocument/2006/relationships/image" Target="../media/image65.png"/><Relationship Id="rId6" Type="http://schemas.openxmlformats.org/officeDocument/2006/relationships/image" Target="../media/image64.png"/><Relationship Id="rId5" Type="http://schemas.openxmlformats.org/officeDocument/2006/relationships/slide" Target="slide3.xml"/><Relationship Id="rId4" Type="http://schemas.openxmlformats.org/officeDocument/2006/relationships/image" Target="../media/image1.png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1" Type="http://schemas.openxmlformats.org/officeDocument/2006/relationships/slideLayout" Target="../slideLayouts/slideLayout2.xml"/><Relationship Id="rId10" Type="http://schemas.openxmlformats.org/officeDocument/2006/relationships/slide" Target="slide1.xml"/><Relationship Id="rId1" Type="http://schemas.openxmlformats.org/officeDocument/2006/relationships/image" Target="../media/image6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70.png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" Target="slide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slide" Target="slide37.xml"/><Relationship Id="rId7" Type="http://schemas.openxmlformats.org/officeDocument/2006/relationships/image" Target="../media/image13.png"/><Relationship Id="rId6" Type="http://schemas.openxmlformats.org/officeDocument/2006/relationships/slide" Target="slide17.xml"/><Relationship Id="rId5" Type="http://schemas.openxmlformats.org/officeDocument/2006/relationships/image" Target="../media/image12.png"/><Relationship Id="rId4" Type="http://schemas.openxmlformats.org/officeDocument/2006/relationships/image" Target="../media/image72.png"/><Relationship Id="rId3" Type="http://schemas.openxmlformats.org/officeDocument/2006/relationships/slide" Target="slide3.xml"/><Relationship Id="rId2" Type="http://schemas.openxmlformats.org/officeDocument/2006/relationships/image" Target="../media/image71.png"/><Relationship Id="rId12" Type="http://schemas.openxmlformats.org/officeDocument/2006/relationships/slideLayout" Target="../slideLayouts/slideLayout5.xml"/><Relationship Id="rId11" Type="http://schemas.openxmlformats.org/officeDocument/2006/relationships/slide" Target="slide1.xml"/><Relationship Id="rId10" Type="http://schemas.openxmlformats.org/officeDocument/2006/relationships/slide" Target="slide52.xml"/><Relationship Id="rId1" Type="http://schemas.openxmlformats.org/officeDocument/2006/relationships/slide" Target="slide9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" Target="slide9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1.xml"/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" Target="slide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slide" Target="slide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3" Type="http://schemas.openxmlformats.org/officeDocument/2006/relationships/image" Target="../media/image79.png"/><Relationship Id="rId2" Type="http://schemas.openxmlformats.org/officeDocument/2006/relationships/image" Target="../media/image15.png"/><Relationship Id="rId1" Type="http://schemas.openxmlformats.org/officeDocument/2006/relationships/slide" Target="slide9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84.png"/><Relationship Id="rId3" Type="http://schemas.openxmlformats.org/officeDocument/2006/relationships/image" Target="../media/image83.png"/><Relationship Id="rId2" Type="http://schemas.openxmlformats.org/officeDocument/2006/relationships/slide" Target="slide9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slide" Target="slide1.xml"/><Relationship Id="rId7" Type="http://schemas.openxmlformats.org/officeDocument/2006/relationships/image" Target="../media/image90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" Target="slide9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" Target="slide9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" Target="slide9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slide" Target="slide37.xml"/><Relationship Id="rId7" Type="http://schemas.openxmlformats.org/officeDocument/2006/relationships/image" Target="../media/image13.png"/><Relationship Id="rId6" Type="http://schemas.openxmlformats.org/officeDocument/2006/relationships/image" Target="../media/image99.png"/><Relationship Id="rId5" Type="http://schemas.openxmlformats.org/officeDocument/2006/relationships/slide" Target="slide9.xml"/><Relationship Id="rId4" Type="http://schemas.openxmlformats.org/officeDocument/2006/relationships/image" Target="../media/image11.png"/><Relationship Id="rId3" Type="http://schemas.openxmlformats.org/officeDocument/2006/relationships/slide" Target="slide3.xml"/><Relationship Id="rId2" Type="http://schemas.openxmlformats.org/officeDocument/2006/relationships/image" Target="../media/image71.png"/><Relationship Id="rId12" Type="http://schemas.openxmlformats.org/officeDocument/2006/relationships/slideLayout" Target="../slideLayouts/slideLayout2.xml"/><Relationship Id="rId11" Type="http://schemas.openxmlformats.org/officeDocument/2006/relationships/slide" Target="slide1.xml"/><Relationship Id="rId10" Type="http://schemas.openxmlformats.org/officeDocument/2006/relationships/slide" Target="slide52.xml"/><Relationship Id="rId1" Type="http://schemas.openxmlformats.org/officeDocument/2006/relationships/slide" Target="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0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2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3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4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5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6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8.jpeg"/><Relationship Id="rId1" Type="http://schemas.openxmlformats.org/officeDocument/2006/relationships/image" Target="../media/image107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9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0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1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9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2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3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4.jpe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slide" Target="slide1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Relationship Id="rId3" Type="http://schemas.openxmlformats.org/officeDocument/2006/relationships/image" Target="../media/image115.png"/><Relationship Id="rId2" Type="http://schemas.openxmlformats.org/officeDocument/2006/relationships/image" Target="../media/image15.png"/><Relationship Id="rId1" Type="http://schemas.openxmlformats.org/officeDocument/2006/relationships/slide" Target="slide17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4.png"/><Relationship Id="rId8" Type="http://schemas.openxmlformats.org/officeDocument/2006/relationships/image" Target="../media/image123.png"/><Relationship Id="rId7" Type="http://schemas.openxmlformats.org/officeDocument/2006/relationships/image" Target="../media/image122.png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83.png"/><Relationship Id="rId3" Type="http://schemas.openxmlformats.org/officeDocument/2006/relationships/slide" Target="slide17.xml"/><Relationship Id="rId2" Type="http://schemas.openxmlformats.org/officeDocument/2006/relationships/image" Target="../media/image1.png"/><Relationship Id="rId14" Type="http://schemas.openxmlformats.org/officeDocument/2006/relationships/slideLayout" Target="../slideLayouts/slideLayout2.xml"/><Relationship Id="rId13" Type="http://schemas.openxmlformats.org/officeDocument/2006/relationships/slide" Target="slide1.xml"/><Relationship Id="rId12" Type="http://schemas.openxmlformats.org/officeDocument/2006/relationships/image" Target="../media/image127.png"/><Relationship Id="rId11" Type="http://schemas.openxmlformats.org/officeDocument/2006/relationships/image" Target="../media/image126.png"/><Relationship Id="rId10" Type="http://schemas.openxmlformats.org/officeDocument/2006/relationships/image" Target="../media/image125.png"/><Relationship Id="rId1" Type="http://schemas.openxmlformats.org/officeDocument/2006/relationships/image" Target="../media/image11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slide" Target="slide1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slide" Target="slide17.xml"/><Relationship Id="rId3" Type="http://schemas.openxmlformats.org/officeDocument/2006/relationships/image" Target="../media/image1.png"/><Relationship Id="rId2" Type="http://schemas.openxmlformats.org/officeDocument/2006/relationships/image" Target="../media/image129.png"/><Relationship Id="rId1" Type="http://schemas.openxmlformats.org/officeDocument/2006/relationships/image" Target="../media/image128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2.png"/><Relationship Id="rId7" Type="http://schemas.openxmlformats.org/officeDocument/2006/relationships/slide" Target="slide17.xml"/><Relationship Id="rId6" Type="http://schemas.openxmlformats.org/officeDocument/2006/relationships/slide" Target="slide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slide" Target="slide3.xml"/><Relationship Id="rId2" Type="http://schemas.openxmlformats.org/officeDocument/2006/relationships/image" Target="../media/image71.png"/><Relationship Id="rId12" Type="http://schemas.openxmlformats.org/officeDocument/2006/relationships/slideLayout" Target="../slideLayouts/slideLayout2.xml"/><Relationship Id="rId11" Type="http://schemas.openxmlformats.org/officeDocument/2006/relationships/slide" Target="slide1.xml"/><Relationship Id="rId10" Type="http://schemas.openxmlformats.org/officeDocument/2006/relationships/slide" Target="slide52.xml"/><Relationship Id="rId1" Type="http://schemas.openxmlformats.org/officeDocument/2006/relationships/slide" Target="slide37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1.xml"/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" Target="slide37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9.png"/><Relationship Id="rId8" Type="http://schemas.openxmlformats.org/officeDocument/2006/relationships/image" Target="../media/image138.png"/><Relationship Id="rId7" Type="http://schemas.openxmlformats.org/officeDocument/2006/relationships/image" Target="../media/image97.png"/><Relationship Id="rId6" Type="http://schemas.openxmlformats.org/officeDocument/2006/relationships/image" Target="../media/image137.png"/><Relationship Id="rId5" Type="http://schemas.openxmlformats.org/officeDocument/2006/relationships/image" Target="../media/image74.png"/><Relationship Id="rId4" Type="http://schemas.openxmlformats.org/officeDocument/2006/relationships/slide" Target="slide37.xml"/><Relationship Id="rId3" Type="http://schemas.openxmlformats.org/officeDocument/2006/relationships/image" Target="../media/image1.png"/><Relationship Id="rId2" Type="http://schemas.openxmlformats.org/officeDocument/2006/relationships/image" Target="../media/image136.png"/><Relationship Id="rId12" Type="http://schemas.openxmlformats.org/officeDocument/2006/relationships/slideLayout" Target="../slideLayouts/slideLayout2.xml"/><Relationship Id="rId11" Type="http://schemas.openxmlformats.org/officeDocument/2006/relationships/slide" Target="slide1.xml"/><Relationship Id="rId10" Type="http://schemas.openxmlformats.org/officeDocument/2006/relationships/image" Target="../media/image140.png"/><Relationship Id="rId1" Type="http://schemas.openxmlformats.org/officeDocument/2006/relationships/image" Target="../media/image135.png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146.png"/><Relationship Id="rId7" Type="http://schemas.openxmlformats.org/officeDocument/2006/relationships/image" Target="../media/image145.png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Relationship Id="rId3" Type="http://schemas.openxmlformats.org/officeDocument/2006/relationships/image" Target="../media/image141.png"/><Relationship Id="rId2" Type="http://schemas.openxmlformats.org/officeDocument/2006/relationships/image" Target="../media/image15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3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slide" Target="slide1.xml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Relationship Id="rId3" Type="http://schemas.openxmlformats.org/officeDocument/2006/relationships/image" Target="../media/image147.png"/><Relationship Id="rId2" Type="http://schemas.openxmlformats.org/officeDocument/2006/relationships/image" Target="../media/image83.png"/><Relationship Id="rId1" Type="http://schemas.openxmlformats.org/officeDocument/2006/relationships/slide" Target="slide37.xml"/></Relationships>
</file>

<file path=ppt/slides/_rels/slide4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52.png"/><Relationship Id="rId4" Type="http://schemas.openxmlformats.org/officeDocument/2006/relationships/image" Target="../media/image151.png"/><Relationship Id="rId3" Type="http://schemas.openxmlformats.org/officeDocument/2006/relationships/image" Target="../media/image65.png"/><Relationship Id="rId2" Type="http://schemas.openxmlformats.org/officeDocument/2006/relationships/image" Target="../media/image76.png"/><Relationship Id="rId1" Type="http://schemas.openxmlformats.org/officeDocument/2006/relationships/slide" Target="slide37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slide" Target="slide1.xml"/><Relationship Id="rId7" Type="http://schemas.openxmlformats.org/officeDocument/2006/relationships/image" Target="../media/image157.png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4" Type="http://schemas.openxmlformats.org/officeDocument/2006/relationships/image" Target="../media/image154.png"/><Relationship Id="rId3" Type="http://schemas.openxmlformats.org/officeDocument/2006/relationships/image" Target="../media/image153.png"/><Relationship Id="rId2" Type="http://schemas.openxmlformats.org/officeDocument/2006/relationships/image" Target="../media/image15.png"/><Relationship Id="rId1" Type="http://schemas.openxmlformats.org/officeDocument/2006/relationships/slide" Target="slide37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4.png"/><Relationship Id="rId8" Type="http://schemas.openxmlformats.org/officeDocument/2006/relationships/image" Target="../media/image163.png"/><Relationship Id="rId7" Type="http://schemas.openxmlformats.org/officeDocument/2006/relationships/image" Target="../media/image162.png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4" Type="http://schemas.openxmlformats.org/officeDocument/2006/relationships/image" Target="../media/image159.png"/><Relationship Id="rId3" Type="http://schemas.openxmlformats.org/officeDocument/2006/relationships/image" Target="../media/image158.png"/><Relationship Id="rId2" Type="http://schemas.openxmlformats.org/officeDocument/2006/relationships/image" Target="../media/image15.png"/><Relationship Id="rId11" Type="http://schemas.openxmlformats.org/officeDocument/2006/relationships/slideLayout" Target="../slideLayouts/slideLayout5.xml"/><Relationship Id="rId10" Type="http://schemas.openxmlformats.org/officeDocument/2006/relationships/slide" Target="slide1.xml"/><Relationship Id="rId1" Type="http://schemas.openxmlformats.org/officeDocument/2006/relationships/slide" Target="slide37.xml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96.png"/><Relationship Id="rId7" Type="http://schemas.openxmlformats.org/officeDocument/2006/relationships/image" Target="../media/image168.png"/><Relationship Id="rId6" Type="http://schemas.openxmlformats.org/officeDocument/2006/relationships/image" Target="../media/image167.png"/><Relationship Id="rId5" Type="http://schemas.openxmlformats.org/officeDocument/2006/relationships/image" Target="../media/image166.png"/><Relationship Id="rId4" Type="http://schemas.openxmlformats.org/officeDocument/2006/relationships/image" Target="../media/image15.png"/><Relationship Id="rId3" Type="http://schemas.openxmlformats.org/officeDocument/2006/relationships/slide" Target="slide37.xml"/><Relationship Id="rId2" Type="http://schemas.openxmlformats.org/officeDocument/2006/relationships/image" Target="../media/image1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65.png"/></Relationships>
</file>

<file path=ppt/slides/_rels/slide4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image" Target="../media/image171.png"/><Relationship Id="rId4" Type="http://schemas.openxmlformats.org/officeDocument/2006/relationships/image" Target="../media/image170.png"/><Relationship Id="rId3" Type="http://schemas.openxmlformats.org/officeDocument/2006/relationships/image" Target="../media/image169.png"/><Relationship Id="rId2" Type="http://schemas.openxmlformats.org/officeDocument/2006/relationships/image" Target="../media/image83.png"/><Relationship Id="rId1" Type="http://schemas.openxmlformats.org/officeDocument/2006/relationships/slide" Target="slide3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slide" Target="slide1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png"/><Relationship Id="rId3" Type="http://schemas.openxmlformats.org/officeDocument/2006/relationships/image" Target="../media/image172.png"/><Relationship Id="rId2" Type="http://schemas.openxmlformats.org/officeDocument/2006/relationships/image" Target="../media/image83.png"/><Relationship Id="rId1" Type="http://schemas.openxmlformats.org/officeDocument/2006/relationships/slide" Target="slide37.xml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0.png"/><Relationship Id="rId8" Type="http://schemas.openxmlformats.org/officeDocument/2006/relationships/image" Target="../media/image159.png"/><Relationship Id="rId7" Type="http://schemas.openxmlformats.org/officeDocument/2006/relationships/image" Target="../media/image179.png"/><Relationship Id="rId6" Type="http://schemas.openxmlformats.org/officeDocument/2006/relationships/image" Target="../media/image15.png"/><Relationship Id="rId5" Type="http://schemas.openxmlformats.org/officeDocument/2006/relationships/slide" Target="slide37.xml"/><Relationship Id="rId4" Type="http://schemas.openxmlformats.org/officeDocument/2006/relationships/image" Target="../media/image1.png"/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3" Type="http://schemas.openxmlformats.org/officeDocument/2006/relationships/slideLayout" Target="../slideLayouts/slideLayout5.xml"/><Relationship Id="rId12" Type="http://schemas.openxmlformats.org/officeDocument/2006/relationships/slide" Target="slide1.xml"/><Relationship Id="rId11" Type="http://schemas.openxmlformats.org/officeDocument/2006/relationships/image" Target="../media/image182.png"/><Relationship Id="rId10" Type="http://schemas.openxmlformats.org/officeDocument/2006/relationships/image" Target="../media/image181.png"/><Relationship Id="rId1" Type="http://schemas.openxmlformats.org/officeDocument/2006/relationships/image" Target="../media/image176.png"/></Relationships>
</file>

<file path=ppt/slides/_rels/slide4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image" Target="../media/image185.png"/><Relationship Id="rId4" Type="http://schemas.openxmlformats.org/officeDocument/2006/relationships/image" Target="../media/image184.png"/><Relationship Id="rId3" Type="http://schemas.openxmlformats.org/officeDocument/2006/relationships/image" Target="../media/image183.png"/><Relationship Id="rId2" Type="http://schemas.openxmlformats.org/officeDocument/2006/relationships/image" Target="../media/image15.png"/><Relationship Id="rId1" Type="http://schemas.openxmlformats.org/officeDocument/2006/relationships/slide" Target="slide37.xml"/></Relationships>
</file>

<file path=ppt/slides/_rels/slide5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image" Target="../media/image188.png"/><Relationship Id="rId4" Type="http://schemas.openxmlformats.org/officeDocument/2006/relationships/image" Target="../media/image187.png"/><Relationship Id="rId3" Type="http://schemas.openxmlformats.org/officeDocument/2006/relationships/image" Target="../media/image186.png"/><Relationship Id="rId2" Type="http://schemas.openxmlformats.org/officeDocument/2006/relationships/image" Target="../media/image15.png"/><Relationship Id="rId1" Type="http://schemas.openxmlformats.org/officeDocument/2006/relationships/slide" Target="slide3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89.png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slide" Target="slide37.xml"/><Relationship Id="rId8" Type="http://schemas.openxmlformats.org/officeDocument/2006/relationships/image" Target="../media/image13.png"/><Relationship Id="rId7" Type="http://schemas.openxmlformats.org/officeDocument/2006/relationships/slide" Target="slide17.xml"/><Relationship Id="rId6" Type="http://schemas.openxmlformats.org/officeDocument/2006/relationships/slide" Target="slide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slide" Target="slide3.xml"/><Relationship Id="rId2" Type="http://schemas.openxmlformats.org/officeDocument/2006/relationships/image" Target="../media/image71.png"/><Relationship Id="rId12" Type="http://schemas.openxmlformats.org/officeDocument/2006/relationships/slideLayout" Target="../slideLayouts/slideLayout2.xml"/><Relationship Id="rId11" Type="http://schemas.openxmlformats.org/officeDocument/2006/relationships/slide" Target="slide1.xml"/><Relationship Id="rId10" Type="http://schemas.openxmlformats.org/officeDocument/2006/relationships/image" Target="../media/image190.png"/><Relationship Id="rId1" Type="http://schemas.openxmlformats.org/officeDocument/2006/relationships/slide" Target="slide52.xml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7.png"/><Relationship Id="rId8" Type="http://schemas.openxmlformats.org/officeDocument/2006/relationships/image" Target="../media/image196.png"/><Relationship Id="rId7" Type="http://schemas.openxmlformats.org/officeDocument/2006/relationships/image" Target="../media/image195.png"/><Relationship Id="rId6" Type="http://schemas.openxmlformats.org/officeDocument/2006/relationships/image" Target="../media/image194.png"/><Relationship Id="rId5" Type="http://schemas.openxmlformats.org/officeDocument/2006/relationships/image" Target="../media/image193.png"/><Relationship Id="rId4" Type="http://schemas.openxmlformats.org/officeDocument/2006/relationships/image" Target="../media/image192.png"/><Relationship Id="rId3" Type="http://schemas.openxmlformats.org/officeDocument/2006/relationships/image" Target="../media/image191.png"/><Relationship Id="rId2" Type="http://schemas.openxmlformats.org/officeDocument/2006/relationships/image" Target="../media/image15.png"/><Relationship Id="rId11" Type="http://schemas.openxmlformats.org/officeDocument/2006/relationships/slideLayout" Target="../slideLayouts/slideLayout2.xml"/><Relationship Id="rId10" Type="http://schemas.openxmlformats.org/officeDocument/2006/relationships/slide" Target="slide1.xml"/><Relationship Id="rId1" Type="http://schemas.openxmlformats.org/officeDocument/2006/relationships/slide" Target="slide52.xml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3.png"/><Relationship Id="rId8" Type="http://schemas.openxmlformats.org/officeDocument/2006/relationships/image" Target="../media/image202.png"/><Relationship Id="rId7" Type="http://schemas.openxmlformats.org/officeDocument/2006/relationships/image" Target="../media/image201.png"/><Relationship Id="rId6" Type="http://schemas.openxmlformats.org/officeDocument/2006/relationships/image" Target="../media/image73.png"/><Relationship Id="rId5" Type="http://schemas.openxmlformats.org/officeDocument/2006/relationships/image" Target="../media/image200.png"/><Relationship Id="rId4" Type="http://schemas.openxmlformats.org/officeDocument/2006/relationships/image" Target="../media/image199.png"/><Relationship Id="rId3" Type="http://schemas.openxmlformats.org/officeDocument/2006/relationships/image" Target="../media/image198.png"/><Relationship Id="rId2" Type="http://schemas.openxmlformats.org/officeDocument/2006/relationships/image" Target="../media/image15.png"/><Relationship Id="rId11" Type="http://schemas.openxmlformats.org/officeDocument/2006/relationships/slideLayout" Target="../slideLayouts/slideLayout2.xml"/><Relationship Id="rId10" Type="http://schemas.openxmlformats.org/officeDocument/2006/relationships/slide" Target="slide1.xml"/><Relationship Id="rId1" Type="http://schemas.openxmlformats.org/officeDocument/2006/relationships/slide" Target="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540473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7" y="82384"/>
                </a:lnTo>
                <a:lnTo>
                  <a:pt x="4432567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2" y="4008"/>
                </a:lnTo>
                <a:lnTo>
                  <a:pt x="4381767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7743" y="584892"/>
            <a:ext cx="4483735" cy="864235"/>
            <a:chOff x="87743" y="584892"/>
            <a:chExt cx="4483735" cy="86423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38544" y="1347152"/>
              <a:ext cx="101600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344" y="1334452"/>
              <a:ext cx="4381767" cy="1143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0311" y="591032"/>
              <a:ext cx="50800" cy="75611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584892"/>
              <a:ext cx="4432935" cy="813435"/>
            </a:xfrm>
            <a:custGeom>
              <a:avLst/>
              <a:gdLst/>
              <a:ahLst/>
              <a:cxnLst/>
              <a:rect l="l" t="t" r="r" b="b"/>
              <a:pathLst>
                <a:path w="4432935" h="813435">
                  <a:moveTo>
                    <a:pt x="4432567" y="0"/>
                  </a:moveTo>
                  <a:lnTo>
                    <a:pt x="0" y="0"/>
                  </a:lnTo>
                  <a:lnTo>
                    <a:pt x="0" y="762260"/>
                  </a:lnTo>
                  <a:lnTo>
                    <a:pt x="4008" y="781985"/>
                  </a:lnTo>
                  <a:lnTo>
                    <a:pt x="14922" y="798138"/>
                  </a:lnTo>
                  <a:lnTo>
                    <a:pt x="31075" y="809052"/>
                  </a:lnTo>
                  <a:lnTo>
                    <a:pt x="50800" y="813060"/>
                  </a:lnTo>
                  <a:lnTo>
                    <a:pt x="4381767" y="813060"/>
                  </a:lnTo>
                  <a:lnTo>
                    <a:pt x="4401492" y="809052"/>
                  </a:lnTo>
                  <a:lnTo>
                    <a:pt x="4417644" y="798138"/>
                  </a:lnTo>
                  <a:lnTo>
                    <a:pt x="4428558" y="781985"/>
                  </a:lnTo>
                  <a:lnTo>
                    <a:pt x="4432567" y="762260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3300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20311" y="629130"/>
              <a:ext cx="0" cy="737235"/>
            </a:xfrm>
            <a:custGeom>
              <a:avLst/>
              <a:gdLst/>
              <a:ahLst/>
              <a:cxnLst/>
              <a:rect l="l" t="t" r="r" b="b"/>
              <a:pathLst>
                <a:path h="737235">
                  <a:moveTo>
                    <a:pt x="0" y="73707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520311" y="6164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520311" y="6037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5910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406372" y="640979"/>
            <a:ext cx="17957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Bottom-Up</a:t>
            </a:r>
            <a:r>
              <a:rPr b="0" spc="7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Parsing</a:t>
            </a:r>
            <a:r>
              <a:rPr b="0" spc="7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-</a:t>
            </a:r>
            <a:r>
              <a:rPr b="0" spc="7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5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I</a:t>
            </a:r>
            <a:endParaRPr b="0" spc="-50" dirty="0">
              <a:solidFill>
                <a:srgbClr val="FFFFFF"/>
              </a:solidFill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29460" y="902244"/>
            <a:ext cx="949325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Lecture</a:t>
            </a:r>
            <a:r>
              <a:rPr sz="1100" spc="-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8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Section</a:t>
            </a:r>
            <a:r>
              <a:rPr sz="1100" spc="6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4.5,</a:t>
            </a:r>
            <a:r>
              <a:rPr sz="1100" spc="7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4.6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71447" y="1606447"/>
            <a:ext cx="2065655" cy="8521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1100" cap="small" dirty="0">
                <a:latin typeface="Palatino Linotype" panose="02040502050505030304"/>
                <a:cs typeface="Palatino Linotype" panose="02040502050505030304"/>
              </a:rPr>
              <a:t>okan</a:t>
            </a:r>
            <a:r>
              <a:rPr sz="1100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1100" cap="small" dirty="0">
                <a:latin typeface="Palatino Linotype" panose="02040502050505030304"/>
                <a:cs typeface="Palatino Linotype" panose="02040502050505030304"/>
              </a:rPr>
              <a:t>ddin</a:t>
            </a:r>
            <a:r>
              <a:rPr sz="1100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F</a:t>
            </a:r>
            <a:r>
              <a:rPr sz="1100" cap="small" spc="-10" dirty="0">
                <a:latin typeface="Palatino Linotype" panose="02040502050505030304"/>
                <a:cs typeface="Palatino Linotype" panose="02040502050505030304"/>
              </a:rPr>
              <a:t>aruqui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algn="ctr">
              <a:lnSpc>
                <a:spcPts val="955"/>
              </a:lnSpc>
              <a:spcBef>
                <a:spcPts val="1400"/>
              </a:spcBef>
            </a:pPr>
            <a:r>
              <a:rPr sz="800" dirty="0">
                <a:latin typeface="Palatino Linotype" panose="02040502050505030304"/>
                <a:cs typeface="Palatino Linotype" panose="02040502050505030304"/>
              </a:rPr>
              <a:t>Associate</a:t>
            </a:r>
            <a:r>
              <a:rPr sz="800" spc="1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-10" dirty="0">
                <a:latin typeface="Palatino Linotype" panose="02040502050505030304"/>
                <a:cs typeface="Palatino Linotype" panose="02040502050505030304"/>
              </a:rPr>
              <a:t>Professor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  <a:p>
            <a:pPr marL="12700" marR="5080" algn="ctr">
              <a:lnSpc>
                <a:spcPts val="950"/>
              </a:lnSpc>
              <a:spcBef>
                <a:spcPts val="35"/>
              </a:spcBef>
            </a:pPr>
            <a:r>
              <a:rPr sz="800" dirty="0">
                <a:latin typeface="Palatino Linotype" panose="02040502050505030304"/>
                <a:cs typeface="Palatino Linotype" panose="02040502050505030304"/>
              </a:rPr>
              <a:t>Dept</a:t>
            </a:r>
            <a:r>
              <a:rPr sz="800" spc="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800" spc="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Computer</a:t>
            </a:r>
            <a:r>
              <a:rPr sz="800" spc="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Science</a:t>
            </a:r>
            <a:r>
              <a:rPr sz="800" spc="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800" spc="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-10" dirty="0">
                <a:latin typeface="Palatino Linotype" panose="02040502050505030304"/>
                <a:cs typeface="Palatino Linotype" panose="02040502050505030304"/>
              </a:rPr>
              <a:t>Engineering</a:t>
            </a:r>
            <a:r>
              <a:rPr sz="800" spc="5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University</a:t>
            </a:r>
            <a:r>
              <a:rPr sz="800" spc="1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800" spc="1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Chittaong,</a:t>
            </a:r>
            <a:r>
              <a:rPr sz="800" spc="1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-10" dirty="0">
                <a:latin typeface="Palatino Linotype" panose="02040502050505030304"/>
                <a:cs typeface="Palatino Linotype" panose="02040502050505030304"/>
              </a:rPr>
              <a:t>Bangladesh</a:t>
            </a:r>
            <a:r>
              <a:rPr sz="800" spc="500" dirty="0"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Email:</a:t>
            </a:r>
            <a:r>
              <a:rPr sz="800" spc="2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i="1" spc="40" dirty="0">
                <a:latin typeface="Palatino Linotype" panose="02040502050505030304"/>
                <a:cs typeface="Palatino Linotype" panose="02040502050505030304"/>
                <a:hlinkClick r:id="rId4"/>
              </a:rPr>
              <a:t>rokan@cu.ac.bd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38730" y="3396588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59113" y="3392627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36915" y="3392627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/>
          <p:cNvGrpSpPr/>
          <p:nvPr/>
        </p:nvGrpSpPr>
        <p:grpSpPr>
          <a:xfrm>
            <a:off x="3158299" y="3383746"/>
            <a:ext cx="203200" cy="55880"/>
            <a:chOff x="3158299" y="3383746"/>
            <a:chExt cx="203200" cy="55880"/>
          </a:xfrm>
        </p:grpSpPr>
        <p:sp>
          <p:nvSpPr>
            <p:cNvPr id="19" name="object 19"/>
            <p:cNvSpPr/>
            <p:nvPr/>
          </p:nvSpPr>
          <p:spPr>
            <a:xfrm>
              <a:off x="3221468" y="3386276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158299" y="339262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3457486" y="3382480"/>
            <a:ext cx="203200" cy="58419"/>
            <a:chOff x="3457486" y="3382480"/>
            <a:chExt cx="203200" cy="58419"/>
          </a:xfrm>
        </p:grpSpPr>
        <p:sp>
          <p:nvSpPr>
            <p:cNvPr id="22" name="object 22"/>
            <p:cNvSpPr/>
            <p:nvPr/>
          </p:nvSpPr>
          <p:spPr>
            <a:xfrm>
              <a:off x="3546387" y="3398976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457486" y="339262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533687" y="3386276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3756673" y="3382480"/>
            <a:ext cx="203200" cy="58419"/>
            <a:chOff x="3756673" y="3382480"/>
            <a:chExt cx="203200" cy="58419"/>
          </a:xfrm>
        </p:grpSpPr>
        <p:sp>
          <p:nvSpPr>
            <p:cNvPr id="26" name="object 26"/>
            <p:cNvSpPr/>
            <p:nvPr/>
          </p:nvSpPr>
          <p:spPr>
            <a:xfrm>
              <a:off x="3832873" y="3386276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756673" y="339262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832873" y="3424377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/>
          <p:nvPr/>
        </p:nvSpPr>
        <p:spPr>
          <a:xfrm>
            <a:off x="4132060" y="3386276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0" name="object 30"/>
          <p:cNvGrpSpPr/>
          <p:nvPr/>
        </p:nvGrpSpPr>
        <p:grpSpPr>
          <a:xfrm>
            <a:off x="4337275" y="3383746"/>
            <a:ext cx="238760" cy="57150"/>
            <a:chOff x="4337275" y="3383746"/>
            <a:chExt cx="238760" cy="57150"/>
          </a:xfrm>
        </p:grpSpPr>
        <p:sp>
          <p:nvSpPr>
            <p:cNvPr id="31" name="object 31"/>
            <p:cNvSpPr/>
            <p:nvPr/>
          </p:nvSpPr>
          <p:spPr>
            <a:xfrm>
              <a:off x="4461727" y="341675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434663" y="33902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339806" y="3386276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5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0779" y="656513"/>
            <a:ext cx="155257" cy="1552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1104049"/>
            <a:ext cx="155257" cy="15525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779" y="1551584"/>
            <a:ext cx="155257" cy="1552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999107"/>
            <a:ext cx="155257" cy="1552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79" y="2446642"/>
            <a:ext cx="155257" cy="15525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4675" y="624711"/>
            <a:ext cx="1377950" cy="19818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90"/>
              </a:spcBef>
              <a:buClr>
                <a:srgbClr val="EAE5EF"/>
              </a:buClr>
              <a:buSzPct val="73000"/>
              <a:buFont typeface="Comic Sans MS" panose="030F0702030302020204"/>
              <a:buAutoNum type="arabicPlain"/>
              <a:tabLst>
                <a:tab pos="177800" algn="l"/>
              </a:tabLst>
            </a:pP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Bottom-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Up</a:t>
            </a:r>
            <a:r>
              <a:rPr sz="1100" spc="100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Parsing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EAE5EF"/>
              </a:buClr>
              <a:buFont typeface="Comic Sans MS" panose="030F0702030302020204"/>
              <a:buAutoNum type="arabicPlain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buClr>
                <a:srgbClr val="EAE5EF"/>
              </a:buClr>
              <a:buSzPct val="73000"/>
              <a:buFont typeface="Comic Sans MS" panose="030F0702030302020204"/>
              <a:buAutoNum type="arabicPlain"/>
              <a:tabLst>
                <a:tab pos="177800" algn="l"/>
              </a:tabLst>
            </a:pPr>
            <a:r>
              <a:rPr sz="1100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LR</a:t>
            </a:r>
            <a:r>
              <a:rPr sz="1100" spc="155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Parsers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EAE5EF"/>
              </a:buClr>
              <a:buFont typeface="Comic Sans MS" panose="030F0702030302020204"/>
              <a:buAutoNum type="arabicPlain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buClr>
                <a:srgbClr val="EAE5EF"/>
              </a:buClr>
              <a:buSzPct val="73000"/>
              <a:buFont typeface="Comic Sans MS" panose="030F0702030302020204"/>
              <a:buAutoNum type="arabicPlain"/>
              <a:tabLst>
                <a:tab pos="177800" algn="l"/>
              </a:tabLst>
            </a:pPr>
            <a:r>
              <a:rPr sz="1100" dirty="0"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LR(0)</a:t>
            </a:r>
            <a:r>
              <a:rPr sz="1100" spc="270" dirty="0"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Items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EAE5EF"/>
              </a:buClr>
              <a:buFont typeface="Comic Sans MS" panose="030F0702030302020204"/>
              <a:buAutoNum type="arabicPlain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buClr>
                <a:srgbClr val="EAE5EF"/>
              </a:buClr>
              <a:buSzPct val="73000"/>
              <a:buFont typeface="Comic Sans MS" panose="030F0702030302020204"/>
              <a:buAutoNum type="arabicPlain"/>
              <a:tabLst>
                <a:tab pos="177800" algn="l"/>
              </a:tabLst>
            </a:pPr>
            <a:r>
              <a:rPr sz="1100" spc="-20" dirty="0"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Building</a:t>
            </a:r>
            <a:r>
              <a:rPr sz="1100" spc="50" dirty="0"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the</a:t>
            </a:r>
            <a:r>
              <a:rPr sz="1100" spc="50" dirty="0"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PDA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EAE5EF"/>
              </a:buClr>
              <a:buFont typeface="Comic Sans MS" panose="030F0702030302020204"/>
              <a:buAutoNum type="arabicPlain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buClr>
                <a:srgbClr val="EAE5EF"/>
              </a:buClr>
              <a:buSzPct val="73000"/>
              <a:buFont typeface="Comic Sans MS" panose="030F0702030302020204"/>
              <a:buAutoNum type="arabicPlain"/>
              <a:tabLst>
                <a:tab pos="177800" algn="l"/>
              </a:tabLst>
            </a:pP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Assignment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290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Up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Parsing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950861"/>
            <a:ext cx="155257" cy="1552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4675" y="947875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055" y="919059"/>
            <a:ext cx="12122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Bottom-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Up</a:t>
            </a:r>
            <a:r>
              <a:rPr sz="1100" spc="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Parsing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779" y="1353108"/>
            <a:ext cx="155257" cy="15525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755356"/>
            <a:ext cx="155257" cy="15525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4675" y="1321306"/>
            <a:ext cx="938530" cy="594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90"/>
              </a:spcBef>
              <a:buClr>
                <a:srgbClr val="FAF9FB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LR</a:t>
            </a:r>
            <a:r>
              <a:rPr sz="1100" spc="15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Parsers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Clr>
                <a:srgbClr val="FAF9FB"/>
              </a:buClr>
              <a:buFont typeface="Comic Sans MS" panose="030F0702030302020204"/>
              <a:buAutoNum type="arabicPlain" startAt="2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spcBef>
                <a:spcPts val="5"/>
              </a:spcBef>
              <a:buClr>
                <a:srgbClr val="FAF9FB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LR(0)</a:t>
            </a:r>
            <a:r>
              <a:rPr sz="1100" spc="27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Items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779" y="2157602"/>
            <a:ext cx="155257" cy="1552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4675" y="2154668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4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0055" y="2125801"/>
            <a:ext cx="1124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Building</a:t>
            </a:r>
            <a:r>
              <a:rPr sz="1100" spc="5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the</a:t>
            </a:r>
            <a:r>
              <a:rPr sz="1100" spc="5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PDA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779" y="2559850"/>
            <a:ext cx="155257" cy="15525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24675" y="2528035"/>
            <a:ext cx="892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5</a:t>
            </a:r>
            <a:r>
              <a:rPr sz="1200" b="1" spc="697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Assignment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69542" y="2679488"/>
            <a:ext cx="583565" cy="101600"/>
          </a:xfrm>
          <a:custGeom>
            <a:avLst/>
            <a:gdLst/>
            <a:ahLst/>
            <a:cxnLst/>
            <a:rect l="l" t="t" r="r" b="b"/>
            <a:pathLst>
              <a:path w="583564" h="101600">
                <a:moveTo>
                  <a:pt x="557980" y="0"/>
                </a:moveTo>
                <a:lnTo>
                  <a:pt x="25305" y="0"/>
                </a:lnTo>
                <a:lnTo>
                  <a:pt x="16013" y="4349"/>
                </a:lnTo>
                <a:lnTo>
                  <a:pt x="7907" y="15815"/>
                </a:lnTo>
                <a:lnTo>
                  <a:pt x="2174" y="32026"/>
                </a:lnTo>
                <a:lnTo>
                  <a:pt x="0" y="50609"/>
                </a:lnTo>
                <a:lnTo>
                  <a:pt x="2174" y="69193"/>
                </a:lnTo>
                <a:lnTo>
                  <a:pt x="7907" y="85404"/>
                </a:lnTo>
                <a:lnTo>
                  <a:pt x="16013" y="96870"/>
                </a:lnTo>
                <a:lnTo>
                  <a:pt x="25305" y="101219"/>
                </a:lnTo>
                <a:lnTo>
                  <a:pt x="557980" y="101219"/>
                </a:lnTo>
                <a:lnTo>
                  <a:pt x="567271" y="96870"/>
                </a:lnTo>
                <a:lnTo>
                  <a:pt x="575377" y="85404"/>
                </a:lnTo>
                <a:lnTo>
                  <a:pt x="581110" y="69193"/>
                </a:lnTo>
                <a:lnTo>
                  <a:pt x="583285" y="50609"/>
                </a:lnTo>
                <a:lnTo>
                  <a:pt x="581110" y="32026"/>
                </a:lnTo>
                <a:lnTo>
                  <a:pt x="575377" y="15815"/>
                </a:lnTo>
                <a:lnTo>
                  <a:pt x="567271" y="4349"/>
                </a:lnTo>
                <a:lnTo>
                  <a:pt x="557980" y="0"/>
                </a:lnTo>
                <a:close/>
              </a:path>
            </a:pathLst>
          </a:custGeom>
          <a:solidFill>
            <a:srgbClr val="7CC86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3236595" y="3236248"/>
            <a:ext cx="203200" cy="55880"/>
            <a:chOff x="3236595" y="3236248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3299764" y="3238778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236595" y="3245129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3513531" y="3234982"/>
            <a:ext cx="203200" cy="58419"/>
            <a:chOff x="3513531" y="3234982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3602432" y="3251478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513531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589732" y="323877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3790467" y="3234982"/>
            <a:ext cx="203200" cy="58419"/>
            <a:chOff x="3790467" y="3234982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866668" y="3238778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790467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866668" y="3276879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4326582" y="3236248"/>
            <a:ext cx="238760" cy="57150"/>
            <a:chOff x="4326582" y="3236248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4451033" y="326925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423969" y="3242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329112" y="3238778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30911" y="-4300"/>
            <a:ext cx="9290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Up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 </a:t>
            </a:r>
            <a:r>
              <a:rPr sz="600" b="1" spc="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Parsing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25844" y="370305"/>
            <a:ext cx="12122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Bottom-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Up</a:t>
            </a:r>
            <a:r>
              <a:rPr sz="1100" spc="1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Parsing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7743" y="433057"/>
            <a:ext cx="4483735" cy="772795"/>
            <a:chOff x="87743" y="433057"/>
            <a:chExt cx="4483735" cy="772795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43" y="562749"/>
              <a:ext cx="4432566" cy="5060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544" y="1103947"/>
              <a:ext cx="101600" cy="1016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344" y="1091247"/>
              <a:ext cx="4381767" cy="11430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20311" y="433057"/>
              <a:ext cx="50800" cy="67089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7743" y="607025"/>
              <a:ext cx="4432935" cy="548005"/>
            </a:xfrm>
            <a:custGeom>
              <a:avLst/>
              <a:gdLst/>
              <a:ahLst/>
              <a:cxnLst/>
              <a:rect l="l" t="t" r="r" b="b"/>
              <a:pathLst>
                <a:path w="4432935" h="548005">
                  <a:moveTo>
                    <a:pt x="4432567" y="0"/>
                  </a:moveTo>
                  <a:lnTo>
                    <a:pt x="0" y="0"/>
                  </a:lnTo>
                  <a:lnTo>
                    <a:pt x="0" y="496921"/>
                  </a:lnTo>
                  <a:lnTo>
                    <a:pt x="4008" y="516646"/>
                  </a:lnTo>
                  <a:lnTo>
                    <a:pt x="14922" y="532799"/>
                  </a:lnTo>
                  <a:lnTo>
                    <a:pt x="31075" y="543713"/>
                  </a:lnTo>
                  <a:lnTo>
                    <a:pt x="50800" y="547722"/>
                  </a:lnTo>
                  <a:lnTo>
                    <a:pt x="4381767" y="547722"/>
                  </a:lnTo>
                  <a:lnTo>
                    <a:pt x="4401492" y="543713"/>
                  </a:lnTo>
                  <a:lnTo>
                    <a:pt x="4417644" y="532799"/>
                  </a:lnTo>
                  <a:lnTo>
                    <a:pt x="4428558" y="516646"/>
                  </a:lnTo>
                  <a:lnTo>
                    <a:pt x="4432567" y="496921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520311" y="471157"/>
              <a:ext cx="0" cy="652145"/>
            </a:xfrm>
            <a:custGeom>
              <a:avLst/>
              <a:gdLst/>
              <a:ahLst/>
              <a:cxnLst/>
              <a:rect l="l" t="t" r="r" b="b"/>
              <a:pathLst>
                <a:path h="652144">
                  <a:moveTo>
                    <a:pt x="0" y="65183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520311" y="45845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520311" y="44575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520311" y="43305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125844" y="580287"/>
            <a:ext cx="426910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5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bottom-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up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corresponds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construction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tree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for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input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string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beginning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at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leaves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(the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bottom)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working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up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towards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root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(the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top).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014742" y="1446830"/>
            <a:ext cx="450215" cy="300990"/>
            <a:chOff x="1014742" y="1446830"/>
            <a:chExt cx="450215" cy="300990"/>
          </a:xfrm>
        </p:grpSpPr>
        <p:sp>
          <p:nvSpPr>
            <p:cNvPr id="39" name="object 39"/>
            <p:cNvSpPr/>
            <p:nvPr/>
          </p:nvSpPr>
          <p:spPr>
            <a:xfrm>
              <a:off x="1148702" y="1498264"/>
              <a:ext cx="0" cy="198120"/>
            </a:xfrm>
            <a:custGeom>
              <a:avLst/>
              <a:gdLst/>
              <a:ahLst/>
              <a:cxnLst/>
              <a:rect l="l" t="t" r="r" b="b"/>
              <a:pathLst>
                <a:path h="198119">
                  <a:moveTo>
                    <a:pt x="0" y="0"/>
                  </a:moveTo>
                  <a:lnTo>
                    <a:pt x="0" y="197510"/>
                  </a:lnTo>
                </a:path>
              </a:pathLst>
            </a:custGeom>
            <a:ln w="4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016800" y="144888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59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016800" y="144888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59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016800" y="164639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016800" y="164639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153960" y="144888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59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153960" y="144888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59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98547" y="1662993"/>
              <a:ext cx="91897" cy="7269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16378" y="1468226"/>
              <a:ext cx="69951" cy="69951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3139" y="1490172"/>
              <a:ext cx="37033" cy="4389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72867" y="1465483"/>
              <a:ext cx="91897" cy="72694"/>
            </a:xfrm>
            <a:prstGeom prst="rect">
              <a:avLst/>
            </a:prstGeom>
          </p:spPr>
        </p:pic>
      </p:grpSp>
      <p:grpSp>
        <p:nvGrpSpPr>
          <p:cNvPr id="50" name="object 50"/>
          <p:cNvGrpSpPr/>
          <p:nvPr/>
        </p:nvGrpSpPr>
        <p:grpSpPr>
          <a:xfrm>
            <a:off x="1673110" y="1446830"/>
            <a:ext cx="542290" cy="498475"/>
            <a:chOff x="1673110" y="1446830"/>
            <a:chExt cx="542290" cy="498475"/>
          </a:xfrm>
        </p:grpSpPr>
        <p:sp>
          <p:nvSpPr>
            <p:cNvPr id="51" name="object 51"/>
            <p:cNvSpPr/>
            <p:nvPr/>
          </p:nvSpPr>
          <p:spPr>
            <a:xfrm>
              <a:off x="1807070" y="1498264"/>
              <a:ext cx="0" cy="395605"/>
            </a:xfrm>
            <a:custGeom>
              <a:avLst/>
              <a:gdLst/>
              <a:ahLst/>
              <a:cxnLst/>
              <a:rect l="l" t="t" r="r" b="b"/>
              <a:pathLst>
                <a:path h="395605">
                  <a:moveTo>
                    <a:pt x="0" y="0"/>
                  </a:moveTo>
                  <a:lnTo>
                    <a:pt x="0" y="395020"/>
                  </a:lnTo>
                </a:path>
              </a:pathLst>
            </a:custGeom>
            <a:ln w="4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1675168" y="144888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59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1675168" y="144888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59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1675168" y="164639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1675168" y="164639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1675168" y="1843908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675168" y="1843908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812328" y="144888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59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1812328" y="144888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59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1949488" y="144888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59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1949488" y="144888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59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82975" y="1468226"/>
              <a:ext cx="68580" cy="69951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4746" y="1665737"/>
              <a:ext cx="69951" cy="69951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56915" y="1860504"/>
              <a:ext cx="91897" cy="72694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21507" y="1490172"/>
              <a:ext cx="37033" cy="43891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31235" y="1465483"/>
              <a:ext cx="91897" cy="72694"/>
            </a:xfrm>
            <a:prstGeom prst="rect">
              <a:avLst/>
            </a:prstGeom>
          </p:spPr>
        </p:pic>
      </p:grpSp>
      <p:grpSp>
        <p:nvGrpSpPr>
          <p:cNvPr id="67" name="object 67"/>
          <p:cNvGrpSpPr/>
          <p:nvPr/>
        </p:nvGrpSpPr>
        <p:grpSpPr>
          <a:xfrm>
            <a:off x="2331478" y="1446830"/>
            <a:ext cx="542290" cy="498475"/>
            <a:chOff x="2331478" y="1446830"/>
            <a:chExt cx="542290" cy="498475"/>
          </a:xfrm>
        </p:grpSpPr>
        <p:sp>
          <p:nvSpPr>
            <p:cNvPr id="68" name="object 68"/>
            <p:cNvSpPr/>
            <p:nvPr/>
          </p:nvSpPr>
          <p:spPr>
            <a:xfrm>
              <a:off x="2465438" y="1498264"/>
              <a:ext cx="274320" cy="395605"/>
            </a:xfrm>
            <a:custGeom>
              <a:avLst/>
              <a:gdLst/>
              <a:ahLst/>
              <a:cxnLst/>
              <a:rect l="l" t="t" r="r" b="b"/>
              <a:pathLst>
                <a:path w="274319" h="395605">
                  <a:moveTo>
                    <a:pt x="0" y="0"/>
                  </a:moveTo>
                  <a:lnTo>
                    <a:pt x="0" y="395020"/>
                  </a:lnTo>
                </a:path>
                <a:path w="274319" h="395605">
                  <a:moveTo>
                    <a:pt x="274319" y="0"/>
                  </a:moveTo>
                  <a:lnTo>
                    <a:pt x="274319" y="197510"/>
                  </a:lnTo>
                </a:path>
              </a:pathLst>
            </a:custGeom>
            <a:ln w="4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2333536" y="144888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59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2333536" y="144888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59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2333536" y="164639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2333536" y="164639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2607856" y="164639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2607856" y="164639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2607856" y="144888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59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2607856" y="144888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59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2470696" y="144888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59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2470696" y="144888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59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2333536" y="1843908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2333536" y="1843908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89603" y="1662993"/>
              <a:ext cx="91897" cy="72694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41343" y="1468226"/>
              <a:ext cx="68580" cy="69951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33114" y="1665737"/>
              <a:ext cx="69951" cy="69951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15283" y="1860504"/>
              <a:ext cx="91897" cy="72694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79875" y="1490172"/>
              <a:ext cx="37033" cy="43891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07434" y="1468226"/>
              <a:ext cx="69951" cy="69951"/>
            </a:xfrm>
            <a:prstGeom prst="rect">
              <a:avLst/>
            </a:prstGeom>
          </p:spPr>
        </p:pic>
      </p:grpSp>
      <p:grpSp>
        <p:nvGrpSpPr>
          <p:cNvPr id="87" name="object 87"/>
          <p:cNvGrpSpPr/>
          <p:nvPr/>
        </p:nvGrpSpPr>
        <p:grpSpPr>
          <a:xfrm>
            <a:off x="2989846" y="1446830"/>
            <a:ext cx="542290" cy="695960"/>
            <a:chOff x="2989846" y="1446830"/>
            <a:chExt cx="542290" cy="695960"/>
          </a:xfrm>
        </p:grpSpPr>
        <p:sp>
          <p:nvSpPr>
            <p:cNvPr id="88" name="object 88"/>
            <p:cNvSpPr/>
            <p:nvPr/>
          </p:nvSpPr>
          <p:spPr>
            <a:xfrm>
              <a:off x="3123806" y="1498264"/>
              <a:ext cx="274320" cy="593090"/>
            </a:xfrm>
            <a:custGeom>
              <a:avLst/>
              <a:gdLst/>
              <a:ahLst/>
              <a:cxnLst/>
              <a:rect l="l" t="t" r="r" b="b"/>
              <a:pathLst>
                <a:path w="274320" h="593089">
                  <a:moveTo>
                    <a:pt x="137159" y="0"/>
                  </a:moveTo>
                  <a:lnTo>
                    <a:pt x="0" y="197510"/>
                  </a:lnTo>
                </a:path>
                <a:path w="274320" h="593089">
                  <a:moveTo>
                    <a:pt x="0" y="197510"/>
                  </a:moveTo>
                  <a:lnTo>
                    <a:pt x="0" y="592531"/>
                  </a:lnTo>
                </a:path>
                <a:path w="274320" h="593089">
                  <a:moveTo>
                    <a:pt x="137159" y="0"/>
                  </a:moveTo>
                  <a:lnTo>
                    <a:pt x="274319" y="197510"/>
                  </a:lnTo>
                </a:path>
                <a:path w="274320" h="593089">
                  <a:moveTo>
                    <a:pt x="137159" y="0"/>
                  </a:moveTo>
                  <a:lnTo>
                    <a:pt x="137159" y="197510"/>
                  </a:lnTo>
                </a:path>
                <a:path w="274320" h="593089">
                  <a:moveTo>
                    <a:pt x="274319" y="197510"/>
                  </a:moveTo>
                  <a:lnTo>
                    <a:pt x="274319" y="395020"/>
                  </a:lnTo>
                </a:path>
              </a:pathLst>
            </a:custGeom>
            <a:ln w="4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266223" y="164639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3266223" y="164639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3129063" y="164639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3129063" y="164639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2991903" y="2041418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2991903" y="2041418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2991903" y="1843908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2991903" y="1843908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3266223" y="1843908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3266223" y="1843908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2991903" y="164639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2991903" y="164639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3129063" y="144888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59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3129063" y="144888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59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47971" y="1860504"/>
              <a:ext cx="91897" cy="72694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65802" y="1665737"/>
              <a:ext cx="69951" cy="69951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38243" y="1687682"/>
              <a:ext cx="37033" cy="43891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73651" y="2059386"/>
              <a:ext cx="91897" cy="72694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36871" y="1468226"/>
              <a:ext cx="68579" cy="69951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91482" y="1863247"/>
              <a:ext cx="69951" cy="69951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99711" y="1665737"/>
              <a:ext cx="68580" cy="69951"/>
            </a:xfrm>
            <a:prstGeom prst="rect">
              <a:avLst/>
            </a:prstGeom>
          </p:spPr>
        </p:pic>
      </p:grpSp>
      <p:grpSp>
        <p:nvGrpSpPr>
          <p:cNvPr id="110" name="object 110"/>
          <p:cNvGrpSpPr/>
          <p:nvPr/>
        </p:nvGrpSpPr>
        <p:grpSpPr>
          <a:xfrm>
            <a:off x="3648214" y="1446830"/>
            <a:ext cx="730885" cy="961390"/>
            <a:chOff x="3648214" y="1446830"/>
            <a:chExt cx="730885" cy="961390"/>
          </a:xfrm>
        </p:grpSpPr>
        <p:sp>
          <p:nvSpPr>
            <p:cNvPr id="111" name="object 111"/>
            <p:cNvSpPr/>
            <p:nvPr/>
          </p:nvSpPr>
          <p:spPr>
            <a:xfrm>
              <a:off x="3782174" y="1498264"/>
              <a:ext cx="274320" cy="790575"/>
            </a:xfrm>
            <a:custGeom>
              <a:avLst/>
              <a:gdLst/>
              <a:ahLst/>
              <a:cxnLst/>
              <a:rect l="l" t="t" r="r" b="b"/>
              <a:pathLst>
                <a:path w="274320" h="790575">
                  <a:moveTo>
                    <a:pt x="274319" y="395020"/>
                  </a:moveTo>
                  <a:lnTo>
                    <a:pt x="274319" y="592531"/>
                  </a:lnTo>
                </a:path>
                <a:path w="274320" h="790575">
                  <a:moveTo>
                    <a:pt x="137159" y="197510"/>
                  </a:moveTo>
                  <a:lnTo>
                    <a:pt x="274319" y="395020"/>
                  </a:lnTo>
                </a:path>
                <a:path w="274320" h="790575">
                  <a:moveTo>
                    <a:pt x="137159" y="197510"/>
                  </a:moveTo>
                  <a:lnTo>
                    <a:pt x="137159" y="395020"/>
                  </a:lnTo>
                </a:path>
                <a:path w="274320" h="790575">
                  <a:moveTo>
                    <a:pt x="0" y="592531"/>
                  </a:moveTo>
                  <a:lnTo>
                    <a:pt x="0" y="790041"/>
                  </a:lnTo>
                </a:path>
                <a:path w="274320" h="790575">
                  <a:moveTo>
                    <a:pt x="0" y="395020"/>
                  </a:moveTo>
                  <a:lnTo>
                    <a:pt x="0" y="592531"/>
                  </a:lnTo>
                </a:path>
                <a:path w="274320" h="790575">
                  <a:moveTo>
                    <a:pt x="137159" y="197510"/>
                  </a:moveTo>
                  <a:lnTo>
                    <a:pt x="0" y="395020"/>
                  </a:lnTo>
                </a:path>
                <a:path w="274320" h="790575">
                  <a:moveTo>
                    <a:pt x="137159" y="0"/>
                  </a:moveTo>
                  <a:lnTo>
                    <a:pt x="137159" y="197510"/>
                  </a:lnTo>
                </a:path>
              </a:pathLst>
            </a:custGeom>
            <a:ln w="4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3924591" y="2041418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3924591" y="2041418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3924591" y="1843908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3924591" y="1843908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3787431" y="1843908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3787431" y="1843908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3650271" y="2238928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3650271" y="2238928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3650271" y="2041418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3650271" y="2041418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3650271" y="1843908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3650271" y="1843908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3787431" y="164639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3787431" y="164639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60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3787431" y="144888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59">
                  <a:moveTo>
                    <a:pt x="131673" y="0"/>
                  </a:moveTo>
                  <a:lnTo>
                    <a:pt x="80436" y="3881"/>
                  </a:lnTo>
                  <a:lnTo>
                    <a:pt x="38580" y="14466"/>
                  </a:lnTo>
                  <a:lnTo>
                    <a:pt x="10352" y="30161"/>
                  </a:lnTo>
                  <a:lnTo>
                    <a:pt x="0" y="49377"/>
                  </a:lnTo>
                  <a:lnTo>
                    <a:pt x="10352" y="68593"/>
                  </a:lnTo>
                  <a:lnTo>
                    <a:pt x="38580" y="84289"/>
                  </a:lnTo>
                  <a:lnTo>
                    <a:pt x="80436" y="94873"/>
                  </a:lnTo>
                  <a:lnTo>
                    <a:pt x="131673" y="98755"/>
                  </a:lnTo>
                  <a:lnTo>
                    <a:pt x="182910" y="94873"/>
                  </a:lnTo>
                  <a:lnTo>
                    <a:pt x="224766" y="84289"/>
                  </a:lnTo>
                  <a:lnTo>
                    <a:pt x="252994" y="68593"/>
                  </a:lnTo>
                  <a:lnTo>
                    <a:pt x="263347" y="49377"/>
                  </a:lnTo>
                  <a:lnTo>
                    <a:pt x="252994" y="30161"/>
                  </a:lnTo>
                  <a:lnTo>
                    <a:pt x="224766" y="14466"/>
                  </a:lnTo>
                  <a:lnTo>
                    <a:pt x="182910" y="3881"/>
                  </a:lnTo>
                  <a:lnTo>
                    <a:pt x="131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3787431" y="1448887"/>
              <a:ext cx="263525" cy="99060"/>
            </a:xfrm>
            <a:custGeom>
              <a:avLst/>
              <a:gdLst/>
              <a:ahLst/>
              <a:cxnLst/>
              <a:rect l="l" t="t" r="r" b="b"/>
              <a:pathLst>
                <a:path w="263525" h="99059">
                  <a:moveTo>
                    <a:pt x="263347" y="49377"/>
                  </a:moveTo>
                  <a:lnTo>
                    <a:pt x="252994" y="68593"/>
                  </a:lnTo>
                  <a:lnTo>
                    <a:pt x="224766" y="84289"/>
                  </a:lnTo>
                  <a:lnTo>
                    <a:pt x="182910" y="94873"/>
                  </a:lnTo>
                  <a:lnTo>
                    <a:pt x="131673" y="98755"/>
                  </a:lnTo>
                  <a:lnTo>
                    <a:pt x="80436" y="94873"/>
                  </a:lnTo>
                  <a:lnTo>
                    <a:pt x="38580" y="84289"/>
                  </a:lnTo>
                  <a:lnTo>
                    <a:pt x="10352" y="68593"/>
                  </a:lnTo>
                  <a:lnTo>
                    <a:pt x="0" y="49377"/>
                  </a:lnTo>
                  <a:lnTo>
                    <a:pt x="10352" y="30161"/>
                  </a:lnTo>
                  <a:lnTo>
                    <a:pt x="38580" y="14466"/>
                  </a:lnTo>
                  <a:lnTo>
                    <a:pt x="80436" y="3881"/>
                  </a:lnTo>
                  <a:lnTo>
                    <a:pt x="131673" y="0"/>
                  </a:lnTo>
                  <a:lnTo>
                    <a:pt x="182910" y="3881"/>
                  </a:lnTo>
                  <a:lnTo>
                    <a:pt x="224766" y="14466"/>
                  </a:lnTo>
                  <a:lnTo>
                    <a:pt x="252994" y="30161"/>
                  </a:lnTo>
                  <a:lnTo>
                    <a:pt x="263347" y="49377"/>
                  </a:lnTo>
                  <a:close/>
                </a:path>
              </a:pathLst>
            </a:custGeom>
            <a:ln w="41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8" name="object 1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96611" y="1885193"/>
              <a:ext cx="37033" cy="43891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85638" y="1468226"/>
              <a:ext cx="71323" cy="69951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95239" y="1665737"/>
              <a:ext cx="68579" cy="69951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58079" y="1863247"/>
              <a:ext cx="68579" cy="69951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49850" y="2062129"/>
              <a:ext cx="69951" cy="69951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32019" y="2255525"/>
              <a:ext cx="91897" cy="72694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24170" y="1863247"/>
              <a:ext cx="69951" cy="69951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07710" y="2059386"/>
              <a:ext cx="91897" cy="72694"/>
            </a:xfrm>
            <a:prstGeom prst="rect">
              <a:avLst/>
            </a:prstGeom>
          </p:spPr>
        </p:pic>
        <p:sp>
          <p:nvSpPr>
            <p:cNvPr id="136" name="object 136"/>
            <p:cNvSpPr/>
            <p:nvPr/>
          </p:nvSpPr>
          <p:spPr>
            <a:xfrm>
              <a:off x="4030395" y="1473505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19">
                  <a:moveTo>
                    <a:pt x="8385" y="0"/>
                  </a:moveTo>
                  <a:lnTo>
                    <a:pt x="0" y="70498"/>
                  </a:lnTo>
                  <a:lnTo>
                    <a:pt x="59752" y="49007"/>
                  </a:lnTo>
                  <a:lnTo>
                    <a:pt x="8385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4055471" y="1519909"/>
              <a:ext cx="317500" cy="882015"/>
            </a:xfrm>
            <a:custGeom>
              <a:avLst/>
              <a:gdLst/>
              <a:ahLst/>
              <a:cxnLst/>
              <a:rect l="l" t="t" r="r" b="b"/>
              <a:pathLst>
                <a:path w="317500" h="882014">
                  <a:moveTo>
                    <a:pt x="317091" y="881629"/>
                  </a:moveTo>
                  <a:lnTo>
                    <a:pt x="308747" y="858429"/>
                  </a:lnTo>
                  <a:lnTo>
                    <a:pt x="300402" y="835228"/>
                  </a:lnTo>
                  <a:lnTo>
                    <a:pt x="292058" y="812027"/>
                  </a:lnTo>
                  <a:lnTo>
                    <a:pt x="283712" y="788826"/>
                  </a:lnTo>
                  <a:lnTo>
                    <a:pt x="275369" y="765625"/>
                  </a:lnTo>
                  <a:lnTo>
                    <a:pt x="267023" y="742424"/>
                  </a:lnTo>
                  <a:lnTo>
                    <a:pt x="258678" y="719224"/>
                  </a:lnTo>
                  <a:lnTo>
                    <a:pt x="250334" y="696023"/>
                  </a:lnTo>
                  <a:lnTo>
                    <a:pt x="241989" y="672822"/>
                  </a:lnTo>
                  <a:lnTo>
                    <a:pt x="233645" y="649621"/>
                  </a:lnTo>
                  <a:lnTo>
                    <a:pt x="225300" y="626420"/>
                  </a:lnTo>
                  <a:lnTo>
                    <a:pt x="216956" y="603219"/>
                  </a:lnTo>
                  <a:lnTo>
                    <a:pt x="208611" y="580019"/>
                  </a:lnTo>
                  <a:lnTo>
                    <a:pt x="200267" y="556817"/>
                  </a:lnTo>
                  <a:lnTo>
                    <a:pt x="191922" y="533617"/>
                  </a:lnTo>
                  <a:lnTo>
                    <a:pt x="183578" y="510417"/>
                  </a:lnTo>
                  <a:lnTo>
                    <a:pt x="175233" y="487215"/>
                  </a:lnTo>
                  <a:lnTo>
                    <a:pt x="166889" y="464015"/>
                  </a:lnTo>
                  <a:lnTo>
                    <a:pt x="158544" y="440813"/>
                  </a:lnTo>
                  <a:lnTo>
                    <a:pt x="150200" y="417612"/>
                  </a:lnTo>
                  <a:lnTo>
                    <a:pt x="141855" y="394412"/>
                  </a:lnTo>
                  <a:lnTo>
                    <a:pt x="133511" y="371210"/>
                  </a:lnTo>
                  <a:lnTo>
                    <a:pt x="125166" y="348010"/>
                  </a:lnTo>
                  <a:lnTo>
                    <a:pt x="116822" y="324810"/>
                  </a:lnTo>
                  <a:lnTo>
                    <a:pt x="108477" y="301608"/>
                  </a:lnTo>
                  <a:lnTo>
                    <a:pt x="100133" y="278408"/>
                  </a:lnTo>
                  <a:lnTo>
                    <a:pt x="91788" y="255207"/>
                  </a:lnTo>
                  <a:lnTo>
                    <a:pt x="83444" y="232005"/>
                  </a:lnTo>
                  <a:lnTo>
                    <a:pt x="75098" y="208805"/>
                  </a:lnTo>
                  <a:lnTo>
                    <a:pt x="66755" y="185605"/>
                  </a:lnTo>
                  <a:lnTo>
                    <a:pt x="58409" y="162403"/>
                  </a:lnTo>
                  <a:lnTo>
                    <a:pt x="50065" y="139203"/>
                  </a:lnTo>
                  <a:lnTo>
                    <a:pt x="41720" y="116002"/>
                  </a:lnTo>
                  <a:lnTo>
                    <a:pt x="33376" y="92801"/>
                  </a:lnTo>
                  <a:lnTo>
                    <a:pt x="25031" y="69600"/>
                  </a:lnTo>
                  <a:lnTo>
                    <a:pt x="16687" y="46400"/>
                  </a:lnTo>
                  <a:lnTo>
                    <a:pt x="8342" y="23198"/>
                  </a:lnTo>
                  <a:lnTo>
                    <a:pt x="-1" y="-1"/>
                  </a:lnTo>
                </a:path>
              </a:pathLst>
            </a:custGeom>
            <a:ln w="127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8" name="object 13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0179" y="1465483"/>
            <a:ext cx="91897" cy="72694"/>
          </a:xfrm>
          <a:prstGeom prst="rect">
            <a:avLst/>
          </a:prstGeom>
        </p:spPr>
      </p:pic>
      <p:pic>
        <p:nvPicPr>
          <p:cNvPr id="139" name="object 13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4771" y="1490172"/>
            <a:ext cx="37033" cy="43891"/>
          </a:xfrm>
          <a:prstGeom prst="rect">
            <a:avLst/>
          </a:prstGeom>
        </p:spPr>
      </p:pic>
      <p:pic>
        <p:nvPicPr>
          <p:cNvPr id="140" name="object 14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4499" y="1465483"/>
            <a:ext cx="91897" cy="72694"/>
          </a:xfrm>
          <a:prstGeom prst="rect">
            <a:avLst/>
          </a:prstGeom>
        </p:spPr>
      </p:pic>
      <p:sp>
        <p:nvSpPr>
          <p:cNvPr id="141" name="object 141"/>
          <p:cNvSpPr txBox="1"/>
          <p:nvPr/>
        </p:nvSpPr>
        <p:spPr>
          <a:xfrm>
            <a:off x="425716" y="2214027"/>
            <a:ext cx="2960370" cy="5930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b="1" spc="-10" dirty="0">
                <a:latin typeface="Book Antiqua" panose="02040602050305030304"/>
                <a:cs typeface="Book Antiqua" panose="02040602050305030304"/>
              </a:rPr>
              <a:t>E=&gt;T=&gt;T*F=&gt;T*id=&gt;F*id=&gt;id*id</a:t>
            </a:r>
            <a:endParaRPr sz="900">
              <a:latin typeface="Book Antiqua" panose="02040602050305030304"/>
              <a:cs typeface="Book Antiqua" panose="02040602050305030304"/>
            </a:endParaRPr>
          </a:p>
          <a:p>
            <a:pPr>
              <a:lnSpc>
                <a:spcPct val="100000"/>
              </a:lnSpc>
            </a:pPr>
            <a:endParaRPr sz="900">
              <a:latin typeface="Book Antiqua" panose="02040602050305030304"/>
              <a:cs typeface="Book Antiqua" panose="02040602050305030304"/>
            </a:endParaRPr>
          </a:p>
          <a:p>
            <a:pPr>
              <a:lnSpc>
                <a:spcPct val="100000"/>
              </a:lnSpc>
            </a:pPr>
            <a:endParaRPr sz="900">
              <a:latin typeface="Book Antiqua" panose="02040602050305030304"/>
              <a:cs typeface="Book Antiqua" panose="02040602050305030304"/>
            </a:endParaRPr>
          </a:p>
          <a:p>
            <a:pPr marL="808990">
              <a:lnSpc>
                <a:spcPct val="100000"/>
              </a:lnSpc>
            </a:pPr>
            <a:r>
              <a:rPr sz="1000" dirty="0">
                <a:latin typeface="Palatino Linotype" panose="02040502050505030304"/>
                <a:cs typeface="Palatino Linotype" panose="02040502050505030304"/>
              </a:rPr>
              <a:t>Figure:</a:t>
            </a:r>
            <a:r>
              <a:rPr sz="10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0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20" dirty="0">
                <a:latin typeface="Palatino Linotype" panose="02040502050505030304"/>
                <a:cs typeface="Palatino Linotype" panose="02040502050505030304"/>
              </a:rPr>
              <a:t>bottom-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up</a:t>
            </a:r>
            <a:r>
              <a:rPr sz="10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10" dirty="0">
                <a:latin typeface="Palatino Linotype" panose="02040502050505030304"/>
                <a:cs typeface="Palatino Linotype" panose="02040502050505030304"/>
              </a:rPr>
              <a:t>parse</a:t>
            </a:r>
            <a:r>
              <a:rPr sz="10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0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b="1" dirty="0">
                <a:latin typeface="Palatino Linotype" panose="02040502050505030304"/>
                <a:cs typeface="Palatino Linotype" panose="02040502050505030304"/>
              </a:rPr>
              <a:t>id</a:t>
            </a:r>
            <a:r>
              <a:rPr sz="1000" b="1" spc="9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b="1" spc="120" dirty="0">
                <a:latin typeface="Palatino Linotype" panose="02040502050505030304"/>
                <a:cs typeface="Palatino Linotype" panose="02040502050505030304"/>
              </a:rPr>
              <a:t>*</a:t>
            </a:r>
            <a:r>
              <a:rPr sz="1000" b="1" spc="9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b="1" spc="-25" dirty="0">
                <a:latin typeface="Palatino Linotype" panose="02040502050505030304"/>
                <a:cs typeface="Palatino Linotype" panose="02040502050505030304"/>
              </a:rPr>
              <a:t>id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42" name="object 142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 txBox="1"/>
          <p:nvPr/>
        </p:nvSpPr>
        <p:spPr>
          <a:xfrm>
            <a:off x="2869134" y="138052"/>
            <a:ext cx="8058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30" marR="5080" indent="-24765">
              <a:lnSpc>
                <a:spcPct val="111000"/>
              </a:lnSpc>
              <a:spcBef>
                <a:spcPts val="95"/>
              </a:spcBef>
            </a:pPr>
            <a:r>
              <a:rPr sz="900" b="1" spc="130" dirty="0">
                <a:latin typeface="Book Antiqua" panose="02040602050305030304"/>
                <a:cs typeface="Book Antiqua" panose="02040602050305030304"/>
              </a:rPr>
              <a:t>E</a:t>
            </a:r>
            <a:r>
              <a:rPr sz="900" b="1" spc="1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160" dirty="0">
                <a:latin typeface="Book Antiqua" panose="02040602050305030304"/>
                <a:cs typeface="Book Antiqua" panose="02040602050305030304"/>
              </a:rPr>
              <a:t>—</a:t>
            </a:r>
            <a:r>
              <a:rPr sz="900" b="1" spc="-100" dirty="0">
                <a:latin typeface="Book Antiqua" panose="02040602050305030304"/>
                <a:cs typeface="Book Antiqua" panose="02040602050305030304"/>
              </a:rPr>
              <a:t>&gt;</a:t>
            </a:r>
            <a:r>
              <a:rPr sz="900" b="1" spc="1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130" dirty="0">
                <a:latin typeface="Book Antiqua" panose="02040602050305030304"/>
                <a:cs typeface="Book Antiqua" panose="02040602050305030304"/>
              </a:rPr>
              <a:t>E</a:t>
            </a:r>
            <a:r>
              <a:rPr sz="900" b="1" spc="1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100" dirty="0">
                <a:latin typeface="Book Antiqua" panose="02040602050305030304"/>
                <a:cs typeface="Book Antiqua" panose="02040602050305030304"/>
              </a:rPr>
              <a:t>+</a:t>
            </a:r>
            <a:r>
              <a:rPr sz="900" b="1" spc="1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T</a:t>
            </a:r>
            <a:r>
              <a:rPr sz="900" b="1" spc="1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100" dirty="0">
                <a:latin typeface="Book Antiqua" panose="02040602050305030304"/>
                <a:cs typeface="Book Antiqua" panose="02040602050305030304"/>
              </a:rPr>
              <a:t>|</a:t>
            </a:r>
            <a:r>
              <a:rPr sz="900" b="1" spc="1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50" dirty="0">
                <a:latin typeface="Book Antiqua" panose="02040602050305030304"/>
                <a:cs typeface="Book Antiqua" panose="02040602050305030304"/>
              </a:rPr>
              <a:t>T</a:t>
            </a:r>
            <a:r>
              <a:rPr sz="900" b="1" spc="50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60" dirty="0">
                <a:latin typeface="Book Antiqua" panose="02040602050305030304"/>
                <a:cs typeface="Book Antiqua" panose="02040602050305030304"/>
              </a:rPr>
              <a:t>T—</a:t>
            </a:r>
            <a:r>
              <a:rPr sz="900" b="1" spc="-30" dirty="0">
                <a:latin typeface="Book Antiqua" panose="02040602050305030304"/>
                <a:cs typeface="Book Antiqua" panose="02040602050305030304"/>
              </a:rPr>
              <a:t>&gt;T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200" dirty="0">
                <a:latin typeface="Book Antiqua" panose="02040602050305030304"/>
                <a:cs typeface="Book Antiqua" panose="02040602050305030304"/>
              </a:rPr>
              <a:t>*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150" dirty="0">
                <a:latin typeface="Book Antiqua" panose="02040602050305030304"/>
                <a:cs typeface="Book Antiqua" panose="02040602050305030304"/>
              </a:rPr>
              <a:t>F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100" dirty="0">
                <a:latin typeface="Book Antiqua" panose="02040602050305030304"/>
                <a:cs typeface="Book Antiqua" panose="02040602050305030304"/>
              </a:rPr>
              <a:t>|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100" dirty="0">
                <a:latin typeface="Book Antiqua" panose="02040602050305030304"/>
                <a:cs typeface="Book Antiqua" panose="02040602050305030304"/>
              </a:rPr>
              <a:t>F</a:t>
            </a:r>
            <a:endParaRPr sz="90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145" name="object 1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47" name="object 1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  <p:sp>
        <p:nvSpPr>
          <p:cNvPr id="144" name="object 144"/>
          <p:cNvSpPr txBox="1"/>
          <p:nvPr/>
        </p:nvSpPr>
        <p:spPr>
          <a:xfrm>
            <a:off x="2892143" y="455458"/>
            <a:ext cx="759460" cy="165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b="1" spc="-35" dirty="0">
                <a:latin typeface="Book Antiqua" panose="02040602050305030304"/>
                <a:cs typeface="Book Antiqua" panose="02040602050305030304"/>
              </a:rPr>
              <a:t>F—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&gt;</a:t>
            </a:r>
            <a:r>
              <a:rPr sz="900" b="1" spc="-1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229" dirty="0">
                <a:latin typeface="Book Antiqua" panose="02040602050305030304"/>
                <a:cs typeface="Book Antiqua" panose="02040602050305030304"/>
              </a:rPr>
              <a:t>(E)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100" dirty="0">
                <a:latin typeface="Book Antiqua" panose="02040602050305030304"/>
                <a:cs typeface="Book Antiqua" panose="02040602050305030304"/>
              </a:rPr>
              <a:t>|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25" dirty="0">
                <a:latin typeface="Book Antiqua" panose="02040602050305030304"/>
                <a:cs typeface="Book Antiqua" panose="02040602050305030304"/>
              </a:rPr>
              <a:t>id</a:t>
            </a:r>
            <a:endParaRPr sz="900">
              <a:latin typeface="Book Antiqua" panose="02040602050305030304"/>
              <a:cs typeface="Book Antiqua" panose="02040602050305030304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290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Up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Parsing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Reductions</a:t>
            </a:r>
            <a:endParaRPr spc="5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103884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520025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2088007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915" y="2277821"/>
            <a:ext cx="52527" cy="525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915" y="2501646"/>
            <a:ext cx="52527" cy="5252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022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55"/>
              </a:spcBef>
            </a:pPr>
            <a:r>
              <a:rPr dirty="0"/>
              <a:t>Bottom-</a:t>
            </a:r>
            <a:r>
              <a:rPr spc="-55" dirty="0"/>
              <a:t> </a:t>
            </a:r>
            <a:r>
              <a:rPr dirty="0"/>
              <a:t>up</a:t>
            </a:r>
            <a:r>
              <a:rPr spc="30" dirty="0"/>
              <a:t> </a:t>
            </a:r>
            <a:r>
              <a:rPr spc="-25" dirty="0"/>
              <a:t>parsing</a:t>
            </a:r>
            <a:r>
              <a:rPr spc="25" dirty="0"/>
              <a:t> </a:t>
            </a:r>
            <a:r>
              <a:rPr dirty="0"/>
              <a:t>is</a:t>
            </a:r>
            <a:r>
              <a:rPr spc="30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spc="-20" dirty="0"/>
              <a:t>process</a:t>
            </a:r>
            <a:r>
              <a:rPr spc="30" dirty="0"/>
              <a:t> </a:t>
            </a:r>
            <a:r>
              <a:rPr dirty="0"/>
              <a:t>of</a:t>
            </a:r>
            <a:r>
              <a:rPr spc="295" dirty="0"/>
              <a:t> </a:t>
            </a:r>
            <a:r>
              <a:rPr spc="-30" dirty="0"/>
              <a:t>reducing</a:t>
            </a:r>
            <a:r>
              <a:rPr spc="25" dirty="0"/>
              <a:t> </a:t>
            </a:r>
            <a:r>
              <a:rPr dirty="0"/>
              <a:t>a</a:t>
            </a:r>
            <a:r>
              <a:rPr spc="30" dirty="0"/>
              <a:t> </a:t>
            </a:r>
            <a:r>
              <a:rPr dirty="0"/>
              <a:t>string</a:t>
            </a:r>
            <a:r>
              <a:rPr spc="25" dirty="0"/>
              <a:t> </a:t>
            </a:r>
            <a:r>
              <a:rPr i="1" spc="-19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w</a:t>
            </a:r>
            <a:r>
              <a:rPr i="1" spc="4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spc="-10" dirty="0"/>
              <a:t>start </a:t>
            </a:r>
            <a:r>
              <a:rPr spc="-25" dirty="0"/>
              <a:t>symbol</a:t>
            </a:r>
            <a:r>
              <a:rPr spc="20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10" dirty="0"/>
              <a:t>grammar</a:t>
            </a:r>
            <a:endParaRPr spc="-10" dirty="0"/>
          </a:p>
          <a:p>
            <a:pPr marL="12700" marR="5080">
              <a:lnSpc>
                <a:spcPct val="103000"/>
              </a:lnSpc>
              <a:spcBef>
                <a:spcPts val="570"/>
              </a:spcBef>
            </a:pPr>
            <a:r>
              <a:rPr dirty="0"/>
              <a:t>At</a:t>
            </a:r>
            <a:r>
              <a:rPr spc="15" dirty="0"/>
              <a:t> </a:t>
            </a:r>
            <a:r>
              <a:rPr spc="-10" dirty="0"/>
              <a:t>each</a:t>
            </a:r>
            <a:r>
              <a:rPr spc="15" dirty="0"/>
              <a:t> </a:t>
            </a:r>
            <a:r>
              <a:rPr spc="-20" dirty="0"/>
              <a:t>reduction</a:t>
            </a:r>
            <a:r>
              <a:rPr spc="20" dirty="0"/>
              <a:t> </a:t>
            </a:r>
            <a:r>
              <a:rPr dirty="0"/>
              <a:t>step,</a:t>
            </a:r>
            <a:r>
              <a:rPr spc="20" dirty="0"/>
              <a:t> </a:t>
            </a:r>
            <a:r>
              <a:rPr dirty="0"/>
              <a:t>a</a:t>
            </a:r>
            <a:r>
              <a:rPr spc="20" dirty="0"/>
              <a:t> </a:t>
            </a:r>
            <a:r>
              <a:rPr spc="-20" dirty="0"/>
              <a:t>specific</a:t>
            </a:r>
            <a:r>
              <a:rPr spc="15" dirty="0"/>
              <a:t> </a:t>
            </a:r>
            <a:r>
              <a:rPr spc="-20" dirty="0"/>
              <a:t>substring</a:t>
            </a:r>
            <a:r>
              <a:rPr spc="20" dirty="0"/>
              <a:t> </a:t>
            </a:r>
            <a:r>
              <a:rPr spc="-20" dirty="0"/>
              <a:t>matching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10" dirty="0"/>
              <a:t>body</a:t>
            </a:r>
            <a:r>
              <a:rPr spc="2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50" dirty="0"/>
              <a:t>a </a:t>
            </a:r>
            <a:r>
              <a:rPr spc="-25" dirty="0"/>
              <a:t>production</a:t>
            </a:r>
            <a:r>
              <a:rPr spc="40" dirty="0"/>
              <a:t> </a:t>
            </a:r>
            <a:r>
              <a:rPr dirty="0"/>
              <a:t>is</a:t>
            </a:r>
            <a:r>
              <a:rPr spc="45" dirty="0"/>
              <a:t> </a:t>
            </a:r>
            <a:r>
              <a:rPr spc="-25" dirty="0"/>
              <a:t>replaced</a:t>
            </a:r>
            <a:r>
              <a:rPr spc="40" dirty="0"/>
              <a:t> </a:t>
            </a:r>
            <a:r>
              <a:rPr dirty="0"/>
              <a:t>by</a:t>
            </a:r>
            <a:r>
              <a:rPr spc="45" dirty="0"/>
              <a:t> </a:t>
            </a:r>
            <a:r>
              <a:rPr dirty="0"/>
              <a:t>the</a:t>
            </a:r>
            <a:r>
              <a:rPr spc="40" dirty="0"/>
              <a:t> </a:t>
            </a:r>
            <a:r>
              <a:rPr spc="-25" dirty="0"/>
              <a:t>nonterminal</a:t>
            </a:r>
            <a:r>
              <a:rPr spc="45" dirty="0"/>
              <a:t> </a:t>
            </a:r>
            <a:r>
              <a:rPr dirty="0"/>
              <a:t>at</a:t>
            </a:r>
            <a:r>
              <a:rPr spc="40" dirty="0"/>
              <a:t> </a:t>
            </a:r>
            <a:r>
              <a:rPr dirty="0"/>
              <a:t>the</a:t>
            </a:r>
            <a:r>
              <a:rPr spc="45" dirty="0"/>
              <a:t> </a:t>
            </a:r>
            <a:r>
              <a:rPr spc="-20" dirty="0"/>
              <a:t>head</a:t>
            </a:r>
            <a:r>
              <a:rPr spc="40" dirty="0"/>
              <a:t> </a:t>
            </a:r>
            <a:r>
              <a:rPr dirty="0"/>
              <a:t>of</a:t>
            </a:r>
            <a:r>
              <a:rPr spc="45" dirty="0"/>
              <a:t> </a:t>
            </a:r>
            <a:r>
              <a:rPr spc="-20" dirty="0"/>
              <a:t>that </a:t>
            </a:r>
            <a:r>
              <a:rPr spc="-10" dirty="0"/>
              <a:t>production.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/>
              <a:t>The</a:t>
            </a:r>
            <a:r>
              <a:rPr spc="35" dirty="0"/>
              <a:t> </a:t>
            </a:r>
            <a:r>
              <a:rPr spc="-10" dirty="0"/>
              <a:t>key</a:t>
            </a:r>
            <a:r>
              <a:rPr spc="35" dirty="0"/>
              <a:t> </a:t>
            </a:r>
            <a:r>
              <a:rPr spc="-30" dirty="0"/>
              <a:t>decisions</a:t>
            </a:r>
            <a:r>
              <a:rPr spc="35" dirty="0"/>
              <a:t> </a:t>
            </a:r>
            <a:r>
              <a:rPr spc="-30" dirty="0"/>
              <a:t>during</a:t>
            </a:r>
            <a:r>
              <a:rPr spc="40" dirty="0"/>
              <a:t> </a:t>
            </a:r>
            <a:r>
              <a:rPr spc="-25" dirty="0"/>
              <a:t>bottom-</a:t>
            </a:r>
            <a:r>
              <a:rPr dirty="0"/>
              <a:t>up</a:t>
            </a:r>
            <a:r>
              <a:rPr spc="35" dirty="0"/>
              <a:t> </a:t>
            </a:r>
            <a:r>
              <a:rPr spc="-25" dirty="0"/>
              <a:t>parsing</a:t>
            </a:r>
            <a:r>
              <a:rPr spc="35" dirty="0"/>
              <a:t> </a:t>
            </a:r>
            <a:r>
              <a:rPr dirty="0"/>
              <a:t>are</a:t>
            </a:r>
            <a:r>
              <a:rPr spc="35" dirty="0"/>
              <a:t> </a:t>
            </a:r>
            <a:r>
              <a:rPr spc="-20" dirty="0"/>
              <a:t>about</a:t>
            </a:r>
            <a:endParaRPr spc="-20" dirty="0"/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000" spc="-35" dirty="0"/>
              <a:t>when</a:t>
            </a:r>
            <a:r>
              <a:rPr sz="1000" spc="40" dirty="0"/>
              <a:t> </a:t>
            </a:r>
            <a:r>
              <a:rPr sz="1000" dirty="0"/>
              <a:t>to</a:t>
            </a:r>
            <a:r>
              <a:rPr sz="1000" spc="40" dirty="0"/>
              <a:t> </a:t>
            </a:r>
            <a:r>
              <a:rPr sz="1000" spc="-10" dirty="0"/>
              <a:t>reduce</a:t>
            </a:r>
            <a:endParaRPr sz="1000"/>
          </a:p>
          <a:p>
            <a:pPr marL="289560">
              <a:lnSpc>
                <a:spcPct val="100000"/>
              </a:lnSpc>
              <a:spcBef>
                <a:spcPts val="560"/>
              </a:spcBef>
            </a:pPr>
            <a:r>
              <a:rPr sz="1000" dirty="0"/>
              <a:t>what</a:t>
            </a:r>
            <a:r>
              <a:rPr sz="1000" spc="25" dirty="0"/>
              <a:t> </a:t>
            </a:r>
            <a:r>
              <a:rPr sz="1000" spc="-20" dirty="0"/>
              <a:t>production</a:t>
            </a:r>
            <a:r>
              <a:rPr sz="1000" spc="25" dirty="0"/>
              <a:t> </a:t>
            </a:r>
            <a:r>
              <a:rPr sz="1000" dirty="0"/>
              <a:t>to</a:t>
            </a:r>
            <a:r>
              <a:rPr sz="1000" spc="30" dirty="0"/>
              <a:t> </a:t>
            </a:r>
            <a:r>
              <a:rPr sz="1000" spc="-10" dirty="0"/>
              <a:t>apply</a:t>
            </a:r>
            <a:endParaRPr sz="1000"/>
          </a:p>
        </p:txBody>
      </p:sp>
      <p:sp>
        <p:nvSpPr>
          <p:cNvPr id="11" name="object 11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110755" y="703000"/>
            <a:ext cx="525780" cy="165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b="1" spc="130" dirty="0">
                <a:latin typeface="Book Antiqua" panose="02040602050305030304"/>
                <a:cs typeface="Book Antiqua" panose="02040602050305030304"/>
              </a:rPr>
              <a:t>E</a:t>
            </a:r>
            <a:r>
              <a:rPr sz="900" b="1" spc="-3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10" dirty="0">
                <a:latin typeface="Book Antiqua" panose="02040602050305030304"/>
                <a:cs typeface="Book Antiqua" panose="02040602050305030304"/>
              </a:rPr>
              <a:t>==&gt;*</a:t>
            </a:r>
            <a:r>
              <a:rPr sz="900" b="1" spc="-2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15" dirty="0">
                <a:latin typeface="Book Antiqua" panose="02040602050305030304"/>
                <a:cs typeface="Book Antiqua" panose="02040602050305030304"/>
              </a:rPr>
              <a:t>w</a:t>
            </a:r>
            <a:endParaRPr sz="90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  <p:sp>
        <p:nvSpPr>
          <p:cNvPr id="13" name="object 13"/>
          <p:cNvSpPr txBox="1"/>
          <p:nvPr/>
        </p:nvSpPr>
        <p:spPr>
          <a:xfrm>
            <a:off x="3122623" y="612461"/>
            <a:ext cx="436880" cy="165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b="1" spc="150" dirty="0">
                <a:latin typeface="Book Antiqua" panose="02040602050305030304"/>
                <a:cs typeface="Book Antiqua" panose="02040602050305030304"/>
              </a:rPr>
              <a:t>F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160" dirty="0">
                <a:latin typeface="Book Antiqua" panose="02040602050305030304"/>
                <a:cs typeface="Book Antiqua" panose="02040602050305030304"/>
              </a:rPr>
              <a:t>—</a:t>
            </a:r>
            <a:r>
              <a:rPr sz="900" b="1" spc="-100" dirty="0">
                <a:latin typeface="Book Antiqua" panose="02040602050305030304"/>
                <a:cs typeface="Book Antiqua" panose="02040602050305030304"/>
              </a:rPr>
              <a:t>&gt;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25" dirty="0">
                <a:latin typeface="Book Antiqua" panose="02040602050305030304"/>
                <a:cs typeface="Book Antiqua" panose="02040602050305030304"/>
              </a:rPr>
              <a:t>id</a:t>
            </a:r>
            <a:endParaRPr sz="900">
              <a:latin typeface="Book Antiqua" panose="02040602050305030304"/>
              <a:cs typeface="Book Antiqua" panose="02040602050305030304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9290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Up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Parsing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5300" y="182191"/>
            <a:ext cx="14573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Handle</a:t>
            </a:r>
            <a:r>
              <a:rPr sz="1400" b="1" spc="46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6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Pruning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19963" y="1215136"/>
          <a:ext cx="4037329" cy="1003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5770"/>
                <a:gridCol w="673100"/>
                <a:gridCol w="1570990"/>
              </a:tblGrid>
              <a:tr h="207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96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301040" y="1273048"/>
            <a:ext cx="364490" cy="90170"/>
            <a:chOff x="301040" y="1273048"/>
            <a:chExt cx="364490" cy="9017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1040" y="1273048"/>
              <a:ext cx="121919" cy="8991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3628" y="1289812"/>
              <a:ext cx="71628" cy="716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5924" y="1291336"/>
              <a:ext cx="70103" cy="6858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5172" y="1291336"/>
              <a:ext cx="70103" cy="68580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718616" y="1270000"/>
            <a:ext cx="707390" cy="93345"/>
            <a:chOff x="718616" y="1270000"/>
            <a:chExt cx="707390" cy="9334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8616" y="1270000"/>
              <a:ext cx="56387" cy="9296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5672" y="1291336"/>
              <a:ext cx="65531" cy="6858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0348" y="1291336"/>
              <a:ext cx="70103" cy="6858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9596" y="1291336"/>
              <a:ext cx="70103" cy="6858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7320" y="1291336"/>
              <a:ext cx="65531" cy="6858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91996" y="1291336"/>
              <a:ext cx="70103" cy="6858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71244" y="1291336"/>
              <a:ext cx="108204" cy="6858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87068" y="1288288"/>
              <a:ext cx="138683" cy="71627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1479092" y="1273048"/>
            <a:ext cx="334010" cy="88900"/>
            <a:chOff x="1479092" y="1273048"/>
            <a:chExt cx="334010" cy="88900"/>
          </a:xfrm>
        </p:grpSpPr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79092" y="1273048"/>
              <a:ext cx="71628" cy="8686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62912" y="1289812"/>
              <a:ext cx="70104" cy="7162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45208" y="1291336"/>
              <a:ext cx="73151" cy="7010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24456" y="1291336"/>
              <a:ext cx="88392" cy="68580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2017064" y="1273048"/>
            <a:ext cx="469900" cy="86995"/>
            <a:chOff x="2017064" y="1273048"/>
            <a:chExt cx="469900" cy="86995"/>
          </a:xfrm>
        </p:grpSpPr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017064" y="1273048"/>
              <a:ext cx="83819" cy="8686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110028" y="1288288"/>
              <a:ext cx="73151" cy="7162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92324" y="1291336"/>
              <a:ext cx="70104" cy="6858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273096" y="1291336"/>
              <a:ext cx="138684" cy="6858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20924" y="1291336"/>
              <a:ext cx="65531" cy="68580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2689148" y="1273048"/>
            <a:ext cx="599440" cy="167005"/>
            <a:chOff x="2689148" y="1273048"/>
            <a:chExt cx="599440" cy="167005"/>
          </a:xfrm>
        </p:grpSpPr>
        <p:pic>
          <p:nvPicPr>
            <p:cNvPr id="33" name="object 3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689148" y="1273048"/>
              <a:ext cx="86868" cy="8991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80588" y="1291336"/>
              <a:ext cx="65531" cy="6858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855264" y="1291336"/>
              <a:ext cx="70104" cy="6858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937560" y="1291336"/>
              <a:ext cx="70104" cy="7010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019856" y="1289812"/>
              <a:ext cx="105156" cy="7162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34156" y="1291336"/>
              <a:ext cx="70104" cy="6858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16452" y="1289812"/>
              <a:ext cx="71627" cy="7162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023129" y="1374193"/>
              <a:ext cx="189865" cy="59690"/>
            </a:xfrm>
            <a:custGeom>
              <a:avLst/>
              <a:gdLst/>
              <a:ahLst/>
              <a:cxnLst/>
              <a:rect l="l" t="t" r="r" b="b"/>
              <a:pathLst>
                <a:path w="189864" h="59690">
                  <a:moveTo>
                    <a:pt x="0" y="28957"/>
                  </a:moveTo>
                  <a:lnTo>
                    <a:pt x="25671" y="50973"/>
                  </a:lnTo>
                  <a:lnTo>
                    <a:pt x="57471" y="59085"/>
                  </a:lnTo>
                  <a:lnTo>
                    <a:pt x="95400" y="53294"/>
                  </a:lnTo>
                  <a:lnTo>
                    <a:pt x="139457" y="33599"/>
                  </a:lnTo>
                  <a:lnTo>
                    <a:pt x="189643" y="1"/>
                  </a:lnTo>
                </a:path>
              </a:pathLst>
            </a:custGeom>
            <a:ln w="127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" name="object 41"/>
          <p:cNvGrpSpPr/>
          <p:nvPr/>
        </p:nvGrpSpPr>
        <p:grpSpPr>
          <a:xfrm>
            <a:off x="3341420" y="1273048"/>
            <a:ext cx="757555" cy="88900"/>
            <a:chOff x="3341420" y="1273048"/>
            <a:chExt cx="757555" cy="88900"/>
          </a:xfrm>
        </p:grpSpPr>
        <p:pic>
          <p:nvPicPr>
            <p:cNvPr id="42" name="object 4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341420" y="1273048"/>
              <a:ext cx="73151" cy="8686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428288" y="1291336"/>
              <a:ext cx="73151" cy="7010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506012" y="1289812"/>
              <a:ext cx="70103" cy="7162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588308" y="1291336"/>
              <a:ext cx="70103" cy="6858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670604" y="1291336"/>
              <a:ext cx="70103" cy="7010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752900" y="1289812"/>
              <a:ext cx="64008" cy="7162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27576" y="1291336"/>
              <a:ext cx="108203" cy="6858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946448" y="1289812"/>
              <a:ext cx="70103" cy="71627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28744" y="1291336"/>
              <a:ext cx="70103" cy="68580"/>
            </a:xfrm>
            <a:prstGeom prst="rect">
              <a:avLst/>
            </a:prstGeom>
          </p:spPr>
        </p:pic>
      </p:grpSp>
      <p:grpSp>
        <p:nvGrpSpPr>
          <p:cNvPr id="51" name="object 51"/>
          <p:cNvGrpSpPr/>
          <p:nvPr/>
        </p:nvGrpSpPr>
        <p:grpSpPr>
          <a:xfrm>
            <a:off x="1389176" y="1478788"/>
            <a:ext cx="157480" cy="108585"/>
            <a:chOff x="1389176" y="1478788"/>
            <a:chExt cx="157480" cy="108585"/>
          </a:xfrm>
        </p:grpSpPr>
        <p:pic>
          <p:nvPicPr>
            <p:cNvPr id="52" name="object 5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389176" y="1478788"/>
              <a:ext cx="32003" cy="89916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430324" y="1480312"/>
              <a:ext cx="115823" cy="106680"/>
            </a:xfrm>
            <a:prstGeom prst="rect">
              <a:avLst/>
            </a:prstGeom>
          </p:spPr>
        </p:pic>
      </p:grpSp>
      <p:grpSp>
        <p:nvGrpSpPr>
          <p:cNvPr id="54" name="object 54"/>
          <p:cNvGrpSpPr/>
          <p:nvPr/>
        </p:nvGrpSpPr>
        <p:grpSpPr>
          <a:xfrm>
            <a:off x="1468424" y="1478788"/>
            <a:ext cx="378460" cy="411480"/>
            <a:chOff x="1468424" y="1478788"/>
            <a:chExt cx="378460" cy="411480"/>
          </a:xfrm>
        </p:grpSpPr>
        <p:pic>
          <p:nvPicPr>
            <p:cNvPr id="55" name="object 5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597964" y="1509268"/>
              <a:ext cx="47243" cy="5486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686356" y="1478788"/>
              <a:ext cx="32004" cy="89916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727504" y="1480312"/>
              <a:ext cx="118871" cy="10668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468424" y="1632712"/>
              <a:ext cx="89915" cy="86868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597964" y="1660144"/>
              <a:ext cx="47243" cy="54863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686356" y="1629664"/>
              <a:ext cx="32004" cy="89916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727504" y="1631188"/>
              <a:ext cx="118871" cy="10668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474520" y="1785112"/>
              <a:ext cx="83819" cy="86868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597964" y="1812544"/>
              <a:ext cx="47243" cy="54863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686356" y="1782064"/>
              <a:ext cx="32004" cy="89916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727504" y="1783588"/>
              <a:ext cx="118871" cy="106680"/>
            </a:xfrm>
            <a:prstGeom prst="rect">
              <a:avLst/>
            </a:prstGeom>
          </p:spPr>
        </p:pic>
      </p:grpSp>
      <p:grpSp>
        <p:nvGrpSpPr>
          <p:cNvPr id="66" name="object 66"/>
          <p:cNvGrpSpPr/>
          <p:nvPr/>
        </p:nvGrpSpPr>
        <p:grpSpPr>
          <a:xfrm>
            <a:off x="2182952" y="1470683"/>
            <a:ext cx="225425" cy="248920"/>
            <a:chOff x="2182952" y="1470683"/>
            <a:chExt cx="225425" cy="248920"/>
          </a:xfrm>
        </p:grpSpPr>
        <p:pic>
          <p:nvPicPr>
            <p:cNvPr id="67" name="object 6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187752" y="1478788"/>
              <a:ext cx="32004" cy="8991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228900" y="1480312"/>
              <a:ext cx="115824" cy="10668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227376" y="1632712"/>
              <a:ext cx="89916" cy="86868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182952" y="1470683"/>
              <a:ext cx="225287" cy="125948"/>
            </a:xfrm>
            <a:prstGeom prst="rect">
              <a:avLst/>
            </a:prstGeom>
          </p:spPr>
        </p:pic>
      </p:grpSp>
      <p:pic>
        <p:nvPicPr>
          <p:cNvPr id="71" name="object 71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689148" y="1481836"/>
            <a:ext cx="89916" cy="86868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2826308" y="1503172"/>
            <a:ext cx="109727" cy="67056"/>
          </a:xfrm>
          <a:prstGeom prst="rect">
            <a:avLst/>
          </a:prstGeom>
        </p:spPr>
      </p:pic>
      <p:grpSp>
        <p:nvGrpSpPr>
          <p:cNvPr id="73" name="object 73"/>
          <p:cNvGrpSpPr/>
          <p:nvPr/>
        </p:nvGrpSpPr>
        <p:grpSpPr>
          <a:xfrm>
            <a:off x="2984804" y="1478788"/>
            <a:ext cx="113030" cy="90170"/>
            <a:chOff x="2984804" y="1478788"/>
            <a:chExt cx="113030" cy="90170"/>
          </a:xfrm>
        </p:grpSpPr>
        <p:pic>
          <p:nvPicPr>
            <p:cNvPr id="74" name="object 7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984804" y="1478788"/>
              <a:ext cx="32004" cy="89916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025952" y="1480312"/>
              <a:ext cx="71627" cy="88392"/>
            </a:xfrm>
            <a:prstGeom prst="rect">
              <a:avLst/>
            </a:prstGeom>
          </p:spPr>
        </p:pic>
      </p:grpSp>
      <p:pic>
        <p:nvPicPr>
          <p:cNvPr id="76" name="object 76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687624" y="1632711"/>
            <a:ext cx="83819" cy="86868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2818688" y="1654048"/>
            <a:ext cx="109727" cy="67056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977184" y="1632711"/>
            <a:ext cx="89916" cy="86868"/>
          </a:xfrm>
          <a:prstGeom prst="rect">
            <a:avLst/>
          </a:prstGeom>
        </p:spPr>
      </p:pic>
      <p:grpSp>
        <p:nvGrpSpPr>
          <p:cNvPr id="79" name="object 79"/>
          <p:cNvGrpSpPr/>
          <p:nvPr/>
        </p:nvGrpSpPr>
        <p:grpSpPr>
          <a:xfrm>
            <a:off x="2187752" y="1782064"/>
            <a:ext cx="160020" cy="108585"/>
            <a:chOff x="2187752" y="1782064"/>
            <a:chExt cx="160020" cy="108585"/>
          </a:xfrm>
        </p:grpSpPr>
        <p:pic>
          <p:nvPicPr>
            <p:cNvPr id="80" name="object 8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187752" y="1782064"/>
              <a:ext cx="32004" cy="89916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228900" y="1783588"/>
              <a:ext cx="118871" cy="106680"/>
            </a:xfrm>
            <a:prstGeom prst="rect">
              <a:avLst/>
            </a:prstGeom>
          </p:spPr>
        </p:pic>
      </p:grpSp>
      <p:pic>
        <p:nvPicPr>
          <p:cNvPr id="82" name="object 82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689148" y="1785111"/>
            <a:ext cx="89916" cy="86868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2826308" y="1806448"/>
            <a:ext cx="109727" cy="67056"/>
          </a:xfrm>
          <a:prstGeom prst="rect">
            <a:avLst/>
          </a:prstGeom>
        </p:spPr>
      </p:pic>
      <p:grpSp>
        <p:nvGrpSpPr>
          <p:cNvPr id="84" name="object 84"/>
          <p:cNvGrpSpPr/>
          <p:nvPr/>
        </p:nvGrpSpPr>
        <p:grpSpPr>
          <a:xfrm>
            <a:off x="2984804" y="1782064"/>
            <a:ext cx="113030" cy="90170"/>
            <a:chOff x="2984804" y="1782064"/>
            <a:chExt cx="113030" cy="90170"/>
          </a:xfrm>
        </p:grpSpPr>
        <p:pic>
          <p:nvPicPr>
            <p:cNvPr id="85" name="object 8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984804" y="1782064"/>
              <a:ext cx="32004" cy="89916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025952" y="1783588"/>
              <a:ext cx="71627" cy="88392"/>
            </a:xfrm>
            <a:prstGeom prst="rect">
              <a:avLst/>
            </a:prstGeom>
          </p:spPr>
        </p:pic>
      </p:grpSp>
      <p:grpSp>
        <p:nvGrpSpPr>
          <p:cNvPr id="87" name="object 87"/>
          <p:cNvGrpSpPr/>
          <p:nvPr/>
        </p:nvGrpSpPr>
        <p:grpSpPr>
          <a:xfrm>
            <a:off x="1553768" y="1935988"/>
            <a:ext cx="302260" cy="86995"/>
            <a:chOff x="1553768" y="1935988"/>
            <a:chExt cx="302260" cy="86995"/>
          </a:xfrm>
        </p:grpSpPr>
        <p:pic>
          <p:nvPicPr>
            <p:cNvPr id="88" name="object 8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553768" y="1935988"/>
              <a:ext cx="83819" cy="86868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77212" y="1963420"/>
              <a:ext cx="47243" cy="54863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765604" y="1935988"/>
              <a:ext cx="89916" cy="86868"/>
            </a:xfrm>
            <a:prstGeom prst="rect">
              <a:avLst/>
            </a:prstGeom>
          </p:spPr>
        </p:pic>
      </p:grpSp>
      <p:grpSp>
        <p:nvGrpSpPr>
          <p:cNvPr id="91" name="object 91"/>
          <p:cNvGrpSpPr/>
          <p:nvPr/>
        </p:nvGrpSpPr>
        <p:grpSpPr>
          <a:xfrm>
            <a:off x="2120696" y="1935988"/>
            <a:ext cx="302260" cy="86995"/>
            <a:chOff x="2120696" y="1935988"/>
            <a:chExt cx="302260" cy="86995"/>
          </a:xfrm>
        </p:grpSpPr>
        <p:pic>
          <p:nvPicPr>
            <p:cNvPr id="92" name="object 9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120696" y="1935988"/>
              <a:ext cx="83819" cy="86868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244140" y="1963420"/>
              <a:ext cx="47243" cy="54863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332532" y="1935988"/>
              <a:ext cx="89916" cy="86868"/>
            </a:xfrm>
            <a:prstGeom prst="rect">
              <a:avLst/>
            </a:prstGeom>
          </p:spPr>
        </p:pic>
      </p:grpSp>
      <p:pic>
        <p:nvPicPr>
          <p:cNvPr id="95" name="object 9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687624" y="1935988"/>
            <a:ext cx="83819" cy="86868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2818688" y="1957324"/>
            <a:ext cx="109727" cy="67056"/>
          </a:xfrm>
          <a:prstGeom prst="rect">
            <a:avLst/>
          </a:prstGeom>
        </p:spPr>
      </p:pic>
      <p:pic>
        <p:nvPicPr>
          <p:cNvPr id="97" name="object 97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975660" y="1935988"/>
            <a:ext cx="83819" cy="86868"/>
          </a:xfrm>
          <a:prstGeom prst="rect">
            <a:avLst/>
          </a:prstGeom>
        </p:spPr>
      </p:pic>
      <p:pic>
        <p:nvPicPr>
          <p:cNvPr id="98" name="object 9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141776" y="1963420"/>
            <a:ext cx="47243" cy="54863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272840" y="1935988"/>
            <a:ext cx="89915" cy="86868"/>
          </a:xfrm>
          <a:prstGeom prst="rect">
            <a:avLst/>
          </a:prstGeom>
        </p:spPr>
      </p:pic>
      <p:pic>
        <p:nvPicPr>
          <p:cNvPr id="100" name="object 100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771700" y="2088388"/>
            <a:ext cx="83819" cy="86868"/>
          </a:xfrm>
          <a:prstGeom prst="rect">
            <a:avLst/>
          </a:prstGeom>
        </p:spPr>
      </p:pic>
      <p:pic>
        <p:nvPicPr>
          <p:cNvPr id="101" name="object 10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230424" y="2088388"/>
            <a:ext cx="83819" cy="86868"/>
          </a:xfrm>
          <a:prstGeom prst="rect">
            <a:avLst/>
          </a:prstGeom>
        </p:spPr>
      </p:pic>
      <p:pic>
        <p:nvPicPr>
          <p:cNvPr id="102" name="object 102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2689148" y="2088388"/>
            <a:ext cx="91439" cy="86868"/>
          </a:xfrm>
          <a:prstGeom prst="rect">
            <a:avLst/>
          </a:prstGeom>
        </p:spPr>
      </p:pic>
      <p:pic>
        <p:nvPicPr>
          <p:cNvPr id="103" name="object 103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2827832" y="2109724"/>
            <a:ext cx="109727" cy="67056"/>
          </a:xfrm>
          <a:prstGeom prst="rect">
            <a:avLst/>
          </a:prstGeom>
        </p:spPr>
      </p:pic>
      <p:pic>
        <p:nvPicPr>
          <p:cNvPr id="104" name="object 104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984804" y="2088388"/>
            <a:ext cx="83819" cy="86868"/>
          </a:xfrm>
          <a:prstGeom prst="rect">
            <a:avLst/>
          </a:prstGeom>
        </p:spPr>
      </p:pic>
      <p:sp>
        <p:nvSpPr>
          <p:cNvPr id="105" name="object 105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4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4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4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4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4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4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4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4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08" name="object 10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128685" y="2769423"/>
            <a:ext cx="84962" cy="9842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9070" y="1879519"/>
            <a:ext cx="102920" cy="9841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5888" y="1879519"/>
            <a:ext cx="69265" cy="984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3236595" y="3236248"/>
            <a:ext cx="203200" cy="55880"/>
            <a:chOff x="3236595" y="3236248"/>
            <a:chExt cx="203200" cy="55880"/>
          </a:xfrm>
        </p:grpSpPr>
        <p:sp>
          <p:nvSpPr>
            <p:cNvPr id="10" name="object 10"/>
            <p:cNvSpPr/>
            <p:nvPr/>
          </p:nvSpPr>
          <p:spPr>
            <a:xfrm>
              <a:off x="3299764" y="3238778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236595" y="3245129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3513531" y="3234982"/>
            <a:ext cx="203200" cy="58419"/>
            <a:chOff x="3513531" y="3234982"/>
            <a:chExt cx="203200" cy="58419"/>
          </a:xfrm>
        </p:grpSpPr>
        <p:sp>
          <p:nvSpPr>
            <p:cNvPr id="13" name="object 13"/>
            <p:cNvSpPr/>
            <p:nvPr/>
          </p:nvSpPr>
          <p:spPr>
            <a:xfrm>
              <a:off x="3602432" y="3251478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513531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589732" y="323877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3790467" y="3234982"/>
            <a:ext cx="203200" cy="58419"/>
            <a:chOff x="3790467" y="3234982"/>
            <a:chExt cx="203200" cy="58419"/>
          </a:xfrm>
        </p:grpSpPr>
        <p:sp>
          <p:nvSpPr>
            <p:cNvPr id="17" name="object 17"/>
            <p:cNvSpPr/>
            <p:nvPr/>
          </p:nvSpPr>
          <p:spPr>
            <a:xfrm>
              <a:off x="3866668" y="3238778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790467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866668" y="3276879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1" name="object 21"/>
          <p:cNvGrpSpPr/>
          <p:nvPr/>
        </p:nvGrpSpPr>
        <p:grpSpPr>
          <a:xfrm>
            <a:off x="4326582" y="3236248"/>
            <a:ext cx="238760" cy="57150"/>
            <a:chOff x="4326582" y="3236248"/>
            <a:chExt cx="238760" cy="57150"/>
          </a:xfrm>
        </p:grpSpPr>
        <p:sp>
          <p:nvSpPr>
            <p:cNvPr id="22" name="object 22"/>
            <p:cNvSpPr/>
            <p:nvPr/>
          </p:nvSpPr>
          <p:spPr>
            <a:xfrm>
              <a:off x="4451033" y="326925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423969" y="3242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329112" y="3238778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30911" y="-4300"/>
            <a:ext cx="9290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Up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 </a:t>
            </a:r>
            <a:r>
              <a:rPr sz="600" b="1" spc="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Parsing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Shift-</a:t>
            </a:r>
            <a:r>
              <a:rPr spc="60" dirty="0"/>
              <a:t>Reduce</a:t>
            </a:r>
            <a:r>
              <a:rPr spc="490" dirty="0"/>
              <a:t> </a:t>
            </a:r>
            <a:r>
              <a:rPr spc="80" dirty="0"/>
              <a:t>Parser</a:t>
            </a:r>
            <a:endParaRPr spc="80" dirty="0"/>
          </a:p>
        </p:txBody>
      </p:sp>
      <p:pic>
        <p:nvPicPr>
          <p:cNvPr id="29" name="object 2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165" y="997851"/>
            <a:ext cx="65201" cy="65201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165" y="1241920"/>
            <a:ext cx="65201" cy="65201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165" y="1486001"/>
            <a:ext cx="65201" cy="65201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1165" y="2203970"/>
            <a:ext cx="65201" cy="65201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125844" y="660524"/>
            <a:ext cx="4064635" cy="2233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356235" indent="-277495">
              <a:lnSpc>
                <a:spcPct val="125000"/>
              </a:lnSpc>
              <a:spcBef>
                <a:spcPts val="100"/>
              </a:spcBef>
            </a:pP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Shift-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reduce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parsing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form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bottom-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up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parsing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which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stack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holds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grammar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symbols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 marR="394335">
              <a:lnSpc>
                <a:spcPct val="146000"/>
              </a:lnSpc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input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buffer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holds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rest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string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parsed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initial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configuration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7365">
              <a:lnSpc>
                <a:spcPct val="100000"/>
              </a:lnSpc>
              <a:spcBef>
                <a:spcPts val="550"/>
              </a:spcBef>
              <a:tabLst>
                <a:tab pos="2402840" algn="l"/>
              </a:tabLst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STACK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	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INPUT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979930">
              <a:lnSpc>
                <a:spcPct val="100000"/>
              </a:lnSpc>
              <a:spcBef>
                <a:spcPts val="35"/>
              </a:spcBef>
              <a:tabLst>
                <a:tab pos="2542540" algn="l"/>
              </a:tabLst>
            </a:pP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$	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w</a:t>
            </a:r>
            <a:r>
              <a:rPr sz="1100" spc="-2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$</a:t>
            </a:r>
            <a:endParaRPr sz="1100">
              <a:latin typeface="Garamond" panose="02020404030301010803"/>
              <a:cs typeface="Garamond" panose="02020404030301010803"/>
            </a:endParaRPr>
          </a:p>
          <a:p>
            <a:pPr marL="289560" marR="5080">
              <a:lnSpc>
                <a:spcPct val="103000"/>
              </a:lnSpc>
              <a:spcBef>
                <a:spcPts val="1075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parser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repeats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this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cycle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until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it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has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detected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error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or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until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stack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contains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start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symbol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input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empty: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7365">
              <a:lnSpc>
                <a:spcPct val="100000"/>
              </a:lnSpc>
              <a:spcBef>
                <a:spcPts val="550"/>
              </a:spcBef>
              <a:tabLst>
                <a:tab pos="2402840" algn="l"/>
              </a:tabLst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STACK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	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INPUT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933575">
              <a:lnSpc>
                <a:spcPct val="100000"/>
              </a:lnSpc>
              <a:spcBef>
                <a:spcPts val="35"/>
              </a:spcBef>
              <a:tabLst>
                <a:tab pos="2594610" algn="l"/>
              </a:tabLst>
            </a:pPr>
            <a:r>
              <a:rPr sz="1100" spc="-2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$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	</a:t>
            </a: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$</a:t>
            </a:r>
            <a:endParaRPr sz="1100">
              <a:latin typeface="Garamond" panose="02020404030301010803"/>
              <a:cs typeface="Garamond" panose="02020404030301010803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290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Up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Parsing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Shift-</a:t>
            </a:r>
            <a:r>
              <a:rPr spc="60" dirty="0"/>
              <a:t>Reduce</a:t>
            </a:r>
            <a:r>
              <a:rPr spc="490" dirty="0"/>
              <a:t> </a:t>
            </a:r>
            <a:r>
              <a:rPr spc="80" dirty="0"/>
              <a:t>Parser</a:t>
            </a:r>
            <a:endParaRPr spc="80" dirty="0"/>
          </a:p>
        </p:txBody>
      </p:sp>
      <p:sp>
        <p:nvSpPr>
          <p:cNvPr id="5" name="object 5"/>
          <p:cNvSpPr txBox="1"/>
          <p:nvPr/>
        </p:nvSpPr>
        <p:spPr>
          <a:xfrm>
            <a:off x="332397" y="715662"/>
            <a:ext cx="4150360" cy="18516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30505" algn="ctr">
              <a:lnSpc>
                <a:spcPct val="100000"/>
              </a:lnSpc>
              <a:spcBef>
                <a:spcPts val="115"/>
              </a:spcBef>
            </a:pPr>
            <a:r>
              <a:rPr sz="900" b="1" dirty="0">
                <a:latin typeface="Book Antiqua" panose="02040602050305030304"/>
                <a:cs typeface="Book Antiqua" panose="02040602050305030304"/>
              </a:rPr>
              <a:t>T-</a:t>
            </a:r>
            <a:r>
              <a:rPr sz="900" b="1" spc="-100" dirty="0">
                <a:latin typeface="Book Antiqua" panose="02040602050305030304"/>
                <a:cs typeface="Book Antiqua" panose="02040602050305030304"/>
              </a:rPr>
              <a:t>&gt;</a:t>
            </a:r>
            <a:r>
              <a:rPr sz="900" b="1" spc="3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T</a:t>
            </a:r>
            <a:r>
              <a:rPr sz="900" b="1" spc="3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150" dirty="0">
                <a:latin typeface="Book Antiqua" panose="02040602050305030304"/>
                <a:cs typeface="Book Antiqua" panose="02040602050305030304"/>
              </a:rPr>
              <a:t>*F</a:t>
            </a:r>
            <a:endParaRPr sz="900">
              <a:latin typeface="Book Antiqua" panose="02040602050305030304"/>
              <a:cs typeface="Book Antiqua" panose="02040602050305030304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900">
              <a:latin typeface="Book Antiqua" panose="02040602050305030304"/>
              <a:cs typeface="Book Antiqua" panose="02040602050305030304"/>
            </a:endParaRPr>
          </a:p>
          <a:p>
            <a:pPr marL="194310">
              <a:lnSpc>
                <a:spcPct val="100000"/>
              </a:lnSpc>
            </a:pPr>
            <a:r>
              <a:rPr sz="1100" b="1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Shift</a:t>
            </a:r>
            <a:r>
              <a:rPr sz="1100" b="1" spc="22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.</a:t>
            </a:r>
            <a:r>
              <a:rPr sz="1100" spc="1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Shift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next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input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symbol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onto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top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stack.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594995" marR="5080" indent="-582930">
              <a:lnSpc>
                <a:spcPct val="103000"/>
              </a:lnSpc>
              <a:spcBef>
                <a:spcPts val="300"/>
              </a:spcBef>
            </a:pPr>
            <a:r>
              <a:rPr sz="1100" b="1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Reduce</a:t>
            </a:r>
            <a:r>
              <a:rPr sz="1100" b="1" spc="24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.</a:t>
            </a:r>
            <a:r>
              <a:rPr sz="1100" spc="1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right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end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string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be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reduced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must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be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at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the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top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stack.</a:t>
            </a:r>
            <a:r>
              <a:rPr sz="1100" spc="1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Locate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left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end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string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within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stack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decide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with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what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nonterminal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replace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the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string.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45085">
              <a:lnSpc>
                <a:spcPct val="100000"/>
              </a:lnSpc>
              <a:spcBef>
                <a:spcPts val="335"/>
              </a:spcBef>
            </a:pPr>
            <a:r>
              <a:rPr sz="1100" b="1" spc="6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Accept</a:t>
            </a:r>
            <a:r>
              <a:rPr sz="1100" b="1" spc="22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.</a:t>
            </a:r>
            <a:r>
              <a:rPr sz="1100" spc="1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Announce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successful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completion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parsing.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594995" marR="433705" indent="-450850">
              <a:lnSpc>
                <a:spcPct val="103000"/>
              </a:lnSpc>
              <a:spcBef>
                <a:spcPts val="300"/>
              </a:spcBef>
            </a:pPr>
            <a:r>
              <a:rPr sz="1100" b="1" spc="8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Error</a:t>
            </a:r>
            <a:r>
              <a:rPr sz="1100" b="1" spc="19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.</a:t>
            </a:r>
            <a:r>
              <a:rPr sz="1100" spc="1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Discover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syntax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error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call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error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recovery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routine.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3236468" y="86918"/>
            <a:ext cx="1014094" cy="1054735"/>
            <a:chOff x="3236468" y="86918"/>
            <a:chExt cx="1014094" cy="1054735"/>
          </a:xfrm>
        </p:grpSpPr>
        <p:sp>
          <p:nvSpPr>
            <p:cNvPr id="8" name="object 8"/>
            <p:cNvSpPr/>
            <p:nvPr/>
          </p:nvSpPr>
          <p:spPr>
            <a:xfrm>
              <a:off x="3269170" y="86918"/>
              <a:ext cx="760095" cy="1013460"/>
            </a:xfrm>
            <a:custGeom>
              <a:avLst/>
              <a:gdLst/>
              <a:ahLst/>
              <a:cxnLst/>
              <a:rect l="l" t="t" r="r" b="b"/>
              <a:pathLst>
                <a:path w="760095" h="1013460">
                  <a:moveTo>
                    <a:pt x="759498" y="741895"/>
                  </a:moveTo>
                  <a:lnTo>
                    <a:pt x="758507" y="739330"/>
                  </a:lnTo>
                  <a:lnTo>
                    <a:pt x="756754" y="738898"/>
                  </a:lnTo>
                  <a:lnTo>
                    <a:pt x="735457" y="739673"/>
                  </a:lnTo>
                  <a:lnTo>
                    <a:pt x="682510" y="741845"/>
                  </a:lnTo>
                  <a:lnTo>
                    <a:pt x="628777" y="745058"/>
                  </a:lnTo>
                  <a:lnTo>
                    <a:pt x="577202" y="749058"/>
                  </a:lnTo>
                  <a:lnTo>
                    <a:pt x="538797" y="752830"/>
                  </a:lnTo>
                  <a:lnTo>
                    <a:pt x="522274" y="706564"/>
                  </a:lnTo>
                  <a:lnTo>
                    <a:pt x="487172" y="606361"/>
                  </a:lnTo>
                  <a:lnTo>
                    <a:pt x="451789" y="502767"/>
                  </a:lnTo>
                  <a:lnTo>
                    <a:pt x="418312" y="402196"/>
                  </a:lnTo>
                  <a:lnTo>
                    <a:pt x="402958" y="355066"/>
                  </a:lnTo>
                  <a:lnTo>
                    <a:pt x="378396" y="277571"/>
                  </a:lnTo>
                  <a:lnTo>
                    <a:pt x="361353" y="218821"/>
                  </a:lnTo>
                  <a:lnTo>
                    <a:pt x="348157" y="170611"/>
                  </a:lnTo>
                  <a:lnTo>
                    <a:pt x="333654" y="116598"/>
                  </a:lnTo>
                  <a:lnTo>
                    <a:pt x="322503" y="73037"/>
                  </a:lnTo>
                  <a:lnTo>
                    <a:pt x="306400" y="1066"/>
                  </a:lnTo>
                  <a:lnTo>
                    <a:pt x="303441" y="0"/>
                  </a:lnTo>
                  <a:lnTo>
                    <a:pt x="302107" y="2159"/>
                  </a:lnTo>
                  <a:lnTo>
                    <a:pt x="301967" y="4991"/>
                  </a:lnTo>
                  <a:lnTo>
                    <a:pt x="303174" y="12446"/>
                  </a:lnTo>
                  <a:lnTo>
                    <a:pt x="316636" y="72745"/>
                  </a:lnTo>
                  <a:lnTo>
                    <a:pt x="345236" y="180746"/>
                  </a:lnTo>
                  <a:lnTo>
                    <a:pt x="357212" y="224370"/>
                  </a:lnTo>
                  <a:lnTo>
                    <a:pt x="375043" y="285254"/>
                  </a:lnTo>
                  <a:lnTo>
                    <a:pt x="441591" y="490093"/>
                  </a:lnTo>
                  <a:lnTo>
                    <a:pt x="467321" y="567359"/>
                  </a:lnTo>
                  <a:lnTo>
                    <a:pt x="533158" y="753389"/>
                  </a:lnTo>
                  <a:lnTo>
                    <a:pt x="530783" y="753618"/>
                  </a:lnTo>
                  <a:lnTo>
                    <a:pt x="492480" y="758520"/>
                  </a:lnTo>
                  <a:lnTo>
                    <a:pt x="451586" y="765416"/>
                  </a:lnTo>
                  <a:lnTo>
                    <a:pt x="405384" y="774585"/>
                  </a:lnTo>
                  <a:lnTo>
                    <a:pt x="355104" y="785710"/>
                  </a:lnTo>
                  <a:lnTo>
                    <a:pt x="302006" y="798461"/>
                  </a:lnTo>
                  <a:lnTo>
                    <a:pt x="247332" y="812558"/>
                  </a:lnTo>
                  <a:lnTo>
                    <a:pt x="192303" y="827659"/>
                  </a:lnTo>
                  <a:lnTo>
                    <a:pt x="162115" y="836485"/>
                  </a:lnTo>
                  <a:lnTo>
                    <a:pt x="151879" y="786663"/>
                  </a:lnTo>
                  <a:lnTo>
                    <a:pt x="144526" y="747242"/>
                  </a:lnTo>
                  <a:lnTo>
                    <a:pt x="135051" y="679348"/>
                  </a:lnTo>
                  <a:lnTo>
                    <a:pt x="128943" y="610057"/>
                  </a:lnTo>
                  <a:lnTo>
                    <a:pt x="127215" y="571982"/>
                  </a:lnTo>
                  <a:lnTo>
                    <a:pt x="126161" y="525411"/>
                  </a:lnTo>
                  <a:lnTo>
                    <a:pt x="125641" y="465683"/>
                  </a:lnTo>
                  <a:lnTo>
                    <a:pt x="125425" y="311658"/>
                  </a:lnTo>
                  <a:lnTo>
                    <a:pt x="125158" y="267550"/>
                  </a:lnTo>
                  <a:lnTo>
                    <a:pt x="124574" y="247065"/>
                  </a:lnTo>
                  <a:lnTo>
                    <a:pt x="123583" y="241490"/>
                  </a:lnTo>
                  <a:lnTo>
                    <a:pt x="122059" y="240220"/>
                  </a:lnTo>
                  <a:lnTo>
                    <a:pt x="121272" y="240245"/>
                  </a:lnTo>
                  <a:lnTo>
                    <a:pt x="119646" y="241592"/>
                  </a:lnTo>
                  <a:lnTo>
                    <a:pt x="118567" y="246875"/>
                  </a:lnTo>
                  <a:lnTo>
                    <a:pt x="118033" y="267639"/>
                  </a:lnTo>
                  <a:lnTo>
                    <a:pt x="117970" y="314731"/>
                  </a:lnTo>
                  <a:lnTo>
                    <a:pt x="118656" y="476186"/>
                  </a:lnTo>
                  <a:lnTo>
                    <a:pt x="119227" y="530580"/>
                  </a:lnTo>
                  <a:lnTo>
                    <a:pt x="120129" y="569544"/>
                  </a:lnTo>
                  <a:lnTo>
                    <a:pt x="123634" y="630631"/>
                  </a:lnTo>
                  <a:lnTo>
                    <a:pt x="128155" y="679907"/>
                  </a:lnTo>
                  <a:lnTo>
                    <a:pt x="134315" y="726440"/>
                  </a:lnTo>
                  <a:lnTo>
                    <a:pt x="143192" y="777303"/>
                  </a:lnTo>
                  <a:lnTo>
                    <a:pt x="155613" y="838390"/>
                  </a:lnTo>
                  <a:lnTo>
                    <a:pt x="138201" y="843483"/>
                  </a:lnTo>
                  <a:lnTo>
                    <a:pt x="62839" y="867029"/>
                  </a:lnTo>
                  <a:lnTo>
                    <a:pt x="17284" y="876795"/>
                  </a:lnTo>
                  <a:lnTo>
                    <a:pt x="2463" y="878268"/>
                  </a:lnTo>
                  <a:lnTo>
                    <a:pt x="0" y="879259"/>
                  </a:lnTo>
                  <a:lnTo>
                    <a:pt x="3429" y="884605"/>
                  </a:lnTo>
                  <a:lnTo>
                    <a:pt x="5232" y="884923"/>
                  </a:lnTo>
                  <a:lnTo>
                    <a:pt x="12382" y="884593"/>
                  </a:lnTo>
                  <a:lnTo>
                    <a:pt x="27686" y="883285"/>
                  </a:lnTo>
                  <a:lnTo>
                    <a:pt x="44411" y="879983"/>
                  </a:lnTo>
                  <a:lnTo>
                    <a:pt x="67945" y="873366"/>
                  </a:lnTo>
                  <a:lnTo>
                    <a:pt x="146227" y="848918"/>
                  </a:lnTo>
                  <a:lnTo>
                    <a:pt x="157251" y="845705"/>
                  </a:lnTo>
                  <a:lnTo>
                    <a:pt x="163042" y="871054"/>
                  </a:lnTo>
                  <a:lnTo>
                    <a:pt x="173177" y="912926"/>
                  </a:lnTo>
                  <a:lnTo>
                    <a:pt x="183603" y="954468"/>
                  </a:lnTo>
                  <a:lnTo>
                    <a:pt x="194068" y="993330"/>
                  </a:lnTo>
                  <a:lnTo>
                    <a:pt x="195592" y="1001014"/>
                  </a:lnTo>
                  <a:lnTo>
                    <a:pt x="193865" y="1004709"/>
                  </a:lnTo>
                  <a:lnTo>
                    <a:pt x="195364" y="1009789"/>
                  </a:lnTo>
                  <a:lnTo>
                    <a:pt x="201053" y="1013383"/>
                  </a:lnTo>
                  <a:lnTo>
                    <a:pt x="203936" y="1010196"/>
                  </a:lnTo>
                  <a:lnTo>
                    <a:pt x="203936" y="1001725"/>
                  </a:lnTo>
                  <a:lnTo>
                    <a:pt x="204787" y="999172"/>
                  </a:lnTo>
                  <a:lnTo>
                    <a:pt x="243039" y="984135"/>
                  </a:lnTo>
                  <a:lnTo>
                    <a:pt x="299085" y="973696"/>
                  </a:lnTo>
                  <a:lnTo>
                    <a:pt x="343877" y="966609"/>
                  </a:lnTo>
                  <a:lnTo>
                    <a:pt x="388632" y="960018"/>
                  </a:lnTo>
                  <a:lnTo>
                    <a:pt x="501142" y="944803"/>
                  </a:lnTo>
                  <a:lnTo>
                    <a:pt x="578319" y="940650"/>
                  </a:lnTo>
                  <a:lnTo>
                    <a:pt x="590435" y="931875"/>
                  </a:lnTo>
                  <a:lnTo>
                    <a:pt x="591705" y="927823"/>
                  </a:lnTo>
                  <a:lnTo>
                    <a:pt x="590804" y="914107"/>
                  </a:lnTo>
                  <a:lnTo>
                    <a:pt x="587705" y="897191"/>
                  </a:lnTo>
                  <a:lnTo>
                    <a:pt x="585787" y="890714"/>
                  </a:lnTo>
                  <a:lnTo>
                    <a:pt x="585787" y="920889"/>
                  </a:lnTo>
                  <a:lnTo>
                    <a:pt x="580898" y="931773"/>
                  </a:lnTo>
                  <a:lnTo>
                    <a:pt x="577189" y="934885"/>
                  </a:lnTo>
                  <a:lnTo>
                    <a:pt x="542036" y="935316"/>
                  </a:lnTo>
                  <a:lnTo>
                    <a:pt x="524764" y="936371"/>
                  </a:lnTo>
                  <a:lnTo>
                    <a:pt x="377113" y="955522"/>
                  </a:lnTo>
                  <a:lnTo>
                    <a:pt x="326275" y="963155"/>
                  </a:lnTo>
                  <a:lnTo>
                    <a:pt x="280073" y="970610"/>
                  </a:lnTo>
                  <a:lnTo>
                    <a:pt x="236728" y="979220"/>
                  </a:lnTo>
                  <a:lnTo>
                    <a:pt x="200875" y="993051"/>
                  </a:lnTo>
                  <a:lnTo>
                    <a:pt x="194983" y="972629"/>
                  </a:lnTo>
                  <a:lnTo>
                    <a:pt x="183730" y="928179"/>
                  </a:lnTo>
                  <a:lnTo>
                    <a:pt x="171386" y="877239"/>
                  </a:lnTo>
                  <a:lnTo>
                    <a:pt x="163766" y="843813"/>
                  </a:lnTo>
                  <a:lnTo>
                    <a:pt x="193103" y="835266"/>
                  </a:lnTo>
                  <a:lnTo>
                    <a:pt x="242087" y="821766"/>
                  </a:lnTo>
                  <a:lnTo>
                    <a:pt x="290957" y="809028"/>
                  </a:lnTo>
                  <a:lnTo>
                    <a:pt x="337451" y="797661"/>
                  </a:lnTo>
                  <a:lnTo>
                    <a:pt x="398843" y="783717"/>
                  </a:lnTo>
                  <a:lnTo>
                    <a:pt x="449364" y="773404"/>
                  </a:lnTo>
                  <a:lnTo>
                    <a:pt x="493280" y="765898"/>
                  </a:lnTo>
                  <a:lnTo>
                    <a:pt x="534873" y="760399"/>
                  </a:lnTo>
                  <a:lnTo>
                    <a:pt x="535622" y="760336"/>
                  </a:lnTo>
                  <a:lnTo>
                    <a:pt x="563956" y="840359"/>
                  </a:lnTo>
                  <a:lnTo>
                    <a:pt x="581240" y="894473"/>
                  </a:lnTo>
                  <a:lnTo>
                    <a:pt x="585787" y="920889"/>
                  </a:lnTo>
                  <a:lnTo>
                    <a:pt x="585787" y="890714"/>
                  </a:lnTo>
                  <a:lnTo>
                    <a:pt x="579018" y="867803"/>
                  </a:lnTo>
                  <a:lnTo>
                    <a:pt x="563283" y="821372"/>
                  </a:lnTo>
                  <a:lnTo>
                    <a:pt x="541274" y="759790"/>
                  </a:lnTo>
                  <a:lnTo>
                    <a:pt x="567664" y="757224"/>
                  </a:lnTo>
                  <a:lnTo>
                    <a:pt x="610285" y="753808"/>
                  </a:lnTo>
                  <a:lnTo>
                    <a:pt x="653783" y="750824"/>
                  </a:lnTo>
                  <a:lnTo>
                    <a:pt x="689267" y="748919"/>
                  </a:lnTo>
                  <a:lnTo>
                    <a:pt x="719264" y="747598"/>
                  </a:lnTo>
                  <a:lnTo>
                    <a:pt x="740587" y="746366"/>
                  </a:lnTo>
                  <a:lnTo>
                    <a:pt x="753567" y="745197"/>
                  </a:lnTo>
                  <a:lnTo>
                    <a:pt x="758558" y="744067"/>
                  </a:lnTo>
                  <a:lnTo>
                    <a:pt x="759256" y="743369"/>
                  </a:lnTo>
                  <a:lnTo>
                    <a:pt x="759498" y="741895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89647" y="912001"/>
              <a:ext cx="108733" cy="12001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602371" y="788919"/>
              <a:ext cx="66040" cy="352425"/>
            </a:xfrm>
            <a:custGeom>
              <a:avLst/>
              <a:gdLst/>
              <a:ahLst/>
              <a:cxnLst/>
              <a:rect l="l" t="t" r="r" b="b"/>
              <a:pathLst>
                <a:path w="66039" h="352425">
                  <a:moveTo>
                    <a:pt x="1288" y="0"/>
                  </a:moveTo>
                  <a:lnTo>
                    <a:pt x="507" y="5237"/>
                  </a:lnTo>
                  <a:lnTo>
                    <a:pt x="91" y="22609"/>
                  </a:lnTo>
                  <a:lnTo>
                    <a:pt x="0" y="56421"/>
                  </a:lnTo>
                  <a:lnTo>
                    <a:pt x="671" y="180319"/>
                  </a:lnTo>
                  <a:lnTo>
                    <a:pt x="1656" y="220892"/>
                  </a:lnTo>
                  <a:lnTo>
                    <a:pt x="7357" y="262733"/>
                  </a:lnTo>
                  <a:lnTo>
                    <a:pt x="24643" y="310182"/>
                  </a:lnTo>
                  <a:lnTo>
                    <a:pt x="53168" y="346824"/>
                  </a:lnTo>
                  <a:lnTo>
                    <a:pt x="62024" y="352296"/>
                  </a:lnTo>
                  <a:lnTo>
                    <a:pt x="65642" y="350192"/>
                  </a:lnTo>
                  <a:lnTo>
                    <a:pt x="65642" y="349189"/>
                  </a:lnTo>
                  <a:lnTo>
                    <a:pt x="62005" y="345512"/>
                  </a:lnTo>
                  <a:lnTo>
                    <a:pt x="57561" y="342019"/>
                  </a:lnTo>
                  <a:lnTo>
                    <a:pt x="40766" y="324044"/>
                  </a:lnTo>
                  <a:lnTo>
                    <a:pt x="16015" y="268816"/>
                  </a:lnTo>
                  <a:lnTo>
                    <a:pt x="8036" y="221468"/>
                  </a:lnTo>
                  <a:lnTo>
                    <a:pt x="6831" y="165812"/>
                  </a:lnTo>
                  <a:lnTo>
                    <a:pt x="6089" y="45304"/>
                  </a:lnTo>
                  <a:lnTo>
                    <a:pt x="5400" y="12227"/>
                  </a:lnTo>
                  <a:lnTo>
                    <a:pt x="3954" y="373"/>
                  </a:lnTo>
                  <a:lnTo>
                    <a:pt x="1288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74561" y="675111"/>
              <a:ext cx="104467" cy="12785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236468" y="582180"/>
              <a:ext cx="447675" cy="111125"/>
            </a:xfrm>
            <a:custGeom>
              <a:avLst/>
              <a:gdLst/>
              <a:ahLst/>
              <a:cxnLst/>
              <a:rect l="l" t="t" r="r" b="b"/>
              <a:pathLst>
                <a:path w="447675" h="111125">
                  <a:moveTo>
                    <a:pt x="444959" y="0"/>
                  </a:moveTo>
                  <a:lnTo>
                    <a:pt x="372596" y="19448"/>
                  </a:lnTo>
                  <a:lnTo>
                    <a:pt x="349940" y="23881"/>
                  </a:lnTo>
                  <a:lnTo>
                    <a:pt x="322052" y="30929"/>
                  </a:lnTo>
                  <a:lnTo>
                    <a:pt x="280947" y="42404"/>
                  </a:lnTo>
                  <a:lnTo>
                    <a:pt x="244623" y="52149"/>
                  </a:lnTo>
                  <a:lnTo>
                    <a:pt x="189052" y="66512"/>
                  </a:lnTo>
                  <a:lnTo>
                    <a:pt x="128168" y="81957"/>
                  </a:lnTo>
                  <a:lnTo>
                    <a:pt x="75903" y="94951"/>
                  </a:lnTo>
                  <a:lnTo>
                    <a:pt x="24277" y="104794"/>
                  </a:lnTo>
                  <a:lnTo>
                    <a:pt x="1554" y="105930"/>
                  </a:lnTo>
                  <a:lnTo>
                    <a:pt x="0" y="106213"/>
                  </a:lnTo>
                  <a:lnTo>
                    <a:pt x="0" y="110454"/>
                  </a:lnTo>
                  <a:lnTo>
                    <a:pt x="1172" y="110679"/>
                  </a:lnTo>
                  <a:lnTo>
                    <a:pt x="64720" y="102700"/>
                  </a:lnTo>
                  <a:lnTo>
                    <a:pt x="117366" y="89928"/>
                  </a:lnTo>
                  <a:lnTo>
                    <a:pt x="180759" y="74099"/>
                  </a:lnTo>
                  <a:lnTo>
                    <a:pt x="240031" y="58922"/>
                  </a:lnTo>
                  <a:lnTo>
                    <a:pt x="280314" y="48113"/>
                  </a:lnTo>
                  <a:lnTo>
                    <a:pt x="315633" y="38268"/>
                  </a:lnTo>
                  <a:lnTo>
                    <a:pt x="343411" y="31148"/>
                  </a:lnTo>
                  <a:lnTo>
                    <a:pt x="365426" y="26329"/>
                  </a:lnTo>
                  <a:lnTo>
                    <a:pt x="383455" y="23382"/>
                  </a:lnTo>
                  <a:lnTo>
                    <a:pt x="403921" y="20580"/>
                  </a:lnTo>
                  <a:lnTo>
                    <a:pt x="417295" y="18228"/>
                  </a:lnTo>
                  <a:lnTo>
                    <a:pt x="426307" y="15735"/>
                  </a:lnTo>
                  <a:lnTo>
                    <a:pt x="433687" y="12510"/>
                  </a:lnTo>
                  <a:lnTo>
                    <a:pt x="443393" y="7591"/>
                  </a:lnTo>
                  <a:lnTo>
                    <a:pt x="447496" y="4104"/>
                  </a:lnTo>
                  <a:lnTo>
                    <a:pt x="444959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86142" y="195743"/>
              <a:ext cx="163992" cy="18745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088735" y="138570"/>
              <a:ext cx="149225" cy="310515"/>
            </a:xfrm>
            <a:custGeom>
              <a:avLst/>
              <a:gdLst/>
              <a:ahLst/>
              <a:cxnLst/>
              <a:rect l="l" t="t" r="r" b="b"/>
              <a:pathLst>
                <a:path w="149225" h="310515">
                  <a:moveTo>
                    <a:pt x="1597" y="0"/>
                  </a:moveTo>
                  <a:lnTo>
                    <a:pt x="374" y="614"/>
                  </a:lnTo>
                  <a:lnTo>
                    <a:pt x="0" y="1592"/>
                  </a:lnTo>
                  <a:lnTo>
                    <a:pt x="676" y="7682"/>
                  </a:lnTo>
                  <a:lnTo>
                    <a:pt x="13861" y="48587"/>
                  </a:lnTo>
                  <a:lnTo>
                    <a:pt x="43835" y="113979"/>
                  </a:lnTo>
                  <a:lnTo>
                    <a:pt x="74222" y="170214"/>
                  </a:lnTo>
                  <a:lnTo>
                    <a:pt x="116047" y="229740"/>
                  </a:lnTo>
                  <a:lnTo>
                    <a:pt x="124672" y="244499"/>
                  </a:lnTo>
                  <a:lnTo>
                    <a:pt x="130311" y="259606"/>
                  </a:lnTo>
                  <a:lnTo>
                    <a:pt x="139459" y="296959"/>
                  </a:lnTo>
                  <a:lnTo>
                    <a:pt x="142364" y="306462"/>
                  </a:lnTo>
                  <a:lnTo>
                    <a:pt x="144795" y="310345"/>
                  </a:lnTo>
                  <a:lnTo>
                    <a:pt x="147361" y="310132"/>
                  </a:lnTo>
                  <a:lnTo>
                    <a:pt x="148834" y="309221"/>
                  </a:lnTo>
                  <a:lnTo>
                    <a:pt x="137269" y="260889"/>
                  </a:lnTo>
                  <a:lnTo>
                    <a:pt x="91125" y="184944"/>
                  </a:lnTo>
                  <a:lnTo>
                    <a:pt x="77400" y="163831"/>
                  </a:lnTo>
                  <a:lnTo>
                    <a:pt x="51114" y="115164"/>
                  </a:lnTo>
                  <a:lnTo>
                    <a:pt x="34046" y="79803"/>
                  </a:lnTo>
                  <a:lnTo>
                    <a:pt x="13168" y="30277"/>
                  </a:lnTo>
                  <a:lnTo>
                    <a:pt x="5638" y="4145"/>
                  </a:lnTo>
                  <a:lnTo>
                    <a:pt x="4123" y="509"/>
                  </a:lnTo>
                  <a:lnTo>
                    <a:pt x="1597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5391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LR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Parsers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5300" y="182191"/>
            <a:ext cx="6946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1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Outline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950861"/>
            <a:ext cx="155257" cy="15525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4675" y="947875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0055" y="919059"/>
            <a:ext cx="12122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Bottom-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Up</a:t>
            </a:r>
            <a:r>
              <a:rPr sz="1100" spc="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Parsing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353108"/>
            <a:ext cx="155257" cy="15525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4675" y="1321306"/>
            <a:ext cx="86486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2</a:t>
            </a:r>
            <a:r>
              <a:rPr sz="1200" b="1" spc="120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 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LR</a:t>
            </a:r>
            <a:r>
              <a:rPr sz="1100" spc="1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Parsers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79" y="1755356"/>
            <a:ext cx="155257" cy="1552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4675" y="1723553"/>
            <a:ext cx="9385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3</a:t>
            </a:r>
            <a:r>
              <a:rPr sz="1200" b="1" spc="179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 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LR(0)</a:t>
            </a:r>
            <a:r>
              <a:rPr sz="1100" spc="14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Items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779" y="2157602"/>
            <a:ext cx="155257" cy="15525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24675" y="2154668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4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0055" y="2125801"/>
            <a:ext cx="1124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Building</a:t>
            </a:r>
            <a:r>
              <a:rPr sz="1100" spc="5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the</a:t>
            </a:r>
            <a:r>
              <a:rPr sz="1100" spc="5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PDA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779" y="2559850"/>
            <a:ext cx="155257" cy="15525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24675" y="2528035"/>
            <a:ext cx="892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5</a:t>
            </a:r>
            <a:r>
              <a:rPr sz="1200" b="1" spc="697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Assignment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5391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LR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Parsers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5" dirty="0"/>
              <a:t>LR</a:t>
            </a:r>
            <a:r>
              <a:rPr spc="185" dirty="0"/>
              <a:t> </a:t>
            </a:r>
            <a:r>
              <a:rPr spc="65" dirty="0"/>
              <a:t>Parsers</a:t>
            </a:r>
            <a:endParaRPr spc="6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226324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02666" rIns="0" bIns="0" rtlCol="0">
            <a:spAutoFit/>
          </a:bodyPr>
          <a:lstStyle/>
          <a:p>
            <a:pPr marL="12700" marR="279400">
              <a:lnSpc>
                <a:spcPct val="103000"/>
              </a:lnSpc>
              <a:spcBef>
                <a:spcPts val="55"/>
              </a:spcBef>
            </a:pPr>
            <a:r>
              <a:rPr dirty="0"/>
              <a:t>A</a:t>
            </a:r>
            <a:r>
              <a:rPr spc="35" dirty="0"/>
              <a:t> </a:t>
            </a:r>
            <a:r>
              <a:rPr spc="-25" dirty="0"/>
              <a:t>bottom-</a:t>
            </a:r>
            <a:r>
              <a:rPr dirty="0"/>
              <a:t>up</a:t>
            </a:r>
            <a:r>
              <a:rPr spc="40" dirty="0"/>
              <a:t> </a:t>
            </a:r>
            <a:r>
              <a:rPr spc="-10" dirty="0"/>
              <a:t>parser</a:t>
            </a:r>
            <a:r>
              <a:rPr spc="40" dirty="0"/>
              <a:t> </a:t>
            </a:r>
            <a:r>
              <a:rPr spc="-45" dirty="0"/>
              <a:t>follows</a:t>
            </a:r>
            <a:r>
              <a:rPr spc="35" dirty="0"/>
              <a:t> </a:t>
            </a:r>
            <a:r>
              <a:rPr dirty="0"/>
              <a:t>a</a:t>
            </a:r>
            <a:r>
              <a:rPr spc="40" dirty="0"/>
              <a:t> </a:t>
            </a:r>
            <a:r>
              <a:rPr spc="-20" dirty="0"/>
              <a:t>rightmost</a:t>
            </a:r>
            <a:r>
              <a:rPr spc="40" dirty="0"/>
              <a:t> </a:t>
            </a:r>
            <a:r>
              <a:rPr spc="-30" dirty="0"/>
              <a:t>derivation</a:t>
            </a:r>
            <a:r>
              <a:rPr spc="40" dirty="0"/>
              <a:t> </a:t>
            </a:r>
            <a:r>
              <a:rPr spc="-20" dirty="0"/>
              <a:t>from</a:t>
            </a:r>
            <a:r>
              <a:rPr spc="35" dirty="0"/>
              <a:t> </a:t>
            </a:r>
            <a:r>
              <a:rPr spc="-25" dirty="0"/>
              <a:t>the </a:t>
            </a:r>
            <a:r>
              <a:rPr dirty="0"/>
              <a:t>bottom</a:t>
            </a:r>
            <a:r>
              <a:rPr spc="50" dirty="0"/>
              <a:t> </a:t>
            </a:r>
            <a:r>
              <a:rPr spc="-25" dirty="0"/>
              <a:t>up.</a:t>
            </a:r>
            <a:endParaRPr spc="-25" dirty="0"/>
          </a:p>
          <a:p>
            <a:pPr marL="12700" marR="153035">
              <a:lnSpc>
                <a:spcPct val="103000"/>
              </a:lnSpc>
              <a:spcBef>
                <a:spcPts val="565"/>
              </a:spcBef>
            </a:pPr>
            <a:r>
              <a:rPr dirty="0"/>
              <a:t>Such</a:t>
            </a:r>
            <a:r>
              <a:rPr spc="15" dirty="0"/>
              <a:t> </a:t>
            </a:r>
            <a:r>
              <a:rPr spc="-20" dirty="0"/>
              <a:t>parsers</a:t>
            </a:r>
            <a:r>
              <a:rPr spc="15" dirty="0"/>
              <a:t> </a:t>
            </a:r>
            <a:r>
              <a:rPr spc="-10" dirty="0"/>
              <a:t>typically</a:t>
            </a:r>
            <a:r>
              <a:rPr spc="15" dirty="0"/>
              <a:t> </a:t>
            </a:r>
            <a:r>
              <a:rPr spc="-10" dirty="0"/>
              <a:t>use</a:t>
            </a:r>
            <a:r>
              <a:rPr spc="15" dirty="0"/>
              <a:t> </a:t>
            </a:r>
            <a:r>
              <a:rPr dirty="0"/>
              <a:t>an</a:t>
            </a:r>
            <a:r>
              <a:rPr spc="15" dirty="0"/>
              <a:t> </a:t>
            </a:r>
            <a:r>
              <a:rPr dirty="0"/>
              <a:t>LR</a:t>
            </a:r>
            <a:r>
              <a:rPr spc="15" dirty="0"/>
              <a:t> </a:t>
            </a:r>
            <a:r>
              <a:rPr spc="-20" dirty="0"/>
              <a:t>algorithm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dirty="0"/>
              <a:t>are</a:t>
            </a:r>
            <a:r>
              <a:rPr spc="15" dirty="0"/>
              <a:t> </a:t>
            </a:r>
            <a:r>
              <a:rPr spc="-10" dirty="0"/>
              <a:t>called</a:t>
            </a:r>
            <a:r>
              <a:rPr spc="20" dirty="0"/>
              <a:t> </a:t>
            </a:r>
            <a:r>
              <a:rPr spc="-25" dirty="0"/>
              <a:t>LR </a:t>
            </a:r>
            <a:r>
              <a:rPr spc="-10" dirty="0"/>
              <a:t>parsers.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>
                <a:solidFill>
                  <a:srgbClr val="FF0000"/>
                </a:solidFill>
              </a:rPr>
              <a:t>L</a:t>
            </a:r>
            <a:r>
              <a:rPr spc="30" dirty="0">
                <a:solidFill>
                  <a:srgbClr val="FF0000"/>
                </a:solidFill>
              </a:rPr>
              <a:t> </a:t>
            </a:r>
            <a:r>
              <a:rPr spc="-20" dirty="0"/>
              <a:t>means</a:t>
            </a:r>
            <a:r>
              <a:rPr spc="25" dirty="0"/>
              <a:t> </a:t>
            </a:r>
            <a:r>
              <a:rPr spc="-20" dirty="0"/>
              <a:t>process</a:t>
            </a:r>
            <a:r>
              <a:rPr spc="30" dirty="0"/>
              <a:t> </a:t>
            </a:r>
            <a:r>
              <a:rPr spc="-10" dirty="0"/>
              <a:t>tokens</a:t>
            </a:r>
            <a:r>
              <a:rPr spc="30" dirty="0"/>
              <a:t> </a:t>
            </a:r>
            <a:r>
              <a:rPr spc="-20" dirty="0"/>
              <a:t>from</a:t>
            </a:r>
            <a:r>
              <a:rPr spc="30" dirty="0"/>
              <a:t> </a:t>
            </a:r>
            <a:r>
              <a:rPr dirty="0">
                <a:solidFill>
                  <a:srgbClr val="FF0000"/>
                </a:solidFill>
              </a:rPr>
              <a:t>Left</a:t>
            </a:r>
            <a:r>
              <a:rPr spc="30" dirty="0">
                <a:solidFill>
                  <a:srgbClr val="FF0000"/>
                </a:solidFill>
              </a:rPr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spc="-10" dirty="0"/>
              <a:t>right.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pc="55" dirty="0">
                <a:solidFill>
                  <a:srgbClr val="FF0000"/>
                </a:solidFill>
              </a:rPr>
              <a:t>R</a:t>
            </a:r>
            <a:r>
              <a:rPr spc="25" dirty="0">
                <a:solidFill>
                  <a:srgbClr val="FF0000"/>
                </a:solidFill>
              </a:rPr>
              <a:t> </a:t>
            </a:r>
            <a:r>
              <a:rPr spc="-20" dirty="0"/>
              <a:t>means</a:t>
            </a:r>
            <a:r>
              <a:rPr spc="30" dirty="0"/>
              <a:t> </a:t>
            </a:r>
            <a:r>
              <a:rPr spc="-45" dirty="0"/>
              <a:t>follow</a:t>
            </a:r>
            <a:r>
              <a:rPr spc="30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spc="-10" dirty="0">
                <a:solidFill>
                  <a:srgbClr val="FF0000"/>
                </a:solidFill>
              </a:rPr>
              <a:t>Rightmost</a:t>
            </a:r>
            <a:r>
              <a:rPr spc="30" dirty="0">
                <a:solidFill>
                  <a:srgbClr val="FF0000"/>
                </a:solidFill>
              </a:rPr>
              <a:t> </a:t>
            </a:r>
            <a:r>
              <a:rPr spc="-25" dirty="0"/>
              <a:t>derivation,</a:t>
            </a:r>
            <a:r>
              <a:rPr spc="30" dirty="0"/>
              <a:t> </a:t>
            </a:r>
            <a:r>
              <a:rPr dirty="0"/>
              <a:t>albeit,</a:t>
            </a:r>
            <a:r>
              <a:rPr spc="25" dirty="0"/>
              <a:t> </a:t>
            </a:r>
            <a:r>
              <a:rPr spc="-45" dirty="0"/>
              <a:t>in</a:t>
            </a:r>
            <a:r>
              <a:rPr u="heavy" spc="215" dirty="0">
                <a:uFill>
                  <a:solidFill>
                    <a:srgbClr val="FF2600"/>
                  </a:solidFill>
                </a:uFill>
              </a:rPr>
              <a:t> </a:t>
            </a:r>
            <a:r>
              <a:rPr u="heavy" spc="-25" dirty="0">
                <a:uFill>
                  <a:solidFill>
                    <a:srgbClr val="FF2600"/>
                  </a:solidFill>
                </a:uFill>
              </a:rPr>
              <a:t>reverse</a:t>
            </a:r>
            <a:r>
              <a:rPr u="heavy" spc="30" dirty="0">
                <a:uFill>
                  <a:solidFill>
                    <a:srgbClr val="FF2600"/>
                  </a:solidFill>
                </a:uFill>
              </a:rPr>
              <a:t> </a:t>
            </a:r>
            <a:r>
              <a:rPr u="heavy" spc="-10" dirty="0">
                <a:uFill>
                  <a:solidFill>
                    <a:srgbClr val="FF2600"/>
                  </a:solidFill>
                </a:uFill>
              </a:rPr>
              <a:t>order.</a:t>
            </a:r>
            <a:r>
              <a:rPr u="heavy" spc="500" dirty="0">
                <a:uFill>
                  <a:solidFill>
                    <a:srgbClr val="FF2600"/>
                  </a:solidFill>
                </a:uFill>
              </a:rPr>
              <a:t> </a:t>
            </a:r>
            <a:endParaRPr u="heavy" spc="500" dirty="0">
              <a:uFill>
                <a:solidFill>
                  <a:srgbClr val="FF2600"/>
                </a:solidFill>
              </a:uFill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642478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2058619"/>
            <a:ext cx="65201" cy="652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2302700"/>
            <a:ext cx="65201" cy="65201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03371" y="174675"/>
            <a:ext cx="226060" cy="273685"/>
          </a:xfrm>
          <a:custGeom>
            <a:avLst/>
            <a:gdLst/>
            <a:ahLst/>
            <a:cxnLst/>
            <a:rect l="l" t="t" r="r" b="b"/>
            <a:pathLst>
              <a:path w="226059" h="273684">
                <a:moveTo>
                  <a:pt x="45217" y="38"/>
                </a:moveTo>
                <a:lnTo>
                  <a:pt x="10132" y="27476"/>
                </a:lnTo>
                <a:lnTo>
                  <a:pt x="0" y="68226"/>
                </a:lnTo>
                <a:lnTo>
                  <a:pt x="199" y="78809"/>
                </a:lnTo>
                <a:lnTo>
                  <a:pt x="853" y="85292"/>
                </a:lnTo>
                <a:lnTo>
                  <a:pt x="2031" y="91842"/>
                </a:lnTo>
                <a:lnTo>
                  <a:pt x="3902" y="99226"/>
                </a:lnTo>
                <a:lnTo>
                  <a:pt x="10815" y="122773"/>
                </a:lnTo>
                <a:lnTo>
                  <a:pt x="13308" y="136394"/>
                </a:lnTo>
                <a:lnTo>
                  <a:pt x="14514" y="152268"/>
                </a:lnTo>
                <a:lnTo>
                  <a:pt x="15383" y="195509"/>
                </a:lnTo>
                <a:lnTo>
                  <a:pt x="17419" y="210430"/>
                </a:lnTo>
                <a:lnTo>
                  <a:pt x="46482" y="241462"/>
                </a:lnTo>
                <a:lnTo>
                  <a:pt x="97499" y="262595"/>
                </a:lnTo>
                <a:lnTo>
                  <a:pt x="145361" y="272799"/>
                </a:lnTo>
                <a:lnTo>
                  <a:pt x="161663" y="273594"/>
                </a:lnTo>
                <a:lnTo>
                  <a:pt x="179911" y="273552"/>
                </a:lnTo>
                <a:lnTo>
                  <a:pt x="219338" y="264694"/>
                </a:lnTo>
                <a:lnTo>
                  <a:pt x="225543" y="251424"/>
                </a:lnTo>
                <a:lnTo>
                  <a:pt x="225441" y="234717"/>
                </a:lnTo>
                <a:lnTo>
                  <a:pt x="219729" y="191467"/>
                </a:lnTo>
                <a:lnTo>
                  <a:pt x="202459" y="144135"/>
                </a:lnTo>
                <a:lnTo>
                  <a:pt x="196146" y="130126"/>
                </a:lnTo>
                <a:lnTo>
                  <a:pt x="193038" y="120911"/>
                </a:lnTo>
                <a:lnTo>
                  <a:pt x="192186" y="112192"/>
                </a:lnTo>
                <a:lnTo>
                  <a:pt x="192952" y="86529"/>
                </a:lnTo>
                <a:lnTo>
                  <a:pt x="191943" y="78076"/>
                </a:lnTo>
                <a:lnTo>
                  <a:pt x="143014" y="55241"/>
                </a:lnTo>
                <a:lnTo>
                  <a:pt x="69628" y="49091"/>
                </a:lnTo>
                <a:lnTo>
                  <a:pt x="51684" y="48765"/>
                </a:lnTo>
                <a:lnTo>
                  <a:pt x="41535" y="49159"/>
                </a:lnTo>
                <a:lnTo>
                  <a:pt x="37307" y="50499"/>
                </a:lnTo>
                <a:lnTo>
                  <a:pt x="37126" y="53011"/>
                </a:lnTo>
                <a:lnTo>
                  <a:pt x="38915" y="53812"/>
                </a:lnTo>
                <a:lnTo>
                  <a:pt x="44048" y="54447"/>
                </a:lnTo>
                <a:lnTo>
                  <a:pt x="53215" y="54971"/>
                </a:lnTo>
                <a:lnTo>
                  <a:pt x="67107" y="55439"/>
                </a:lnTo>
                <a:lnTo>
                  <a:pt x="104433" y="57280"/>
                </a:lnTo>
                <a:lnTo>
                  <a:pt x="159527" y="65093"/>
                </a:lnTo>
                <a:lnTo>
                  <a:pt x="188765" y="87609"/>
                </a:lnTo>
                <a:lnTo>
                  <a:pt x="186729" y="100983"/>
                </a:lnTo>
                <a:lnTo>
                  <a:pt x="185970" y="110281"/>
                </a:lnTo>
                <a:lnTo>
                  <a:pt x="186987" y="119190"/>
                </a:lnTo>
                <a:lnTo>
                  <a:pt x="190140" y="129347"/>
                </a:lnTo>
                <a:lnTo>
                  <a:pt x="204864" y="163754"/>
                </a:lnTo>
                <a:lnTo>
                  <a:pt x="211948" y="184580"/>
                </a:lnTo>
                <a:lnTo>
                  <a:pt x="216976" y="204659"/>
                </a:lnTo>
                <a:lnTo>
                  <a:pt x="219885" y="223780"/>
                </a:lnTo>
                <a:lnTo>
                  <a:pt x="220548" y="240890"/>
                </a:lnTo>
                <a:lnTo>
                  <a:pt x="218429" y="252971"/>
                </a:lnTo>
                <a:lnTo>
                  <a:pt x="213234" y="260821"/>
                </a:lnTo>
                <a:lnTo>
                  <a:pt x="204672" y="265235"/>
                </a:lnTo>
                <a:lnTo>
                  <a:pt x="191569" y="266543"/>
                </a:lnTo>
                <a:lnTo>
                  <a:pt x="169959" y="266832"/>
                </a:lnTo>
                <a:lnTo>
                  <a:pt x="147105" y="266162"/>
                </a:lnTo>
                <a:lnTo>
                  <a:pt x="104491" y="257924"/>
                </a:lnTo>
                <a:lnTo>
                  <a:pt x="56645" y="239313"/>
                </a:lnTo>
                <a:lnTo>
                  <a:pt x="23401" y="207681"/>
                </a:lnTo>
                <a:lnTo>
                  <a:pt x="20799" y="152169"/>
                </a:lnTo>
                <a:lnTo>
                  <a:pt x="19576" y="136023"/>
                </a:lnTo>
                <a:lnTo>
                  <a:pt x="17062" y="122540"/>
                </a:lnTo>
                <a:lnTo>
                  <a:pt x="12845" y="108471"/>
                </a:lnTo>
                <a:lnTo>
                  <a:pt x="9605" y="98492"/>
                </a:lnTo>
                <a:lnTo>
                  <a:pt x="7766" y="91213"/>
                </a:lnTo>
                <a:lnTo>
                  <a:pt x="6837" y="84088"/>
                </a:lnTo>
                <a:lnTo>
                  <a:pt x="6089" y="65688"/>
                </a:lnTo>
                <a:lnTo>
                  <a:pt x="6272" y="59157"/>
                </a:lnTo>
                <a:lnTo>
                  <a:pt x="20423" y="22029"/>
                </a:lnTo>
                <a:lnTo>
                  <a:pt x="43519" y="6018"/>
                </a:lnTo>
                <a:lnTo>
                  <a:pt x="45217" y="4830"/>
                </a:lnTo>
                <a:lnTo>
                  <a:pt x="45217" y="38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77059" y="1352194"/>
            <a:ext cx="1319530" cy="58419"/>
          </a:xfrm>
          <a:custGeom>
            <a:avLst/>
            <a:gdLst/>
            <a:ahLst/>
            <a:cxnLst/>
            <a:rect l="l" t="t" r="r" b="b"/>
            <a:pathLst>
              <a:path w="1319529" h="58419">
                <a:moveTo>
                  <a:pt x="148468" y="13"/>
                </a:moveTo>
                <a:lnTo>
                  <a:pt x="0" y="0"/>
                </a:lnTo>
                <a:lnTo>
                  <a:pt x="404" y="2847"/>
                </a:lnTo>
                <a:lnTo>
                  <a:pt x="808" y="5694"/>
                </a:lnTo>
                <a:lnTo>
                  <a:pt x="230306" y="6839"/>
                </a:lnTo>
                <a:lnTo>
                  <a:pt x="280965" y="7331"/>
                </a:lnTo>
                <a:lnTo>
                  <a:pt x="325410" y="8637"/>
                </a:lnTo>
                <a:lnTo>
                  <a:pt x="432708" y="25630"/>
                </a:lnTo>
                <a:lnTo>
                  <a:pt x="515868" y="40767"/>
                </a:lnTo>
                <a:lnTo>
                  <a:pt x="531704" y="42713"/>
                </a:lnTo>
                <a:lnTo>
                  <a:pt x="552314" y="43421"/>
                </a:lnTo>
                <a:lnTo>
                  <a:pt x="579379" y="42898"/>
                </a:lnTo>
                <a:lnTo>
                  <a:pt x="639895" y="39881"/>
                </a:lnTo>
                <a:lnTo>
                  <a:pt x="667825" y="39123"/>
                </a:lnTo>
                <a:lnTo>
                  <a:pt x="705672" y="38751"/>
                </a:lnTo>
                <a:lnTo>
                  <a:pt x="829361" y="38749"/>
                </a:lnTo>
                <a:lnTo>
                  <a:pt x="870126" y="39807"/>
                </a:lnTo>
                <a:lnTo>
                  <a:pt x="900335" y="42801"/>
                </a:lnTo>
                <a:lnTo>
                  <a:pt x="966990" y="53344"/>
                </a:lnTo>
                <a:lnTo>
                  <a:pt x="990431" y="56445"/>
                </a:lnTo>
                <a:lnTo>
                  <a:pt x="1013453" y="57870"/>
                </a:lnTo>
                <a:lnTo>
                  <a:pt x="1039683" y="55827"/>
                </a:lnTo>
                <a:lnTo>
                  <a:pt x="1080106" y="48828"/>
                </a:lnTo>
                <a:lnTo>
                  <a:pt x="1174070" y="29607"/>
                </a:lnTo>
                <a:lnTo>
                  <a:pt x="1204211" y="23779"/>
                </a:lnTo>
                <a:lnTo>
                  <a:pt x="1259984" y="13815"/>
                </a:lnTo>
                <a:lnTo>
                  <a:pt x="1308316" y="11052"/>
                </a:lnTo>
                <a:lnTo>
                  <a:pt x="1315882" y="10511"/>
                </a:lnTo>
                <a:lnTo>
                  <a:pt x="1318911" y="9659"/>
                </a:lnTo>
                <a:lnTo>
                  <a:pt x="1319462" y="8225"/>
                </a:lnTo>
                <a:lnTo>
                  <a:pt x="1319462" y="6113"/>
                </a:lnTo>
                <a:lnTo>
                  <a:pt x="1318223" y="5498"/>
                </a:lnTo>
                <a:lnTo>
                  <a:pt x="1311960" y="4506"/>
                </a:lnTo>
                <a:lnTo>
                  <a:pt x="1300895" y="4061"/>
                </a:lnTo>
                <a:lnTo>
                  <a:pt x="1284137" y="4786"/>
                </a:lnTo>
                <a:lnTo>
                  <a:pt x="1221448" y="13418"/>
                </a:lnTo>
                <a:lnTo>
                  <a:pt x="1064942" y="44378"/>
                </a:lnTo>
                <a:lnTo>
                  <a:pt x="1021425" y="50167"/>
                </a:lnTo>
                <a:lnTo>
                  <a:pt x="985033" y="48778"/>
                </a:lnTo>
                <a:lnTo>
                  <a:pt x="899682" y="35368"/>
                </a:lnTo>
                <a:lnTo>
                  <a:pt x="868817" y="32322"/>
                </a:lnTo>
                <a:lnTo>
                  <a:pt x="828049" y="31193"/>
                </a:lnTo>
                <a:lnTo>
                  <a:pt x="761375" y="31048"/>
                </a:lnTo>
                <a:lnTo>
                  <a:pt x="708942" y="31168"/>
                </a:lnTo>
                <a:lnTo>
                  <a:pt x="671879" y="31552"/>
                </a:lnTo>
                <a:lnTo>
                  <a:pt x="643497" y="32316"/>
                </a:lnTo>
                <a:lnTo>
                  <a:pt x="580010" y="35326"/>
                </a:lnTo>
                <a:lnTo>
                  <a:pt x="550612" y="35960"/>
                </a:lnTo>
                <a:lnTo>
                  <a:pt x="528676" y="35480"/>
                </a:lnTo>
                <a:lnTo>
                  <a:pt x="513970" y="33887"/>
                </a:lnTo>
                <a:lnTo>
                  <a:pt x="453110" y="22707"/>
                </a:lnTo>
                <a:lnTo>
                  <a:pt x="425940" y="18084"/>
                </a:lnTo>
                <a:lnTo>
                  <a:pt x="340431" y="4852"/>
                </a:lnTo>
                <a:lnTo>
                  <a:pt x="295406" y="786"/>
                </a:lnTo>
                <a:lnTo>
                  <a:pt x="260876" y="374"/>
                </a:lnTo>
                <a:lnTo>
                  <a:pt x="148468" y="13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174074" y="2169976"/>
            <a:ext cx="889635" cy="60960"/>
          </a:xfrm>
          <a:custGeom>
            <a:avLst/>
            <a:gdLst/>
            <a:ahLst/>
            <a:cxnLst/>
            <a:rect l="l" t="t" r="r" b="b"/>
            <a:pathLst>
              <a:path w="889635" h="60960">
                <a:moveTo>
                  <a:pt x="271929" y="0"/>
                </a:moveTo>
                <a:lnTo>
                  <a:pt x="207143" y="66"/>
                </a:lnTo>
                <a:lnTo>
                  <a:pt x="160303" y="1597"/>
                </a:lnTo>
                <a:lnTo>
                  <a:pt x="80442" y="12258"/>
                </a:lnTo>
                <a:lnTo>
                  <a:pt x="60530" y="14469"/>
                </a:lnTo>
                <a:lnTo>
                  <a:pt x="40884" y="16064"/>
                </a:lnTo>
                <a:lnTo>
                  <a:pt x="1132" y="18039"/>
                </a:lnTo>
                <a:lnTo>
                  <a:pt x="0" y="18235"/>
                </a:lnTo>
                <a:lnTo>
                  <a:pt x="0" y="23037"/>
                </a:lnTo>
                <a:lnTo>
                  <a:pt x="16451" y="22835"/>
                </a:lnTo>
                <a:lnTo>
                  <a:pt x="36790" y="22092"/>
                </a:lnTo>
                <a:lnTo>
                  <a:pt x="57504" y="20582"/>
                </a:lnTo>
                <a:lnTo>
                  <a:pt x="79736" y="18202"/>
                </a:lnTo>
                <a:lnTo>
                  <a:pt x="141140" y="9771"/>
                </a:lnTo>
                <a:lnTo>
                  <a:pt x="170530" y="7166"/>
                </a:lnTo>
                <a:lnTo>
                  <a:pt x="208272" y="6212"/>
                </a:lnTo>
                <a:lnTo>
                  <a:pt x="328042" y="6181"/>
                </a:lnTo>
                <a:lnTo>
                  <a:pt x="360934" y="6871"/>
                </a:lnTo>
                <a:lnTo>
                  <a:pt x="382532" y="8848"/>
                </a:lnTo>
                <a:lnTo>
                  <a:pt x="418222" y="14502"/>
                </a:lnTo>
                <a:lnTo>
                  <a:pt x="430457" y="15543"/>
                </a:lnTo>
                <a:lnTo>
                  <a:pt x="448295" y="16182"/>
                </a:lnTo>
                <a:lnTo>
                  <a:pt x="511229" y="17378"/>
                </a:lnTo>
                <a:lnTo>
                  <a:pt x="536636" y="18411"/>
                </a:lnTo>
                <a:lnTo>
                  <a:pt x="578338" y="22599"/>
                </a:lnTo>
                <a:lnTo>
                  <a:pt x="637688" y="33193"/>
                </a:lnTo>
                <a:lnTo>
                  <a:pt x="676098" y="41489"/>
                </a:lnTo>
                <a:lnTo>
                  <a:pt x="719462" y="51606"/>
                </a:lnTo>
                <a:lnTo>
                  <a:pt x="750685" y="58378"/>
                </a:lnTo>
                <a:lnTo>
                  <a:pt x="775743" y="60772"/>
                </a:lnTo>
                <a:lnTo>
                  <a:pt x="803771" y="58873"/>
                </a:lnTo>
                <a:lnTo>
                  <a:pt x="843904" y="52766"/>
                </a:lnTo>
                <a:lnTo>
                  <a:pt x="884080" y="44670"/>
                </a:lnTo>
                <a:lnTo>
                  <a:pt x="889025" y="42004"/>
                </a:lnTo>
                <a:lnTo>
                  <a:pt x="888976" y="41074"/>
                </a:lnTo>
                <a:lnTo>
                  <a:pt x="886613" y="38227"/>
                </a:lnTo>
                <a:lnTo>
                  <a:pt x="885464" y="38211"/>
                </a:lnTo>
                <a:lnTo>
                  <a:pt x="879801" y="39680"/>
                </a:lnTo>
                <a:lnTo>
                  <a:pt x="859941" y="43845"/>
                </a:lnTo>
                <a:lnTo>
                  <a:pt x="832552" y="48465"/>
                </a:lnTo>
                <a:lnTo>
                  <a:pt x="804505" y="52471"/>
                </a:lnTo>
                <a:lnTo>
                  <a:pt x="782674" y="54793"/>
                </a:lnTo>
                <a:lnTo>
                  <a:pt x="771785" y="55028"/>
                </a:lnTo>
                <a:lnTo>
                  <a:pt x="760436" y="54139"/>
                </a:lnTo>
                <a:lnTo>
                  <a:pt x="747562" y="51991"/>
                </a:lnTo>
                <a:lnTo>
                  <a:pt x="692443" y="39004"/>
                </a:lnTo>
                <a:lnTo>
                  <a:pt x="651159" y="29949"/>
                </a:lnTo>
                <a:lnTo>
                  <a:pt x="613645" y="22421"/>
                </a:lnTo>
                <a:lnTo>
                  <a:pt x="563572" y="14666"/>
                </a:lnTo>
                <a:lnTo>
                  <a:pt x="519573" y="11940"/>
                </a:lnTo>
                <a:lnTo>
                  <a:pt x="447723" y="10572"/>
                </a:lnTo>
                <a:lnTo>
                  <a:pt x="427590" y="9844"/>
                </a:lnTo>
                <a:lnTo>
                  <a:pt x="414810" y="8561"/>
                </a:lnTo>
                <a:lnTo>
                  <a:pt x="383521" y="3092"/>
                </a:lnTo>
                <a:lnTo>
                  <a:pt x="368896" y="1040"/>
                </a:lnTo>
                <a:lnTo>
                  <a:pt x="335685" y="345"/>
                </a:lnTo>
                <a:lnTo>
                  <a:pt x="271929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319847" y="2448562"/>
            <a:ext cx="1506855" cy="52069"/>
          </a:xfrm>
          <a:custGeom>
            <a:avLst/>
            <a:gdLst/>
            <a:ahLst/>
            <a:cxnLst/>
            <a:rect l="l" t="t" r="r" b="b"/>
            <a:pathLst>
              <a:path w="1506855" h="52069">
                <a:moveTo>
                  <a:pt x="217066" y="0"/>
                </a:moveTo>
                <a:lnTo>
                  <a:pt x="166256" y="101"/>
                </a:lnTo>
                <a:lnTo>
                  <a:pt x="115560" y="1174"/>
                </a:lnTo>
                <a:lnTo>
                  <a:pt x="72467" y="4092"/>
                </a:lnTo>
                <a:lnTo>
                  <a:pt x="33479" y="8117"/>
                </a:lnTo>
                <a:lnTo>
                  <a:pt x="15818" y="9484"/>
                </a:lnTo>
                <a:lnTo>
                  <a:pt x="1124" y="10266"/>
                </a:lnTo>
                <a:lnTo>
                  <a:pt x="0" y="10505"/>
                </a:lnTo>
                <a:lnTo>
                  <a:pt x="0" y="15112"/>
                </a:lnTo>
                <a:lnTo>
                  <a:pt x="965" y="15427"/>
                </a:lnTo>
                <a:lnTo>
                  <a:pt x="8859" y="15753"/>
                </a:lnTo>
                <a:lnTo>
                  <a:pt x="14595" y="15640"/>
                </a:lnTo>
                <a:lnTo>
                  <a:pt x="34824" y="14117"/>
                </a:lnTo>
                <a:lnTo>
                  <a:pt x="76471" y="9824"/>
                </a:lnTo>
                <a:lnTo>
                  <a:pt x="105901" y="7949"/>
                </a:lnTo>
                <a:lnTo>
                  <a:pt x="147780" y="6973"/>
                </a:lnTo>
                <a:lnTo>
                  <a:pt x="214771" y="6602"/>
                </a:lnTo>
                <a:lnTo>
                  <a:pt x="421043" y="6589"/>
                </a:lnTo>
                <a:lnTo>
                  <a:pt x="486922" y="6902"/>
                </a:lnTo>
                <a:lnTo>
                  <a:pt x="529069" y="7703"/>
                </a:lnTo>
                <a:lnTo>
                  <a:pt x="589729" y="11679"/>
                </a:lnTo>
                <a:lnTo>
                  <a:pt x="652193" y="18924"/>
                </a:lnTo>
                <a:lnTo>
                  <a:pt x="690006" y="24956"/>
                </a:lnTo>
                <a:lnTo>
                  <a:pt x="788802" y="42197"/>
                </a:lnTo>
                <a:lnTo>
                  <a:pt x="815291" y="46533"/>
                </a:lnTo>
                <a:lnTo>
                  <a:pt x="828279" y="49155"/>
                </a:lnTo>
                <a:lnTo>
                  <a:pt x="839758" y="51118"/>
                </a:lnTo>
                <a:lnTo>
                  <a:pt x="851750" y="51773"/>
                </a:lnTo>
                <a:lnTo>
                  <a:pt x="863396" y="51120"/>
                </a:lnTo>
                <a:lnTo>
                  <a:pt x="873837" y="49158"/>
                </a:lnTo>
                <a:lnTo>
                  <a:pt x="934887" y="33535"/>
                </a:lnTo>
                <a:lnTo>
                  <a:pt x="988105" y="22678"/>
                </a:lnTo>
                <a:lnTo>
                  <a:pt x="1038071" y="15973"/>
                </a:lnTo>
                <a:lnTo>
                  <a:pt x="1089361" y="12807"/>
                </a:lnTo>
                <a:lnTo>
                  <a:pt x="1146556" y="12564"/>
                </a:lnTo>
                <a:lnTo>
                  <a:pt x="1173623" y="13321"/>
                </a:lnTo>
                <a:lnTo>
                  <a:pt x="1193577" y="15018"/>
                </a:lnTo>
                <a:lnTo>
                  <a:pt x="1212008" y="18393"/>
                </a:lnTo>
                <a:lnTo>
                  <a:pt x="1252602" y="28811"/>
                </a:lnTo>
                <a:lnTo>
                  <a:pt x="1266780" y="31880"/>
                </a:lnTo>
                <a:lnTo>
                  <a:pt x="1281333" y="34492"/>
                </a:lnTo>
                <a:lnTo>
                  <a:pt x="1302712" y="35275"/>
                </a:lnTo>
                <a:lnTo>
                  <a:pt x="1382652" y="36896"/>
                </a:lnTo>
                <a:lnTo>
                  <a:pt x="1406348" y="37644"/>
                </a:lnTo>
                <a:lnTo>
                  <a:pt x="1423852" y="38615"/>
                </a:lnTo>
                <a:lnTo>
                  <a:pt x="1462415" y="42335"/>
                </a:lnTo>
                <a:lnTo>
                  <a:pt x="1483671" y="43950"/>
                </a:lnTo>
                <a:lnTo>
                  <a:pt x="1499056" y="44597"/>
                </a:lnTo>
                <a:lnTo>
                  <a:pt x="1505604" y="44093"/>
                </a:lnTo>
                <a:lnTo>
                  <a:pt x="1506279" y="43418"/>
                </a:lnTo>
                <a:lnTo>
                  <a:pt x="1506630" y="41808"/>
                </a:lnTo>
                <a:lnTo>
                  <a:pt x="1505978" y="38407"/>
                </a:lnTo>
                <a:lnTo>
                  <a:pt x="1503697" y="38014"/>
                </a:lnTo>
                <a:lnTo>
                  <a:pt x="1473542" y="35865"/>
                </a:lnTo>
                <a:lnTo>
                  <a:pt x="1421081" y="30969"/>
                </a:lnTo>
                <a:lnTo>
                  <a:pt x="1403296" y="29972"/>
                </a:lnTo>
                <a:lnTo>
                  <a:pt x="1379327" y="29245"/>
                </a:lnTo>
                <a:lnTo>
                  <a:pt x="1303451" y="27868"/>
                </a:lnTo>
                <a:lnTo>
                  <a:pt x="1278942" y="26644"/>
                </a:lnTo>
                <a:lnTo>
                  <a:pt x="1261956" y="24058"/>
                </a:lnTo>
                <a:lnTo>
                  <a:pt x="1211875" y="11404"/>
                </a:lnTo>
                <a:lnTo>
                  <a:pt x="1187736" y="7400"/>
                </a:lnTo>
                <a:lnTo>
                  <a:pt x="1159143" y="6069"/>
                </a:lnTo>
                <a:lnTo>
                  <a:pt x="1114918" y="6282"/>
                </a:lnTo>
                <a:lnTo>
                  <a:pt x="1076332" y="6904"/>
                </a:lnTo>
                <a:lnTo>
                  <a:pt x="1025547" y="10322"/>
                </a:lnTo>
                <a:lnTo>
                  <a:pt x="972124" y="18573"/>
                </a:lnTo>
                <a:lnTo>
                  <a:pt x="913506" y="31689"/>
                </a:lnTo>
                <a:lnTo>
                  <a:pt x="876368" y="41442"/>
                </a:lnTo>
                <a:lnTo>
                  <a:pt x="863592" y="44274"/>
                </a:lnTo>
                <a:lnTo>
                  <a:pt x="851866" y="45320"/>
                </a:lnTo>
                <a:lnTo>
                  <a:pt x="839736" y="44600"/>
                </a:lnTo>
                <a:lnTo>
                  <a:pt x="801220" y="37623"/>
                </a:lnTo>
                <a:lnTo>
                  <a:pt x="770085" y="32652"/>
                </a:lnTo>
                <a:lnTo>
                  <a:pt x="684673" y="17641"/>
                </a:lnTo>
                <a:lnTo>
                  <a:pt x="639341" y="10819"/>
                </a:lnTo>
                <a:lnTo>
                  <a:pt x="596612" y="5932"/>
                </a:lnTo>
                <a:lnTo>
                  <a:pt x="548600" y="1931"/>
                </a:lnTo>
                <a:lnTo>
                  <a:pt x="422021" y="588"/>
                </a:lnTo>
                <a:lnTo>
                  <a:pt x="217066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5391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LR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Parsers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5" dirty="0"/>
              <a:t>LR</a:t>
            </a:r>
            <a:r>
              <a:rPr spc="185" dirty="0"/>
              <a:t> </a:t>
            </a:r>
            <a:r>
              <a:rPr spc="65" dirty="0"/>
              <a:t>Parsers</a:t>
            </a:r>
            <a:endParaRPr spc="6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432394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08736" rIns="0" bIns="0" rtlCol="0">
            <a:spAutoFit/>
          </a:bodyPr>
          <a:lstStyle/>
          <a:p>
            <a:pPr marL="12700" marR="55880">
              <a:lnSpc>
                <a:spcPct val="103000"/>
              </a:lnSpc>
              <a:spcBef>
                <a:spcPts val="55"/>
              </a:spcBef>
            </a:pPr>
            <a:r>
              <a:rPr spc="-10" dirty="0"/>
              <a:t>Furthermore,</a:t>
            </a:r>
            <a:r>
              <a:rPr spc="25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dirty="0"/>
              <a:t>LR</a:t>
            </a:r>
            <a:r>
              <a:rPr spc="25" dirty="0"/>
              <a:t> </a:t>
            </a:r>
            <a:r>
              <a:rPr spc="-10" dirty="0"/>
              <a:t>parsing,</a:t>
            </a:r>
            <a:r>
              <a:rPr spc="3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25" dirty="0"/>
              <a:t>production</a:t>
            </a:r>
            <a:r>
              <a:rPr spc="25" dirty="0"/>
              <a:t> </a:t>
            </a:r>
            <a:r>
              <a:rPr dirty="0"/>
              <a:t>is</a:t>
            </a:r>
            <a:r>
              <a:rPr spc="30" dirty="0"/>
              <a:t> </a:t>
            </a:r>
            <a:r>
              <a:rPr spc="-30" dirty="0"/>
              <a:t>applied</a:t>
            </a:r>
            <a:r>
              <a:rPr spc="25" dirty="0"/>
              <a:t> </a:t>
            </a:r>
            <a:r>
              <a:rPr spc="-10" dirty="0"/>
              <a:t>only</a:t>
            </a:r>
            <a:r>
              <a:rPr spc="25" dirty="0"/>
              <a:t> </a:t>
            </a:r>
            <a:r>
              <a:rPr spc="-10" dirty="0"/>
              <a:t>after </a:t>
            </a:r>
            <a:r>
              <a:rPr dirty="0"/>
              <a:t>the</a:t>
            </a:r>
            <a:r>
              <a:rPr spc="25" dirty="0"/>
              <a:t> </a:t>
            </a:r>
            <a:r>
              <a:rPr dirty="0"/>
              <a:t>pattern</a:t>
            </a:r>
            <a:r>
              <a:rPr spc="30" dirty="0"/>
              <a:t> </a:t>
            </a:r>
            <a:r>
              <a:rPr dirty="0"/>
              <a:t>has</a:t>
            </a:r>
            <a:r>
              <a:rPr spc="25" dirty="0"/>
              <a:t> </a:t>
            </a:r>
            <a:r>
              <a:rPr dirty="0"/>
              <a:t>been</a:t>
            </a:r>
            <a:r>
              <a:rPr spc="30" dirty="0"/>
              <a:t> </a:t>
            </a:r>
            <a:r>
              <a:rPr spc="-10" dirty="0"/>
              <a:t>matched.</a:t>
            </a:r>
            <a:endParaRPr spc="-10" dirty="0"/>
          </a:p>
          <a:p>
            <a:pPr marL="12700" marR="5080">
              <a:lnSpc>
                <a:spcPct val="103000"/>
              </a:lnSpc>
              <a:spcBef>
                <a:spcPts val="570"/>
              </a:spcBef>
            </a:pPr>
            <a:r>
              <a:rPr dirty="0"/>
              <a:t>In</a:t>
            </a:r>
            <a:r>
              <a:rPr spc="20" dirty="0"/>
              <a:t> </a:t>
            </a:r>
            <a:r>
              <a:rPr dirty="0"/>
              <a:t>LL</a:t>
            </a:r>
            <a:r>
              <a:rPr spc="20" dirty="0"/>
              <a:t> </a:t>
            </a:r>
            <a:r>
              <a:rPr spc="-10" dirty="0"/>
              <a:t>(predictive)</a:t>
            </a:r>
            <a:r>
              <a:rPr spc="25" dirty="0"/>
              <a:t> </a:t>
            </a:r>
            <a:r>
              <a:rPr spc="-10" dirty="0"/>
              <a:t>parsing,</a:t>
            </a:r>
            <a:r>
              <a:rPr spc="2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25" dirty="0"/>
              <a:t>production</a:t>
            </a:r>
            <a:r>
              <a:rPr spc="20" dirty="0"/>
              <a:t> </a:t>
            </a:r>
            <a:r>
              <a:rPr spc="-30" dirty="0"/>
              <a:t>was</a:t>
            </a:r>
            <a:r>
              <a:rPr spc="25" dirty="0"/>
              <a:t> </a:t>
            </a:r>
            <a:r>
              <a:rPr spc="-10" dirty="0"/>
              <a:t>selected,</a:t>
            </a:r>
            <a:r>
              <a:rPr spc="20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spc="-20" dirty="0"/>
              <a:t>then </a:t>
            </a:r>
            <a:r>
              <a:rPr dirty="0"/>
              <a:t>the</a:t>
            </a:r>
            <a:r>
              <a:rPr spc="25" dirty="0"/>
              <a:t> </a:t>
            </a:r>
            <a:r>
              <a:rPr spc="-10" dirty="0"/>
              <a:t>tokens</a:t>
            </a:r>
            <a:r>
              <a:rPr spc="25" dirty="0"/>
              <a:t> </a:t>
            </a:r>
            <a:r>
              <a:rPr spc="-40" dirty="0"/>
              <a:t>were</a:t>
            </a:r>
            <a:r>
              <a:rPr spc="25" dirty="0"/>
              <a:t> </a:t>
            </a:r>
            <a:r>
              <a:rPr spc="-20" dirty="0"/>
              <a:t>matched</a:t>
            </a:r>
            <a:r>
              <a:rPr spc="30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spc="-25" dirty="0"/>
              <a:t>it.</a:t>
            </a:r>
            <a:endParaRPr spc="-25" dirty="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848535"/>
            <a:ext cx="65201" cy="65201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63056" y="1672915"/>
            <a:ext cx="1479550" cy="118745"/>
          </a:xfrm>
          <a:custGeom>
            <a:avLst/>
            <a:gdLst/>
            <a:ahLst/>
            <a:cxnLst/>
            <a:rect l="l" t="t" r="r" b="b"/>
            <a:pathLst>
              <a:path w="1479550" h="118744">
                <a:moveTo>
                  <a:pt x="324864" y="0"/>
                </a:moveTo>
                <a:lnTo>
                  <a:pt x="285994" y="219"/>
                </a:lnTo>
                <a:lnTo>
                  <a:pt x="222812" y="1908"/>
                </a:lnTo>
                <a:lnTo>
                  <a:pt x="165496" y="4719"/>
                </a:lnTo>
                <a:lnTo>
                  <a:pt x="112747" y="8735"/>
                </a:lnTo>
                <a:lnTo>
                  <a:pt x="28764" y="17705"/>
                </a:lnTo>
                <a:lnTo>
                  <a:pt x="8556" y="19432"/>
                </a:lnTo>
                <a:lnTo>
                  <a:pt x="2268" y="20598"/>
                </a:lnTo>
                <a:lnTo>
                  <a:pt x="0" y="22211"/>
                </a:lnTo>
                <a:lnTo>
                  <a:pt x="949" y="24531"/>
                </a:lnTo>
                <a:lnTo>
                  <a:pt x="5449" y="25636"/>
                </a:lnTo>
                <a:lnTo>
                  <a:pt x="16535" y="25429"/>
                </a:lnTo>
                <a:lnTo>
                  <a:pt x="34932" y="23867"/>
                </a:lnTo>
                <a:lnTo>
                  <a:pt x="106671" y="15930"/>
                </a:lnTo>
                <a:lnTo>
                  <a:pt x="150467" y="12205"/>
                </a:lnTo>
                <a:lnTo>
                  <a:pt x="196206" y="9578"/>
                </a:lnTo>
                <a:lnTo>
                  <a:pt x="247345" y="7895"/>
                </a:lnTo>
                <a:lnTo>
                  <a:pt x="307339" y="7002"/>
                </a:lnTo>
                <a:lnTo>
                  <a:pt x="379641" y="6746"/>
                </a:lnTo>
                <a:lnTo>
                  <a:pt x="449109" y="6995"/>
                </a:lnTo>
                <a:lnTo>
                  <a:pt x="505816" y="7805"/>
                </a:lnTo>
                <a:lnTo>
                  <a:pt x="552540" y="9296"/>
                </a:lnTo>
                <a:lnTo>
                  <a:pt x="592058" y="11590"/>
                </a:lnTo>
                <a:lnTo>
                  <a:pt x="660584" y="19077"/>
                </a:lnTo>
                <a:lnTo>
                  <a:pt x="720523" y="30424"/>
                </a:lnTo>
                <a:lnTo>
                  <a:pt x="775137" y="43369"/>
                </a:lnTo>
                <a:lnTo>
                  <a:pt x="939600" y="83780"/>
                </a:lnTo>
                <a:lnTo>
                  <a:pt x="997752" y="97859"/>
                </a:lnTo>
                <a:lnTo>
                  <a:pt x="1040544" y="107929"/>
                </a:lnTo>
                <a:lnTo>
                  <a:pt x="1087063" y="117694"/>
                </a:lnTo>
                <a:lnTo>
                  <a:pt x="1162829" y="118725"/>
                </a:lnTo>
                <a:lnTo>
                  <a:pt x="1307539" y="118733"/>
                </a:lnTo>
                <a:lnTo>
                  <a:pt x="1376768" y="118398"/>
                </a:lnTo>
                <a:lnTo>
                  <a:pt x="1428458" y="117859"/>
                </a:lnTo>
                <a:lnTo>
                  <a:pt x="1470441" y="111169"/>
                </a:lnTo>
                <a:lnTo>
                  <a:pt x="1478934" y="104240"/>
                </a:lnTo>
                <a:lnTo>
                  <a:pt x="1473632" y="103833"/>
                </a:lnTo>
                <a:lnTo>
                  <a:pt x="1459742" y="109390"/>
                </a:lnTo>
                <a:lnTo>
                  <a:pt x="1453308" y="111391"/>
                </a:lnTo>
                <a:lnTo>
                  <a:pt x="1449982" y="112020"/>
                </a:lnTo>
                <a:lnTo>
                  <a:pt x="1434099" y="112482"/>
                </a:lnTo>
                <a:lnTo>
                  <a:pt x="1338392" y="113174"/>
                </a:lnTo>
                <a:lnTo>
                  <a:pt x="1181071" y="113337"/>
                </a:lnTo>
                <a:lnTo>
                  <a:pt x="1126431" y="113123"/>
                </a:lnTo>
                <a:lnTo>
                  <a:pt x="1085796" y="111747"/>
                </a:lnTo>
                <a:lnTo>
                  <a:pt x="1010897" y="94730"/>
                </a:lnTo>
                <a:lnTo>
                  <a:pt x="948487" y="79593"/>
                </a:lnTo>
                <a:lnTo>
                  <a:pt x="784131" y="38884"/>
                </a:lnTo>
                <a:lnTo>
                  <a:pt x="731910" y="26321"/>
                </a:lnTo>
                <a:lnTo>
                  <a:pt x="673828" y="14712"/>
                </a:lnTo>
                <a:lnTo>
                  <a:pt x="610445" y="6665"/>
                </a:lnTo>
                <a:lnTo>
                  <a:pt x="532768" y="1998"/>
                </a:lnTo>
                <a:lnTo>
                  <a:pt x="444339" y="611"/>
                </a:lnTo>
                <a:lnTo>
                  <a:pt x="381980" y="162"/>
                </a:lnTo>
                <a:lnTo>
                  <a:pt x="324864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5391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LR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Parsers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5" dirty="0"/>
              <a:t>Example</a:t>
            </a:r>
            <a:endParaRPr spc="75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1041488"/>
            <a:ext cx="4483735" cy="1659255"/>
            <a:chOff x="87743" y="1041488"/>
            <a:chExt cx="4483735" cy="16592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186561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598534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585834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1041488"/>
              <a:ext cx="50800" cy="155704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230833"/>
              <a:ext cx="4432935" cy="1418590"/>
            </a:xfrm>
            <a:custGeom>
              <a:avLst/>
              <a:gdLst/>
              <a:ahLst/>
              <a:cxnLst/>
              <a:rect l="l" t="t" r="r" b="b"/>
              <a:pathLst>
                <a:path w="4432935" h="1418589">
                  <a:moveTo>
                    <a:pt x="4432567" y="0"/>
                  </a:moveTo>
                  <a:lnTo>
                    <a:pt x="0" y="0"/>
                  </a:lnTo>
                  <a:lnTo>
                    <a:pt x="0" y="1367701"/>
                  </a:lnTo>
                  <a:lnTo>
                    <a:pt x="4008" y="1387425"/>
                  </a:lnTo>
                  <a:lnTo>
                    <a:pt x="14922" y="1403578"/>
                  </a:lnTo>
                  <a:lnTo>
                    <a:pt x="31075" y="1414492"/>
                  </a:lnTo>
                  <a:lnTo>
                    <a:pt x="50800" y="1418501"/>
                  </a:lnTo>
                  <a:lnTo>
                    <a:pt x="4381767" y="1418501"/>
                  </a:lnTo>
                  <a:lnTo>
                    <a:pt x="4401492" y="1414492"/>
                  </a:lnTo>
                  <a:lnTo>
                    <a:pt x="4417644" y="1403578"/>
                  </a:lnTo>
                  <a:lnTo>
                    <a:pt x="4428558" y="1387425"/>
                  </a:lnTo>
                  <a:lnTo>
                    <a:pt x="4432567" y="1367701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1079588"/>
              <a:ext cx="0" cy="1538605"/>
            </a:xfrm>
            <a:custGeom>
              <a:avLst/>
              <a:gdLst/>
              <a:ahLst/>
              <a:cxnLst/>
              <a:rect l="l" t="t" r="r" b="b"/>
              <a:pathLst>
                <a:path h="1538605">
                  <a:moveTo>
                    <a:pt x="0" y="15379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106688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105418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104148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284566"/>
              <a:ext cx="65201" cy="6520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844" y="941258"/>
            <a:ext cx="2782570" cy="1183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714375" indent="-277495">
              <a:lnSpc>
                <a:spcPct val="127000"/>
              </a:lnSpc>
              <a:spcBef>
                <a:spcPts val="10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(Rightmost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Derivations)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Let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grammar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be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862455">
              <a:lnSpc>
                <a:spcPct val="100000"/>
              </a:lnSpc>
              <a:spcBef>
                <a:spcPts val="1130"/>
              </a:spcBef>
            </a:pP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+</a:t>
            </a:r>
            <a:r>
              <a:rPr sz="1100" spc="-4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100" i="1" spc="1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1864360" marR="5080" indent="7620">
              <a:lnSpc>
                <a:spcPct val="125000"/>
              </a:lnSpc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100" i="1" spc="10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100" i="1" spc="1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7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*</a:t>
            </a:r>
            <a:r>
              <a:rPr sz="1100" spc="-45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F</a:t>
            </a:r>
            <a:r>
              <a:rPr sz="1100" i="1" spc="10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F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F</a:t>
            </a:r>
            <a:r>
              <a:rPr sz="1100" i="1" spc="1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spc="17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(</a:t>
            </a:r>
            <a:r>
              <a:rPr sz="1100" spc="-35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7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)</a:t>
            </a:r>
            <a:r>
              <a:rPr sz="1100" spc="-35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b="1" spc="-25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id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94492" y="2935494"/>
            <a:ext cx="177800" cy="356870"/>
            <a:chOff x="4394492" y="2935494"/>
            <a:chExt cx="177800" cy="35687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394492" y="2935494"/>
              <a:ext cx="177526" cy="25919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496755" y="3238778"/>
              <a:ext cx="66040" cy="50800"/>
            </a:xfrm>
            <a:custGeom>
              <a:avLst/>
              <a:gdLst/>
              <a:ahLst/>
              <a:cxnLst/>
              <a:rect l="l" t="t" r="r" b="b"/>
              <a:pathLst>
                <a:path w="66039" h="50800">
                  <a:moveTo>
                    <a:pt x="25399" y="50800"/>
                  </a:moveTo>
                  <a:lnTo>
                    <a:pt x="15537" y="48796"/>
                  </a:lnTo>
                  <a:lnTo>
                    <a:pt x="7461" y="43339"/>
                  </a:lnTo>
                  <a:lnTo>
                    <a:pt x="2004" y="35262"/>
                  </a:lnTo>
                  <a:lnTo>
                    <a:pt x="0" y="25400"/>
                  </a:lnTo>
                  <a:lnTo>
                    <a:pt x="2004" y="15537"/>
                  </a:lnTo>
                  <a:lnTo>
                    <a:pt x="7461" y="7461"/>
                  </a:lnTo>
                  <a:lnTo>
                    <a:pt x="15537" y="2004"/>
                  </a:lnTo>
                  <a:lnTo>
                    <a:pt x="25399" y="0"/>
                  </a:lnTo>
                  <a:lnTo>
                    <a:pt x="35262" y="2004"/>
                  </a:lnTo>
                  <a:lnTo>
                    <a:pt x="43338" y="7461"/>
                  </a:lnTo>
                  <a:lnTo>
                    <a:pt x="48795" y="15537"/>
                  </a:lnTo>
                  <a:lnTo>
                    <a:pt x="50799" y="25400"/>
                  </a:lnTo>
                </a:path>
                <a:path w="66039" h="50800">
                  <a:moveTo>
                    <a:pt x="66039" y="17780"/>
                  </a:moveTo>
                  <a:lnTo>
                    <a:pt x="50799" y="30480"/>
                  </a:lnTo>
                  <a:lnTo>
                    <a:pt x="35559" y="177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30911" y="-4300"/>
            <a:ext cx="5391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LR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Parsers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5" dirty="0"/>
              <a:t>Example</a:t>
            </a:r>
            <a:endParaRPr spc="75" dirty="0"/>
          </a:p>
        </p:txBody>
      </p:sp>
      <p:grpSp>
        <p:nvGrpSpPr>
          <p:cNvPr id="9" name="object 9"/>
          <p:cNvGrpSpPr/>
          <p:nvPr/>
        </p:nvGrpSpPr>
        <p:grpSpPr>
          <a:xfrm>
            <a:off x="87743" y="627316"/>
            <a:ext cx="4483735" cy="2828925"/>
            <a:chOff x="87743" y="627316"/>
            <a:chExt cx="4483735" cy="282892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43" y="772414"/>
              <a:ext cx="4432566" cy="5060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311" y="627316"/>
              <a:ext cx="50800" cy="282873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7743" y="816660"/>
              <a:ext cx="4432935" cy="2639695"/>
            </a:xfrm>
            <a:custGeom>
              <a:avLst/>
              <a:gdLst/>
              <a:ahLst/>
              <a:cxnLst/>
              <a:rect l="l" t="t" r="r" b="b"/>
              <a:pathLst>
                <a:path w="4432935" h="2639695">
                  <a:moveTo>
                    <a:pt x="4432567" y="0"/>
                  </a:moveTo>
                  <a:lnTo>
                    <a:pt x="0" y="0"/>
                  </a:lnTo>
                  <a:lnTo>
                    <a:pt x="0" y="2639390"/>
                  </a:lnTo>
                  <a:lnTo>
                    <a:pt x="4432567" y="2639390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665416"/>
              <a:ext cx="0" cy="2668905"/>
            </a:xfrm>
            <a:custGeom>
              <a:avLst/>
              <a:gdLst/>
              <a:ahLst/>
              <a:cxnLst/>
              <a:rect l="l" t="t" r="r" b="b"/>
              <a:pathLst>
                <a:path h="2668904">
                  <a:moveTo>
                    <a:pt x="0" y="0"/>
                  </a:moveTo>
                  <a:lnTo>
                    <a:pt x="0" y="2668447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65271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20311" y="64001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520311" y="62731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25844" y="573886"/>
            <a:ext cx="3028950" cy="2482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(Rightmost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Derivation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(</a:t>
            </a:r>
            <a:r>
              <a:rPr sz="1100" b="1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id</a:t>
            </a:r>
            <a:r>
              <a:rPr sz="1100" b="1" spc="-8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+</a:t>
            </a:r>
            <a:r>
              <a:rPr sz="1100" spc="-4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b="1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id</a:t>
            </a: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)</a:t>
            </a:r>
            <a:r>
              <a:rPr sz="1100" spc="-4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∗</a:t>
            </a:r>
            <a:r>
              <a:rPr sz="1100" spc="-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b="1" spc="-25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id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14500">
              <a:lnSpc>
                <a:spcPct val="100000"/>
              </a:lnSpc>
            </a:pPr>
            <a:r>
              <a:rPr sz="10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000" i="1" spc="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spc="12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⇒</a:t>
            </a:r>
            <a:r>
              <a:rPr sz="10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endParaRPr sz="1000">
              <a:latin typeface="Bookman Old Style" panose="02050604050505020204"/>
              <a:cs typeface="Bookman Old Style" panose="02050604050505020204"/>
            </a:endParaRPr>
          </a:p>
          <a:p>
            <a:pPr marL="1850390">
              <a:lnSpc>
                <a:spcPct val="100000"/>
              </a:lnSpc>
              <a:spcBef>
                <a:spcPts val="295"/>
              </a:spcBef>
            </a:pPr>
            <a:r>
              <a:rPr sz="1000" spc="12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⇒</a:t>
            </a:r>
            <a:r>
              <a:rPr sz="10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i="1" spc="-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000" i="1" spc="-1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spc="6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*</a:t>
            </a:r>
            <a:r>
              <a:rPr sz="1000" i="1" spc="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F</a:t>
            </a:r>
            <a:endParaRPr sz="1000">
              <a:latin typeface="Bookman Old Style" panose="02050604050505020204"/>
              <a:cs typeface="Bookman Old Style" panose="02050604050505020204"/>
            </a:endParaRPr>
          </a:p>
          <a:p>
            <a:pPr marL="1850390">
              <a:lnSpc>
                <a:spcPct val="100000"/>
              </a:lnSpc>
              <a:spcBef>
                <a:spcPts val="295"/>
              </a:spcBef>
            </a:pPr>
            <a:r>
              <a:rPr sz="1000" spc="12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⇒</a:t>
            </a:r>
            <a:r>
              <a:rPr sz="10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i="1" spc="-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000" i="1" spc="-1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spc="35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*</a:t>
            </a:r>
            <a:r>
              <a:rPr sz="1000" b="1" u="sng" spc="35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Tahoma" panose="020B0604030504040204"/>
                <a:cs typeface="Tahoma" panose="020B0604030504040204"/>
              </a:rPr>
              <a:t>id</a:t>
            </a:r>
            <a:r>
              <a:rPr sz="1000" b="1" u="sng" spc="500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Tahoma" panose="020B0604030504040204"/>
                <a:cs typeface="Tahoma" panose="020B0604030504040204"/>
              </a:rPr>
              <a:t> </a:t>
            </a:r>
            <a:endParaRPr sz="1000">
              <a:latin typeface="Tahoma" panose="020B0604030504040204"/>
              <a:cs typeface="Tahoma" panose="020B0604030504040204"/>
            </a:endParaRPr>
          </a:p>
          <a:p>
            <a:pPr marL="1850390">
              <a:lnSpc>
                <a:spcPct val="100000"/>
              </a:lnSpc>
              <a:spcBef>
                <a:spcPts val="295"/>
              </a:spcBef>
            </a:pPr>
            <a:r>
              <a:rPr sz="1000" spc="21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⇒</a:t>
            </a:r>
            <a:r>
              <a:rPr sz="1000" i="1" u="sng" spc="-50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i="1" u="sng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Bookman Old Style" panose="02050604050505020204"/>
                <a:cs typeface="Bookman Old Style" panose="02050604050505020204"/>
              </a:rPr>
              <a:t>F</a:t>
            </a:r>
            <a:r>
              <a:rPr sz="1000" i="1" spc="-1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spc="35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*</a:t>
            </a:r>
            <a:r>
              <a:rPr sz="1000" b="1" spc="35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id</a:t>
            </a:r>
            <a:endParaRPr sz="1000">
              <a:latin typeface="Tahoma" panose="020B0604030504040204"/>
              <a:cs typeface="Tahoma" panose="020B0604030504040204"/>
            </a:endParaRPr>
          </a:p>
          <a:p>
            <a:pPr marL="1850390">
              <a:lnSpc>
                <a:spcPct val="100000"/>
              </a:lnSpc>
              <a:spcBef>
                <a:spcPts val="295"/>
              </a:spcBef>
            </a:pPr>
            <a:r>
              <a:rPr sz="1000" spc="12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⇒</a:t>
            </a:r>
            <a:r>
              <a:rPr sz="10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spc="9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(</a:t>
            </a:r>
            <a:r>
              <a:rPr sz="1000" i="1" u="heavy" spc="90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000" spc="9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)*</a:t>
            </a:r>
            <a:r>
              <a:rPr sz="1000" b="1" spc="9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id</a:t>
            </a:r>
            <a:endParaRPr sz="1000">
              <a:latin typeface="Tahoma" panose="020B0604030504040204"/>
              <a:cs typeface="Tahoma" panose="020B0604030504040204"/>
            </a:endParaRPr>
          </a:p>
          <a:p>
            <a:pPr marL="1850390">
              <a:lnSpc>
                <a:spcPct val="100000"/>
              </a:lnSpc>
              <a:spcBef>
                <a:spcPts val="295"/>
              </a:spcBef>
            </a:pPr>
            <a:r>
              <a:rPr sz="1000" spc="12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⇒</a:t>
            </a:r>
            <a:r>
              <a:rPr sz="1000" spc="114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(</a:t>
            </a:r>
            <a:r>
              <a:rPr sz="10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+</a:t>
            </a:r>
            <a:r>
              <a:rPr sz="1000" i="1" u="sng" spc="-85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i="1" u="sng" spc="-30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000" i="1" spc="-1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spc="65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)*</a:t>
            </a:r>
            <a:r>
              <a:rPr sz="1000" b="1" spc="65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id</a:t>
            </a:r>
            <a:endParaRPr sz="1000">
              <a:latin typeface="Tahoma" panose="020B0604030504040204"/>
              <a:cs typeface="Tahoma" panose="020B0604030504040204"/>
            </a:endParaRPr>
          </a:p>
          <a:p>
            <a:pPr marL="1850390">
              <a:lnSpc>
                <a:spcPct val="100000"/>
              </a:lnSpc>
              <a:spcBef>
                <a:spcPts val="295"/>
              </a:spcBef>
            </a:pPr>
            <a:r>
              <a:rPr sz="1000" spc="12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⇒</a:t>
            </a:r>
            <a:r>
              <a:rPr sz="1000" spc="10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(</a:t>
            </a:r>
            <a:r>
              <a:rPr sz="10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+</a:t>
            </a:r>
            <a:r>
              <a:rPr sz="1000" i="1" u="sng" spc="-45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i="1" u="sng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Bookman Old Style" panose="02050604050505020204"/>
                <a:cs typeface="Bookman Old Style" panose="02050604050505020204"/>
              </a:rPr>
              <a:t>F</a:t>
            </a:r>
            <a:r>
              <a:rPr sz="1000" i="1" u="sng" spc="-140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spc="65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)*</a:t>
            </a:r>
            <a:r>
              <a:rPr sz="1000" b="1" spc="65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id</a:t>
            </a:r>
            <a:endParaRPr sz="1000">
              <a:latin typeface="Tahoma" panose="020B0604030504040204"/>
              <a:cs typeface="Tahoma" panose="020B0604030504040204"/>
            </a:endParaRPr>
          </a:p>
          <a:p>
            <a:pPr marL="1850390">
              <a:lnSpc>
                <a:spcPct val="100000"/>
              </a:lnSpc>
              <a:spcBef>
                <a:spcPts val="295"/>
              </a:spcBef>
            </a:pPr>
            <a:r>
              <a:rPr sz="1000" spc="12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⇒</a:t>
            </a:r>
            <a:r>
              <a:rPr sz="10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(</a:t>
            </a:r>
            <a:r>
              <a:rPr sz="1000" i="1" u="sng" spc="-75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i="1" u="sng" spc="45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000" spc="45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+</a:t>
            </a:r>
            <a:r>
              <a:rPr sz="1000" b="1" spc="45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id</a:t>
            </a:r>
            <a:r>
              <a:rPr sz="1000" spc="45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)*</a:t>
            </a:r>
            <a:r>
              <a:rPr sz="1000" b="1" spc="45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id</a:t>
            </a:r>
            <a:endParaRPr sz="1000">
              <a:latin typeface="Tahoma" panose="020B0604030504040204"/>
              <a:cs typeface="Tahoma" panose="020B0604030504040204"/>
            </a:endParaRPr>
          </a:p>
          <a:p>
            <a:pPr marL="1850390">
              <a:lnSpc>
                <a:spcPct val="100000"/>
              </a:lnSpc>
              <a:spcBef>
                <a:spcPts val="295"/>
              </a:spcBef>
            </a:pPr>
            <a:r>
              <a:rPr sz="1000" spc="12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⇒</a:t>
            </a:r>
            <a:r>
              <a:rPr sz="1000" spc="7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(</a:t>
            </a:r>
            <a:r>
              <a:rPr sz="1000" i="1" u="heavy" spc="-125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i="1" u="heavy" spc="-30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000" i="1" u="heavy" spc="-155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u="heavy" spc="40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Trebuchet MS" panose="020B0603020202020204"/>
                <a:cs typeface="Trebuchet MS" panose="020B0603020202020204"/>
              </a:rPr>
              <a:t>+</a:t>
            </a:r>
            <a:r>
              <a:rPr sz="1000" b="1" spc="4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id</a:t>
            </a:r>
            <a:r>
              <a:rPr sz="1000" spc="4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)*</a:t>
            </a:r>
            <a:r>
              <a:rPr sz="1000" b="1" spc="4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id</a:t>
            </a:r>
            <a:endParaRPr sz="1000">
              <a:latin typeface="Tahoma" panose="020B0604030504040204"/>
              <a:cs typeface="Tahoma" panose="020B0604030504040204"/>
            </a:endParaRPr>
          </a:p>
          <a:p>
            <a:pPr marL="1850390">
              <a:lnSpc>
                <a:spcPct val="100000"/>
              </a:lnSpc>
              <a:spcBef>
                <a:spcPts val="290"/>
              </a:spcBef>
            </a:pPr>
            <a:r>
              <a:rPr sz="1000" spc="12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⇒</a:t>
            </a:r>
            <a:r>
              <a:rPr sz="10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spc="85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(</a:t>
            </a:r>
            <a:r>
              <a:rPr sz="1000" i="1" spc="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F</a:t>
            </a:r>
            <a:r>
              <a:rPr sz="1000" i="1" spc="-1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spc="4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+</a:t>
            </a:r>
            <a:r>
              <a:rPr sz="1000" b="1" spc="4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id</a:t>
            </a:r>
            <a:r>
              <a:rPr sz="1000" spc="4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)*</a:t>
            </a:r>
            <a:r>
              <a:rPr sz="1000" b="1" spc="4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id</a:t>
            </a:r>
            <a:endParaRPr sz="1000">
              <a:latin typeface="Tahoma" panose="020B0604030504040204"/>
              <a:cs typeface="Tahoma" panose="020B0604030504040204"/>
            </a:endParaRPr>
          </a:p>
          <a:p>
            <a:pPr marL="1850390">
              <a:lnSpc>
                <a:spcPct val="100000"/>
              </a:lnSpc>
              <a:spcBef>
                <a:spcPts val="295"/>
              </a:spcBef>
            </a:pPr>
            <a:r>
              <a:rPr sz="1000" spc="12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⇒</a:t>
            </a:r>
            <a:r>
              <a:rPr sz="10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spc="-2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(</a:t>
            </a:r>
            <a:r>
              <a:rPr sz="1000" b="1" u="sng" spc="-55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Tahoma" panose="020B0604030504040204"/>
                <a:cs typeface="Tahoma" panose="020B0604030504040204"/>
              </a:rPr>
              <a:t> </a:t>
            </a:r>
            <a:r>
              <a:rPr sz="1000" b="1" u="sng" spc="-10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Tahoma" panose="020B0604030504040204"/>
                <a:cs typeface="Tahoma" panose="020B0604030504040204"/>
              </a:rPr>
              <a:t>i</a:t>
            </a:r>
            <a:r>
              <a:rPr sz="1000" b="1" spc="-1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d</a:t>
            </a:r>
            <a:r>
              <a:rPr sz="1000" spc="-1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+</a:t>
            </a:r>
            <a:r>
              <a:rPr sz="1000" b="1" u="sng" spc="-10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Tahoma" panose="020B0604030504040204"/>
                <a:cs typeface="Tahoma" panose="020B0604030504040204"/>
              </a:rPr>
              <a:t>id</a:t>
            </a:r>
            <a:r>
              <a:rPr sz="1000" spc="-1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)*</a:t>
            </a:r>
            <a:r>
              <a:rPr sz="1000" b="1" spc="-1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id</a:t>
            </a:r>
            <a:endParaRPr sz="10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788416"/>
            <a:ext cx="4608195" cy="2667635"/>
            <a:chOff x="0" y="788416"/>
            <a:chExt cx="4608195" cy="2667635"/>
          </a:xfrm>
        </p:grpSpPr>
        <p:sp>
          <p:nvSpPr>
            <p:cNvPr id="19" name="object 19"/>
            <p:cNvSpPr/>
            <p:nvPr/>
          </p:nvSpPr>
          <p:spPr>
            <a:xfrm>
              <a:off x="0" y="3333877"/>
              <a:ext cx="4608195" cy="122555"/>
            </a:xfrm>
            <a:custGeom>
              <a:avLst/>
              <a:gdLst/>
              <a:ahLst/>
              <a:cxnLst/>
              <a:rect l="l" t="t" r="r" b="b"/>
              <a:pathLst>
                <a:path w="4608195" h="122554">
                  <a:moveTo>
                    <a:pt x="4607979" y="0"/>
                  </a:moveTo>
                  <a:lnTo>
                    <a:pt x="2303983" y="0"/>
                  </a:lnTo>
                  <a:lnTo>
                    <a:pt x="0" y="0"/>
                  </a:lnTo>
                  <a:lnTo>
                    <a:pt x="0" y="122174"/>
                  </a:lnTo>
                  <a:lnTo>
                    <a:pt x="2303983" y="122174"/>
                  </a:lnTo>
                  <a:lnTo>
                    <a:pt x="4607979" y="122174"/>
                  </a:lnTo>
                  <a:lnTo>
                    <a:pt x="4607979" y="0"/>
                  </a:lnTo>
                  <a:close/>
                </a:path>
              </a:pathLst>
            </a:custGeom>
            <a:solidFill>
              <a:srgbClr val="3300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160676" y="788428"/>
              <a:ext cx="956944" cy="2255520"/>
            </a:xfrm>
            <a:custGeom>
              <a:avLst/>
              <a:gdLst/>
              <a:ahLst/>
              <a:cxnLst/>
              <a:rect l="l" t="t" r="r" b="b"/>
              <a:pathLst>
                <a:path w="956944" h="2255520">
                  <a:moveTo>
                    <a:pt x="103517" y="620687"/>
                  </a:moveTo>
                  <a:lnTo>
                    <a:pt x="98971" y="581329"/>
                  </a:lnTo>
                  <a:lnTo>
                    <a:pt x="65887" y="545820"/>
                  </a:lnTo>
                  <a:lnTo>
                    <a:pt x="40436" y="537527"/>
                  </a:lnTo>
                  <a:lnTo>
                    <a:pt x="28651" y="538772"/>
                  </a:lnTo>
                  <a:lnTo>
                    <a:pt x="3886" y="569569"/>
                  </a:lnTo>
                  <a:lnTo>
                    <a:pt x="749" y="613016"/>
                  </a:lnTo>
                  <a:lnTo>
                    <a:pt x="0" y="762647"/>
                  </a:lnTo>
                  <a:lnTo>
                    <a:pt x="5791" y="761834"/>
                  </a:lnTo>
                  <a:lnTo>
                    <a:pt x="6832" y="619683"/>
                  </a:lnTo>
                  <a:lnTo>
                    <a:pt x="7315" y="591337"/>
                  </a:lnTo>
                  <a:lnTo>
                    <a:pt x="20688" y="551268"/>
                  </a:lnTo>
                  <a:lnTo>
                    <a:pt x="29667" y="544156"/>
                  </a:lnTo>
                  <a:lnTo>
                    <a:pt x="49593" y="544156"/>
                  </a:lnTo>
                  <a:lnTo>
                    <a:pt x="90170" y="573938"/>
                  </a:lnTo>
                  <a:lnTo>
                    <a:pt x="96913" y="623887"/>
                  </a:lnTo>
                  <a:lnTo>
                    <a:pt x="96570" y="645807"/>
                  </a:lnTo>
                  <a:lnTo>
                    <a:pt x="83553" y="690029"/>
                  </a:lnTo>
                  <a:lnTo>
                    <a:pt x="54775" y="725881"/>
                  </a:lnTo>
                  <a:lnTo>
                    <a:pt x="15709" y="742200"/>
                  </a:lnTo>
                  <a:lnTo>
                    <a:pt x="10528" y="742213"/>
                  </a:lnTo>
                  <a:lnTo>
                    <a:pt x="7696" y="743343"/>
                  </a:lnTo>
                  <a:lnTo>
                    <a:pt x="7696" y="747852"/>
                  </a:lnTo>
                  <a:lnTo>
                    <a:pt x="10172" y="748309"/>
                  </a:lnTo>
                  <a:lnTo>
                    <a:pt x="57404" y="731050"/>
                  </a:lnTo>
                  <a:lnTo>
                    <a:pt x="87210" y="695299"/>
                  </a:lnTo>
                  <a:lnTo>
                    <a:pt x="102819" y="644029"/>
                  </a:lnTo>
                  <a:lnTo>
                    <a:pt x="103517" y="620687"/>
                  </a:lnTo>
                  <a:close/>
                </a:path>
                <a:path w="956944" h="2255520">
                  <a:moveTo>
                    <a:pt x="135509" y="2042642"/>
                  </a:moveTo>
                  <a:lnTo>
                    <a:pt x="131457" y="2042502"/>
                  </a:lnTo>
                  <a:lnTo>
                    <a:pt x="122859" y="2045195"/>
                  </a:lnTo>
                  <a:lnTo>
                    <a:pt x="112102" y="2048052"/>
                  </a:lnTo>
                  <a:lnTo>
                    <a:pt x="99682" y="2049818"/>
                  </a:lnTo>
                  <a:lnTo>
                    <a:pt x="81559" y="2050859"/>
                  </a:lnTo>
                  <a:lnTo>
                    <a:pt x="26911" y="2052142"/>
                  </a:lnTo>
                  <a:lnTo>
                    <a:pt x="12534" y="2052967"/>
                  </a:lnTo>
                  <a:lnTo>
                    <a:pt x="7327" y="2054402"/>
                  </a:lnTo>
                  <a:lnTo>
                    <a:pt x="7988" y="2056815"/>
                  </a:lnTo>
                  <a:lnTo>
                    <a:pt x="10706" y="2057654"/>
                  </a:lnTo>
                  <a:lnTo>
                    <a:pt x="18554" y="2058098"/>
                  </a:lnTo>
                  <a:lnTo>
                    <a:pt x="33667" y="2058212"/>
                  </a:lnTo>
                  <a:lnTo>
                    <a:pt x="86474" y="2057679"/>
                  </a:lnTo>
                  <a:lnTo>
                    <a:pt x="133197" y="2050021"/>
                  </a:lnTo>
                  <a:lnTo>
                    <a:pt x="135509" y="2048840"/>
                  </a:lnTo>
                  <a:lnTo>
                    <a:pt x="135509" y="2042642"/>
                  </a:lnTo>
                  <a:close/>
                </a:path>
                <a:path w="956944" h="2255520">
                  <a:moveTo>
                    <a:pt x="311975" y="455574"/>
                  </a:moveTo>
                  <a:lnTo>
                    <a:pt x="308470" y="444284"/>
                  </a:lnTo>
                  <a:lnTo>
                    <a:pt x="306006" y="437794"/>
                  </a:lnTo>
                  <a:lnTo>
                    <a:pt x="306006" y="487210"/>
                  </a:lnTo>
                  <a:lnTo>
                    <a:pt x="305981" y="515924"/>
                  </a:lnTo>
                  <a:lnTo>
                    <a:pt x="294360" y="558114"/>
                  </a:lnTo>
                  <a:lnTo>
                    <a:pt x="259956" y="570788"/>
                  </a:lnTo>
                  <a:lnTo>
                    <a:pt x="242836" y="575068"/>
                  </a:lnTo>
                  <a:lnTo>
                    <a:pt x="227736" y="579501"/>
                  </a:lnTo>
                  <a:lnTo>
                    <a:pt x="213474" y="584441"/>
                  </a:lnTo>
                  <a:lnTo>
                    <a:pt x="191630" y="593229"/>
                  </a:lnTo>
                  <a:lnTo>
                    <a:pt x="184696" y="595896"/>
                  </a:lnTo>
                  <a:lnTo>
                    <a:pt x="178841" y="597979"/>
                  </a:lnTo>
                  <a:lnTo>
                    <a:pt x="174840" y="599186"/>
                  </a:lnTo>
                  <a:lnTo>
                    <a:pt x="159473" y="599846"/>
                  </a:lnTo>
                  <a:lnTo>
                    <a:pt x="141935" y="596099"/>
                  </a:lnTo>
                  <a:lnTo>
                    <a:pt x="107848" y="572947"/>
                  </a:lnTo>
                  <a:lnTo>
                    <a:pt x="93764" y="528599"/>
                  </a:lnTo>
                  <a:lnTo>
                    <a:pt x="92875" y="453351"/>
                  </a:lnTo>
                  <a:lnTo>
                    <a:pt x="93306" y="439610"/>
                  </a:lnTo>
                  <a:lnTo>
                    <a:pt x="109728" y="404418"/>
                  </a:lnTo>
                  <a:lnTo>
                    <a:pt x="149364" y="394754"/>
                  </a:lnTo>
                  <a:lnTo>
                    <a:pt x="274815" y="392950"/>
                  </a:lnTo>
                  <a:lnTo>
                    <a:pt x="281114" y="402742"/>
                  </a:lnTo>
                  <a:lnTo>
                    <a:pt x="299173" y="437578"/>
                  </a:lnTo>
                  <a:lnTo>
                    <a:pt x="306006" y="487210"/>
                  </a:lnTo>
                  <a:lnTo>
                    <a:pt x="306006" y="437794"/>
                  </a:lnTo>
                  <a:lnTo>
                    <a:pt x="285597" y="398195"/>
                  </a:lnTo>
                  <a:lnTo>
                    <a:pt x="245427" y="374408"/>
                  </a:lnTo>
                  <a:lnTo>
                    <a:pt x="236740" y="373684"/>
                  </a:lnTo>
                  <a:lnTo>
                    <a:pt x="235483" y="373684"/>
                  </a:lnTo>
                  <a:lnTo>
                    <a:pt x="235483" y="379247"/>
                  </a:lnTo>
                  <a:lnTo>
                    <a:pt x="236042" y="379437"/>
                  </a:lnTo>
                  <a:lnTo>
                    <a:pt x="255612" y="382270"/>
                  </a:lnTo>
                  <a:lnTo>
                    <a:pt x="261315" y="383667"/>
                  </a:lnTo>
                  <a:lnTo>
                    <a:pt x="263144" y="384632"/>
                  </a:lnTo>
                  <a:lnTo>
                    <a:pt x="262928" y="385572"/>
                  </a:lnTo>
                  <a:lnTo>
                    <a:pt x="255790" y="386168"/>
                  </a:lnTo>
                  <a:lnTo>
                    <a:pt x="238620" y="386588"/>
                  </a:lnTo>
                  <a:lnTo>
                    <a:pt x="174828" y="387299"/>
                  </a:lnTo>
                  <a:lnTo>
                    <a:pt x="155752" y="387832"/>
                  </a:lnTo>
                  <a:lnTo>
                    <a:pt x="114211" y="396176"/>
                  </a:lnTo>
                  <a:lnTo>
                    <a:pt x="87566" y="439610"/>
                  </a:lnTo>
                  <a:lnTo>
                    <a:pt x="86512" y="487210"/>
                  </a:lnTo>
                  <a:lnTo>
                    <a:pt x="86448" y="498094"/>
                  </a:lnTo>
                  <a:lnTo>
                    <a:pt x="92151" y="552119"/>
                  </a:lnTo>
                  <a:lnTo>
                    <a:pt x="116890" y="590397"/>
                  </a:lnTo>
                  <a:lnTo>
                    <a:pt x="154076" y="605510"/>
                  </a:lnTo>
                  <a:lnTo>
                    <a:pt x="167144" y="606348"/>
                  </a:lnTo>
                  <a:lnTo>
                    <a:pt x="181203" y="603478"/>
                  </a:lnTo>
                  <a:lnTo>
                    <a:pt x="190931" y="599846"/>
                  </a:lnTo>
                  <a:lnTo>
                    <a:pt x="199415" y="596671"/>
                  </a:lnTo>
                  <a:lnTo>
                    <a:pt x="215404" y="590397"/>
                  </a:lnTo>
                  <a:lnTo>
                    <a:pt x="231368" y="584962"/>
                  </a:lnTo>
                  <a:lnTo>
                    <a:pt x="247840" y="580186"/>
                  </a:lnTo>
                  <a:lnTo>
                    <a:pt x="282130" y="571690"/>
                  </a:lnTo>
                  <a:lnTo>
                    <a:pt x="292633" y="567702"/>
                  </a:lnTo>
                  <a:lnTo>
                    <a:pt x="311797" y="521398"/>
                  </a:lnTo>
                  <a:lnTo>
                    <a:pt x="311848" y="513969"/>
                  </a:lnTo>
                  <a:lnTo>
                    <a:pt x="311975" y="455574"/>
                  </a:lnTo>
                  <a:close/>
                </a:path>
                <a:path w="956944" h="2255520">
                  <a:moveTo>
                    <a:pt x="665099" y="2229091"/>
                  </a:moveTo>
                  <a:lnTo>
                    <a:pt x="662533" y="2225281"/>
                  </a:lnTo>
                  <a:lnTo>
                    <a:pt x="659447" y="2225675"/>
                  </a:lnTo>
                  <a:lnTo>
                    <a:pt x="640448" y="2226830"/>
                  </a:lnTo>
                  <a:lnTo>
                    <a:pt x="601383" y="2229828"/>
                  </a:lnTo>
                  <a:lnTo>
                    <a:pt x="562165" y="2234044"/>
                  </a:lnTo>
                  <a:lnTo>
                    <a:pt x="503110" y="2243734"/>
                  </a:lnTo>
                  <a:lnTo>
                    <a:pt x="493572" y="2246172"/>
                  </a:lnTo>
                  <a:lnTo>
                    <a:pt x="484238" y="2248179"/>
                  </a:lnTo>
                  <a:lnTo>
                    <a:pt x="478396" y="2248179"/>
                  </a:lnTo>
                  <a:lnTo>
                    <a:pt x="475856" y="2250275"/>
                  </a:lnTo>
                  <a:lnTo>
                    <a:pt x="477697" y="2255075"/>
                  </a:lnTo>
                  <a:lnTo>
                    <a:pt x="486765" y="2255037"/>
                  </a:lnTo>
                  <a:lnTo>
                    <a:pt x="493433" y="2252675"/>
                  </a:lnTo>
                  <a:lnTo>
                    <a:pt x="516636" y="2247100"/>
                  </a:lnTo>
                  <a:lnTo>
                    <a:pt x="552424" y="2241524"/>
                  </a:lnTo>
                  <a:lnTo>
                    <a:pt x="595769" y="2236622"/>
                  </a:lnTo>
                  <a:lnTo>
                    <a:pt x="641578" y="2233079"/>
                  </a:lnTo>
                  <a:lnTo>
                    <a:pt x="652983" y="2232418"/>
                  </a:lnTo>
                  <a:lnTo>
                    <a:pt x="662901" y="2231288"/>
                  </a:lnTo>
                  <a:lnTo>
                    <a:pt x="665099" y="2229091"/>
                  </a:lnTo>
                  <a:close/>
                </a:path>
                <a:path w="956944" h="2255520">
                  <a:moveTo>
                    <a:pt x="956335" y="23317"/>
                  </a:moveTo>
                  <a:lnTo>
                    <a:pt x="953909" y="22567"/>
                  </a:lnTo>
                  <a:lnTo>
                    <a:pt x="939965" y="21717"/>
                  </a:lnTo>
                  <a:lnTo>
                    <a:pt x="933767" y="21158"/>
                  </a:lnTo>
                  <a:lnTo>
                    <a:pt x="918806" y="18999"/>
                  </a:lnTo>
                  <a:lnTo>
                    <a:pt x="880414" y="11150"/>
                  </a:lnTo>
                  <a:lnTo>
                    <a:pt x="857300" y="7556"/>
                  </a:lnTo>
                  <a:lnTo>
                    <a:pt x="835177" y="6007"/>
                  </a:lnTo>
                  <a:lnTo>
                    <a:pt x="806665" y="5676"/>
                  </a:lnTo>
                  <a:lnTo>
                    <a:pt x="783094" y="5880"/>
                  </a:lnTo>
                  <a:lnTo>
                    <a:pt x="767651" y="6845"/>
                  </a:lnTo>
                  <a:lnTo>
                    <a:pt x="755459" y="9182"/>
                  </a:lnTo>
                  <a:lnTo>
                    <a:pt x="741680" y="13462"/>
                  </a:lnTo>
                  <a:lnTo>
                    <a:pt x="729665" y="17487"/>
                  </a:lnTo>
                  <a:lnTo>
                    <a:pt x="654240" y="18173"/>
                  </a:lnTo>
                  <a:lnTo>
                    <a:pt x="611263" y="16941"/>
                  </a:lnTo>
                  <a:lnTo>
                    <a:pt x="537298" y="11595"/>
                  </a:lnTo>
                  <a:lnTo>
                    <a:pt x="494284" y="7543"/>
                  </a:lnTo>
                  <a:lnTo>
                    <a:pt x="436702" y="1854"/>
                  </a:lnTo>
                  <a:lnTo>
                    <a:pt x="398640" y="749"/>
                  </a:lnTo>
                  <a:lnTo>
                    <a:pt x="333933" y="88"/>
                  </a:lnTo>
                  <a:lnTo>
                    <a:pt x="266661" y="0"/>
                  </a:lnTo>
                  <a:lnTo>
                    <a:pt x="220929" y="622"/>
                  </a:lnTo>
                  <a:lnTo>
                    <a:pt x="175387" y="2743"/>
                  </a:lnTo>
                  <a:lnTo>
                    <a:pt x="133108" y="5359"/>
                  </a:lnTo>
                  <a:lnTo>
                    <a:pt x="76631" y="10845"/>
                  </a:lnTo>
                  <a:lnTo>
                    <a:pt x="65887" y="14427"/>
                  </a:lnTo>
                  <a:lnTo>
                    <a:pt x="70116" y="17932"/>
                  </a:lnTo>
                  <a:lnTo>
                    <a:pt x="72618" y="17957"/>
                  </a:lnTo>
                  <a:lnTo>
                    <a:pt x="77431" y="17030"/>
                  </a:lnTo>
                  <a:lnTo>
                    <a:pt x="90322" y="15392"/>
                  </a:lnTo>
                  <a:lnTo>
                    <a:pt x="138239" y="11188"/>
                  </a:lnTo>
                  <a:lnTo>
                    <a:pt x="204812" y="7556"/>
                  </a:lnTo>
                  <a:lnTo>
                    <a:pt x="247243" y="6350"/>
                  </a:lnTo>
                  <a:lnTo>
                    <a:pt x="292811" y="5880"/>
                  </a:lnTo>
                  <a:lnTo>
                    <a:pt x="344322" y="6108"/>
                  </a:lnTo>
                  <a:lnTo>
                    <a:pt x="396849" y="6819"/>
                  </a:lnTo>
                  <a:lnTo>
                    <a:pt x="433298" y="8115"/>
                  </a:lnTo>
                  <a:lnTo>
                    <a:pt x="465594" y="10668"/>
                  </a:lnTo>
                  <a:lnTo>
                    <a:pt x="516496" y="16192"/>
                  </a:lnTo>
                  <a:lnTo>
                    <a:pt x="578434" y="20955"/>
                  </a:lnTo>
                  <a:lnTo>
                    <a:pt x="609993" y="23012"/>
                  </a:lnTo>
                  <a:lnTo>
                    <a:pt x="633209" y="24117"/>
                  </a:lnTo>
                  <a:lnTo>
                    <a:pt x="654812" y="24498"/>
                  </a:lnTo>
                  <a:lnTo>
                    <a:pt x="728395" y="23901"/>
                  </a:lnTo>
                  <a:lnTo>
                    <a:pt x="762571" y="12700"/>
                  </a:lnTo>
                  <a:lnTo>
                    <a:pt x="836206" y="12839"/>
                  </a:lnTo>
                  <a:lnTo>
                    <a:pt x="856043" y="13792"/>
                  </a:lnTo>
                  <a:lnTo>
                    <a:pt x="873125" y="16129"/>
                  </a:lnTo>
                  <a:lnTo>
                    <a:pt x="919226" y="25412"/>
                  </a:lnTo>
                  <a:lnTo>
                    <a:pt x="938047" y="28105"/>
                  </a:lnTo>
                  <a:lnTo>
                    <a:pt x="950175" y="28460"/>
                  </a:lnTo>
                  <a:lnTo>
                    <a:pt x="955141" y="26428"/>
                  </a:lnTo>
                  <a:lnTo>
                    <a:pt x="956335" y="23317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5391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LR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Parsers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5" dirty="0"/>
              <a:t>LR</a:t>
            </a:r>
            <a:r>
              <a:rPr spc="185" dirty="0"/>
              <a:t> </a:t>
            </a:r>
            <a:r>
              <a:rPr spc="65" dirty="0"/>
              <a:t>Parsers</a:t>
            </a:r>
            <a:endParaRPr spc="6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128280"/>
            <a:ext cx="65201" cy="6520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70915" y="1318094"/>
            <a:ext cx="52705" cy="276860"/>
            <a:chOff x="570915" y="1318094"/>
            <a:chExt cx="52705" cy="27686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915" y="1318094"/>
              <a:ext cx="52527" cy="525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0915" y="1541919"/>
              <a:ext cx="52527" cy="52527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915" y="1765757"/>
            <a:ext cx="52527" cy="5252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87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/>
              <a:t>An</a:t>
            </a:r>
            <a:r>
              <a:rPr spc="50" dirty="0"/>
              <a:t> </a:t>
            </a:r>
            <a:r>
              <a:rPr dirty="0"/>
              <a:t>LR</a:t>
            </a:r>
            <a:r>
              <a:rPr spc="55" dirty="0"/>
              <a:t> </a:t>
            </a:r>
            <a:r>
              <a:rPr spc="-10" dirty="0"/>
              <a:t>parser</a:t>
            </a:r>
            <a:r>
              <a:rPr spc="50" dirty="0"/>
              <a:t> </a:t>
            </a:r>
            <a:r>
              <a:rPr spc="-20" dirty="0"/>
              <a:t>uses</a:t>
            </a:r>
            <a:endParaRPr spc="-20" dirty="0"/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000" dirty="0"/>
              <a:t>A</a:t>
            </a:r>
            <a:r>
              <a:rPr sz="1000" spc="40" dirty="0"/>
              <a:t> </a:t>
            </a:r>
            <a:r>
              <a:rPr sz="1000" spc="-10" dirty="0"/>
              <a:t>parse</a:t>
            </a:r>
            <a:r>
              <a:rPr sz="1000" spc="45" dirty="0"/>
              <a:t> </a:t>
            </a:r>
            <a:r>
              <a:rPr sz="1000" dirty="0"/>
              <a:t>table</a:t>
            </a:r>
            <a:r>
              <a:rPr sz="1000" spc="40" dirty="0"/>
              <a:t> </a:t>
            </a:r>
            <a:r>
              <a:rPr sz="1000" dirty="0"/>
              <a:t>(transition</a:t>
            </a:r>
            <a:r>
              <a:rPr sz="1000" spc="45" dirty="0"/>
              <a:t> </a:t>
            </a:r>
            <a:r>
              <a:rPr sz="1000" spc="-10" dirty="0"/>
              <a:t>function)</a:t>
            </a:r>
            <a:endParaRPr sz="1000"/>
          </a:p>
          <a:p>
            <a:pPr marL="289560">
              <a:lnSpc>
                <a:spcPct val="100000"/>
              </a:lnSpc>
              <a:spcBef>
                <a:spcPts val="565"/>
              </a:spcBef>
            </a:pPr>
            <a:r>
              <a:rPr sz="1000" dirty="0"/>
              <a:t>An</a:t>
            </a:r>
            <a:r>
              <a:rPr sz="1000" spc="-5" dirty="0"/>
              <a:t> </a:t>
            </a:r>
            <a:r>
              <a:rPr sz="1000" dirty="0"/>
              <a:t>input </a:t>
            </a:r>
            <a:r>
              <a:rPr sz="1000" spc="-10" dirty="0"/>
              <a:t>buffer</a:t>
            </a:r>
            <a:endParaRPr sz="1000"/>
          </a:p>
          <a:p>
            <a:pPr marL="289560">
              <a:lnSpc>
                <a:spcPct val="100000"/>
              </a:lnSpc>
              <a:spcBef>
                <a:spcPts val="560"/>
              </a:spcBef>
            </a:pPr>
            <a:r>
              <a:rPr sz="1000" dirty="0"/>
              <a:t>A</a:t>
            </a:r>
            <a:r>
              <a:rPr sz="1000" spc="75" dirty="0"/>
              <a:t> </a:t>
            </a:r>
            <a:r>
              <a:rPr sz="1000" dirty="0"/>
              <a:t>stack</a:t>
            </a:r>
            <a:r>
              <a:rPr sz="1000" spc="75" dirty="0"/>
              <a:t> </a:t>
            </a:r>
            <a:r>
              <a:rPr sz="1000" dirty="0"/>
              <a:t>of</a:t>
            </a:r>
            <a:r>
              <a:rPr sz="1000" spc="80" dirty="0"/>
              <a:t> </a:t>
            </a:r>
            <a:r>
              <a:rPr sz="1000" dirty="0"/>
              <a:t>“LR(0)</a:t>
            </a:r>
            <a:r>
              <a:rPr sz="1000" spc="75" dirty="0"/>
              <a:t> </a:t>
            </a:r>
            <a:r>
              <a:rPr sz="1000" spc="-10" dirty="0"/>
              <a:t>states.”</a:t>
            </a:r>
            <a:endParaRPr sz="1000"/>
          </a:p>
          <a:p>
            <a:pPr marL="12700" marR="5080">
              <a:lnSpc>
                <a:spcPct val="103000"/>
              </a:lnSpc>
              <a:spcBef>
                <a:spcPts val="590"/>
              </a:spcBef>
            </a:pPr>
            <a:r>
              <a:rPr spc="-10" dirty="0"/>
              <a:t>Whereas</a:t>
            </a:r>
            <a:r>
              <a:rPr spc="25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dirty="0"/>
              <a:t>lexer</a:t>
            </a:r>
            <a:r>
              <a:rPr spc="30" dirty="0"/>
              <a:t> </a:t>
            </a:r>
            <a:r>
              <a:rPr dirty="0"/>
              <a:t>is</a:t>
            </a:r>
            <a:r>
              <a:rPr spc="25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dirty="0"/>
              <a:t>DFA</a:t>
            </a:r>
            <a:r>
              <a:rPr spc="30" dirty="0"/>
              <a:t> </a:t>
            </a:r>
            <a:r>
              <a:rPr spc="-10" dirty="0"/>
              <a:t>(deterministic</a:t>
            </a:r>
            <a:r>
              <a:rPr spc="25" dirty="0"/>
              <a:t> </a:t>
            </a:r>
            <a:r>
              <a:rPr spc="-10" dirty="0"/>
              <a:t>finite</a:t>
            </a:r>
            <a:r>
              <a:rPr spc="25" dirty="0"/>
              <a:t> </a:t>
            </a:r>
            <a:r>
              <a:rPr dirty="0"/>
              <a:t>automaton),</a:t>
            </a:r>
            <a:r>
              <a:rPr spc="30" dirty="0"/>
              <a:t> </a:t>
            </a:r>
            <a:r>
              <a:rPr dirty="0"/>
              <a:t>an</a:t>
            </a:r>
            <a:r>
              <a:rPr spc="25" dirty="0"/>
              <a:t> </a:t>
            </a:r>
            <a:r>
              <a:rPr spc="-25" dirty="0"/>
              <a:t>LR </a:t>
            </a:r>
            <a:r>
              <a:rPr spc="-10" dirty="0"/>
              <a:t>parser</a:t>
            </a:r>
            <a:r>
              <a:rPr spc="40" dirty="0"/>
              <a:t> </a:t>
            </a:r>
            <a:r>
              <a:rPr dirty="0"/>
              <a:t>is</a:t>
            </a:r>
            <a:r>
              <a:rPr spc="45" dirty="0"/>
              <a:t> </a:t>
            </a:r>
            <a:r>
              <a:rPr dirty="0"/>
              <a:t>a</a:t>
            </a:r>
            <a:r>
              <a:rPr spc="45" dirty="0"/>
              <a:t> </a:t>
            </a:r>
            <a:r>
              <a:rPr dirty="0"/>
              <a:t>PDA</a:t>
            </a:r>
            <a:r>
              <a:rPr spc="45" dirty="0"/>
              <a:t> </a:t>
            </a:r>
            <a:r>
              <a:rPr spc="-40" dirty="0"/>
              <a:t>(push-</a:t>
            </a:r>
            <a:r>
              <a:rPr spc="-45" dirty="0"/>
              <a:t>down</a:t>
            </a:r>
            <a:r>
              <a:rPr spc="45" dirty="0"/>
              <a:t> </a:t>
            </a:r>
            <a:r>
              <a:rPr spc="-10" dirty="0"/>
              <a:t>automaton).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/>
              <a:t>A</a:t>
            </a:r>
            <a:r>
              <a:rPr spc="40" dirty="0"/>
              <a:t> </a:t>
            </a:r>
            <a:r>
              <a:rPr dirty="0"/>
              <a:t>PDA</a:t>
            </a:r>
            <a:r>
              <a:rPr spc="45" dirty="0"/>
              <a:t> </a:t>
            </a:r>
            <a:r>
              <a:rPr dirty="0"/>
              <a:t>is</a:t>
            </a:r>
            <a:r>
              <a:rPr spc="40" dirty="0"/>
              <a:t> </a:t>
            </a:r>
            <a:r>
              <a:rPr spc="-20" dirty="0"/>
              <a:t>essentially</a:t>
            </a:r>
            <a:r>
              <a:rPr spc="45" dirty="0"/>
              <a:t> </a:t>
            </a:r>
            <a:r>
              <a:rPr dirty="0"/>
              <a:t>a</a:t>
            </a:r>
            <a:r>
              <a:rPr spc="40" dirty="0"/>
              <a:t> </a:t>
            </a:r>
            <a:r>
              <a:rPr dirty="0"/>
              <a:t>DFA</a:t>
            </a:r>
            <a:r>
              <a:rPr spc="45" dirty="0"/>
              <a:t> </a:t>
            </a:r>
            <a:r>
              <a:rPr dirty="0"/>
              <a:t>(or</a:t>
            </a:r>
            <a:r>
              <a:rPr spc="40" dirty="0"/>
              <a:t> </a:t>
            </a:r>
            <a:r>
              <a:rPr dirty="0"/>
              <a:t>NFA)</a:t>
            </a:r>
            <a:r>
              <a:rPr spc="45" dirty="0"/>
              <a:t> </a:t>
            </a:r>
            <a:r>
              <a:rPr spc="-10" dirty="0"/>
              <a:t>with</a:t>
            </a:r>
            <a:r>
              <a:rPr spc="40" dirty="0"/>
              <a:t> </a:t>
            </a:r>
            <a:r>
              <a:rPr dirty="0"/>
              <a:t>a</a:t>
            </a:r>
            <a:r>
              <a:rPr spc="45" dirty="0"/>
              <a:t> </a:t>
            </a:r>
            <a:r>
              <a:rPr spc="-10" dirty="0"/>
              <a:t>stack.</a:t>
            </a:r>
            <a:endParaRPr spc="-10" dirty="0"/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165" y="1997151"/>
            <a:ext cx="65201" cy="652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165" y="2413304"/>
            <a:ext cx="65201" cy="65201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40118" y="1158443"/>
            <a:ext cx="443865" cy="414020"/>
          </a:xfrm>
          <a:custGeom>
            <a:avLst/>
            <a:gdLst/>
            <a:ahLst/>
            <a:cxnLst/>
            <a:rect l="l" t="t" r="r" b="b"/>
            <a:pathLst>
              <a:path w="443865" h="414019">
                <a:moveTo>
                  <a:pt x="401993" y="186080"/>
                </a:moveTo>
                <a:lnTo>
                  <a:pt x="400367" y="184365"/>
                </a:lnTo>
                <a:lnTo>
                  <a:pt x="395109" y="183451"/>
                </a:lnTo>
                <a:lnTo>
                  <a:pt x="385699" y="183299"/>
                </a:lnTo>
                <a:lnTo>
                  <a:pt x="371576" y="183857"/>
                </a:lnTo>
                <a:lnTo>
                  <a:pt x="322376" y="194741"/>
                </a:lnTo>
                <a:lnTo>
                  <a:pt x="276021" y="223024"/>
                </a:lnTo>
                <a:lnTo>
                  <a:pt x="243166" y="249567"/>
                </a:lnTo>
                <a:lnTo>
                  <a:pt x="191198" y="299466"/>
                </a:lnTo>
                <a:lnTo>
                  <a:pt x="156921" y="334048"/>
                </a:lnTo>
                <a:lnTo>
                  <a:pt x="105168" y="387819"/>
                </a:lnTo>
                <a:lnTo>
                  <a:pt x="93091" y="399542"/>
                </a:lnTo>
                <a:lnTo>
                  <a:pt x="85852" y="405041"/>
                </a:lnTo>
                <a:lnTo>
                  <a:pt x="81445" y="406133"/>
                </a:lnTo>
                <a:lnTo>
                  <a:pt x="79375" y="405091"/>
                </a:lnTo>
                <a:lnTo>
                  <a:pt x="77228" y="401396"/>
                </a:lnTo>
                <a:lnTo>
                  <a:pt x="74180" y="393141"/>
                </a:lnTo>
                <a:lnTo>
                  <a:pt x="69418" y="378421"/>
                </a:lnTo>
                <a:lnTo>
                  <a:pt x="61468" y="357568"/>
                </a:lnTo>
                <a:lnTo>
                  <a:pt x="51104" y="335064"/>
                </a:lnTo>
                <a:lnTo>
                  <a:pt x="41490" y="317284"/>
                </a:lnTo>
                <a:lnTo>
                  <a:pt x="35775" y="310591"/>
                </a:lnTo>
                <a:lnTo>
                  <a:pt x="33070" y="311556"/>
                </a:lnTo>
                <a:lnTo>
                  <a:pt x="34823" y="317207"/>
                </a:lnTo>
                <a:lnTo>
                  <a:pt x="41351" y="328510"/>
                </a:lnTo>
                <a:lnTo>
                  <a:pt x="47980" y="340804"/>
                </a:lnTo>
                <a:lnTo>
                  <a:pt x="54089" y="353771"/>
                </a:lnTo>
                <a:lnTo>
                  <a:pt x="59588" y="367245"/>
                </a:lnTo>
                <a:lnTo>
                  <a:pt x="64401" y="381050"/>
                </a:lnTo>
                <a:lnTo>
                  <a:pt x="69062" y="395478"/>
                </a:lnTo>
                <a:lnTo>
                  <a:pt x="71983" y="403821"/>
                </a:lnTo>
                <a:lnTo>
                  <a:pt x="73914" y="408089"/>
                </a:lnTo>
                <a:lnTo>
                  <a:pt x="75653" y="410337"/>
                </a:lnTo>
                <a:lnTo>
                  <a:pt x="78943" y="413613"/>
                </a:lnTo>
                <a:lnTo>
                  <a:pt x="84785" y="413283"/>
                </a:lnTo>
                <a:lnTo>
                  <a:pt x="90538" y="409473"/>
                </a:lnTo>
                <a:lnTo>
                  <a:pt x="95516" y="405003"/>
                </a:lnTo>
                <a:lnTo>
                  <a:pt x="118910" y="381571"/>
                </a:lnTo>
                <a:lnTo>
                  <a:pt x="171056" y="327406"/>
                </a:lnTo>
                <a:lnTo>
                  <a:pt x="195999" y="301929"/>
                </a:lnTo>
                <a:lnTo>
                  <a:pt x="232410" y="267144"/>
                </a:lnTo>
                <a:lnTo>
                  <a:pt x="271119" y="233819"/>
                </a:lnTo>
                <a:lnTo>
                  <a:pt x="321640" y="201333"/>
                </a:lnTo>
                <a:lnTo>
                  <a:pt x="380161" y="189103"/>
                </a:lnTo>
                <a:lnTo>
                  <a:pt x="399859" y="188391"/>
                </a:lnTo>
                <a:lnTo>
                  <a:pt x="401993" y="188087"/>
                </a:lnTo>
                <a:lnTo>
                  <a:pt x="401993" y="186080"/>
                </a:lnTo>
                <a:close/>
              </a:path>
              <a:path w="443865" h="414019">
                <a:moveTo>
                  <a:pt x="443357" y="4610"/>
                </a:moveTo>
                <a:lnTo>
                  <a:pt x="439623" y="114"/>
                </a:lnTo>
                <a:lnTo>
                  <a:pt x="438797" y="0"/>
                </a:lnTo>
                <a:lnTo>
                  <a:pt x="434263" y="965"/>
                </a:lnTo>
                <a:lnTo>
                  <a:pt x="421601" y="3429"/>
                </a:lnTo>
                <a:lnTo>
                  <a:pt x="367652" y="21856"/>
                </a:lnTo>
                <a:lnTo>
                  <a:pt x="306539" y="55486"/>
                </a:lnTo>
                <a:lnTo>
                  <a:pt x="248081" y="98983"/>
                </a:lnTo>
                <a:lnTo>
                  <a:pt x="215747" y="127812"/>
                </a:lnTo>
                <a:lnTo>
                  <a:pt x="160413" y="181114"/>
                </a:lnTo>
                <a:lnTo>
                  <a:pt x="149733" y="190995"/>
                </a:lnTo>
                <a:lnTo>
                  <a:pt x="142595" y="196723"/>
                </a:lnTo>
                <a:lnTo>
                  <a:pt x="136931" y="200113"/>
                </a:lnTo>
                <a:lnTo>
                  <a:pt x="128625" y="204266"/>
                </a:lnTo>
                <a:lnTo>
                  <a:pt x="127457" y="204508"/>
                </a:lnTo>
                <a:lnTo>
                  <a:pt x="116052" y="204381"/>
                </a:lnTo>
                <a:lnTo>
                  <a:pt x="64185" y="181533"/>
                </a:lnTo>
                <a:lnTo>
                  <a:pt x="23101" y="142697"/>
                </a:lnTo>
                <a:lnTo>
                  <a:pt x="13030" y="133413"/>
                </a:lnTo>
                <a:lnTo>
                  <a:pt x="6921" y="128358"/>
                </a:lnTo>
                <a:lnTo>
                  <a:pt x="4076" y="126949"/>
                </a:lnTo>
                <a:lnTo>
                  <a:pt x="330" y="127482"/>
                </a:lnTo>
                <a:lnTo>
                  <a:pt x="0" y="131495"/>
                </a:lnTo>
                <a:lnTo>
                  <a:pt x="3581" y="132880"/>
                </a:lnTo>
                <a:lnTo>
                  <a:pt x="6794" y="135382"/>
                </a:lnTo>
                <a:lnTo>
                  <a:pt x="22339" y="149860"/>
                </a:lnTo>
                <a:lnTo>
                  <a:pt x="49911" y="176682"/>
                </a:lnTo>
                <a:lnTo>
                  <a:pt x="63398" y="188836"/>
                </a:lnTo>
                <a:lnTo>
                  <a:pt x="106006" y="209562"/>
                </a:lnTo>
                <a:lnTo>
                  <a:pt x="117817" y="210616"/>
                </a:lnTo>
                <a:lnTo>
                  <a:pt x="127825" y="209651"/>
                </a:lnTo>
                <a:lnTo>
                  <a:pt x="136994" y="206679"/>
                </a:lnTo>
                <a:lnTo>
                  <a:pt x="146354" y="200888"/>
                </a:lnTo>
                <a:lnTo>
                  <a:pt x="159283" y="189712"/>
                </a:lnTo>
                <a:lnTo>
                  <a:pt x="217411" y="133883"/>
                </a:lnTo>
                <a:lnTo>
                  <a:pt x="249669" y="105117"/>
                </a:lnTo>
                <a:lnTo>
                  <a:pt x="307708" y="61480"/>
                </a:lnTo>
                <a:lnTo>
                  <a:pt x="350253" y="36449"/>
                </a:lnTo>
                <a:lnTo>
                  <a:pt x="399961" y="14884"/>
                </a:lnTo>
                <a:lnTo>
                  <a:pt x="440601" y="5829"/>
                </a:lnTo>
                <a:lnTo>
                  <a:pt x="443357" y="461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5391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LR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Parsers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5" dirty="0"/>
              <a:t>LR</a:t>
            </a:r>
            <a:r>
              <a:rPr spc="185" dirty="0"/>
              <a:t> </a:t>
            </a:r>
            <a:r>
              <a:rPr spc="65" dirty="0"/>
              <a:t>Parsers</a:t>
            </a:r>
            <a:endParaRPr spc="6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283652"/>
            <a:ext cx="65201" cy="6520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70915" y="1473454"/>
            <a:ext cx="52705" cy="276860"/>
            <a:chOff x="570915" y="1473454"/>
            <a:chExt cx="52705" cy="27686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915" y="1473454"/>
              <a:ext cx="52527" cy="525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0915" y="1697291"/>
              <a:ext cx="52527" cy="52527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915" y="2224773"/>
            <a:ext cx="52527" cy="5252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6412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/>
              <a:t>The</a:t>
            </a:r>
            <a:r>
              <a:rPr spc="15" dirty="0"/>
              <a:t> </a:t>
            </a:r>
            <a:r>
              <a:rPr spc="-10" dirty="0"/>
              <a:t>parser</a:t>
            </a:r>
            <a:r>
              <a:rPr spc="20" dirty="0"/>
              <a:t> </a:t>
            </a:r>
            <a:r>
              <a:rPr spc="-30" dirty="0"/>
              <a:t>performs</a:t>
            </a:r>
            <a:r>
              <a:rPr spc="20" dirty="0"/>
              <a:t> </a:t>
            </a:r>
            <a:r>
              <a:rPr dirty="0"/>
              <a:t>three</a:t>
            </a:r>
            <a:r>
              <a:rPr spc="15" dirty="0"/>
              <a:t> </a:t>
            </a:r>
            <a:r>
              <a:rPr dirty="0"/>
              <a:t>types</a:t>
            </a:r>
            <a:r>
              <a:rPr spc="20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10" dirty="0"/>
              <a:t>operation.</a:t>
            </a:r>
            <a:endParaRPr spc="-10" dirty="0"/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FF0000"/>
                </a:solidFill>
              </a:rPr>
              <a:t>Shift</a:t>
            </a:r>
            <a:r>
              <a:rPr sz="1000" spc="25" dirty="0">
                <a:solidFill>
                  <a:srgbClr val="FF0000"/>
                </a:solidFill>
              </a:rPr>
              <a:t> </a:t>
            </a:r>
            <a:r>
              <a:rPr sz="1000" dirty="0"/>
              <a:t>a</a:t>
            </a:r>
            <a:r>
              <a:rPr sz="1000" spc="25" dirty="0"/>
              <a:t> </a:t>
            </a:r>
            <a:r>
              <a:rPr sz="1000" spc="-10" dirty="0"/>
              <a:t>token</a:t>
            </a:r>
            <a:r>
              <a:rPr sz="1000" spc="30" dirty="0"/>
              <a:t> </a:t>
            </a:r>
            <a:r>
              <a:rPr sz="1000" spc="-10" dirty="0"/>
              <a:t>from</a:t>
            </a:r>
            <a:r>
              <a:rPr sz="1000" spc="25" dirty="0"/>
              <a:t> </a:t>
            </a:r>
            <a:r>
              <a:rPr sz="1000" dirty="0"/>
              <a:t>the</a:t>
            </a:r>
            <a:r>
              <a:rPr sz="1000" u="sng" spc="140" dirty="0">
                <a:uFill>
                  <a:solidFill>
                    <a:srgbClr val="FF2600"/>
                  </a:solidFill>
                </a:uFill>
              </a:rPr>
              <a:t> </a:t>
            </a:r>
            <a:r>
              <a:rPr sz="1000" u="sng" dirty="0">
                <a:uFill>
                  <a:solidFill>
                    <a:srgbClr val="FF2600"/>
                  </a:solidFill>
                </a:uFill>
              </a:rPr>
              <a:t>input</a:t>
            </a:r>
            <a:r>
              <a:rPr sz="1000" u="sng" spc="25" dirty="0">
                <a:uFill>
                  <a:solidFill>
                    <a:srgbClr val="FF2600"/>
                  </a:solidFill>
                </a:uFill>
              </a:rPr>
              <a:t> </a:t>
            </a:r>
            <a:r>
              <a:rPr sz="1000" u="sng" spc="-20" dirty="0">
                <a:uFill>
                  <a:solidFill>
                    <a:srgbClr val="FF2600"/>
                  </a:solidFill>
                </a:uFill>
              </a:rPr>
              <a:t>buff</a:t>
            </a:r>
            <a:r>
              <a:rPr sz="1000" spc="-20" dirty="0"/>
              <a:t>er</a:t>
            </a:r>
            <a:r>
              <a:rPr sz="1000" spc="30" dirty="0"/>
              <a:t> </a:t>
            </a:r>
            <a:r>
              <a:rPr sz="1000" dirty="0"/>
              <a:t>to</a:t>
            </a:r>
            <a:r>
              <a:rPr sz="1000" spc="25" dirty="0"/>
              <a:t> </a:t>
            </a:r>
            <a:r>
              <a:rPr sz="1000" dirty="0"/>
              <a:t>the</a:t>
            </a:r>
            <a:r>
              <a:rPr sz="1000" spc="30" dirty="0"/>
              <a:t> </a:t>
            </a:r>
            <a:r>
              <a:rPr sz="1000" spc="-10" dirty="0"/>
              <a:t>stack.</a:t>
            </a:r>
            <a:endParaRPr sz="1000"/>
          </a:p>
          <a:p>
            <a:pPr marL="289560" marR="5080">
              <a:lnSpc>
                <a:spcPct val="100000"/>
              </a:lnSpc>
              <a:spcBef>
                <a:spcPts val="565"/>
              </a:spcBef>
            </a:pPr>
            <a:r>
              <a:rPr sz="1000" spc="-10" dirty="0">
                <a:solidFill>
                  <a:srgbClr val="FF0000"/>
                </a:solidFill>
              </a:rPr>
              <a:t>Reduce</a:t>
            </a:r>
            <a:r>
              <a:rPr sz="1000" spc="45" dirty="0">
                <a:solidFill>
                  <a:srgbClr val="FF0000"/>
                </a:solidFill>
              </a:rPr>
              <a:t> </a:t>
            </a:r>
            <a:r>
              <a:rPr sz="1000" dirty="0"/>
              <a:t>the</a:t>
            </a:r>
            <a:r>
              <a:rPr sz="1000" spc="45" dirty="0"/>
              <a:t> </a:t>
            </a:r>
            <a:r>
              <a:rPr sz="1000" spc="-10" dirty="0"/>
              <a:t>contents</a:t>
            </a:r>
            <a:r>
              <a:rPr sz="1000" spc="45" dirty="0"/>
              <a:t> </a:t>
            </a:r>
            <a:r>
              <a:rPr sz="1000" dirty="0"/>
              <a:t>of</a:t>
            </a:r>
            <a:r>
              <a:rPr sz="1000" spc="45" dirty="0"/>
              <a:t> </a:t>
            </a:r>
            <a:r>
              <a:rPr sz="1000" dirty="0"/>
              <a:t>the</a:t>
            </a:r>
            <a:r>
              <a:rPr sz="1000" spc="45" dirty="0"/>
              <a:t> </a:t>
            </a:r>
            <a:r>
              <a:rPr sz="1000" dirty="0"/>
              <a:t>stack</a:t>
            </a:r>
            <a:r>
              <a:rPr sz="1000" spc="50" dirty="0"/>
              <a:t> </a:t>
            </a:r>
            <a:r>
              <a:rPr sz="1000" dirty="0"/>
              <a:t>by</a:t>
            </a:r>
            <a:r>
              <a:rPr sz="1000" spc="45" dirty="0"/>
              <a:t> </a:t>
            </a:r>
            <a:r>
              <a:rPr sz="1000" spc="-25" dirty="0"/>
              <a:t>applying</a:t>
            </a:r>
            <a:r>
              <a:rPr sz="1000" spc="45" dirty="0"/>
              <a:t> </a:t>
            </a:r>
            <a:r>
              <a:rPr sz="1000" dirty="0"/>
              <a:t>a</a:t>
            </a:r>
            <a:r>
              <a:rPr sz="1000" spc="45" dirty="0"/>
              <a:t> </a:t>
            </a:r>
            <a:r>
              <a:rPr sz="1000" spc="-10" dirty="0"/>
              <a:t>production.</a:t>
            </a:r>
            <a:r>
              <a:rPr sz="1000" spc="145" dirty="0"/>
              <a:t> </a:t>
            </a:r>
            <a:r>
              <a:rPr sz="1000" dirty="0"/>
              <a:t>That</a:t>
            </a:r>
            <a:r>
              <a:rPr sz="1000" spc="45" dirty="0"/>
              <a:t> </a:t>
            </a:r>
            <a:r>
              <a:rPr sz="1000" spc="-25" dirty="0"/>
              <a:t>is, </a:t>
            </a:r>
            <a:r>
              <a:rPr sz="1000" spc="-10" dirty="0"/>
              <a:t>pop</a:t>
            </a:r>
            <a:r>
              <a:rPr sz="1000" spc="30" dirty="0"/>
              <a:t> </a:t>
            </a:r>
            <a:r>
              <a:rPr sz="1000" dirty="0"/>
              <a:t>a</a:t>
            </a:r>
            <a:r>
              <a:rPr sz="1000" spc="30" dirty="0"/>
              <a:t> </a:t>
            </a:r>
            <a:r>
              <a:rPr sz="1000" spc="-30" dirty="0"/>
              <a:t>sequence</a:t>
            </a:r>
            <a:r>
              <a:rPr sz="1000" spc="30" dirty="0"/>
              <a:t> </a:t>
            </a:r>
            <a:r>
              <a:rPr sz="1000" dirty="0"/>
              <a:t>of</a:t>
            </a:r>
            <a:r>
              <a:rPr sz="1000" spc="35" dirty="0"/>
              <a:t> </a:t>
            </a:r>
            <a:r>
              <a:rPr sz="1000" spc="-10" dirty="0"/>
              <a:t>tokens</a:t>
            </a:r>
            <a:r>
              <a:rPr sz="1000" spc="30" dirty="0"/>
              <a:t> </a:t>
            </a:r>
            <a:r>
              <a:rPr sz="1000" dirty="0"/>
              <a:t>that</a:t>
            </a:r>
            <a:r>
              <a:rPr sz="1000" spc="30" dirty="0"/>
              <a:t> </a:t>
            </a:r>
            <a:r>
              <a:rPr sz="1000" dirty="0"/>
              <a:t>match</a:t>
            </a:r>
            <a:r>
              <a:rPr sz="1000" spc="35" dirty="0"/>
              <a:t> </a:t>
            </a:r>
            <a:r>
              <a:rPr sz="1000" dirty="0"/>
              <a:t>the</a:t>
            </a:r>
            <a:r>
              <a:rPr sz="1000" spc="30" dirty="0"/>
              <a:t> </a:t>
            </a:r>
            <a:r>
              <a:rPr sz="1000" dirty="0"/>
              <a:t>body</a:t>
            </a:r>
            <a:r>
              <a:rPr sz="1000" spc="30" dirty="0"/>
              <a:t> </a:t>
            </a:r>
            <a:r>
              <a:rPr sz="1000" dirty="0"/>
              <a:t>of</a:t>
            </a:r>
            <a:r>
              <a:rPr sz="1000" spc="35" dirty="0"/>
              <a:t> </a:t>
            </a:r>
            <a:r>
              <a:rPr sz="1000" dirty="0"/>
              <a:t>a</a:t>
            </a:r>
            <a:r>
              <a:rPr sz="1000" spc="30" dirty="0"/>
              <a:t> </a:t>
            </a:r>
            <a:r>
              <a:rPr sz="1000" spc="-20" dirty="0"/>
              <a:t>production</a:t>
            </a:r>
            <a:r>
              <a:rPr sz="1000" spc="30" dirty="0"/>
              <a:t> </a:t>
            </a:r>
            <a:r>
              <a:rPr sz="1000" spc="-25" dirty="0"/>
              <a:t>and </a:t>
            </a:r>
            <a:r>
              <a:rPr sz="1000" spc="-10" dirty="0"/>
              <a:t>replace</a:t>
            </a:r>
            <a:r>
              <a:rPr sz="1000" spc="10" dirty="0"/>
              <a:t> </a:t>
            </a:r>
            <a:r>
              <a:rPr sz="1000" dirty="0"/>
              <a:t>them</a:t>
            </a:r>
            <a:r>
              <a:rPr sz="1000" spc="15" dirty="0"/>
              <a:t> </a:t>
            </a:r>
            <a:r>
              <a:rPr sz="1000" dirty="0"/>
              <a:t>with</a:t>
            </a:r>
            <a:r>
              <a:rPr sz="1000" spc="15" dirty="0"/>
              <a:t> </a:t>
            </a:r>
            <a:r>
              <a:rPr sz="1000" dirty="0"/>
              <a:t>the</a:t>
            </a:r>
            <a:r>
              <a:rPr sz="1000" spc="10" dirty="0"/>
              <a:t> </a:t>
            </a:r>
            <a:r>
              <a:rPr sz="1000" spc="-10" dirty="0"/>
              <a:t>head</a:t>
            </a:r>
            <a:r>
              <a:rPr sz="1000" spc="15" dirty="0"/>
              <a:t> </a:t>
            </a:r>
            <a:r>
              <a:rPr sz="1000" dirty="0"/>
              <a:t>of</a:t>
            </a:r>
            <a:r>
              <a:rPr sz="1000" spc="15" dirty="0"/>
              <a:t> </a:t>
            </a:r>
            <a:r>
              <a:rPr sz="1000" dirty="0"/>
              <a:t>the</a:t>
            </a:r>
            <a:r>
              <a:rPr sz="1000" spc="10" dirty="0"/>
              <a:t> </a:t>
            </a:r>
            <a:r>
              <a:rPr sz="1000" spc="-10" dirty="0"/>
              <a:t>production.</a:t>
            </a:r>
            <a:endParaRPr sz="1000"/>
          </a:p>
          <a:p>
            <a:pPr marL="289560">
              <a:lnSpc>
                <a:spcPct val="100000"/>
              </a:lnSpc>
              <a:spcBef>
                <a:spcPts val="555"/>
              </a:spcBef>
            </a:pPr>
            <a:r>
              <a:rPr sz="1000" dirty="0">
                <a:solidFill>
                  <a:srgbClr val="FF0000"/>
                </a:solidFill>
              </a:rPr>
              <a:t>Go</a:t>
            </a:r>
            <a:r>
              <a:rPr sz="1000" spc="45" dirty="0">
                <a:solidFill>
                  <a:srgbClr val="FF0000"/>
                </a:solidFill>
              </a:rPr>
              <a:t> </a:t>
            </a:r>
            <a:r>
              <a:rPr sz="1000" dirty="0">
                <a:solidFill>
                  <a:srgbClr val="FF0000"/>
                </a:solidFill>
              </a:rPr>
              <a:t>to</a:t>
            </a:r>
            <a:r>
              <a:rPr sz="1000" spc="45" dirty="0">
                <a:solidFill>
                  <a:srgbClr val="FF0000"/>
                </a:solidFill>
              </a:rPr>
              <a:t> </a:t>
            </a:r>
            <a:r>
              <a:rPr sz="1000" dirty="0"/>
              <a:t>a</a:t>
            </a:r>
            <a:r>
              <a:rPr sz="1000" spc="45" dirty="0"/>
              <a:t> </a:t>
            </a:r>
            <a:r>
              <a:rPr sz="1000" spc="-30" dirty="0"/>
              <a:t>new</a:t>
            </a:r>
            <a:r>
              <a:rPr sz="1000" spc="45" dirty="0"/>
              <a:t> </a:t>
            </a:r>
            <a:r>
              <a:rPr sz="1000" spc="-10" dirty="0"/>
              <a:t>state.</a:t>
            </a:r>
            <a:endParaRPr sz="1000"/>
          </a:p>
        </p:txBody>
      </p:sp>
      <p:sp>
        <p:nvSpPr>
          <p:cNvPr id="11" name="object 11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73849" y="1336865"/>
            <a:ext cx="358140" cy="496570"/>
          </a:xfrm>
          <a:custGeom>
            <a:avLst/>
            <a:gdLst/>
            <a:ahLst/>
            <a:cxnLst/>
            <a:rect l="l" t="t" r="r" b="b"/>
            <a:pathLst>
              <a:path w="358140" h="496569">
                <a:moveTo>
                  <a:pt x="326504" y="0"/>
                </a:moveTo>
                <a:lnTo>
                  <a:pt x="276313" y="27584"/>
                </a:lnTo>
                <a:lnTo>
                  <a:pt x="244970" y="54152"/>
                </a:lnTo>
                <a:lnTo>
                  <a:pt x="209562" y="91236"/>
                </a:lnTo>
                <a:lnTo>
                  <a:pt x="168071" y="140754"/>
                </a:lnTo>
                <a:lnTo>
                  <a:pt x="134277" y="185686"/>
                </a:lnTo>
                <a:lnTo>
                  <a:pt x="115951" y="211112"/>
                </a:lnTo>
                <a:lnTo>
                  <a:pt x="104279" y="225831"/>
                </a:lnTo>
                <a:lnTo>
                  <a:pt x="96786" y="232625"/>
                </a:lnTo>
                <a:lnTo>
                  <a:pt x="91008" y="234276"/>
                </a:lnTo>
                <a:lnTo>
                  <a:pt x="82054" y="230759"/>
                </a:lnTo>
                <a:lnTo>
                  <a:pt x="44589" y="172897"/>
                </a:lnTo>
                <a:lnTo>
                  <a:pt x="28714" y="126631"/>
                </a:lnTo>
                <a:lnTo>
                  <a:pt x="27393" y="116687"/>
                </a:lnTo>
                <a:lnTo>
                  <a:pt x="26720" y="114617"/>
                </a:lnTo>
                <a:lnTo>
                  <a:pt x="22517" y="113817"/>
                </a:lnTo>
                <a:lnTo>
                  <a:pt x="22428" y="114490"/>
                </a:lnTo>
                <a:lnTo>
                  <a:pt x="23202" y="125412"/>
                </a:lnTo>
                <a:lnTo>
                  <a:pt x="39814" y="175958"/>
                </a:lnTo>
                <a:lnTo>
                  <a:pt x="68961" y="225209"/>
                </a:lnTo>
                <a:lnTo>
                  <a:pt x="90995" y="239509"/>
                </a:lnTo>
                <a:lnTo>
                  <a:pt x="98221" y="237947"/>
                </a:lnTo>
                <a:lnTo>
                  <a:pt x="105956" y="231952"/>
                </a:lnTo>
                <a:lnTo>
                  <a:pt x="116979" y="218617"/>
                </a:lnTo>
                <a:lnTo>
                  <a:pt x="134112" y="195072"/>
                </a:lnTo>
                <a:lnTo>
                  <a:pt x="169887" y="147167"/>
                </a:lnTo>
                <a:lnTo>
                  <a:pt x="204800" y="104762"/>
                </a:lnTo>
                <a:lnTo>
                  <a:pt x="237782" y="69011"/>
                </a:lnTo>
                <a:lnTo>
                  <a:pt x="267754" y="41097"/>
                </a:lnTo>
                <a:lnTo>
                  <a:pt x="307428" y="14655"/>
                </a:lnTo>
                <a:lnTo>
                  <a:pt x="322821" y="7531"/>
                </a:lnTo>
                <a:lnTo>
                  <a:pt x="326466" y="5181"/>
                </a:lnTo>
                <a:lnTo>
                  <a:pt x="326504" y="0"/>
                </a:lnTo>
                <a:close/>
              </a:path>
              <a:path w="358140" h="496569">
                <a:moveTo>
                  <a:pt x="357695" y="186105"/>
                </a:moveTo>
                <a:lnTo>
                  <a:pt x="317411" y="203758"/>
                </a:lnTo>
                <a:lnTo>
                  <a:pt x="267182" y="245160"/>
                </a:lnTo>
                <a:lnTo>
                  <a:pt x="207581" y="305079"/>
                </a:lnTo>
                <a:lnTo>
                  <a:pt x="99098" y="423760"/>
                </a:lnTo>
                <a:lnTo>
                  <a:pt x="63398" y="464921"/>
                </a:lnTo>
                <a:lnTo>
                  <a:pt x="50215" y="480136"/>
                </a:lnTo>
                <a:lnTo>
                  <a:pt x="41516" y="488175"/>
                </a:lnTo>
                <a:lnTo>
                  <a:pt x="36017" y="489966"/>
                </a:lnTo>
                <a:lnTo>
                  <a:pt x="32397" y="486371"/>
                </a:lnTo>
                <a:lnTo>
                  <a:pt x="12954" y="428510"/>
                </a:lnTo>
                <a:lnTo>
                  <a:pt x="5092" y="396684"/>
                </a:lnTo>
                <a:lnTo>
                  <a:pt x="3911" y="396252"/>
                </a:lnTo>
                <a:lnTo>
                  <a:pt x="469" y="396252"/>
                </a:lnTo>
                <a:lnTo>
                  <a:pt x="0" y="397103"/>
                </a:lnTo>
                <a:lnTo>
                  <a:pt x="0" y="400786"/>
                </a:lnTo>
                <a:lnTo>
                  <a:pt x="1155" y="408089"/>
                </a:lnTo>
                <a:lnTo>
                  <a:pt x="4470" y="420865"/>
                </a:lnTo>
                <a:lnTo>
                  <a:pt x="9652" y="438099"/>
                </a:lnTo>
                <a:lnTo>
                  <a:pt x="24041" y="482079"/>
                </a:lnTo>
                <a:lnTo>
                  <a:pt x="24041" y="483692"/>
                </a:lnTo>
                <a:lnTo>
                  <a:pt x="25781" y="487095"/>
                </a:lnTo>
                <a:lnTo>
                  <a:pt x="31851" y="496544"/>
                </a:lnTo>
                <a:lnTo>
                  <a:pt x="37325" y="495922"/>
                </a:lnTo>
                <a:lnTo>
                  <a:pt x="42760" y="494372"/>
                </a:lnTo>
                <a:lnTo>
                  <a:pt x="49009" y="489737"/>
                </a:lnTo>
                <a:lnTo>
                  <a:pt x="58204" y="480034"/>
                </a:lnTo>
                <a:lnTo>
                  <a:pt x="91770" y="440842"/>
                </a:lnTo>
                <a:lnTo>
                  <a:pt x="188264" y="334543"/>
                </a:lnTo>
                <a:lnTo>
                  <a:pt x="226745" y="293700"/>
                </a:lnTo>
                <a:lnTo>
                  <a:pt x="273672" y="247319"/>
                </a:lnTo>
                <a:lnTo>
                  <a:pt x="321576" y="207835"/>
                </a:lnTo>
                <a:lnTo>
                  <a:pt x="354050" y="189534"/>
                </a:lnTo>
                <a:lnTo>
                  <a:pt x="357695" y="186105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34947" y="2068449"/>
            <a:ext cx="320675" cy="160655"/>
          </a:xfrm>
          <a:custGeom>
            <a:avLst/>
            <a:gdLst/>
            <a:ahLst/>
            <a:cxnLst/>
            <a:rect l="l" t="t" r="r" b="b"/>
            <a:pathLst>
              <a:path w="320675" h="160655">
                <a:moveTo>
                  <a:pt x="319629" y="0"/>
                </a:moveTo>
                <a:lnTo>
                  <a:pt x="285044" y="18856"/>
                </a:lnTo>
                <a:lnTo>
                  <a:pt x="219458" y="60741"/>
                </a:lnTo>
                <a:lnTo>
                  <a:pt x="201413" y="71777"/>
                </a:lnTo>
                <a:lnTo>
                  <a:pt x="165525" y="92637"/>
                </a:lnTo>
                <a:lnTo>
                  <a:pt x="150481" y="101672"/>
                </a:lnTo>
                <a:lnTo>
                  <a:pt x="134690" y="111631"/>
                </a:lnTo>
                <a:lnTo>
                  <a:pt x="113537" y="125354"/>
                </a:lnTo>
                <a:lnTo>
                  <a:pt x="91429" y="139328"/>
                </a:lnTo>
                <a:lnTo>
                  <a:pt x="75377" y="148272"/>
                </a:lnTo>
                <a:lnTo>
                  <a:pt x="63682" y="153023"/>
                </a:lnTo>
                <a:lnTo>
                  <a:pt x="54644" y="154420"/>
                </a:lnTo>
                <a:lnTo>
                  <a:pt x="46986" y="153361"/>
                </a:lnTo>
                <a:lnTo>
                  <a:pt x="41320" y="149696"/>
                </a:lnTo>
                <a:lnTo>
                  <a:pt x="36954" y="142689"/>
                </a:lnTo>
                <a:lnTo>
                  <a:pt x="33200" y="131606"/>
                </a:lnTo>
                <a:lnTo>
                  <a:pt x="28068" y="113942"/>
                </a:lnTo>
                <a:lnTo>
                  <a:pt x="22992" y="98511"/>
                </a:lnTo>
                <a:lnTo>
                  <a:pt x="17827" y="84900"/>
                </a:lnTo>
                <a:lnTo>
                  <a:pt x="12427" y="72698"/>
                </a:lnTo>
                <a:lnTo>
                  <a:pt x="8195" y="63851"/>
                </a:lnTo>
                <a:lnTo>
                  <a:pt x="4733" y="55555"/>
                </a:lnTo>
                <a:lnTo>
                  <a:pt x="4733" y="52758"/>
                </a:lnTo>
                <a:lnTo>
                  <a:pt x="3824" y="51914"/>
                </a:lnTo>
                <a:lnTo>
                  <a:pt x="2202" y="51914"/>
                </a:lnTo>
                <a:lnTo>
                  <a:pt x="0" y="53175"/>
                </a:lnTo>
                <a:lnTo>
                  <a:pt x="113" y="57291"/>
                </a:lnTo>
                <a:lnTo>
                  <a:pt x="2658" y="64765"/>
                </a:lnTo>
                <a:lnTo>
                  <a:pt x="13281" y="88285"/>
                </a:lnTo>
                <a:lnTo>
                  <a:pt x="17729" y="99544"/>
                </a:lnTo>
                <a:lnTo>
                  <a:pt x="21470" y="110909"/>
                </a:lnTo>
                <a:lnTo>
                  <a:pt x="29277" y="138794"/>
                </a:lnTo>
                <a:lnTo>
                  <a:pt x="33729" y="149080"/>
                </a:lnTo>
                <a:lnTo>
                  <a:pt x="38892" y="155408"/>
                </a:lnTo>
                <a:lnTo>
                  <a:pt x="45421" y="158912"/>
                </a:lnTo>
                <a:lnTo>
                  <a:pt x="56762" y="160343"/>
                </a:lnTo>
                <a:lnTo>
                  <a:pt x="70802" y="156638"/>
                </a:lnTo>
                <a:lnTo>
                  <a:pt x="90296" y="146673"/>
                </a:lnTo>
                <a:lnTo>
                  <a:pt x="117996" y="129326"/>
                </a:lnTo>
                <a:lnTo>
                  <a:pt x="136600" y="117275"/>
                </a:lnTo>
                <a:lnTo>
                  <a:pt x="152784" y="107131"/>
                </a:lnTo>
                <a:lnTo>
                  <a:pt x="169451" y="97114"/>
                </a:lnTo>
                <a:lnTo>
                  <a:pt x="213025" y="71533"/>
                </a:lnTo>
                <a:lnTo>
                  <a:pt x="233158" y="59091"/>
                </a:lnTo>
                <a:lnTo>
                  <a:pt x="317845" y="4773"/>
                </a:lnTo>
                <a:lnTo>
                  <a:pt x="320558" y="2805"/>
                </a:lnTo>
                <a:lnTo>
                  <a:pt x="319629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86306" y="1368689"/>
            <a:ext cx="391160" cy="219075"/>
          </a:xfrm>
          <a:custGeom>
            <a:avLst/>
            <a:gdLst/>
            <a:ahLst/>
            <a:cxnLst/>
            <a:rect l="l" t="t" r="r" b="b"/>
            <a:pathLst>
              <a:path w="391159" h="219075">
                <a:moveTo>
                  <a:pt x="63781" y="0"/>
                </a:moveTo>
                <a:lnTo>
                  <a:pt x="25732" y="6020"/>
                </a:lnTo>
                <a:lnTo>
                  <a:pt x="0" y="42695"/>
                </a:lnTo>
                <a:lnTo>
                  <a:pt x="3701" y="57955"/>
                </a:lnTo>
                <a:lnTo>
                  <a:pt x="28885" y="100323"/>
                </a:lnTo>
                <a:lnTo>
                  <a:pt x="63125" y="145123"/>
                </a:lnTo>
                <a:lnTo>
                  <a:pt x="92555" y="179959"/>
                </a:lnTo>
                <a:lnTo>
                  <a:pt x="114064" y="192879"/>
                </a:lnTo>
                <a:lnTo>
                  <a:pt x="116760" y="191213"/>
                </a:lnTo>
                <a:lnTo>
                  <a:pt x="114826" y="188206"/>
                </a:lnTo>
                <a:lnTo>
                  <a:pt x="109564" y="185878"/>
                </a:lnTo>
                <a:lnTo>
                  <a:pt x="103942" y="182553"/>
                </a:lnTo>
                <a:lnTo>
                  <a:pt x="77818" y="154352"/>
                </a:lnTo>
                <a:lnTo>
                  <a:pt x="40226" y="106595"/>
                </a:lnTo>
                <a:lnTo>
                  <a:pt x="17339" y="72856"/>
                </a:lnTo>
                <a:lnTo>
                  <a:pt x="6409" y="31480"/>
                </a:lnTo>
                <a:lnTo>
                  <a:pt x="9031" y="25551"/>
                </a:lnTo>
                <a:lnTo>
                  <a:pt x="13801" y="19935"/>
                </a:lnTo>
                <a:lnTo>
                  <a:pt x="20385" y="14943"/>
                </a:lnTo>
                <a:lnTo>
                  <a:pt x="28447" y="10891"/>
                </a:lnTo>
                <a:lnTo>
                  <a:pt x="52720" y="6127"/>
                </a:lnTo>
                <a:lnTo>
                  <a:pt x="88029" y="6652"/>
                </a:lnTo>
                <a:lnTo>
                  <a:pt x="133747" y="12417"/>
                </a:lnTo>
                <a:lnTo>
                  <a:pt x="189249" y="23373"/>
                </a:lnTo>
                <a:lnTo>
                  <a:pt x="234217" y="32844"/>
                </a:lnTo>
                <a:lnTo>
                  <a:pt x="247399" y="35401"/>
                </a:lnTo>
                <a:lnTo>
                  <a:pt x="290197" y="44622"/>
                </a:lnTo>
                <a:lnTo>
                  <a:pt x="329434" y="55249"/>
                </a:lnTo>
                <a:lnTo>
                  <a:pt x="378773" y="75140"/>
                </a:lnTo>
                <a:lnTo>
                  <a:pt x="386069" y="85086"/>
                </a:lnTo>
                <a:lnTo>
                  <a:pt x="384082" y="91690"/>
                </a:lnTo>
                <a:lnTo>
                  <a:pt x="364232" y="127543"/>
                </a:lnTo>
                <a:lnTo>
                  <a:pt x="325009" y="174033"/>
                </a:lnTo>
                <a:lnTo>
                  <a:pt x="287269" y="205001"/>
                </a:lnTo>
                <a:lnTo>
                  <a:pt x="224837" y="212477"/>
                </a:lnTo>
                <a:lnTo>
                  <a:pt x="97184" y="212623"/>
                </a:lnTo>
                <a:lnTo>
                  <a:pt x="64170" y="212889"/>
                </a:lnTo>
                <a:lnTo>
                  <a:pt x="49587" y="213499"/>
                </a:lnTo>
                <a:lnTo>
                  <a:pt x="46020" y="214590"/>
                </a:lnTo>
                <a:lnTo>
                  <a:pt x="45593" y="215705"/>
                </a:lnTo>
                <a:lnTo>
                  <a:pt x="46038" y="217136"/>
                </a:lnTo>
                <a:lnTo>
                  <a:pt x="47009" y="217771"/>
                </a:lnTo>
                <a:lnTo>
                  <a:pt x="55832" y="218210"/>
                </a:lnTo>
                <a:lnTo>
                  <a:pt x="114492" y="218600"/>
                </a:lnTo>
                <a:lnTo>
                  <a:pt x="221951" y="218237"/>
                </a:lnTo>
                <a:lnTo>
                  <a:pt x="270983" y="217023"/>
                </a:lnTo>
                <a:lnTo>
                  <a:pt x="311736" y="194343"/>
                </a:lnTo>
                <a:lnTo>
                  <a:pt x="342596" y="163752"/>
                </a:lnTo>
                <a:lnTo>
                  <a:pt x="370355" y="128160"/>
                </a:lnTo>
                <a:lnTo>
                  <a:pt x="390639" y="87686"/>
                </a:lnTo>
                <a:lnTo>
                  <a:pt x="389689" y="80163"/>
                </a:lnTo>
                <a:lnTo>
                  <a:pt x="347802" y="55202"/>
                </a:lnTo>
                <a:lnTo>
                  <a:pt x="299791" y="40890"/>
                </a:lnTo>
                <a:lnTo>
                  <a:pt x="219734" y="24086"/>
                </a:lnTo>
                <a:lnTo>
                  <a:pt x="186718" y="17034"/>
                </a:lnTo>
                <a:lnTo>
                  <a:pt x="139336" y="7739"/>
                </a:lnTo>
                <a:lnTo>
                  <a:pt x="97797" y="2003"/>
                </a:lnTo>
                <a:lnTo>
                  <a:pt x="63781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99841" y="1539609"/>
            <a:ext cx="567690" cy="59690"/>
          </a:xfrm>
          <a:custGeom>
            <a:avLst/>
            <a:gdLst/>
            <a:ahLst/>
            <a:cxnLst/>
            <a:rect l="l" t="t" r="r" b="b"/>
            <a:pathLst>
              <a:path w="567689" h="59690">
                <a:moveTo>
                  <a:pt x="60637" y="0"/>
                </a:moveTo>
                <a:lnTo>
                  <a:pt x="18228" y="144"/>
                </a:lnTo>
                <a:lnTo>
                  <a:pt x="2376" y="840"/>
                </a:lnTo>
                <a:lnTo>
                  <a:pt x="0" y="2277"/>
                </a:lnTo>
                <a:lnTo>
                  <a:pt x="2391" y="3728"/>
                </a:lnTo>
                <a:lnTo>
                  <a:pt x="18108" y="4530"/>
                </a:lnTo>
                <a:lnTo>
                  <a:pt x="59968" y="4956"/>
                </a:lnTo>
                <a:lnTo>
                  <a:pt x="228980" y="5663"/>
                </a:lnTo>
                <a:lnTo>
                  <a:pt x="277933" y="6601"/>
                </a:lnTo>
                <a:lnTo>
                  <a:pt x="384083" y="18876"/>
                </a:lnTo>
                <a:lnTo>
                  <a:pt x="459610" y="31520"/>
                </a:lnTo>
                <a:lnTo>
                  <a:pt x="498802" y="40712"/>
                </a:lnTo>
                <a:lnTo>
                  <a:pt x="535945" y="51179"/>
                </a:lnTo>
                <a:lnTo>
                  <a:pt x="560728" y="58694"/>
                </a:lnTo>
                <a:lnTo>
                  <a:pt x="564163" y="59404"/>
                </a:lnTo>
                <a:lnTo>
                  <a:pt x="565168" y="59032"/>
                </a:lnTo>
                <a:lnTo>
                  <a:pt x="567563" y="56638"/>
                </a:lnTo>
                <a:lnTo>
                  <a:pt x="563149" y="54021"/>
                </a:lnTo>
                <a:lnTo>
                  <a:pt x="508811" y="37655"/>
                </a:lnTo>
                <a:lnTo>
                  <a:pt x="466255" y="27384"/>
                </a:lnTo>
                <a:lnTo>
                  <a:pt x="423365" y="19070"/>
                </a:lnTo>
                <a:lnTo>
                  <a:pt x="382185" y="13160"/>
                </a:lnTo>
                <a:lnTo>
                  <a:pt x="311348" y="3705"/>
                </a:lnTo>
                <a:lnTo>
                  <a:pt x="231706" y="578"/>
                </a:lnTo>
                <a:lnTo>
                  <a:pt x="60637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983344" y="1894838"/>
            <a:ext cx="1083945" cy="66040"/>
          </a:xfrm>
          <a:custGeom>
            <a:avLst/>
            <a:gdLst/>
            <a:ahLst/>
            <a:cxnLst/>
            <a:rect l="l" t="t" r="r" b="b"/>
            <a:pathLst>
              <a:path w="1083945" h="66039">
                <a:moveTo>
                  <a:pt x="82967" y="14"/>
                </a:moveTo>
                <a:lnTo>
                  <a:pt x="24808" y="0"/>
                </a:lnTo>
                <a:lnTo>
                  <a:pt x="977" y="457"/>
                </a:lnTo>
                <a:lnTo>
                  <a:pt x="247" y="909"/>
                </a:lnTo>
                <a:lnTo>
                  <a:pt x="0" y="2190"/>
                </a:lnTo>
                <a:lnTo>
                  <a:pt x="427" y="3304"/>
                </a:lnTo>
                <a:lnTo>
                  <a:pt x="4705" y="4397"/>
                </a:lnTo>
                <a:lnTo>
                  <a:pt x="22641" y="5007"/>
                </a:lnTo>
                <a:lnTo>
                  <a:pt x="63481" y="5272"/>
                </a:lnTo>
                <a:lnTo>
                  <a:pt x="191027" y="5431"/>
                </a:lnTo>
                <a:lnTo>
                  <a:pt x="276851" y="6114"/>
                </a:lnTo>
                <a:lnTo>
                  <a:pt x="339267" y="9082"/>
                </a:lnTo>
                <a:lnTo>
                  <a:pt x="380339" y="12326"/>
                </a:lnTo>
                <a:lnTo>
                  <a:pt x="420795" y="16344"/>
                </a:lnTo>
                <a:lnTo>
                  <a:pt x="642820" y="44091"/>
                </a:lnTo>
                <a:lnTo>
                  <a:pt x="745489" y="59423"/>
                </a:lnTo>
                <a:lnTo>
                  <a:pt x="783547" y="63304"/>
                </a:lnTo>
                <a:lnTo>
                  <a:pt x="827863" y="65039"/>
                </a:lnTo>
                <a:lnTo>
                  <a:pt x="894175" y="65699"/>
                </a:lnTo>
                <a:lnTo>
                  <a:pt x="955567" y="65956"/>
                </a:lnTo>
                <a:lnTo>
                  <a:pt x="988033" y="65052"/>
                </a:lnTo>
                <a:lnTo>
                  <a:pt x="1004999" y="61882"/>
                </a:lnTo>
                <a:lnTo>
                  <a:pt x="1031027" y="50595"/>
                </a:lnTo>
                <a:lnTo>
                  <a:pt x="1042110" y="46925"/>
                </a:lnTo>
                <a:lnTo>
                  <a:pt x="1053823" y="44133"/>
                </a:lnTo>
                <a:lnTo>
                  <a:pt x="1072770" y="41247"/>
                </a:lnTo>
                <a:lnTo>
                  <a:pt x="1078984" y="40046"/>
                </a:lnTo>
                <a:lnTo>
                  <a:pt x="1083309" y="38268"/>
                </a:lnTo>
                <a:lnTo>
                  <a:pt x="1083474" y="37860"/>
                </a:lnTo>
                <a:lnTo>
                  <a:pt x="1080339" y="34724"/>
                </a:lnTo>
                <a:lnTo>
                  <a:pt x="1040198" y="41765"/>
                </a:lnTo>
                <a:lnTo>
                  <a:pt x="1009493" y="54004"/>
                </a:lnTo>
                <a:lnTo>
                  <a:pt x="1000382" y="57790"/>
                </a:lnTo>
                <a:lnTo>
                  <a:pt x="945236" y="60285"/>
                </a:lnTo>
                <a:lnTo>
                  <a:pt x="900437" y="60343"/>
                </a:lnTo>
                <a:lnTo>
                  <a:pt x="831504" y="59953"/>
                </a:lnTo>
                <a:lnTo>
                  <a:pt x="783664" y="57968"/>
                </a:lnTo>
                <a:lnTo>
                  <a:pt x="739160" y="53061"/>
                </a:lnTo>
                <a:lnTo>
                  <a:pt x="660696" y="40974"/>
                </a:lnTo>
                <a:lnTo>
                  <a:pt x="434092" y="12294"/>
                </a:lnTo>
                <a:lnTo>
                  <a:pt x="371528" y="6135"/>
                </a:lnTo>
                <a:lnTo>
                  <a:pt x="329687" y="2621"/>
                </a:lnTo>
                <a:lnTo>
                  <a:pt x="236431" y="1024"/>
                </a:lnTo>
                <a:lnTo>
                  <a:pt x="82967" y="14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935061" y="2066535"/>
            <a:ext cx="1303655" cy="62865"/>
          </a:xfrm>
          <a:custGeom>
            <a:avLst/>
            <a:gdLst/>
            <a:ahLst/>
            <a:cxnLst/>
            <a:rect l="l" t="t" r="r" b="b"/>
            <a:pathLst>
              <a:path w="1303655" h="62864">
                <a:moveTo>
                  <a:pt x="262427" y="0"/>
                </a:moveTo>
                <a:lnTo>
                  <a:pt x="151845" y="388"/>
                </a:lnTo>
                <a:lnTo>
                  <a:pt x="127638" y="718"/>
                </a:lnTo>
                <a:lnTo>
                  <a:pt x="73647" y="1633"/>
                </a:lnTo>
                <a:lnTo>
                  <a:pt x="21861" y="1990"/>
                </a:lnTo>
                <a:lnTo>
                  <a:pt x="5809" y="2656"/>
                </a:lnTo>
                <a:lnTo>
                  <a:pt x="0" y="4167"/>
                </a:lnTo>
                <a:lnTo>
                  <a:pt x="405" y="6924"/>
                </a:lnTo>
                <a:lnTo>
                  <a:pt x="3020" y="7775"/>
                </a:lnTo>
                <a:lnTo>
                  <a:pt x="11211" y="8188"/>
                </a:lnTo>
                <a:lnTo>
                  <a:pt x="27506" y="8209"/>
                </a:lnTo>
                <a:lnTo>
                  <a:pt x="105960" y="6927"/>
                </a:lnTo>
                <a:lnTo>
                  <a:pt x="155479" y="5717"/>
                </a:lnTo>
                <a:lnTo>
                  <a:pt x="186302" y="5176"/>
                </a:lnTo>
                <a:lnTo>
                  <a:pt x="232810" y="4824"/>
                </a:lnTo>
                <a:lnTo>
                  <a:pt x="358594" y="4754"/>
                </a:lnTo>
                <a:lnTo>
                  <a:pt x="513620" y="5181"/>
                </a:lnTo>
                <a:lnTo>
                  <a:pt x="536763" y="9258"/>
                </a:lnTo>
                <a:lnTo>
                  <a:pt x="558097" y="12550"/>
                </a:lnTo>
                <a:lnTo>
                  <a:pt x="579264" y="14562"/>
                </a:lnTo>
                <a:lnTo>
                  <a:pt x="604558" y="15572"/>
                </a:lnTo>
                <a:lnTo>
                  <a:pt x="638273" y="15861"/>
                </a:lnTo>
                <a:lnTo>
                  <a:pt x="691022" y="16799"/>
                </a:lnTo>
                <a:lnTo>
                  <a:pt x="739746" y="19817"/>
                </a:lnTo>
                <a:lnTo>
                  <a:pt x="788986" y="25308"/>
                </a:lnTo>
                <a:lnTo>
                  <a:pt x="843286" y="33668"/>
                </a:lnTo>
                <a:lnTo>
                  <a:pt x="899728" y="44015"/>
                </a:lnTo>
                <a:lnTo>
                  <a:pt x="983758" y="61526"/>
                </a:lnTo>
                <a:lnTo>
                  <a:pt x="998193" y="62785"/>
                </a:lnTo>
                <a:lnTo>
                  <a:pt x="1019541" y="62856"/>
                </a:lnTo>
                <a:lnTo>
                  <a:pt x="1045619" y="61785"/>
                </a:lnTo>
                <a:lnTo>
                  <a:pt x="1074242" y="59619"/>
                </a:lnTo>
                <a:lnTo>
                  <a:pt x="1126129" y="54925"/>
                </a:lnTo>
                <a:lnTo>
                  <a:pt x="1138857" y="54313"/>
                </a:lnTo>
                <a:lnTo>
                  <a:pt x="1190440" y="53137"/>
                </a:lnTo>
                <a:lnTo>
                  <a:pt x="1265127" y="52238"/>
                </a:lnTo>
                <a:lnTo>
                  <a:pt x="1289459" y="51734"/>
                </a:lnTo>
                <a:lnTo>
                  <a:pt x="1300621" y="51050"/>
                </a:lnTo>
                <a:lnTo>
                  <a:pt x="1303301" y="50027"/>
                </a:lnTo>
                <a:lnTo>
                  <a:pt x="1300983" y="49017"/>
                </a:lnTo>
                <a:lnTo>
                  <a:pt x="1291319" y="48389"/>
                </a:lnTo>
                <a:lnTo>
                  <a:pt x="1270246" y="48008"/>
                </a:lnTo>
                <a:lnTo>
                  <a:pt x="1233697" y="47743"/>
                </a:lnTo>
                <a:lnTo>
                  <a:pt x="1186214" y="47717"/>
                </a:lnTo>
                <a:lnTo>
                  <a:pt x="1150265" y="48444"/>
                </a:lnTo>
                <a:lnTo>
                  <a:pt x="1118201" y="50205"/>
                </a:lnTo>
                <a:lnTo>
                  <a:pt x="1052090" y="55746"/>
                </a:lnTo>
                <a:lnTo>
                  <a:pt x="1025301" y="57129"/>
                </a:lnTo>
                <a:lnTo>
                  <a:pt x="1003508" y="57377"/>
                </a:lnTo>
                <a:lnTo>
                  <a:pt x="988210" y="56439"/>
                </a:lnTo>
                <a:lnTo>
                  <a:pt x="974785" y="54116"/>
                </a:lnTo>
                <a:lnTo>
                  <a:pt x="916518" y="41699"/>
                </a:lnTo>
                <a:lnTo>
                  <a:pt x="868943" y="32655"/>
                </a:lnTo>
                <a:lnTo>
                  <a:pt x="822466" y="24747"/>
                </a:lnTo>
                <a:lnTo>
                  <a:pt x="783807" y="19188"/>
                </a:lnTo>
                <a:lnTo>
                  <a:pt x="712854" y="12234"/>
                </a:lnTo>
                <a:lnTo>
                  <a:pt x="624985" y="9550"/>
                </a:lnTo>
                <a:lnTo>
                  <a:pt x="561709" y="8512"/>
                </a:lnTo>
                <a:lnTo>
                  <a:pt x="517416" y="139"/>
                </a:lnTo>
                <a:lnTo>
                  <a:pt x="262427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5391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LR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Parsers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5" dirty="0"/>
              <a:t>LR</a:t>
            </a:r>
            <a:r>
              <a:rPr spc="185" dirty="0"/>
              <a:t> </a:t>
            </a:r>
            <a:r>
              <a:rPr spc="65" dirty="0"/>
              <a:t>Parsers</a:t>
            </a:r>
            <a:endParaRPr spc="6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030643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54940">
              <a:lnSpc>
                <a:spcPct val="103000"/>
              </a:lnSpc>
              <a:spcBef>
                <a:spcPts val="55"/>
              </a:spcBef>
            </a:pPr>
            <a:r>
              <a:rPr dirty="0"/>
              <a:t>An</a:t>
            </a:r>
            <a:r>
              <a:rPr spc="45" dirty="0"/>
              <a:t> </a:t>
            </a:r>
            <a:r>
              <a:rPr dirty="0">
                <a:solidFill>
                  <a:srgbClr val="FF0000"/>
                </a:solidFill>
              </a:rPr>
              <a:t>LR(0)</a:t>
            </a:r>
            <a:r>
              <a:rPr spc="4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parser</a:t>
            </a:r>
            <a:r>
              <a:rPr spc="45" dirty="0">
                <a:solidFill>
                  <a:srgbClr val="FF0000"/>
                </a:solidFill>
              </a:rPr>
              <a:t> </a:t>
            </a:r>
            <a:r>
              <a:rPr dirty="0"/>
              <a:t>(0</a:t>
            </a:r>
            <a:r>
              <a:rPr spc="45" dirty="0"/>
              <a:t> </a:t>
            </a:r>
            <a:r>
              <a:rPr spc="-20" dirty="0"/>
              <a:t>lookahead)</a:t>
            </a:r>
            <a:r>
              <a:rPr spc="50" dirty="0"/>
              <a:t> </a:t>
            </a:r>
            <a:r>
              <a:rPr spc="-25" dirty="0"/>
              <a:t>reduces</a:t>
            </a:r>
            <a:r>
              <a:rPr spc="45" dirty="0"/>
              <a:t> </a:t>
            </a:r>
            <a:r>
              <a:rPr dirty="0"/>
              <a:t>as</a:t>
            </a:r>
            <a:r>
              <a:rPr spc="45" dirty="0"/>
              <a:t> </a:t>
            </a:r>
            <a:r>
              <a:rPr spc="-10" dirty="0"/>
              <a:t>soon</a:t>
            </a:r>
            <a:r>
              <a:rPr spc="45" dirty="0"/>
              <a:t> </a:t>
            </a:r>
            <a:r>
              <a:rPr dirty="0"/>
              <a:t>as</a:t>
            </a:r>
            <a:r>
              <a:rPr spc="50" dirty="0"/>
              <a:t> </a:t>
            </a:r>
            <a:r>
              <a:rPr dirty="0"/>
              <a:t>the</a:t>
            </a:r>
            <a:r>
              <a:rPr spc="45" dirty="0"/>
              <a:t> </a:t>
            </a:r>
            <a:r>
              <a:rPr dirty="0"/>
              <a:t>body</a:t>
            </a:r>
            <a:r>
              <a:rPr spc="45" dirty="0"/>
              <a:t> </a:t>
            </a:r>
            <a:r>
              <a:rPr dirty="0"/>
              <a:t>of</a:t>
            </a:r>
            <a:r>
              <a:rPr spc="45" dirty="0"/>
              <a:t> </a:t>
            </a:r>
            <a:r>
              <a:rPr spc="-50" dirty="0"/>
              <a:t>a </a:t>
            </a:r>
            <a:r>
              <a:rPr spc="-25" dirty="0"/>
              <a:t>production</a:t>
            </a:r>
            <a:r>
              <a:rPr spc="30" dirty="0"/>
              <a:t> </a:t>
            </a:r>
            <a:r>
              <a:rPr dirty="0"/>
              <a:t>is</a:t>
            </a:r>
            <a:r>
              <a:rPr spc="35" dirty="0"/>
              <a:t> </a:t>
            </a:r>
            <a:r>
              <a:rPr spc="-10" dirty="0"/>
              <a:t>matched,</a:t>
            </a:r>
            <a:r>
              <a:rPr spc="35" dirty="0"/>
              <a:t> </a:t>
            </a:r>
            <a:r>
              <a:rPr spc="-30" dirty="0"/>
              <a:t>regardless</a:t>
            </a:r>
            <a:r>
              <a:rPr spc="35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the</a:t>
            </a:r>
            <a:r>
              <a:rPr spc="35" dirty="0"/>
              <a:t> </a:t>
            </a:r>
            <a:r>
              <a:rPr dirty="0"/>
              <a:t>next</a:t>
            </a:r>
            <a:r>
              <a:rPr spc="35" dirty="0"/>
              <a:t> </a:t>
            </a:r>
            <a:r>
              <a:rPr spc="-10" dirty="0"/>
              <a:t>token.</a:t>
            </a:r>
            <a:endParaRPr spc="-10" dirty="0"/>
          </a:p>
          <a:p>
            <a:pPr marL="12700" marR="5080">
              <a:lnSpc>
                <a:spcPct val="103000"/>
              </a:lnSpc>
              <a:spcBef>
                <a:spcPts val="565"/>
              </a:spcBef>
            </a:pPr>
            <a:r>
              <a:rPr dirty="0"/>
              <a:t>An</a:t>
            </a:r>
            <a:r>
              <a:rPr spc="35" dirty="0"/>
              <a:t> </a:t>
            </a:r>
            <a:r>
              <a:rPr dirty="0">
                <a:solidFill>
                  <a:srgbClr val="FF0000"/>
                </a:solidFill>
              </a:rPr>
              <a:t>SLR</a:t>
            </a:r>
            <a:r>
              <a:rPr spc="3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parser</a:t>
            </a:r>
            <a:r>
              <a:rPr spc="40" dirty="0">
                <a:solidFill>
                  <a:srgbClr val="FF0000"/>
                </a:solidFill>
              </a:rPr>
              <a:t> </a:t>
            </a:r>
            <a:r>
              <a:rPr spc="-10" dirty="0"/>
              <a:t>(Simple</a:t>
            </a:r>
            <a:r>
              <a:rPr spc="40" dirty="0"/>
              <a:t> </a:t>
            </a:r>
            <a:r>
              <a:rPr dirty="0"/>
              <a:t>LR)</a:t>
            </a:r>
            <a:r>
              <a:rPr spc="40" dirty="0"/>
              <a:t> </a:t>
            </a:r>
            <a:r>
              <a:rPr spc="-10" dirty="0"/>
              <a:t>may</a:t>
            </a:r>
            <a:r>
              <a:rPr spc="35" dirty="0"/>
              <a:t> </a:t>
            </a:r>
            <a:r>
              <a:rPr dirty="0"/>
              <a:t>or</a:t>
            </a:r>
            <a:r>
              <a:rPr spc="40" dirty="0"/>
              <a:t> </a:t>
            </a:r>
            <a:r>
              <a:rPr spc="-10" dirty="0"/>
              <a:t>may</a:t>
            </a:r>
            <a:r>
              <a:rPr spc="40" dirty="0"/>
              <a:t> </a:t>
            </a:r>
            <a:r>
              <a:rPr dirty="0"/>
              <a:t>not</a:t>
            </a:r>
            <a:r>
              <a:rPr spc="40" dirty="0"/>
              <a:t> </a:t>
            </a:r>
            <a:r>
              <a:rPr spc="-20" dirty="0"/>
              <a:t>reduce,</a:t>
            </a:r>
            <a:r>
              <a:rPr spc="40" dirty="0"/>
              <a:t> </a:t>
            </a:r>
            <a:r>
              <a:rPr spc="-40" dirty="0"/>
              <a:t>depending</a:t>
            </a:r>
            <a:r>
              <a:rPr spc="40" dirty="0"/>
              <a:t> </a:t>
            </a:r>
            <a:r>
              <a:rPr spc="-25" dirty="0"/>
              <a:t>on </a:t>
            </a:r>
            <a:r>
              <a:rPr dirty="0"/>
              <a:t>the</a:t>
            </a:r>
            <a:r>
              <a:rPr spc="75" dirty="0"/>
              <a:t> </a:t>
            </a:r>
            <a:r>
              <a:rPr dirty="0"/>
              <a:t>next</a:t>
            </a:r>
            <a:r>
              <a:rPr spc="75" dirty="0"/>
              <a:t> </a:t>
            </a:r>
            <a:r>
              <a:rPr spc="-10" dirty="0"/>
              <a:t>token.</a:t>
            </a:r>
            <a:endParaRPr spc="-10" dirty="0"/>
          </a:p>
          <a:p>
            <a:pPr marL="12700" marR="171450">
              <a:lnSpc>
                <a:spcPct val="103000"/>
              </a:lnSpc>
              <a:spcBef>
                <a:spcPts val="570"/>
              </a:spcBef>
            </a:pPr>
            <a:r>
              <a:rPr dirty="0"/>
              <a:t>An</a:t>
            </a:r>
            <a:r>
              <a:rPr spc="55" dirty="0"/>
              <a:t> </a:t>
            </a:r>
            <a:r>
              <a:rPr dirty="0">
                <a:solidFill>
                  <a:srgbClr val="FF0000"/>
                </a:solidFill>
              </a:rPr>
              <a:t>LR(1)</a:t>
            </a:r>
            <a:r>
              <a:rPr spc="5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parser</a:t>
            </a:r>
            <a:r>
              <a:rPr spc="55" dirty="0">
                <a:solidFill>
                  <a:srgbClr val="FF0000"/>
                </a:solidFill>
              </a:rPr>
              <a:t> </a:t>
            </a:r>
            <a:r>
              <a:rPr dirty="0"/>
              <a:t>(1</a:t>
            </a:r>
            <a:r>
              <a:rPr spc="55" dirty="0"/>
              <a:t> </a:t>
            </a:r>
            <a:r>
              <a:rPr spc="-20" dirty="0"/>
              <a:t>lookahead)</a:t>
            </a:r>
            <a:r>
              <a:rPr spc="55" dirty="0"/>
              <a:t> </a:t>
            </a:r>
            <a:r>
              <a:rPr dirty="0"/>
              <a:t>is</a:t>
            </a:r>
            <a:r>
              <a:rPr spc="60" dirty="0"/>
              <a:t> </a:t>
            </a:r>
            <a:r>
              <a:rPr spc="-20" dirty="0"/>
              <a:t>more</a:t>
            </a:r>
            <a:r>
              <a:rPr spc="55" dirty="0"/>
              <a:t> </a:t>
            </a:r>
            <a:r>
              <a:rPr spc="-10" dirty="0"/>
              <a:t>complicated.</a:t>
            </a:r>
            <a:r>
              <a:rPr spc="165" dirty="0"/>
              <a:t> </a:t>
            </a:r>
            <a:r>
              <a:rPr spc="-25" dirty="0"/>
              <a:t>It </a:t>
            </a:r>
            <a:r>
              <a:rPr spc="-20" dirty="0"/>
              <a:t>incorporates</a:t>
            </a:r>
            <a:r>
              <a:rPr spc="40" dirty="0"/>
              <a:t> </a:t>
            </a:r>
            <a:r>
              <a:rPr dirty="0"/>
              <a:t>the</a:t>
            </a:r>
            <a:r>
              <a:rPr spc="45" dirty="0"/>
              <a:t> </a:t>
            </a:r>
            <a:r>
              <a:rPr dirty="0"/>
              <a:t>next</a:t>
            </a:r>
            <a:r>
              <a:rPr spc="45" dirty="0"/>
              <a:t> </a:t>
            </a:r>
            <a:r>
              <a:rPr spc="-10" dirty="0"/>
              <a:t>token</a:t>
            </a:r>
            <a:r>
              <a:rPr spc="40" dirty="0"/>
              <a:t> </a:t>
            </a:r>
            <a:r>
              <a:rPr dirty="0"/>
              <a:t>as</a:t>
            </a:r>
            <a:r>
              <a:rPr spc="45" dirty="0"/>
              <a:t> </a:t>
            </a:r>
            <a:r>
              <a:rPr dirty="0"/>
              <a:t>part</a:t>
            </a:r>
            <a:r>
              <a:rPr spc="45" dirty="0"/>
              <a:t> </a:t>
            </a:r>
            <a:r>
              <a:rPr dirty="0"/>
              <a:t>of</a:t>
            </a:r>
            <a:r>
              <a:rPr spc="45" dirty="0"/>
              <a:t> </a:t>
            </a:r>
            <a:r>
              <a:rPr dirty="0"/>
              <a:t>the</a:t>
            </a:r>
            <a:r>
              <a:rPr spc="40" dirty="0"/>
              <a:t> </a:t>
            </a:r>
            <a:r>
              <a:rPr spc="-10" dirty="0"/>
              <a:t>current</a:t>
            </a:r>
            <a:r>
              <a:rPr spc="45" dirty="0"/>
              <a:t> </a:t>
            </a:r>
            <a:r>
              <a:rPr dirty="0"/>
              <a:t>“state”</a:t>
            </a:r>
            <a:r>
              <a:rPr spc="45" dirty="0"/>
              <a:t> </a:t>
            </a:r>
            <a:r>
              <a:rPr dirty="0"/>
              <a:t>of</a:t>
            </a:r>
            <a:r>
              <a:rPr spc="40" dirty="0"/>
              <a:t> </a:t>
            </a:r>
            <a:r>
              <a:rPr spc="-25" dirty="0"/>
              <a:t>the </a:t>
            </a:r>
            <a:r>
              <a:rPr spc="-10" dirty="0"/>
              <a:t>process.</a:t>
            </a:r>
            <a:endParaRPr spc="-10" dirty="0"/>
          </a:p>
          <a:p>
            <a:pPr marL="12700" marR="240030">
              <a:lnSpc>
                <a:spcPct val="103000"/>
              </a:lnSpc>
              <a:spcBef>
                <a:spcPts val="565"/>
              </a:spcBef>
            </a:pPr>
            <a:r>
              <a:rPr dirty="0"/>
              <a:t>An</a:t>
            </a:r>
            <a:r>
              <a:rPr spc="60" dirty="0"/>
              <a:t> </a:t>
            </a:r>
            <a:r>
              <a:rPr dirty="0">
                <a:solidFill>
                  <a:srgbClr val="FF0000"/>
                </a:solidFill>
              </a:rPr>
              <a:t>LALR</a:t>
            </a:r>
            <a:r>
              <a:rPr spc="6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parser</a:t>
            </a:r>
            <a:r>
              <a:rPr spc="60" dirty="0">
                <a:solidFill>
                  <a:srgbClr val="FF0000"/>
                </a:solidFill>
              </a:rPr>
              <a:t> </a:t>
            </a:r>
            <a:r>
              <a:rPr dirty="0"/>
              <a:t>(Look</a:t>
            </a:r>
            <a:r>
              <a:rPr spc="60" dirty="0"/>
              <a:t> </a:t>
            </a:r>
            <a:r>
              <a:rPr spc="-20" dirty="0"/>
              <a:t>Ahead</a:t>
            </a:r>
            <a:r>
              <a:rPr spc="60" dirty="0"/>
              <a:t> </a:t>
            </a:r>
            <a:r>
              <a:rPr dirty="0"/>
              <a:t>LR)</a:t>
            </a:r>
            <a:r>
              <a:rPr spc="60" dirty="0"/>
              <a:t> </a:t>
            </a:r>
            <a:r>
              <a:rPr dirty="0"/>
              <a:t>is</a:t>
            </a:r>
            <a:r>
              <a:rPr spc="60" dirty="0"/>
              <a:t> </a:t>
            </a:r>
            <a:r>
              <a:rPr dirty="0"/>
              <a:t>an</a:t>
            </a:r>
            <a:r>
              <a:rPr spc="60" dirty="0"/>
              <a:t> </a:t>
            </a:r>
            <a:r>
              <a:rPr dirty="0"/>
              <a:t>LR(1)</a:t>
            </a:r>
            <a:r>
              <a:rPr spc="60" dirty="0"/>
              <a:t> </a:t>
            </a:r>
            <a:r>
              <a:rPr spc="-10" dirty="0"/>
              <a:t>parser</a:t>
            </a:r>
            <a:r>
              <a:rPr spc="60" dirty="0"/>
              <a:t> </a:t>
            </a:r>
            <a:r>
              <a:rPr spc="-10" dirty="0"/>
              <a:t>with</a:t>
            </a:r>
            <a:r>
              <a:rPr spc="60" dirty="0"/>
              <a:t> </a:t>
            </a:r>
            <a:r>
              <a:rPr spc="-25" dirty="0"/>
              <a:t>its </a:t>
            </a:r>
            <a:r>
              <a:rPr dirty="0"/>
              <a:t>states</a:t>
            </a:r>
            <a:r>
              <a:rPr spc="35" dirty="0"/>
              <a:t> </a:t>
            </a:r>
            <a:r>
              <a:rPr spc="-35" dirty="0"/>
              <a:t>much</a:t>
            </a:r>
            <a:r>
              <a:rPr spc="40" dirty="0"/>
              <a:t> </a:t>
            </a:r>
            <a:r>
              <a:rPr spc="-10" dirty="0"/>
              <a:t>consolidated.</a:t>
            </a:r>
            <a:endParaRPr spc="-10" dirty="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446796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862937"/>
            <a:ext cx="65201" cy="652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2451163"/>
            <a:ext cx="65201" cy="65201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35230" y="877520"/>
            <a:ext cx="482600" cy="207010"/>
          </a:xfrm>
          <a:custGeom>
            <a:avLst/>
            <a:gdLst/>
            <a:ahLst/>
            <a:cxnLst/>
            <a:rect l="l" t="t" r="r" b="b"/>
            <a:pathLst>
              <a:path w="482600" h="207009">
                <a:moveTo>
                  <a:pt x="482037" y="0"/>
                </a:moveTo>
                <a:lnTo>
                  <a:pt x="439939" y="16748"/>
                </a:lnTo>
                <a:lnTo>
                  <a:pt x="383032" y="44842"/>
                </a:lnTo>
                <a:lnTo>
                  <a:pt x="325003" y="78203"/>
                </a:lnTo>
                <a:lnTo>
                  <a:pt x="278704" y="107180"/>
                </a:lnTo>
                <a:lnTo>
                  <a:pt x="229586" y="138768"/>
                </a:lnTo>
                <a:lnTo>
                  <a:pt x="185410" y="167975"/>
                </a:lnTo>
                <a:lnTo>
                  <a:pt x="153940" y="189809"/>
                </a:lnTo>
                <a:lnTo>
                  <a:pt x="142904" y="197014"/>
                </a:lnTo>
                <a:lnTo>
                  <a:pt x="133844" y="200764"/>
                </a:lnTo>
                <a:lnTo>
                  <a:pt x="125915" y="201272"/>
                </a:lnTo>
                <a:lnTo>
                  <a:pt x="118274" y="198748"/>
                </a:lnTo>
                <a:lnTo>
                  <a:pt x="85201" y="174972"/>
                </a:lnTo>
                <a:lnTo>
                  <a:pt x="44971" y="143659"/>
                </a:lnTo>
                <a:lnTo>
                  <a:pt x="13694" y="112909"/>
                </a:lnTo>
                <a:lnTo>
                  <a:pt x="4181" y="100150"/>
                </a:lnTo>
                <a:lnTo>
                  <a:pt x="1611" y="98819"/>
                </a:lnTo>
                <a:lnTo>
                  <a:pt x="25488" y="133087"/>
                </a:lnTo>
                <a:lnTo>
                  <a:pt x="58347" y="161130"/>
                </a:lnTo>
                <a:lnTo>
                  <a:pt x="103446" y="194907"/>
                </a:lnTo>
                <a:lnTo>
                  <a:pt x="125514" y="206417"/>
                </a:lnTo>
                <a:lnTo>
                  <a:pt x="135548" y="205712"/>
                </a:lnTo>
                <a:lnTo>
                  <a:pt x="147085" y="200709"/>
                </a:lnTo>
                <a:lnTo>
                  <a:pt x="161399" y="191072"/>
                </a:lnTo>
                <a:lnTo>
                  <a:pt x="189787" y="171317"/>
                </a:lnTo>
                <a:lnTo>
                  <a:pt x="233298" y="142577"/>
                </a:lnTo>
                <a:lnTo>
                  <a:pt x="282727" y="110775"/>
                </a:lnTo>
                <a:lnTo>
                  <a:pt x="328872" y="81831"/>
                </a:lnTo>
                <a:lnTo>
                  <a:pt x="362528" y="61667"/>
                </a:lnTo>
                <a:lnTo>
                  <a:pt x="418974" y="32430"/>
                </a:lnTo>
                <a:lnTo>
                  <a:pt x="470184" y="9493"/>
                </a:lnTo>
                <a:lnTo>
                  <a:pt x="476748" y="7012"/>
                </a:lnTo>
                <a:lnTo>
                  <a:pt x="481100" y="4637"/>
                </a:lnTo>
                <a:lnTo>
                  <a:pt x="482037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5930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6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LR(0)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Items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950861"/>
            <a:ext cx="155257" cy="1552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4675" y="947875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055" y="919059"/>
            <a:ext cx="12122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Bottom-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Up</a:t>
            </a:r>
            <a:r>
              <a:rPr sz="1100" spc="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Parsing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353108"/>
            <a:ext cx="155257" cy="15525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4675" y="1321306"/>
            <a:ext cx="86486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2</a:t>
            </a:r>
            <a:r>
              <a:rPr sz="1200" b="1" spc="120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 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LR</a:t>
            </a:r>
            <a:r>
              <a:rPr sz="1100" spc="1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Parsers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779" y="1755356"/>
            <a:ext cx="155257" cy="15525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4675" y="1723553"/>
            <a:ext cx="9385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3</a:t>
            </a:r>
            <a:r>
              <a:rPr sz="1200" b="1" spc="179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 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LR(0)</a:t>
            </a:r>
            <a:r>
              <a:rPr sz="1100" spc="14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Items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779" y="2157602"/>
            <a:ext cx="155257" cy="15525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4675" y="2154668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4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0055" y="2125801"/>
            <a:ext cx="1124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Building</a:t>
            </a:r>
            <a:r>
              <a:rPr sz="1100" spc="5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the</a:t>
            </a:r>
            <a:r>
              <a:rPr sz="1100" spc="5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PDA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779" y="2559850"/>
            <a:ext cx="155257" cy="15525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24675" y="2528035"/>
            <a:ext cx="892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5</a:t>
            </a:r>
            <a:r>
              <a:rPr sz="1200" b="1" spc="697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Assignment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172233" y="1410109"/>
            <a:ext cx="850900" cy="6375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000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[E</a:t>
            </a:r>
            <a:r>
              <a:rPr sz="1000" spc="10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—&gt;</a:t>
            </a:r>
            <a:r>
              <a:rPr sz="1000" spc="10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.E</a:t>
            </a:r>
            <a:r>
              <a:rPr sz="1000" spc="10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+</a:t>
            </a:r>
            <a:r>
              <a:rPr sz="1000" spc="10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T]</a:t>
            </a:r>
            <a:endParaRPr sz="1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[E</a:t>
            </a:r>
            <a:r>
              <a:rPr sz="1000" spc="5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—&gt;</a:t>
            </a:r>
            <a:r>
              <a:rPr sz="1000" spc="10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E</a:t>
            </a:r>
            <a:r>
              <a:rPr sz="1000" spc="10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.</a:t>
            </a:r>
            <a:r>
              <a:rPr sz="1000" spc="5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+T]</a:t>
            </a:r>
            <a:endParaRPr sz="1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[E</a:t>
            </a:r>
            <a:r>
              <a:rPr sz="1000" spc="5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—&gt;</a:t>
            </a:r>
            <a:r>
              <a:rPr sz="1000" spc="10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E</a:t>
            </a:r>
            <a:r>
              <a:rPr sz="1000" spc="10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+.T]</a:t>
            </a:r>
            <a:endParaRPr sz="1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[E</a:t>
            </a:r>
            <a:r>
              <a:rPr sz="1000" spc="5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—&gt;</a:t>
            </a:r>
            <a:r>
              <a:rPr sz="1000" spc="10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E</a:t>
            </a:r>
            <a:r>
              <a:rPr sz="1000" spc="10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+</a:t>
            </a:r>
            <a:r>
              <a:rPr sz="1000" spc="5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solidFill>
                  <a:srgbClr val="942192"/>
                </a:solidFill>
                <a:latin typeface="Tahoma" panose="020B0604030504040204"/>
                <a:cs typeface="Tahoma" panose="020B0604030504040204"/>
              </a:rPr>
              <a:t>T.]</a:t>
            </a:r>
            <a:endParaRPr sz="1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" y="142875"/>
            <a:ext cx="4605655" cy="1064260"/>
          </a:xfrm>
        </p:spPr>
        <p:txBody>
          <a:bodyPr>
            <a:noAutofit/>
          </a:bodyPr>
          <a:p>
            <a:r>
              <a:rPr lang="en-US" altLang="en-US"/>
              <a:t> Lec-11: LR(0) Parsing Table | Check Whether a Grammar is LR(0) or not | Bottom-Up Parser 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Lec-11_ LR(0) Parsing Table _ Check Whether a Grammar is LR(0) or not _ Bottom-Up Parser - 0-16-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" y="73977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932" y="947126"/>
            <a:ext cx="4079240" cy="338455"/>
          </a:xfrm>
        </p:spPr>
        <p:txBody>
          <a:bodyPr/>
          <a:p>
            <a:r>
              <a:rPr lang="en-US"/>
              <a:t>jodi action collumn a eki cell a </a:t>
            </a:r>
            <a:r>
              <a:rPr lang="en-US">
                <a:solidFill>
                  <a:srgbClr val="FF0000"/>
                </a:solidFill>
              </a:rPr>
              <a:t>shift and reduce</a:t>
            </a:r>
            <a:r>
              <a:rPr lang="en-US"/>
              <a:t> Or </a:t>
            </a:r>
            <a:r>
              <a:rPr lang="en-US">
                <a:solidFill>
                  <a:srgbClr val="FF0000"/>
                </a:solidFill>
                <a:sym typeface="+mn-ea"/>
              </a:rPr>
              <a:t>reduce and reduce</a:t>
            </a:r>
            <a:r>
              <a:rPr lang="en-US">
                <a:sym typeface="+mn-ea"/>
              </a:rPr>
              <a:t> </a:t>
            </a:r>
            <a:r>
              <a:rPr lang="en-US"/>
              <a:t> ase tobe not LR(0) 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LR (0) parsing _ Items _ Part-1_3 _ CD _ Compiler Design _ Lec-18 _ Bhanu Priya - 0-0-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" y="66357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LR (0) parsing _ Items _ Part-1_3 _ CD _ Compiler Design _ Lec-18 _ Bhanu Priya - 0-4-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" y="73977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LR (0) parsing _ Items _ Part-1_3 _ CD _ Compiler Design _ Lec-18 _ Bhanu Priya - 0-5-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" y="66357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LR (0) parsing _ Items _ Part-1_3 _ CD _ Compiler Design _ Lec-18 _ Bhanu Priya - 0-6-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" y="66357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LR (0) parsing _ Items _ Part-1_3 _ CD _ Compiler Design _ Lec-18 _ Bhanu Priya - 0-8-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" y="81597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LR (0) parsing _ Items _ Part-1_3 _ CD _ Compiler Design _ Lec-18 _ Bhanu Priya - 0-12-34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" y="81597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LR (0) parsing _ Items _ Part-1_3 _ CD _ Compiler Design _ Lec-18 _ Bhanu Priya - 0-15-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" y="815975"/>
            <a:ext cx="4610100" cy="2592705"/>
          </a:xfrm>
          <a:prstGeom prst="rect">
            <a:avLst/>
          </a:prstGeom>
        </p:spPr>
      </p:pic>
      <p:pic>
        <p:nvPicPr>
          <p:cNvPr id="5" name="Picture 4" descr="LR (0) parsing _ Items _ Part-1_3 _ CD _ Compiler Design _ Lec-18 _ Bhanu Priya - 0-15-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81597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300" y="182191"/>
            <a:ext cx="1824355" cy="215265"/>
          </a:xfrm>
        </p:spPr>
        <p:txBody>
          <a:bodyPr/>
          <a:p>
            <a:r>
              <a:rPr lang="en-US"/>
              <a:t>parse table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6" name="Picture 5" descr="LR (0) parsing _ Table _ Part-2_3 _ CD _ Compiler Design _ Lec-19 _ Bhanu Priya - 0-6-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3977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LR (0) parsing _ Table _ Part-2_3 _ CD _ Compiler Design _ Lec-19 _ Bhanu Priya - 0-12-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1117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LR (0) parsing _ Table _ Part-2_3 _ CD _ Compiler Design _ Lec-19 _ Bhanu Priya - 0-13-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737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6" name="Picture 5" descr="LR (0) parsing _ Table _ Part-2_3 _ CD _ Compiler Design _ Lec-19 _ Bhanu Priya - 0-6-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39775"/>
            <a:ext cx="4610100" cy="259270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71450" y="2568575"/>
            <a:ext cx="2051685" cy="850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200"/>
              <a:t>S-&gt;AA         1</a:t>
            </a:r>
            <a:endParaRPr lang="en-US" sz="1200"/>
          </a:p>
          <a:p>
            <a:r>
              <a:rPr lang="en-US" sz="1200">
                <a:sym typeface="+mn-ea"/>
              </a:rPr>
              <a:t>A-&gt;aA          2</a:t>
            </a:r>
            <a:endParaRPr lang="en-US" sz="1200"/>
          </a:p>
          <a:p>
            <a:r>
              <a:rPr lang="en-US" sz="1200"/>
              <a:t>A-&gt; b            3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182245"/>
            <a:ext cx="4271010" cy="215265"/>
          </a:xfrm>
        </p:spPr>
        <p:txBody>
          <a:bodyPr wrap="square"/>
          <a:p>
            <a:r>
              <a:rPr lang="en-US" altLang="en-US"/>
              <a:t>LR (0) parsing | Input string | Part-3/3 | 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LR (0) parsing _ Input string _ Part-3_3 _ CD _ Compiler Design _ Lec-20 _ Bhanu Priya - 0-9-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1597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LR (0) parsing _ Input string _ Part-3_3 _ CD _ Compiler Design _ Lec-20 _ Bhanu Priya - 0-10-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75" y="833120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Lec_ 18 _ LR(0) Parsing Table _ Compiler Design _ Bangla Tutorial - 0-17-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737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5930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6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LR(0)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Items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91"/>
            <a:ext cx="11334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45" dirty="0"/>
              <a:t>LR(0)</a:t>
            </a:r>
            <a:r>
              <a:rPr spc="185" dirty="0"/>
              <a:t> </a:t>
            </a:r>
            <a:r>
              <a:rPr spc="60" dirty="0"/>
              <a:t>Items</a:t>
            </a:r>
            <a:endParaRPr spc="60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1315821"/>
            <a:ext cx="4483735" cy="614680"/>
            <a:chOff x="87743" y="1315821"/>
            <a:chExt cx="4483735" cy="6146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460893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828495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815795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1315821"/>
              <a:ext cx="50800" cy="51267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505173"/>
              <a:ext cx="4432935" cy="374650"/>
            </a:xfrm>
            <a:custGeom>
              <a:avLst/>
              <a:gdLst/>
              <a:ahLst/>
              <a:cxnLst/>
              <a:rect l="l" t="t" r="r" b="b"/>
              <a:pathLst>
                <a:path w="4432935" h="374650">
                  <a:moveTo>
                    <a:pt x="4432567" y="0"/>
                  </a:moveTo>
                  <a:lnTo>
                    <a:pt x="0" y="0"/>
                  </a:lnTo>
                  <a:lnTo>
                    <a:pt x="0" y="323321"/>
                  </a:lnTo>
                  <a:lnTo>
                    <a:pt x="4008" y="343046"/>
                  </a:lnTo>
                  <a:lnTo>
                    <a:pt x="14922" y="359199"/>
                  </a:lnTo>
                  <a:lnTo>
                    <a:pt x="31075" y="370113"/>
                  </a:lnTo>
                  <a:lnTo>
                    <a:pt x="50800" y="374122"/>
                  </a:lnTo>
                  <a:lnTo>
                    <a:pt x="4381767" y="374122"/>
                  </a:lnTo>
                  <a:lnTo>
                    <a:pt x="4401492" y="370113"/>
                  </a:lnTo>
                  <a:lnTo>
                    <a:pt x="4417644" y="359199"/>
                  </a:lnTo>
                  <a:lnTo>
                    <a:pt x="4428558" y="343046"/>
                  </a:lnTo>
                  <a:lnTo>
                    <a:pt x="4432567" y="323321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1353926"/>
              <a:ext cx="0" cy="494030"/>
            </a:xfrm>
            <a:custGeom>
              <a:avLst/>
              <a:gdLst/>
              <a:ahLst/>
              <a:cxnLst/>
              <a:rect l="l" t="t" r="r" b="b"/>
              <a:pathLst>
                <a:path h="494030">
                  <a:moveTo>
                    <a:pt x="0" y="49361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134122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132852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131582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165" y="2110206"/>
            <a:ext cx="65201" cy="6520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25844" y="1207843"/>
            <a:ext cx="4297045" cy="1010919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Definition</a:t>
            </a:r>
            <a:r>
              <a:rPr sz="1100" spc="1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(LR(0)</a:t>
            </a:r>
            <a:r>
              <a:rPr sz="1100" spc="1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item)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03000"/>
              </a:lnSpc>
              <a:spcBef>
                <a:spcPts val="38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LR(0)</a:t>
            </a:r>
            <a:r>
              <a:rPr sz="1100" spc="6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item</a:t>
            </a:r>
            <a:r>
              <a:rPr sz="1100" spc="5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production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with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special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marker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(</a:t>
            </a:r>
            <a:r>
              <a:rPr sz="11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•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)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marks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a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position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within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body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production.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>
              <a:lnSpc>
                <a:spcPct val="100000"/>
              </a:lnSpc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build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LR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parse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table,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5" dirty="0">
                <a:latin typeface="Palatino Linotype" panose="02040502050505030304"/>
                <a:cs typeface="Palatino Linotype" panose="02040502050505030304"/>
              </a:rPr>
              <a:t>we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must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first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find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LR(0)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items.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784973" y="237055"/>
            <a:ext cx="745490" cy="7397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algn="just">
              <a:lnSpc>
                <a:spcPct val="101000"/>
              </a:lnSpc>
              <a:spcBef>
                <a:spcPts val="115"/>
              </a:spcBef>
            </a:pPr>
            <a:r>
              <a:rPr sz="115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A</a:t>
            </a:r>
            <a:r>
              <a:rPr sz="1150" spc="35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—&gt;</a:t>
            </a:r>
            <a:r>
              <a:rPr sz="1150" spc="35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spc="-2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.BcD </a:t>
            </a:r>
            <a:r>
              <a:rPr sz="115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A</a:t>
            </a:r>
            <a:r>
              <a:rPr sz="1150" spc="35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—&gt;</a:t>
            </a:r>
            <a:r>
              <a:rPr sz="1150" spc="35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spc="-2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B.cD </a:t>
            </a:r>
            <a:r>
              <a:rPr sz="115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A</a:t>
            </a:r>
            <a:r>
              <a:rPr sz="1150" spc="35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—&gt;</a:t>
            </a:r>
            <a:r>
              <a:rPr sz="1150" spc="35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spc="-2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Bc.D </a:t>
            </a:r>
            <a:r>
              <a:rPr sz="115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A</a:t>
            </a:r>
            <a:r>
              <a:rPr sz="1150" spc="3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—&gt;</a:t>
            </a:r>
            <a:r>
              <a:rPr sz="1150" spc="35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spc="-2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BcD.</a:t>
            </a:r>
            <a:endParaRPr sz="11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  <p:sp>
        <p:nvSpPr>
          <p:cNvPr id="19" name="object 19"/>
          <p:cNvSpPr txBox="1"/>
          <p:nvPr/>
        </p:nvSpPr>
        <p:spPr>
          <a:xfrm>
            <a:off x="2816461" y="585828"/>
            <a:ext cx="6756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1000"/>
              </a:lnSpc>
              <a:spcBef>
                <a:spcPts val="95"/>
              </a:spcBef>
            </a:pPr>
            <a:r>
              <a:rPr sz="900" b="1" spc="130" dirty="0">
                <a:latin typeface="Book Antiqua" panose="02040602050305030304"/>
                <a:cs typeface="Book Antiqua" panose="02040602050305030304"/>
              </a:rPr>
              <a:t>E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155" dirty="0">
                <a:latin typeface="Book Antiqua" panose="02040602050305030304"/>
                <a:cs typeface="Book Antiqua" panose="02040602050305030304"/>
              </a:rPr>
              <a:t>—</a:t>
            </a:r>
            <a:r>
              <a:rPr sz="900" b="1" spc="-95" dirty="0">
                <a:latin typeface="Book Antiqua" panose="02040602050305030304"/>
                <a:cs typeface="Book Antiqua" panose="02040602050305030304"/>
              </a:rPr>
              <a:t>&gt;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70" dirty="0">
                <a:latin typeface="Book Antiqua" panose="02040602050305030304"/>
                <a:cs typeface="Book Antiqua" panose="02040602050305030304"/>
              </a:rPr>
              <a:t>.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130" dirty="0">
                <a:latin typeface="Book Antiqua" panose="02040602050305030304"/>
                <a:cs typeface="Book Antiqua" panose="02040602050305030304"/>
              </a:rPr>
              <a:t>E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95" dirty="0">
                <a:latin typeface="Book Antiqua" panose="02040602050305030304"/>
                <a:cs typeface="Book Antiqua" panose="02040602050305030304"/>
              </a:rPr>
              <a:t>+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30" dirty="0">
                <a:latin typeface="Book Antiqua" panose="02040602050305030304"/>
                <a:cs typeface="Book Antiqua" panose="02040602050305030304"/>
              </a:rPr>
              <a:t>T</a:t>
            </a:r>
            <a:r>
              <a:rPr sz="900" b="1" spc="1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130" dirty="0">
                <a:latin typeface="Book Antiqua" panose="02040602050305030304"/>
                <a:cs typeface="Book Antiqua" panose="02040602050305030304"/>
              </a:rPr>
              <a:t>E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155" dirty="0">
                <a:latin typeface="Book Antiqua" panose="02040602050305030304"/>
                <a:cs typeface="Book Antiqua" panose="02040602050305030304"/>
              </a:rPr>
              <a:t>—</a:t>
            </a:r>
            <a:r>
              <a:rPr sz="900" b="1" spc="-95" dirty="0">
                <a:latin typeface="Book Antiqua" panose="02040602050305030304"/>
                <a:cs typeface="Book Antiqua" panose="02040602050305030304"/>
              </a:rPr>
              <a:t>&gt;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130" dirty="0">
                <a:latin typeface="Book Antiqua" panose="02040602050305030304"/>
                <a:cs typeface="Book Antiqua" panose="02040602050305030304"/>
              </a:rPr>
              <a:t>E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70" dirty="0">
                <a:latin typeface="Book Antiqua" panose="02040602050305030304"/>
                <a:cs typeface="Book Antiqua" panose="02040602050305030304"/>
              </a:rPr>
              <a:t>.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95" dirty="0">
                <a:latin typeface="Book Antiqua" panose="02040602050305030304"/>
                <a:cs typeface="Book Antiqua" panose="02040602050305030304"/>
              </a:rPr>
              <a:t>+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30" dirty="0">
                <a:latin typeface="Book Antiqua" panose="02040602050305030304"/>
                <a:cs typeface="Book Antiqua" panose="02040602050305030304"/>
              </a:rPr>
              <a:t>T</a:t>
            </a:r>
            <a:r>
              <a:rPr sz="900" b="1" spc="1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130" dirty="0">
                <a:latin typeface="Book Antiqua" panose="02040602050305030304"/>
                <a:cs typeface="Book Antiqua" panose="02040602050305030304"/>
              </a:rPr>
              <a:t>E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155" dirty="0">
                <a:latin typeface="Book Antiqua" panose="02040602050305030304"/>
                <a:cs typeface="Book Antiqua" panose="02040602050305030304"/>
              </a:rPr>
              <a:t>—</a:t>
            </a:r>
            <a:r>
              <a:rPr sz="900" b="1" spc="-95" dirty="0">
                <a:latin typeface="Book Antiqua" panose="02040602050305030304"/>
                <a:cs typeface="Book Antiqua" panose="02040602050305030304"/>
              </a:rPr>
              <a:t>&gt;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130" dirty="0">
                <a:latin typeface="Book Antiqua" panose="02040602050305030304"/>
                <a:cs typeface="Book Antiqua" panose="02040602050305030304"/>
              </a:rPr>
              <a:t>E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95" dirty="0">
                <a:latin typeface="Book Antiqua" panose="02040602050305030304"/>
                <a:cs typeface="Book Antiqua" panose="02040602050305030304"/>
              </a:rPr>
              <a:t>+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50" dirty="0">
                <a:latin typeface="Book Antiqua" panose="02040602050305030304"/>
                <a:cs typeface="Book Antiqua" panose="02040602050305030304"/>
              </a:rPr>
              <a:t>.T</a:t>
            </a:r>
            <a:r>
              <a:rPr sz="900" b="1" spc="2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45" dirty="0">
                <a:latin typeface="Book Antiqua" panose="02040602050305030304"/>
                <a:cs typeface="Book Antiqua" panose="02040602050305030304"/>
              </a:rPr>
              <a:t>E—</a:t>
            </a:r>
            <a:r>
              <a:rPr sz="900" b="1" spc="-35" dirty="0">
                <a:latin typeface="Book Antiqua" panose="02040602050305030304"/>
                <a:cs typeface="Book Antiqua" panose="02040602050305030304"/>
              </a:rPr>
              <a:t>&gt;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25" dirty="0">
                <a:latin typeface="Book Antiqua" panose="02040602050305030304"/>
                <a:cs typeface="Book Antiqua" panose="02040602050305030304"/>
              </a:rPr>
              <a:t>E+T.</a:t>
            </a:r>
            <a:endParaRPr sz="900">
              <a:latin typeface="Book Antiqua" panose="02040602050305030304"/>
              <a:cs typeface="Book Antiqua" panose="02040602050305030304"/>
            </a:endParaRP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27875" y="2636522"/>
            <a:ext cx="93400" cy="10405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389443" y="2636522"/>
            <a:ext cx="63500" cy="104139"/>
          </a:xfrm>
          <a:custGeom>
            <a:avLst/>
            <a:gdLst/>
            <a:ahLst/>
            <a:cxnLst/>
            <a:rect l="l" t="t" r="r" b="b"/>
            <a:pathLst>
              <a:path w="63500" h="104139">
                <a:moveTo>
                  <a:pt x="37257" y="0"/>
                </a:moveTo>
                <a:lnTo>
                  <a:pt x="26013" y="0"/>
                </a:lnTo>
                <a:lnTo>
                  <a:pt x="16461" y="4471"/>
                </a:lnTo>
                <a:lnTo>
                  <a:pt x="8129" y="16258"/>
                </a:lnTo>
                <a:lnTo>
                  <a:pt x="2235" y="32923"/>
                </a:lnTo>
                <a:lnTo>
                  <a:pt x="0" y="52027"/>
                </a:lnTo>
                <a:lnTo>
                  <a:pt x="2235" y="71130"/>
                </a:lnTo>
                <a:lnTo>
                  <a:pt x="8129" y="87795"/>
                </a:lnTo>
                <a:lnTo>
                  <a:pt x="16461" y="99583"/>
                </a:lnTo>
                <a:lnTo>
                  <a:pt x="26013" y="104054"/>
                </a:lnTo>
                <a:lnTo>
                  <a:pt x="37257" y="104054"/>
                </a:lnTo>
                <a:lnTo>
                  <a:pt x="46809" y="99583"/>
                </a:lnTo>
                <a:lnTo>
                  <a:pt x="55142" y="87795"/>
                </a:lnTo>
                <a:lnTo>
                  <a:pt x="61035" y="71130"/>
                </a:lnTo>
                <a:lnTo>
                  <a:pt x="63271" y="52027"/>
                </a:lnTo>
                <a:lnTo>
                  <a:pt x="61035" y="32923"/>
                </a:lnTo>
                <a:lnTo>
                  <a:pt x="55142" y="16258"/>
                </a:lnTo>
                <a:lnTo>
                  <a:pt x="46809" y="4471"/>
                </a:lnTo>
                <a:lnTo>
                  <a:pt x="37257" y="0"/>
                </a:lnTo>
                <a:close/>
              </a:path>
            </a:pathLst>
          </a:custGeom>
          <a:solidFill>
            <a:srgbClr val="7CC8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25385" y="2412685"/>
            <a:ext cx="483870" cy="104139"/>
          </a:xfrm>
          <a:custGeom>
            <a:avLst/>
            <a:gdLst/>
            <a:ahLst/>
            <a:cxnLst/>
            <a:rect l="l" t="t" r="r" b="b"/>
            <a:pathLst>
              <a:path w="483869" h="104139">
                <a:moveTo>
                  <a:pt x="457551" y="0"/>
                </a:moveTo>
                <a:lnTo>
                  <a:pt x="26013" y="0"/>
                </a:lnTo>
                <a:lnTo>
                  <a:pt x="16461" y="4471"/>
                </a:lnTo>
                <a:lnTo>
                  <a:pt x="8129" y="16258"/>
                </a:lnTo>
                <a:lnTo>
                  <a:pt x="2235" y="32923"/>
                </a:lnTo>
                <a:lnTo>
                  <a:pt x="0" y="52027"/>
                </a:lnTo>
                <a:lnTo>
                  <a:pt x="2235" y="71130"/>
                </a:lnTo>
                <a:lnTo>
                  <a:pt x="8129" y="87795"/>
                </a:lnTo>
                <a:lnTo>
                  <a:pt x="16461" y="99583"/>
                </a:lnTo>
                <a:lnTo>
                  <a:pt x="26013" y="104054"/>
                </a:lnTo>
                <a:lnTo>
                  <a:pt x="457551" y="104054"/>
                </a:lnTo>
                <a:lnTo>
                  <a:pt x="467103" y="99583"/>
                </a:lnTo>
                <a:lnTo>
                  <a:pt x="475436" y="87795"/>
                </a:lnTo>
                <a:lnTo>
                  <a:pt x="481329" y="71130"/>
                </a:lnTo>
                <a:lnTo>
                  <a:pt x="483565" y="52027"/>
                </a:lnTo>
                <a:lnTo>
                  <a:pt x="481329" y="32923"/>
                </a:lnTo>
                <a:lnTo>
                  <a:pt x="475436" y="16258"/>
                </a:lnTo>
                <a:lnTo>
                  <a:pt x="467103" y="4471"/>
                </a:lnTo>
                <a:lnTo>
                  <a:pt x="457551" y="0"/>
                </a:lnTo>
                <a:close/>
              </a:path>
            </a:pathLst>
          </a:custGeom>
          <a:solidFill>
            <a:srgbClr val="7CC8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5385" y="2188859"/>
            <a:ext cx="483870" cy="104139"/>
          </a:xfrm>
          <a:custGeom>
            <a:avLst/>
            <a:gdLst/>
            <a:ahLst/>
            <a:cxnLst/>
            <a:rect l="l" t="t" r="r" b="b"/>
            <a:pathLst>
              <a:path w="483869" h="104139">
                <a:moveTo>
                  <a:pt x="457539" y="0"/>
                </a:moveTo>
                <a:lnTo>
                  <a:pt x="26013" y="0"/>
                </a:lnTo>
                <a:lnTo>
                  <a:pt x="16461" y="4471"/>
                </a:lnTo>
                <a:lnTo>
                  <a:pt x="8129" y="16258"/>
                </a:lnTo>
                <a:lnTo>
                  <a:pt x="2235" y="32923"/>
                </a:lnTo>
                <a:lnTo>
                  <a:pt x="0" y="52027"/>
                </a:lnTo>
                <a:lnTo>
                  <a:pt x="2235" y="71131"/>
                </a:lnTo>
                <a:lnTo>
                  <a:pt x="8129" y="87796"/>
                </a:lnTo>
                <a:lnTo>
                  <a:pt x="16461" y="99584"/>
                </a:lnTo>
                <a:lnTo>
                  <a:pt x="26013" y="104055"/>
                </a:lnTo>
                <a:lnTo>
                  <a:pt x="457539" y="104055"/>
                </a:lnTo>
                <a:lnTo>
                  <a:pt x="467090" y="99584"/>
                </a:lnTo>
                <a:lnTo>
                  <a:pt x="475423" y="87796"/>
                </a:lnTo>
                <a:lnTo>
                  <a:pt x="481317" y="71131"/>
                </a:lnTo>
                <a:lnTo>
                  <a:pt x="483552" y="52027"/>
                </a:lnTo>
                <a:lnTo>
                  <a:pt x="481317" y="32923"/>
                </a:lnTo>
                <a:lnTo>
                  <a:pt x="475423" y="16258"/>
                </a:lnTo>
                <a:lnTo>
                  <a:pt x="467090" y="4471"/>
                </a:lnTo>
                <a:lnTo>
                  <a:pt x="457539" y="0"/>
                </a:lnTo>
                <a:close/>
              </a:path>
            </a:pathLst>
          </a:custGeom>
          <a:solidFill>
            <a:srgbClr val="7CC8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5286" y="1965034"/>
            <a:ext cx="427990" cy="104139"/>
          </a:xfrm>
          <a:custGeom>
            <a:avLst/>
            <a:gdLst/>
            <a:ahLst/>
            <a:cxnLst/>
            <a:rect l="l" t="t" r="r" b="b"/>
            <a:pathLst>
              <a:path w="427990" h="104139">
                <a:moveTo>
                  <a:pt x="401414" y="0"/>
                </a:moveTo>
                <a:lnTo>
                  <a:pt x="26013" y="0"/>
                </a:lnTo>
                <a:lnTo>
                  <a:pt x="16461" y="4471"/>
                </a:lnTo>
                <a:lnTo>
                  <a:pt x="8129" y="16259"/>
                </a:lnTo>
                <a:lnTo>
                  <a:pt x="2235" y="32925"/>
                </a:lnTo>
                <a:lnTo>
                  <a:pt x="0" y="52029"/>
                </a:lnTo>
                <a:lnTo>
                  <a:pt x="2235" y="71134"/>
                </a:lnTo>
                <a:lnTo>
                  <a:pt x="8129" y="87800"/>
                </a:lnTo>
                <a:lnTo>
                  <a:pt x="16461" y="99588"/>
                </a:lnTo>
                <a:lnTo>
                  <a:pt x="26013" y="104059"/>
                </a:lnTo>
                <a:lnTo>
                  <a:pt x="401414" y="104059"/>
                </a:lnTo>
                <a:lnTo>
                  <a:pt x="410966" y="99588"/>
                </a:lnTo>
                <a:lnTo>
                  <a:pt x="419298" y="87800"/>
                </a:lnTo>
                <a:lnTo>
                  <a:pt x="425192" y="71134"/>
                </a:lnTo>
                <a:lnTo>
                  <a:pt x="427428" y="52029"/>
                </a:lnTo>
                <a:lnTo>
                  <a:pt x="425192" y="32925"/>
                </a:lnTo>
                <a:lnTo>
                  <a:pt x="419298" y="16259"/>
                </a:lnTo>
                <a:lnTo>
                  <a:pt x="410966" y="4471"/>
                </a:lnTo>
                <a:lnTo>
                  <a:pt x="401414" y="0"/>
                </a:lnTo>
                <a:close/>
              </a:path>
            </a:pathLst>
          </a:custGeom>
          <a:solidFill>
            <a:srgbClr val="7CC8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409951" y="1472417"/>
            <a:ext cx="391160" cy="114300"/>
          </a:xfrm>
          <a:custGeom>
            <a:avLst/>
            <a:gdLst/>
            <a:ahLst/>
            <a:cxnLst/>
            <a:rect l="l" t="t" r="r" b="b"/>
            <a:pathLst>
              <a:path w="391160" h="114300">
                <a:moveTo>
                  <a:pt x="362433" y="0"/>
                </a:moveTo>
                <a:lnTo>
                  <a:pt x="28484" y="0"/>
                </a:lnTo>
                <a:lnTo>
                  <a:pt x="18025" y="4895"/>
                </a:lnTo>
                <a:lnTo>
                  <a:pt x="8901" y="17802"/>
                </a:lnTo>
                <a:lnTo>
                  <a:pt x="2447" y="36049"/>
                </a:lnTo>
                <a:lnTo>
                  <a:pt x="0" y="56967"/>
                </a:lnTo>
                <a:lnTo>
                  <a:pt x="2447" y="77885"/>
                </a:lnTo>
                <a:lnTo>
                  <a:pt x="8901" y="96132"/>
                </a:lnTo>
                <a:lnTo>
                  <a:pt x="18025" y="109039"/>
                </a:lnTo>
                <a:lnTo>
                  <a:pt x="28484" y="113934"/>
                </a:lnTo>
                <a:lnTo>
                  <a:pt x="362433" y="113934"/>
                </a:lnTo>
                <a:lnTo>
                  <a:pt x="372893" y="109039"/>
                </a:lnTo>
                <a:lnTo>
                  <a:pt x="382017" y="96132"/>
                </a:lnTo>
                <a:lnTo>
                  <a:pt x="388470" y="77885"/>
                </a:lnTo>
                <a:lnTo>
                  <a:pt x="390918" y="56967"/>
                </a:lnTo>
                <a:lnTo>
                  <a:pt x="388470" y="36049"/>
                </a:lnTo>
                <a:lnTo>
                  <a:pt x="382017" y="17802"/>
                </a:lnTo>
                <a:lnTo>
                  <a:pt x="372893" y="4895"/>
                </a:lnTo>
                <a:lnTo>
                  <a:pt x="362433" y="0"/>
                </a:lnTo>
                <a:close/>
              </a:path>
            </a:pathLst>
          </a:custGeom>
          <a:solidFill>
            <a:srgbClr val="7CC86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3236595" y="3236248"/>
            <a:ext cx="203200" cy="55880"/>
            <a:chOff x="3236595" y="3236248"/>
            <a:chExt cx="203200" cy="55880"/>
          </a:xfrm>
        </p:grpSpPr>
        <p:sp>
          <p:nvSpPr>
            <p:cNvPr id="13" name="object 13"/>
            <p:cNvSpPr/>
            <p:nvPr/>
          </p:nvSpPr>
          <p:spPr>
            <a:xfrm>
              <a:off x="3299764" y="3238778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236595" y="3245129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3513531" y="3234982"/>
            <a:ext cx="203200" cy="58419"/>
            <a:chOff x="3513531" y="3234982"/>
            <a:chExt cx="203200" cy="58419"/>
          </a:xfrm>
        </p:grpSpPr>
        <p:sp>
          <p:nvSpPr>
            <p:cNvPr id="16" name="object 16"/>
            <p:cNvSpPr/>
            <p:nvPr/>
          </p:nvSpPr>
          <p:spPr>
            <a:xfrm>
              <a:off x="3602432" y="3251478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513531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589732" y="323877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3790467" y="3234982"/>
            <a:ext cx="203200" cy="58419"/>
            <a:chOff x="3790467" y="3234982"/>
            <a:chExt cx="203200" cy="58419"/>
          </a:xfrm>
        </p:grpSpPr>
        <p:sp>
          <p:nvSpPr>
            <p:cNvPr id="20" name="object 20"/>
            <p:cNvSpPr/>
            <p:nvPr/>
          </p:nvSpPr>
          <p:spPr>
            <a:xfrm>
              <a:off x="3866668" y="3238778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790467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866668" y="3276879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4" name="object 24"/>
          <p:cNvGrpSpPr/>
          <p:nvPr/>
        </p:nvGrpSpPr>
        <p:grpSpPr>
          <a:xfrm>
            <a:off x="4326582" y="3236248"/>
            <a:ext cx="238760" cy="57150"/>
            <a:chOff x="4326582" y="3236248"/>
            <a:chExt cx="238760" cy="57150"/>
          </a:xfrm>
        </p:grpSpPr>
        <p:sp>
          <p:nvSpPr>
            <p:cNvPr id="25" name="object 25"/>
            <p:cNvSpPr/>
            <p:nvPr/>
          </p:nvSpPr>
          <p:spPr>
            <a:xfrm>
              <a:off x="4451033" y="326925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423969" y="3242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329112" y="3238778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30911" y="-4300"/>
            <a:ext cx="5930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6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LR(0)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Items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5" dirty="0"/>
              <a:t>Example</a:t>
            </a:r>
            <a:endParaRPr spc="75" dirty="0"/>
          </a:p>
        </p:txBody>
      </p:sp>
      <p:grpSp>
        <p:nvGrpSpPr>
          <p:cNvPr id="32" name="object 32"/>
          <p:cNvGrpSpPr/>
          <p:nvPr/>
        </p:nvGrpSpPr>
        <p:grpSpPr>
          <a:xfrm>
            <a:off x="87743" y="942365"/>
            <a:ext cx="4483735" cy="1906905"/>
            <a:chOff x="87743" y="942365"/>
            <a:chExt cx="4483735" cy="1906905"/>
          </a:xfrm>
        </p:grpSpPr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43" y="1087450"/>
              <a:ext cx="4432566" cy="5060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544" y="2747213"/>
              <a:ext cx="101600" cy="1016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9344" y="2734513"/>
              <a:ext cx="4381767" cy="11430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20311" y="942365"/>
              <a:ext cx="50800" cy="1804847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87743" y="1131709"/>
              <a:ext cx="4432935" cy="1666875"/>
            </a:xfrm>
            <a:custGeom>
              <a:avLst/>
              <a:gdLst/>
              <a:ahLst/>
              <a:cxnLst/>
              <a:rect l="l" t="t" r="r" b="b"/>
              <a:pathLst>
                <a:path w="4432935" h="1666875">
                  <a:moveTo>
                    <a:pt x="4432567" y="0"/>
                  </a:moveTo>
                  <a:lnTo>
                    <a:pt x="0" y="0"/>
                  </a:lnTo>
                  <a:lnTo>
                    <a:pt x="0" y="1615503"/>
                  </a:lnTo>
                  <a:lnTo>
                    <a:pt x="4008" y="1635228"/>
                  </a:lnTo>
                  <a:lnTo>
                    <a:pt x="14922" y="1651381"/>
                  </a:lnTo>
                  <a:lnTo>
                    <a:pt x="31075" y="1662295"/>
                  </a:lnTo>
                  <a:lnTo>
                    <a:pt x="50800" y="1666303"/>
                  </a:lnTo>
                  <a:lnTo>
                    <a:pt x="4381767" y="1666303"/>
                  </a:lnTo>
                  <a:lnTo>
                    <a:pt x="4401492" y="1662295"/>
                  </a:lnTo>
                  <a:lnTo>
                    <a:pt x="4417644" y="1651381"/>
                  </a:lnTo>
                  <a:lnTo>
                    <a:pt x="4428558" y="1635228"/>
                  </a:lnTo>
                  <a:lnTo>
                    <a:pt x="4432567" y="1615503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520311" y="980465"/>
              <a:ext cx="0" cy="1786255"/>
            </a:xfrm>
            <a:custGeom>
              <a:avLst/>
              <a:gdLst/>
              <a:ahLst/>
              <a:cxnLst/>
              <a:rect l="l" t="t" r="r" b="b"/>
              <a:pathLst>
                <a:path h="1786255">
                  <a:moveTo>
                    <a:pt x="0" y="17857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520311" y="96776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520311" y="95506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520311" y="94236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165" y="1186980"/>
              <a:ext cx="65201" cy="65201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0915" y="1995398"/>
              <a:ext cx="52527" cy="5252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0915" y="2219236"/>
              <a:ext cx="52527" cy="5252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0915" y="2443060"/>
              <a:ext cx="52527" cy="52527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0915" y="2666898"/>
              <a:ext cx="52527" cy="52527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125844" y="840610"/>
            <a:ext cx="2687955" cy="1919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1214755" indent="-277495">
              <a:lnSpc>
                <a:spcPct val="128000"/>
              </a:lnSpc>
              <a:spcBef>
                <a:spcPts val="10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1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(LR(0)</a:t>
            </a:r>
            <a:r>
              <a:rPr sz="1100" spc="1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Items)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If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production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is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R="5080" algn="r">
              <a:lnSpc>
                <a:spcPct val="100000"/>
              </a:lnSpc>
              <a:spcBef>
                <a:spcPts val="1130"/>
              </a:spcBef>
            </a:pP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+</a:t>
            </a:r>
            <a:r>
              <a:rPr sz="1100" spc="-3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T,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289560">
              <a:lnSpc>
                <a:spcPct val="100000"/>
              </a:lnSpc>
              <a:spcBef>
                <a:spcPts val="110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then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possible</a:t>
            </a:r>
            <a:r>
              <a:rPr sz="1100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LR(0)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items</a:t>
            </a:r>
            <a:r>
              <a:rPr sz="1100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are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566420" algn="just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0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000" i="1" spc="4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spc="1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000" spc="6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•</a:t>
            </a:r>
            <a:r>
              <a:rPr sz="1000" spc="6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000" i="1" spc="4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+</a:t>
            </a:r>
            <a:r>
              <a:rPr sz="1000" spc="-15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000" i="1" spc="-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000" i="1" spc="-1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spc="-5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</a:t>
            </a:r>
            <a:endParaRPr sz="1000">
              <a:latin typeface="Garamond" panose="02020404030301010803"/>
              <a:cs typeface="Garamond" panose="02020404030301010803"/>
            </a:endParaRPr>
          </a:p>
          <a:p>
            <a:pPr marL="566420" marR="1261745" algn="just">
              <a:lnSpc>
                <a:spcPct val="147000"/>
              </a:lnSpc>
            </a:pPr>
            <a:r>
              <a:rPr sz="1000" spc="2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000" i="1" spc="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000" i="1" spc="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spc="1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0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000" i="1" spc="254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•</a:t>
            </a:r>
            <a:r>
              <a:rPr sz="1000" spc="28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spc="-1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+</a:t>
            </a:r>
            <a:r>
              <a:rPr sz="1000" spc="-25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0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000" i="1" spc="-16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 </a:t>
            </a:r>
            <a:r>
              <a:rPr sz="1000" spc="2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000" i="1" spc="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000" i="1" spc="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spc="1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0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000" i="1" spc="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spc="-1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+</a:t>
            </a:r>
            <a:r>
              <a:rPr sz="1000" spc="-8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0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•</a:t>
            </a:r>
            <a:r>
              <a:rPr sz="1000" spc="28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000" i="1" spc="-16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 </a:t>
            </a:r>
            <a:r>
              <a:rPr sz="1000" spc="2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000" i="1" spc="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000" i="1" spc="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spc="1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0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000" i="1" spc="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spc="-1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+</a:t>
            </a:r>
            <a:r>
              <a:rPr sz="1000" spc="-25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0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000" i="1" spc="114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spc="2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•</a:t>
            </a:r>
            <a:r>
              <a:rPr sz="1000" spc="2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</a:t>
            </a:r>
            <a:endParaRPr sz="1000">
              <a:latin typeface="Garamond" panose="02020404030301010803"/>
              <a:cs typeface="Garamond" panose="02020404030301010803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3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3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3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3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3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3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3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3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18308" y="1387597"/>
            <a:ext cx="82016" cy="19574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8319" y="1387597"/>
            <a:ext cx="88633" cy="19574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3236595" y="3236248"/>
            <a:ext cx="203200" cy="55880"/>
            <a:chOff x="3236595" y="3236248"/>
            <a:chExt cx="203200" cy="55880"/>
          </a:xfrm>
        </p:grpSpPr>
        <p:sp>
          <p:nvSpPr>
            <p:cNvPr id="9" name="object 9"/>
            <p:cNvSpPr/>
            <p:nvPr/>
          </p:nvSpPr>
          <p:spPr>
            <a:xfrm>
              <a:off x="3299764" y="3238778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236595" y="3245129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3513531" y="3234982"/>
            <a:ext cx="203200" cy="58419"/>
            <a:chOff x="3513531" y="3234982"/>
            <a:chExt cx="203200" cy="58419"/>
          </a:xfrm>
        </p:grpSpPr>
        <p:sp>
          <p:nvSpPr>
            <p:cNvPr id="12" name="object 12"/>
            <p:cNvSpPr/>
            <p:nvPr/>
          </p:nvSpPr>
          <p:spPr>
            <a:xfrm>
              <a:off x="3602432" y="3251478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513531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589732" y="323877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3790467" y="3234982"/>
            <a:ext cx="203200" cy="58419"/>
            <a:chOff x="3790467" y="3234982"/>
            <a:chExt cx="203200" cy="58419"/>
          </a:xfrm>
        </p:grpSpPr>
        <p:sp>
          <p:nvSpPr>
            <p:cNvPr id="16" name="object 16"/>
            <p:cNvSpPr/>
            <p:nvPr/>
          </p:nvSpPr>
          <p:spPr>
            <a:xfrm>
              <a:off x="3866668" y="3238778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790467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866668" y="3276879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0" name="object 20"/>
          <p:cNvGrpSpPr/>
          <p:nvPr/>
        </p:nvGrpSpPr>
        <p:grpSpPr>
          <a:xfrm>
            <a:off x="4326582" y="3236248"/>
            <a:ext cx="238760" cy="57150"/>
            <a:chOff x="4326582" y="3236248"/>
            <a:chExt cx="238760" cy="57150"/>
          </a:xfrm>
        </p:grpSpPr>
        <p:sp>
          <p:nvSpPr>
            <p:cNvPr id="21" name="object 21"/>
            <p:cNvSpPr/>
            <p:nvPr/>
          </p:nvSpPr>
          <p:spPr>
            <a:xfrm>
              <a:off x="4451033" y="326925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423969" y="3242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329112" y="3238778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30911" y="-4300"/>
            <a:ext cx="5930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6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LR(0)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Items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45" dirty="0"/>
              <a:t>LR(0)</a:t>
            </a:r>
            <a:r>
              <a:rPr spc="185" dirty="0"/>
              <a:t> </a:t>
            </a:r>
            <a:r>
              <a:rPr spc="60" dirty="0"/>
              <a:t>Items</a:t>
            </a:r>
            <a:endParaRPr spc="60" dirty="0"/>
          </a:p>
        </p:txBody>
      </p: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1407071"/>
            <a:ext cx="65201" cy="65201"/>
          </a:xfrm>
          <a:prstGeom prst="rect">
            <a:avLst/>
          </a:prstGeom>
        </p:spPr>
      </p:pic>
      <p:sp>
        <p:nvSpPr>
          <p:cNvPr id="29" name="object 2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87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dirty="0"/>
              <a:t>The</a:t>
            </a:r>
            <a:r>
              <a:rPr spc="70" dirty="0"/>
              <a:t> </a:t>
            </a:r>
            <a:r>
              <a:rPr spc="-10" dirty="0"/>
              <a:t>interpretation</a:t>
            </a:r>
            <a:r>
              <a:rPr spc="75" dirty="0"/>
              <a:t> </a:t>
            </a:r>
            <a:r>
              <a:rPr dirty="0"/>
              <a:t>of</a:t>
            </a:r>
            <a:r>
              <a:rPr spc="80" dirty="0"/>
              <a:t> </a:t>
            </a:r>
            <a:r>
              <a:rPr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i="1" spc="-4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α</a:t>
            </a:r>
            <a:r>
              <a:rPr i="1" spc="-17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u="heavy" spc="-160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Cambria" panose="02040503050406030204"/>
                <a:cs typeface="Cambria" panose="02040503050406030204"/>
              </a:rPr>
              <a:t> </a:t>
            </a:r>
            <a:r>
              <a:rPr u="heavy" spc="50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Cambria" panose="02040503050406030204"/>
                <a:cs typeface="Cambria" panose="02040503050406030204"/>
              </a:rPr>
              <a:t>•</a:t>
            </a:r>
            <a:r>
              <a:rPr spc="-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β</a:t>
            </a:r>
            <a:r>
              <a:rPr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</a:t>
            </a:r>
            <a:r>
              <a:rPr spc="7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pc="-25" dirty="0"/>
              <a:t>is</a:t>
            </a:r>
            <a:endParaRPr spc="-25" dirty="0"/>
          </a:p>
          <a:p>
            <a:pPr marL="431800">
              <a:lnSpc>
                <a:spcPct val="100000"/>
              </a:lnSpc>
              <a:spcBef>
                <a:spcPts val="335"/>
              </a:spcBef>
            </a:pPr>
            <a:r>
              <a:rPr spc="-10" dirty="0"/>
              <a:t>“We</a:t>
            </a:r>
            <a:r>
              <a:rPr spc="5" dirty="0"/>
              <a:t> </a:t>
            </a:r>
            <a:r>
              <a:rPr spc="-25" dirty="0"/>
              <a:t>have</a:t>
            </a:r>
            <a:r>
              <a:rPr spc="5" dirty="0"/>
              <a:t> </a:t>
            </a:r>
            <a:r>
              <a:rPr spc="-30" dirty="0"/>
              <a:t>processed</a:t>
            </a:r>
            <a:r>
              <a:rPr spc="5" dirty="0"/>
              <a:t> </a:t>
            </a: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α</a:t>
            </a:r>
            <a:r>
              <a:rPr i="1" spc="-4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55" dirty="0"/>
              <a:t>we</a:t>
            </a:r>
            <a:r>
              <a:rPr spc="5" dirty="0"/>
              <a:t> </a:t>
            </a:r>
            <a:r>
              <a:rPr spc="-10" dirty="0"/>
              <a:t>might</a:t>
            </a:r>
            <a:r>
              <a:rPr spc="5" dirty="0"/>
              <a:t> </a:t>
            </a:r>
            <a:r>
              <a:rPr spc="-20" dirty="0"/>
              <a:t>process</a:t>
            </a:r>
            <a:r>
              <a:rPr spc="10" dirty="0"/>
              <a:t> </a:t>
            </a: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β</a:t>
            </a:r>
            <a:r>
              <a:rPr i="1" spc="-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-10" dirty="0"/>
              <a:t>next.”</a:t>
            </a:r>
            <a:endParaRPr spc="-10" dirty="0"/>
          </a:p>
          <a:p>
            <a:pPr marL="12700" marR="56515">
              <a:lnSpc>
                <a:spcPct val="103000"/>
              </a:lnSpc>
              <a:spcBef>
                <a:spcPts val="565"/>
              </a:spcBef>
            </a:pPr>
            <a:r>
              <a:rPr dirty="0"/>
              <a:t>Whether</a:t>
            </a:r>
            <a:r>
              <a:rPr spc="10" dirty="0"/>
              <a:t> </a:t>
            </a:r>
            <a:r>
              <a:rPr spc="-55" dirty="0"/>
              <a:t>we</a:t>
            </a:r>
            <a:r>
              <a:rPr spc="10" dirty="0"/>
              <a:t> </a:t>
            </a:r>
            <a:r>
              <a:rPr spc="-10" dirty="0"/>
              <a:t>do</a:t>
            </a:r>
            <a:r>
              <a:rPr spc="10" dirty="0"/>
              <a:t> </a:t>
            </a:r>
            <a:r>
              <a:rPr dirty="0"/>
              <a:t>actually</a:t>
            </a:r>
            <a:r>
              <a:rPr spc="10" dirty="0"/>
              <a:t> </a:t>
            </a:r>
            <a:r>
              <a:rPr spc="-20" dirty="0"/>
              <a:t>process</a:t>
            </a:r>
            <a:r>
              <a:rPr spc="10" dirty="0"/>
              <a:t> </a:t>
            </a: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β </a:t>
            </a:r>
            <a:r>
              <a:rPr spc="-30" dirty="0"/>
              <a:t>will</a:t>
            </a:r>
            <a:r>
              <a:rPr spc="15" dirty="0"/>
              <a:t> </a:t>
            </a:r>
            <a:r>
              <a:rPr dirty="0"/>
              <a:t>be</a:t>
            </a:r>
            <a:r>
              <a:rPr spc="10" dirty="0"/>
              <a:t> </a:t>
            </a:r>
            <a:r>
              <a:rPr spc="-10" dirty="0"/>
              <a:t>borne</a:t>
            </a:r>
            <a:r>
              <a:rPr spc="10" dirty="0"/>
              <a:t> </a:t>
            </a:r>
            <a:r>
              <a:rPr dirty="0"/>
              <a:t>out</a:t>
            </a:r>
            <a:r>
              <a:rPr spc="10" dirty="0"/>
              <a:t> </a:t>
            </a:r>
            <a:r>
              <a:rPr dirty="0"/>
              <a:t>by</a:t>
            </a:r>
            <a:r>
              <a:rPr spc="10" dirty="0"/>
              <a:t> </a:t>
            </a:r>
            <a:r>
              <a:rPr spc="-25" dirty="0"/>
              <a:t>the </a:t>
            </a:r>
            <a:r>
              <a:rPr spc="-30" dirty="0"/>
              <a:t>subsequent</a:t>
            </a:r>
            <a:r>
              <a:rPr spc="55" dirty="0"/>
              <a:t> </a:t>
            </a:r>
            <a:r>
              <a:rPr spc="-10" dirty="0"/>
              <a:t>tokens.</a:t>
            </a:r>
            <a:endParaRPr spc="-10" dirty="0"/>
          </a:p>
        </p:txBody>
      </p:sp>
      <p:pic>
        <p:nvPicPr>
          <p:cNvPr id="30" name="object 3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165" y="1861172"/>
            <a:ext cx="65201" cy="65201"/>
          </a:xfrm>
          <a:prstGeom prst="rect">
            <a:avLst/>
          </a:prstGeom>
        </p:spPr>
      </p:pic>
      <p:sp>
        <p:nvSpPr>
          <p:cNvPr id="31" name="object 31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2026732" y="338318"/>
            <a:ext cx="6470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05" marR="5080" indent="-2540">
              <a:lnSpc>
                <a:spcPct val="111000"/>
              </a:lnSpc>
              <a:spcBef>
                <a:spcPts val="95"/>
              </a:spcBef>
            </a:pPr>
            <a:r>
              <a:rPr sz="900" b="1" spc="130" dirty="0">
                <a:latin typeface="Book Antiqua" panose="02040602050305030304"/>
                <a:cs typeface="Book Antiqua" panose="02040602050305030304"/>
              </a:rPr>
              <a:t>E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160" dirty="0">
                <a:latin typeface="Book Antiqua" panose="02040602050305030304"/>
                <a:cs typeface="Book Antiqua" panose="02040602050305030304"/>
              </a:rPr>
              <a:t>—</a:t>
            </a:r>
            <a:r>
              <a:rPr sz="900" b="1" spc="-100" dirty="0">
                <a:latin typeface="Book Antiqua" panose="02040602050305030304"/>
                <a:cs typeface="Book Antiqua" panose="02040602050305030304"/>
              </a:rPr>
              <a:t>&gt;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130" dirty="0">
                <a:latin typeface="Book Antiqua" panose="02040602050305030304"/>
                <a:cs typeface="Book Antiqua" panose="02040602050305030304"/>
              </a:rPr>
              <a:t>E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100" dirty="0">
                <a:latin typeface="Book Antiqua" panose="02040602050305030304"/>
                <a:cs typeface="Book Antiqua" panose="02040602050305030304"/>
              </a:rPr>
              <a:t>+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25" dirty="0">
                <a:latin typeface="Book Antiqua" panose="02040602050305030304"/>
                <a:cs typeface="Book Antiqua" panose="02040602050305030304"/>
              </a:rPr>
              <a:t>.T </a:t>
            </a:r>
            <a:r>
              <a:rPr sz="900" b="1" spc="130" dirty="0">
                <a:latin typeface="Book Antiqua" panose="02040602050305030304"/>
                <a:cs typeface="Book Antiqua" panose="02040602050305030304"/>
              </a:rPr>
              <a:t>E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160" dirty="0">
                <a:latin typeface="Book Antiqua" panose="02040602050305030304"/>
                <a:cs typeface="Book Antiqua" panose="02040602050305030304"/>
              </a:rPr>
              <a:t>—</a:t>
            </a:r>
            <a:r>
              <a:rPr sz="900" b="1" spc="-100" dirty="0">
                <a:latin typeface="Book Antiqua" panose="02040602050305030304"/>
                <a:cs typeface="Book Antiqua" panose="02040602050305030304"/>
              </a:rPr>
              <a:t>&gt;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130" dirty="0">
                <a:latin typeface="Book Antiqua" panose="02040602050305030304"/>
                <a:cs typeface="Book Antiqua" panose="02040602050305030304"/>
              </a:rPr>
              <a:t>E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100" dirty="0">
                <a:latin typeface="Book Antiqua" panose="02040602050305030304"/>
                <a:cs typeface="Book Antiqua" panose="02040602050305030304"/>
              </a:rPr>
              <a:t>+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25" dirty="0">
                <a:latin typeface="Book Antiqua" panose="02040602050305030304"/>
                <a:cs typeface="Book Antiqua" panose="02040602050305030304"/>
              </a:rPr>
              <a:t>T.</a:t>
            </a:r>
            <a:endParaRPr sz="90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72584" y="385366"/>
            <a:ext cx="88900" cy="13970"/>
          </a:xfrm>
          <a:custGeom>
            <a:avLst/>
            <a:gdLst/>
            <a:ahLst/>
            <a:cxnLst/>
            <a:rect l="l" t="t" r="r" b="b"/>
            <a:pathLst>
              <a:path w="88900" h="13970">
                <a:moveTo>
                  <a:pt x="87774" y="0"/>
                </a:moveTo>
                <a:lnTo>
                  <a:pt x="79268" y="219"/>
                </a:lnTo>
                <a:lnTo>
                  <a:pt x="68074" y="1577"/>
                </a:lnTo>
                <a:lnTo>
                  <a:pt x="57698" y="3153"/>
                </a:lnTo>
                <a:lnTo>
                  <a:pt x="48841" y="4337"/>
                </a:lnTo>
                <a:lnTo>
                  <a:pt x="38671" y="5443"/>
                </a:lnTo>
                <a:lnTo>
                  <a:pt x="28444" y="6347"/>
                </a:lnTo>
                <a:lnTo>
                  <a:pt x="19416" y="6927"/>
                </a:lnTo>
                <a:lnTo>
                  <a:pt x="1406" y="7771"/>
                </a:lnTo>
                <a:lnTo>
                  <a:pt x="0" y="8013"/>
                </a:lnTo>
                <a:lnTo>
                  <a:pt x="0" y="11614"/>
                </a:lnTo>
                <a:lnTo>
                  <a:pt x="858" y="13040"/>
                </a:lnTo>
                <a:lnTo>
                  <a:pt x="1908" y="13443"/>
                </a:lnTo>
                <a:lnTo>
                  <a:pt x="9962" y="13629"/>
                </a:lnTo>
                <a:lnTo>
                  <a:pt x="26271" y="12682"/>
                </a:lnTo>
                <a:lnTo>
                  <a:pt x="78387" y="6769"/>
                </a:lnTo>
                <a:lnTo>
                  <a:pt x="88585" y="2485"/>
                </a:lnTo>
                <a:lnTo>
                  <a:pt x="88585" y="317"/>
                </a:lnTo>
                <a:lnTo>
                  <a:pt x="87774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623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Building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PDA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950861"/>
            <a:ext cx="155257" cy="1552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4675" y="947875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055" y="919059"/>
            <a:ext cx="12122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Bottom-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Up</a:t>
            </a:r>
            <a:r>
              <a:rPr sz="1100" spc="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Parsing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353108"/>
            <a:ext cx="155257" cy="15525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79" y="1755356"/>
            <a:ext cx="155257" cy="15525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4675" y="1321306"/>
            <a:ext cx="938530" cy="594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90"/>
              </a:spcBef>
              <a:buClr>
                <a:srgbClr val="FAF9FB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LR</a:t>
            </a:r>
            <a:r>
              <a:rPr sz="1100" spc="15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Parsers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Clr>
                <a:srgbClr val="FAF9FB"/>
              </a:buClr>
              <a:buFont typeface="Comic Sans MS" panose="030F0702030302020204"/>
              <a:buAutoNum type="arabicPlain" startAt="2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spcBef>
                <a:spcPts val="5"/>
              </a:spcBef>
              <a:buClr>
                <a:srgbClr val="FAF9FB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LR(0)</a:t>
            </a:r>
            <a:r>
              <a:rPr sz="1100" spc="27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Items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779" y="2157602"/>
            <a:ext cx="155257" cy="1552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4675" y="2154668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4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0055" y="2125801"/>
            <a:ext cx="1124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Building</a:t>
            </a:r>
            <a:r>
              <a:rPr sz="1100" spc="5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the</a:t>
            </a:r>
            <a:r>
              <a:rPr sz="1100" spc="5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PDA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779" y="2559850"/>
            <a:ext cx="155257" cy="15525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24675" y="2528035"/>
            <a:ext cx="892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5</a:t>
            </a:r>
            <a:r>
              <a:rPr sz="1200" b="1" spc="697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Assignment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623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Building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PDA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91"/>
            <a:ext cx="104266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5" dirty="0"/>
              <a:t>LR</a:t>
            </a:r>
            <a:r>
              <a:rPr spc="185" dirty="0"/>
              <a:t> </a:t>
            </a:r>
            <a:r>
              <a:rPr spc="50" dirty="0"/>
              <a:t>Parsing</a:t>
            </a:r>
            <a:endParaRPr spc="5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321663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7532" y="1160333"/>
            <a:ext cx="3704590" cy="824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46000"/>
              </a:lnSpc>
              <a:spcBef>
                <a:spcPts val="10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We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will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build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PDA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whose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states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are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sets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LR(0)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items.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First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5" dirty="0">
                <a:latin typeface="Palatino Linotype" panose="02040502050505030304"/>
                <a:cs typeface="Palatino Linotype" panose="02040502050505030304"/>
              </a:rPr>
              <a:t>we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augment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grammar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with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new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start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symb</a:t>
            </a:r>
            <a:r>
              <a:rPr sz="1100" u="sng" spc="-25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ol</a:t>
            </a:r>
            <a:r>
              <a:rPr sz="1100" u="sng" spc="5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u="sng" spc="25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200" i="1" spc="37" baseline="2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′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417195" algn="ctr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200" i="1" baseline="31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′</a:t>
            </a:r>
            <a:r>
              <a:rPr sz="1200" i="1" spc="284" baseline="31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565732"/>
            <a:ext cx="65201" cy="65201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641198" y="289948"/>
            <a:ext cx="861060" cy="384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E’</a:t>
            </a:r>
            <a:r>
              <a:rPr sz="1150" spc="45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—&gt;</a:t>
            </a:r>
            <a:r>
              <a:rPr sz="1150" spc="45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spc="-5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E</a:t>
            </a:r>
            <a:endParaRPr sz="1150">
              <a:latin typeface="Georgia" panose="02040502050405020303"/>
              <a:cs typeface="Georgia" panose="02040502050405020303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15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E</a:t>
            </a:r>
            <a:r>
              <a:rPr sz="1150" spc="35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—&gt;</a:t>
            </a:r>
            <a:r>
              <a:rPr sz="1150" spc="35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spc="-2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E+T|T</a:t>
            </a:r>
            <a:endParaRPr sz="11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090547" y="2155170"/>
            <a:ext cx="99136" cy="1787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5637" y="870794"/>
            <a:ext cx="160820" cy="12166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22324" y="1114864"/>
            <a:ext cx="417195" cy="121920"/>
          </a:xfrm>
          <a:custGeom>
            <a:avLst/>
            <a:gdLst/>
            <a:ahLst/>
            <a:cxnLst/>
            <a:rect l="l" t="t" r="r" b="b"/>
            <a:pathLst>
              <a:path w="417194" h="121919">
                <a:moveTo>
                  <a:pt x="386330" y="0"/>
                </a:moveTo>
                <a:lnTo>
                  <a:pt x="30419" y="0"/>
                </a:lnTo>
                <a:lnTo>
                  <a:pt x="19249" y="5228"/>
                </a:lnTo>
                <a:lnTo>
                  <a:pt x="9506" y="19011"/>
                </a:lnTo>
                <a:lnTo>
                  <a:pt x="2614" y="38499"/>
                </a:lnTo>
                <a:lnTo>
                  <a:pt x="0" y="60838"/>
                </a:lnTo>
                <a:lnTo>
                  <a:pt x="2614" y="83177"/>
                </a:lnTo>
                <a:lnTo>
                  <a:pt x="9506" y="102664"/>
                </a:lnTo>
                <a:lnTo>
                  <a:pt x="19249" y="116448"/>
                </a:lnTo>
                <a:lnTo>
                  <a:pt x="30419" y="121676"/>
                </a:lnTo>
                <a:lnTo>
                  <a:pt x="386330" y="121676"/>
                </a:lnTo>
                <a:lnTo>
                  <a:pt x="397500" y="116448"/>
                </a:lnTo>
                <a:lnTo>
                  <a:pt x="407244" y="102664"/>
                </a:lnTo>
                <a:lnTo>
                  <a:pt x="414135" y="83177"/>
                </a:lnTo>
                <a:lnTo>
                  <a:pt x="416750" y="60838"/>
                </a:lnTo>
                <a:lnTo>
                  <a:pt x="414135" y="38499"/>
                </a:lnTo>
                <a:lnTo>
                  <a:pt x="407244" y="19011"/>
                </a:lnTo>
                <a:lnTo>
                  <a:pt x="397500" y="5228"/>
                </a:lnTo>
                <a:lnTo>
                  <a:pt x="386330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3236595" y="3236248"/>
            <a:ext cx="203200" cy="55880"/>
            <a:chOff x="3236595" y="3236248"/>
            <a:chExt cx="203200" cy="55880"/>
          </a:xfrm>
        </p:grpSpPr>
        <p:sp>
          <p:nvSpPr>
            <p:cNvPr id="10" name="object 10"/>
            <p:cNvSpPr/>
            <p:nvPr/>
          </p:nvSpPr>
          <p:spPr>
            <a:xfrm>
              <a:off x="3299764" y="3238778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236595" y="3245129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3513531" y="3234982"/>
            <a:ext cx="203200" cy="58419"/>
            <a:chOff x="3513531" y="3234982"/>
            <a:chExt cx="203200" cy="58419"/>
          </a:xfrm>
        </p:grpSpPr>
        <p:sp>
          <p:nvSpPr>
            <p:cNvPr id="13" name="object 13"/>
            <p:cNvSpPr/>
            <p:nvPr/>
          </p:nvSpPr>
          <p:spPr>
            <a:xfrm>
              <a:off x="3602432" y="3251478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513531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589732" y="323877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3790467" y="3234982"/>
            <a:ext cx="203200" cy="58419"/>
            <a:chOff x="3790467" y="3234982"/>
            <a:chExt cx="203200" cy="58419"/>
          </a:xfrm>
        </p:grpSpPr>
        <p:sp>
          <p:nvSpPr>
            <p:cNvPr id="17" name="object 17"/>
            <p:cNvSpPr/>
            <p:nvPr/>
          </p:nvSpPr>
          <p:spPr>
            <a:xfrm>
              <a:off x="3866668" y="3238778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790467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866668" y="3276879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1" name="object 21"/>
          <p:cNvGrpSpPr/>
          <p:nvPr/>
        </p:nvGrpSpPr>
        <p:grpSpPr>
          <a:xfrm>
            <a:off x="4326582" y="3236248"/>
            <a:ext cx="238760" cy="57150"/>
            <a:chOff x="4326582" y="3236248"/>
            <a:chExt cx="238760" cy="57150"/>
          </a:xfrm>
        </p:grpSpPr>
        <p:sp>
          <p:nvSpPr>
            <p:cNvPr id="22" name="object 22"/>
            <p:cNvSpPr/>
            <p:nvPr/>
          </p:nvSpPr>
          <p:spPr>
            <a:xfrm>
              <a:off x="4451033" y="326925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423969" y="3242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329112" y="3238778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30911" y="-4300"/>
            <a:ext cx="8623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Building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the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PDA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80" dirty="0"/>
              <a:t>States</a:t>
            </a:r>
            <a:r>
              <a:rPr spc="180" dirty="0"/>
              <a:t> </a:t>
            </a:r>
            <a:r>
              <a:rPr dirty="0"/>
              <a:t>of</a:t>
            </a:r>
            <a:r>
              <a:rPr spc="180" dirty="0"/>
              <a:t> </a:t>
            </a:r>
            <a:r>
              <a:rPr spc="80" dirty="0"/>
              <a:t>the</a:t>
            </a:r>
            <a:r>
              <a:rPr spc="180" dirty="0"/>
              <a:t> </a:t>
            </a:r>
            <a:r>
              <a:rPr spc="110" dirty="0"/>
              <a:t>PDA</a:t>
            </a:r>
            <a:endParaRPr spc="110" dirty="0"/>
          </a:p>
        </p:txBody>
      </p:sp>
      <p:pic>
        <p:nvPicPr>
          <p:cNvPr id="29" name="object 2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899528"/>
            <a:ext cx="65201" cy="65201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165" y="1143597"/>
            <a:ext cx="65201" cy="65201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165" y="1989937"/>
            <a:ext cx="65201" cy="65201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0915" y="2179739"/>
            <a:ext cx="52527" cy="52527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0915" y="2555405"/>
            <a:ext cx="52527" cy="52527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81165" y="2786799"/>
            <a:ext cx="65201" cy="65201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326732" y="738197"/>
            <a:ext cx="3949065" cy="2157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1597660">
              <a:lnSpc>
                <a:spcPct val="146000"/>
              </a:lnSpc>
              <a:spcBef>
                <a:spcPts val="10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initial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state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called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I</a:t>
            </a:r>
            <a:r>
              <a:rPr sz="1200" spc="89" baseline="-10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0</a:t>
            </a:r>
            <a:r>
              <a:rPr sz="1200" spc="202" baseline="-10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(item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0).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State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I</a:t>
            </a:r>
            <a:r>
              <a:rPr sz="1200" spc="89" baseline="-10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0</a:t>
            </a:r>
            <a:r>
              <a:rPr sz="1200" spc="217" baseline="-10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closure</a:t>
            </a:r>
            <a:r>
              <a:rPr sz="1100" spc="6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set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16405">
              <a:lnSpc>
                <a:spcPct val="100000"/>
              </a:lnSpc>
              <a:spcBef>
                <a:spcPts val="1130"/>
              </a:spcBef>
            </a:pP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{</a:t>
            </a: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200" i="1" baseline="31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′</a:t>
            </a:r>
            <a:r>
              <a:rPr sz="1200" i="1" spc="330" baseline="31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12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•</a:t>
            </a:r>
            <a:r>
              <a:rPr sz="1100" spc="12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100" spc="-2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</a:t>
            </a:r>
            <a:r>
              <a:rPr sz="1100" spc="-2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}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.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8890" algn="ctr">
              <a:lnSpc>
                <a:spcPct val="100000"/>
              </a:lnSpc>
              <a:spcBef>
                <a:spcPts val="800"/>
              </a:spcBef>
            </a:pPr>
            <a:r>
              <a:rPr sz="900" b="1" dirty="0">
                <a:latin typeface="Book Antiqua" panose="02040602050305030304"/>
                <a:cs typeface="Book Antiqua" panose="02040602050305030304"/>
              </a:rPr>
              <a:t>S</a:t>
            </a:r>
            <a:r>
              <a:rPr sz="900" b="1" spc="1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160" dirty="0">
                <a:latin typeface="Book Antiqua" panose="02040602050305030304"/>
                <a:cs typeface="Book Antiqua" panose="02040602050305030304"/>
              </a:rPr>
              <a:t>—</a:t>
            </a:r>
            <a:r>
              <a:rPr sz="900" b="1" spc="-100" dirty="0">
                <a:latin typeface="Book Antiqua" panose="02040602050305030304"/>
                <a:cs typeface="Book Antiqua" panose="02040602050305030304"/>
              </a:rPr>
              <a:t>&gt;</a:t>
            </a:r>
            <a:r>
              <a:rPr sz="900" b="1" spc="1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50" dirty="0">
                <a:latin typeface="Book Antiqua" panose="02040602050305030304"/>
                <a:cs typeface="Book Antiqua" panose="02040602050305030304"/>
              </a:rPr>
              <a:t>A</a:t>
            </a:r>
            <a:endParaRPr sz="900">
              <a:latin typeface="Book Antiqua" panose="02040602050305030304"/>
              <a:cs typeface="Book Antiqua" panose="02040602050305030304"/>
            </a:endParaRPr>
          </a:p>
          <a:p>
            <a:pPr marL="2583815" algn="ctr">
              <a:lnSpc>
                <a:spcPts val="1045"/>
              </a:lnSpc>
              <a:spcBef>
                <a:spcPts val="5"/>
              </a:spcBef>
            </a:pPr>
            <a:r>
              <a:rPr sz="900" b="1" dirty="0">
                <a:latin typeface="Book Antiqua" panose="02040602050305030304"/>
                <a:cs typeface="Book Antiqua" panose="02040602050305030304"/>
              </a:rPr>
              <a:t>A</a:t>
            </a:r>
            <a:r>
              <a:rPr sz="900" b="1" spc="2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50" dirty="0">
                <a:latin typeface="Book Antiqua" panose="02040602050305030304"/>
                <a:cs typeface="Book Antiqua" panose="02040602050305030304"/>
              </a:rPr>
              <a:t>—</a:t>
            </a:r>
            <a:endParaRPr sz="900">
              <a:latin typeface="Book Antiqua" panose="02040602050305030304"/>
              <a:cs typeface="Book Antiqua" panose="02040602050305030304"/>
            </a:endParaRPr>
          </a:p>
          <a:p>
            <a:pPr marL="88900">
              <a:lnSpc>
                <a:spcPts val="1285"/>
              </a:lnSpc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form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closure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set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items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65760">
              <a:lnSpc>
                <a:spcPts val="1200"/>
              </a:lnSpc>
              <a:spcBef>
                <a:spcPts val="170"/>
              </a:spcBef>
            </a:pPr>
            <a:r>
              <a:rPr sz="10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0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each</a:t>
            </a:r>
            <a:r>
              <a:rPr sz="10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item</a:t>
            </a:r>
            <a:r>
              <a:rPr sz="10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0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0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spc="1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000" spc="2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α</a:t>
            </a:r>
            <a:r>
              <a:rPr sz="1000" i="1" spc="1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•</a:t>
            </a:r>
            <a:r>
              <a:rPr sz="1000" spc="229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Bβ</a:t>
            </a:r>
            <a:r>
              <a:rPr sz="10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</a:t>
            </a:r>
            <a:r>
              <a:rPr sz="1000" spc="5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0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0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set</a:t>
            </a:r>
            <a:r>
              <a:rPr sz="10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0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0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each</a:t>
            </a:r>
            <a:r>
              <a:rPr sz="10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10" dirty="0">
                <a:latin typeface="Palatino Linotype" panose="02040502050505030304"/>
                <a:cs typeface="Palatino Linotype" panose="02040502050505030304"/>
              </a:rPr>
              <a:t>production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  <a:p>
            <a:pPr marL="365760">
              <a:lnSpc>
                <a:spcPts val="1200"/>
              </a:lnSpc>
            </a:pPr>
            <a:r>
              <a:rPr sz="10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sz="1000" i="1" spc="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spc="1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000" spc="4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γ</a:t>
            </a:r>
            <a:r>
              <a:rPr sz="1000" i="1" spc="7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0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0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10" dirty="0">
                <a:latin typeface="Palatino Linotype" panose="02040502050505030304"/>
                <a:cs typeface="Palatino Linotype" panose="02040502050505030304"/>
              </a:rPr>
              <a:t>grammar,</a:t>
            </a:r>
            <a:r>
              <a:rPr sz="10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10" dirty="0">
                <a:latin typeface="Palatino Linotype" panose="02040502050505030304"/>
                <a:cs typeface="Palatino Linotype" panose="02040502050505030304"/>
              </a:rPr>
              <a:t>add</a:t>
            </a:r>
            <a:r>
              <a:rPr sz="10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0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item</a:t>
            </a:r>
            <a:r>
              <a:rPr sz="10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0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sz="1000" i="1" spc="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spc="1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000" spc="4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•</a:t>
            </a:r>
            <a:r>
              <a:rPr sz="1000" spc="4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γ</a:t>
            </a:r>
            <a:r>
              <a:rPr sz="10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</a:t>
            </a:r>
            <a:r>
              <a:rPr sz="1000" spc="6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0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0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20" dirty="0">
                <a:latin typeface="Palatino Linotype" panose="02040502050505030304"/>
                <a:cs typeface="Palatino Linotype" panose="02040502050505030304"/>
              </a:rPr>
              <a:t>set.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  <a:p>
            <a:pPr marL="365760">
              <a:lnSpc>
                <a:spcPct val="100000"/>
              </a:lnSpc>
              <a:spcBef>
                <a:spcPts val="565"/>
              </a:spcBef>
            </a:pPr>
            <a:r>
              <a:rPr sz="1000" spc="-20" dirty="0">
                <a:latin typeface="Palatino Linotype" panose="02040502050505030304"/>
                <a:cs typeface="Palatino Linotype" panose="02040502050505030304"/>
              </a:rPr>
              <a:t>Continue</a:t>
            </a:r>
            <a:r>
              <a:rPr sz="10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0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this</a:t>
            </a:r>
            <a:r>
              <a:rPr sz="10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10" dirty="0">
                <a:latin typeface="Palatino Linotype" panose="02040502050505030304"/>
                <a:cs typeface="Palatino Linotype" panose="02040502050505030304"/>
              </a:rPr>
              <a:t>manner</a:t>
            </a:r>
            <a:r>
              <a:rPr sz="10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until</a:t>
            </a:r>
            <a:r>
              <a:rPr sz="10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there</a:t>
            </a:r>
            <a:r>
              <a:rPr sz="10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0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no</a:t>
            </a:r>
            <a:r>
              <a:rPr sz="10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10" dirty="0">
                <a:latin typeface="Palatino Linotype" panose="02040502050505030304"/>
                <a:cs typeface="Palatino Linotype" panose="02040502050505030304"/>
              </a:rPr>
              <a:t>further</a:t>
            </a:r>
            <a:r>
              <a:rPr sz="10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10" dirty="0">
                <a:latin typeface="Palatino Linotype" panose="02040502050505030304"/>
                <a:cs typeface="Palatino Linotype" panose="02040502050505030304"/>
              </a:rPr>
              <a:t>change.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  <a:p>
            <a:pPr marL="88900">
              <a:lnSpc>
                <a:spcPct val="100000"/>
              </a:lnSpc>
              <a:spcBef>
                <a:spcPts val="62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We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will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call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3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•</a:t>
            </a:r>
            <a:r>
              <a:rPr sz="1100" spc="4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γ</a:t>
            </a: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</a:t>
            </a:r>
            <a:r>
              <a:rPr sz="1100" spc="6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initial</a:t>
            </a:r>
            <a:r>
              <a:rPr sz="1100" spc="6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sz="110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-</a:t>
            </a:r>
            <a:r>
              <a:rPr sz="1100" spc="-1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item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2132647" y="261386"/>
            <a:ext cx="874394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{</a:t>
            </a:r>
            <a:r>
              <a:rPr sz="1150" spc="3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[E’</a:t>
            </a:r>
            <a:r>
              <a:rPr sz="1150" spc="3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—&gt;</a:t>
            </a:r>
            <a:r>
              <a:rPr sz="1150" spc="3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spc="-2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.E]}</a:t>
            </a:r>
            <a:endParaRPr sz="11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623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Building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PDA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5" dirty="0"/>
              <a:t>Example</a:t>
            </a:r>
            <a:endParaRPr spc="75" dirty="0"/>
          </a:p>
        </p:txBody>
      </p:sp>
      <p:sp>
        <p:nvSpPr>
          <p:cNvPr id="5" name="object 5"/>
          <p:cNvSpPr txBox="1"/>
          <p:nvPr/>
        </p:nvSpPr>
        <p:spPr>
          <a:xfrm>
            <a:off x="125844" y="987423"/>
            <a:ext cx="13970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11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(LR</a:t>
            </a:r>
            <a:r>
              <a:rPr sz="1100" spc="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Parsing)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7743" y="1040879"/>
            <a:ext cx="4483735" cy="1660525"/>
            <a:chOff x="87743" y="1040879"/>
            <a:chExt cx="4483735" cy="166052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185951"/>
              <a:ext cx="4432566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599448"/>
              <a:ext cx="101600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586748"/>
              <a:ext cx="4381767" cy="1143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1040879"/>
              <a:ext cx="50800" cy="155856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7743" y="1230223"/>
              <a:ext cx="4432935" cy="1420495"/>
            </a:xfrm>
            <a:custGeom>
              <a:avLst/>
              <a:gdLst/>
              <a:ahLst/>
              <a:cxnLst/>
              <a:rect l="l" t="t" r="r" b="b"/>
              <a:pathLst>
                <a:path w="4432935" h="1420495">
                  <a:moveTo>
                    <a:pt x="4432567" y="0"/>
                  </a:moveTo>
                  <a:lnTo>
                    <a:pt x="0" y="0"/>
                  </a:lnTo>
                  <a:lnTo>
                    <a:pt x="0" y="1369225"/>
                  </a:lnTo>
                  <a:lnTo>
                    <a:pt x="4008" y="1388949"/>
                  </a:lnTo>
                  <a:lnTo>
                    <a:pt x="14922" y="1405102"/>
                  </a:lnTo>
                  <a:lnTo>
                    <a:pt x="31075" y="1416016"/>
                  </a:lnTo>
                  <a:lnTo>
                    <a:pt x="50800" y="1420025"/>
                  </a:lnTo>
                  <a:lnTo>
                    <a:pt x="4381767" y="1420025"/>
                  </a:lnTo>
                  <a:lnTo>
                    <a:pt x="4401492" y="1416016"/>
                  </a:lnTo>
                  <a:lnTo>
                    <a:pt x="4417644" y="1405102"/>
                  </a:lnTo>
                  <a:lnTo>
                    <a:pt x="4428558" y="1388949"/>
                  </a:lnTo>
                  <a:lnTo>
                    <a:pt x="4432567" y="1369225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1078979"/>
              <a:ext cx="0" cy="1539875"/>
            </a:xfrm>
            <a:custGeom>
              <a:avLst/>
              <a:gdLst/>
              <a:ahLst/>
              <a:cxnLst/>
              <a:rect l="l" t="t" r="r" b="b"/>
              <a:pathLst>
                <a:path h="1539875">
                  <a:moveTo>
                    <a:pt x="0" y="15395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10662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10535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20311" y="10408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285481"/>
              <a:ext cx="65201" cy="65201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77532" y="1201977"/>
            <a:ext cx="3565525" cy="11334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Continuing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with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our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example,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augmented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grammar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is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593215">
              <a:lnSpc>
                <a:spcPct val="100000"/>
              </a:lnSpc>
              <a:spcBef>
                <a:spcPts val="1130"/>
              </a:spcBef>
            </a:pPr>
            <a:r>
              <a:rPr sz="1100" i="1" spc="8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200" i="1" spc="120" baseline="31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′</a:t>
            </a:r>
            <a:r>
              <a:rPr sz="1200" i="1" spc="225" baseline="31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6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1628775">
              <a:lnSpc>
                <a:spcPct val="100000"/>
              </a:lnSpc>
              <a:spcBef>
                <a:spcPts val="335"/>
              </a:spcBef>
            </a:pP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+</a:t>
            </a:r>
            <a:r>
              <a:rPr sz="1100" spc="-4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100" i="1" spc="1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1630680" marR="1021080" indent="7620">
              <a:lnSpc>
                <a:spcPct val="125000"/>
              </a:lnSpc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100" i="1" spc="10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100" i="1" spc="1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7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*</a:t>
            </a:r>
            <a:r>
              <a:rPr sz="1100" spc="-45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F</a:t>
            </a:r>
            <a:r>
              <a:rPr sz="1100" i="1" spc="10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F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F</a:t>
            </a:r>
            <a:r>
              <a:rPr sz="1100" i="1" spc="1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spc="17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(</a:t>
            </a:r>
            <a:r>
              <a:rPr sz="1100" spc="-35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7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)</a:t>
            </a:r>
            <a:r>
              <a:rPr sz="1100" spc="-35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b="1" spc="-25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id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733262" y="1402080"/>
            <a:ext cx="1650364" cy="907415"/>
            <a:chOff x="733262" y="1402080"/>
            <a:chExt cx="1650364" cy="907415"/>
          </a:xfrm>
        </p:grpSpPr>
        <p:sp>
          <p:nvSpPr>
            <p:cNvPr id="20" name="object 20"/>
            <p:cNvSpPr/>
            <p:nvPr/>
          </p:nvSpPr>
          <p:spPr>
            <a:xfrm>
              <a:off x="2335506" y="2297155"/>
              <a:ext cx="41910" cy="6350"/>
            </a:xfrm>
            <a:custGeom>
              <a:avLst/>
              <a:gdLst/>
              <a:ahLst/>
              <a:cxnLst/>
              <a:rect l="l" t="t" r="r" b="b"/>
              <a:pathLst>
                <a:path w="41910" h="6350">
                  <a:moveTo>
                    <a:pt x="0" y="0"/>
                  </a:moveTo>
                  <a:lnTo>
                    <a:pt x="9592" y="369"/>
                  </a:lnTo>
                  <a:lnTo>
                    <a:pt x="16683" y="886"/>
                  </a:lnTo>
                  <a:lnTo>
                    <a:pt x="21271" y="1549"/>
                  </a:lnTo>
                  <a:lnTo>
                    <a:pt x="25860" y="2212"/>
                  </a:lnTo>
                  <a:lnTo>
                    <a:pt x="30344" y="3114"/>
                  </a:lnTo>
                  <a:lnTo>
                    <a:pt x="34725" y="4255"/>
                  </a:lnTo>
                  <a:lnTo>
                    <a:pt x="41296" y="596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3262" y="1402080"/>
              <a:ext cx="239224" cy="18745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7093" y="1462356"/>
              <a:ext cx="75995" cy="85744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882763" y="1015459"/>
            <a:ext cx="112395" cy="165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b="1" spc="80" dirty="0">
                <a:latin typeface="Book Antiqua" panose="02040602050305030304"/>
                <a:cs typeface="Book Antiqua" panose="02040602050305030304"/>
              </a:rPr>
              <a:t>E</a:t>
            </a:r>
            <a:endParaRPr sz="90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623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Building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PDA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5" dirty="0"/>
              <a:t>Example</a:t>
            </a:r>
            <a:endParaRPr spc="75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856475"/>
            <a:ext cx="4483735" cy="2121535"/>
            <a:chOff x="87743" y="856475"/>
            <a:chExt cx="4483735" cy="21215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001547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876054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863354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856475"/>
              <a:ext cx="50800" cy="201957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045819"/>
              <a:ext cx="4432935" cy="1881505"/>
            </a:xfrm>
            <a:custGeom>
              <a:avLst/>
              <a:gdLst/>
              <a:ahLst/>
              <a:cxnLst/>
              <a:rect l="l" t="t" r="r" b="b"/>
              <a:pathLst>
                <a:path w="4432935" h="1881505">
                  <a:moveTo>
                    <a:pt x="4432567" y="0"/>
                  </a:moveTo>
                  <a:lnTo>
                    <a:pt x="0" y="0"/>
                  </a:lnTo>
                  <a:lnTo>
                    <a:pt x="0" y="1830235"/>
                  </a:lnTo>
                  <a:lnTo>
                    <a:pt x="4008" y="1849959"/>
                  </a:lnTo>
                  <a:lnTo>
                    <a:pt x="14922" y="1866112"/>
                  </a:lnTo>
                  <a:lnTo>
                    <a:pt x="31075" y="1877026"/>
                  </a:lnTo>
                  <a:lnTo>
                    <a:pt x="50800" y="1881035"/>
                  </a:lnTo>
                  <a:lnTo>
                    <a:pt x="4381767" y="1881035"/>
                  </a:lnTo>
                  <a:lnTo>
                    <a:pt x="4401492" y="1877026"/>
                  </a:lnTo>
                  <a:lnTo>
                    <a:pt x="4417644" y="1866112"/>
                  </a:lnTo>
                  <a:lnTo>
                    <a:pt x="4428558" y="1849959"/>
                  </a:lnTo>
                  <a:lnTo>
                    <a:pt x="4432567" y="1830235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894575"/>
              <a:ext cx="0" cy="2000885"/>
            </a:xfrm>
            <a:custGeom>
              <a:avLst/>
              <a:gdLst/>
              <a:ahLst/>
              <a:cxnLst/>
              <a:rect l="l" t="t" r="r" b="b"/>
              <a:pathLst>
                <a:path h="2000885">
                  <a:moveTo>
                    <a:pt x="0" y="200052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8818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8691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8564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109916"/>
              <a:ext cx="65201" cy="6520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13144" y="745881"/>
            <a:ext cx="4407535" cy="47244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4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9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(The</a:t>
            </a:r>
            <a:r>
              <a:rPr sz="1100" spc="9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PDA</a:t>
            </a:r>
            <a:r>
              <a:rPr sz="1100" spc="9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States)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02260">
              <a:lnSpc>
                <a:spcPct val="100000"/>
              </a:lnSpc>
              <a:spcBef>
                <a:spcPts val="44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state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I</a:t>
            </a:r>
            <a:r>
              <a:rPr sz="1200" spc="89" baseline="-10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0</a:t>
            </a:r>
            <a:r>
              <a:rPr sz="1200" spc="142" baseline="-10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consists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items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closure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item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5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100" i="1" spc="5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200" i="1" spc="82" baseline="2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′</a:t>
            </a:r>
            <a:r>
              <a:rPr sz="1200" i="1" spc="165" baseline="2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2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•</a:t>
            </a:r>
            <a:r>
              <a:rPr sz="1100" spc="3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spc="-2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1946970" y="1262897"/>
          <a:ext cx="1067435" cy="1610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6155"/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i="1" spc="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1200" spc="52" baseline="-1000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0</a:t>
                      </a:r>
                      <a:endParaRPr sz="1200" baseline="-10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4625">
                <a:tc>
                  <a:txBody>
                    <a:bodyPr/>
                    <a:lstStyle/>
                    <a:p>
                      <a:pPr marL="78105">
                        <a:lnSpc>
                          <a:spcPts val="1190"/>
                        </a:lnSpc>
                      </a:pPr>
                      <a:r>
                        <a:rPr sz="1100" i="1" spc="8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1200" i="1" spc="120" baseline="31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r>
                        <a:rPr sz="1200" i="1" spc="225" baseline="31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6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spc="5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•</a:t>
                      </a:r>
                      <a:r>
                        <a:rPr sz="1100" spc="6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endParaRPr sz="11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marR="89535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100" i="1" spc="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1100" i="1" spc="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spc="5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•</a:t>
                      </a:r>
                      <a:r>
                        <a:rPr sz="1100" spc="6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i="1" spc="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1100" i="1" spc="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+</a:t>
                      </a:r>
                      <a:r>
                        <a:rPr sz="1100" spc="-25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1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endParaRPr sz="11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6690">
                <a:tc>
                  <a:txBody>
                    <a:bodyPr/>
                    <a:lstStyle/>
                    <a:p>
                      <a:pPr marL="113665">
                        <a:lnSpc>
                          <a:spcPts val="1285"/>
                        </a:lnSpc>
                      </a:pPr>
                      <a:r>
                        <a:rPr sz="1100" i="1" spc="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1100" i="1" spc="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6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spc="5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•</a:t>
                      </a:r>
                      <a:r>
                        <a:rPr sz="1100" spc="6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endParaRPr sz="11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marR="9144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1100" i="1" spc="11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5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• </a:t>
                      </a: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1100" i="1" spc="114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7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*</a:t>
                      </a:r>
                      <a:r>
                        <a:rPr sz="1100" spc="-4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1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endParaRPr sz="11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6690">
                <a:tc>
                  <a:txBody>
                    <a:bodyPr/>
                    <a:lstStyle/>
                    <a:p>
                      <a:pPr marL="123825">
                        <a:lnSpc>
                          <a:spcPts val="1285"/>
                        </a:lnSpc>
                      </a:pP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1100" i="1" spc="114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5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• </a:t>
                      </a:r>
                      <a:r>
                        <a:rPr sz="11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endParaRPr sz="11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marR="9779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r>
                        <a:rPr sz="1100" i="1" spc="1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6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spc="5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•</a:t>
                      </a:r>
                      <a:r>
                        <a:rPr sz="1100" spc="6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spc="17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</a:t>
                      </a:r>
                      <a:r>
                        <a:rPr sz="1100" spc="-25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100" i="1" spc="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1100" i="1" spc="4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2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)</a:t>
                      </a:r>
                      <a:endParaRPr sz="11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9230">
                <a:tc>
                  <a:txBody>
                    <a:bodyPr/>
                    <a:lstStyle/>
                    <a:p>
                      <a:pPr marL="115570">
                        <a:lnSpc>
                          <a:spcPts val="1285"/>
                        </a:lnSpc>
                      </a:pP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r>
                        <a:rPr sz="1100" i="1" spc="1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6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spc="5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•</a:t>
                      </a:r>
                      <a:r>
                        <a:rPr sz="1100" spc="6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b="1" spc="-25" dirty="0">
                          <a:solidFill>
                            <a:srgbClr val="0000CC"/>
                          </a:solidFill>
                          <a:latin typeface="Tahoma" panose="020B0604030504040204"/>
                          <a:cs typeface="Tahoma" panose="020B0604030504040204"/>
                        </a:rPr>
                        <a:t>id</a:t>
                      </a:r>
                      <a:endParaRPr sz="11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623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Building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PDA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Transitions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207325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775307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915" y="1965121"/>
            <a:ext cx="52527" cy="5252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915" y="2188946"/>
            <a:ext cx="52527" cy="5252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3667" rIns="0" bIns="0" rtlCol="0">
            <a:spAutoFit/>
          </a:bodyPr>
          <a:lstStyle/>
          <a:p>
            <a:pPr marL="12700" marR="5080" algn="just">
              <a:lnSpc>
                <a:spcPct val="103000"/>
              </a:lnSpc>
              <a:spcBef>
                <a:spcPts val="55"/>
              </a:spcBef>
            </a:pPr>
            <a:r>
              <a:rPr dirty="0"/>
              <a:t>There</a:t>
            </a:r>
            <a:r>
              <a:rPr spc="30" dirty="0"/>
              <a:t> </a:t>
            </a:r>
            <a:r>
              <a:rPr spc="-20" dirty="0"/>
              <a:t>will</a:t>
            </a:r>
            <a:r>
              <a:rPr spc="25" dirty="0"/>
              <a:t> </a:t>
            </a:r>
            <a:r>
              <a:rPr dirty="0"/>
              <a:t>be</a:t>
            </a:r>
            <a:r>
              <a:rPr spc="30" dirty="0"/>
              <a:t> </a:t>
            </a:r>
            <a:r>
              <a:rPr dirty="0"/>
              <a:t>a</a:t>
            </a:r>
            <a:r>
              <a:rPr spc="30" dirty="0"/>
              <a:t> </a:t>
            </a:r>
            <a:r>
              <a:rPr dirty="0"/>
              <a:t>transition</a:t>
            </a:r>
            <a:r>
              <a:rPr spc="30" dirty="0"/>
              <a:t> </a:t>
            </a:r>
            <a:r>
              <a:rPr spc="-10" dirty="0"/>
              <a:t>from</a:t>
            </a:r>
            <a:r>
              <a:rPr spc="30" dirty="0"/>
              <a:t> </a:t>
            </a:r>
            <a:r>
              <a:rPr dirty="0"/>
              <a:t>one</a:t>
            </a:r>
            <a:r>
              <a:rPr spc="30" dirty="0"/>
              <a:t> </a:t>
            </a:r>
            <a:r>
              <a:rPr dirty="0"/>
              <a:t>state</a:t>
            </a:r>
            <a:r>
              <a:rPr spc="30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dirty="0"/>
              <a:t>another</a:t>
            </a:r>
            <a:r>
              <a:rPr spc="30" dirty="0"/>
              <a:t> </a:t>
            </a:r>
            <a:r>
              <a:rPr dirty="0"/>
              <a:t>state</a:t>
            </a:r>
            <a:r>
              <a:rPr spc="30" dirty="0"/>
              <a:t> </a:t>
            </a:r>
            <a:r>
              <a:rPr dirty="0"/>
              <a:t>for</a:t>
            </a:r>
            <a:r>
              <a:rPr spc="30" dirty="0"/>
              <a:t> </a:t>
            </a:r>
            <a:r>
              <a:rPr spc="-20" dirty="0"/>
              <a:t>each </a:t>
            </a:r>
            <a:r>
              <a:rPr spc="-25" dirty="0"/>
              <a:t>grammar</a:t>
            </a:r>
            <a:r>
              <a:rPr spc="30" dirty="0"/>
              <a:t> </a:t>
            </a:r>
            <a:r>
              <a:rPr spc="-20" dirty="0"/>
              <a:t>symbol</a:t>
            </a:r>
            <a:r>
              <a:rPr spc="35" dirty="0"/>
              <a:t> </a:t>
            </a:r>
            <a:r>
              <a:rPr dirty="0"/>
              <a:t>that</a:t>
            </a:r>
            <a:r>
              <a:rPr spc="35" dirty="0"/>
              <a:t> </a:t>
            </a:r>
            <a:r>
              <a:rPr spc="-30" dirty="0"/>
              <a:t>immediately</a:t>
            </a:r>
            <a:r>
              <a:rPr spc="35" dirty="0"/>
              <a:t> </a:t>
            </a:r>
            <a:r>
              <a:rPr spc="-45" dirty="0"/>
              <a:t>follows</a:t>
            </a:r>
            <a:r>
              <a:rPr spc="35" dirty="0"/>
              <a:t> </a:t>
            </a:r>
            <a:r>
              <a:rPr dirty="0"/>
              <a:t>the</a:t>
            </a:r>
            <a:r>
              <a:rPr spc="35" dirty="0"/>
              <a:t> </a:t>
            </a:r>
            <a:r>
              <a:rPr spc="-20" dirty="0"/>
              <a:t>marker</a:t>
            </a:r>
            <a:r>
              <a:rPr spc="35" dirty="0"/>
              <a:t> </a:t>
            </a:r>
            <a:r>
              <a:rPr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•</a:t>
            </a:r>
            <a:r>
              <a:rPr spc="7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dirty="0"/>
              <a:t>in</a:t>
            </a:r>
            <a:r>
              <a:rPr spc="35" dirty="0"/>
              <a:t> </a:t>
            </a:r>
            <a:r>
              <a:rPr dirty="0"/>
              <a:t>an</a:t>
            </a:r>
            <a:r>
              <a:rPr spc="35" dirty="0"/>
              <a:t> </a:t>
            </a:r>
            <a:r>
              <a:rPr spc="-20" dirty="0"/>
              <a:t>item </a:t>
            </a:r>
            <a:r>
              <a:rPr dirty="0"/>
              <a:t>in</a:t>
            </a:r>
            <a:r>
              <a:rPr spc="90" dirty="0"/>
              <a:t> </a:t>
            </a:r>
            <a:r>
              <a:rPr dirty="0"/>
              <a:t>that</a:t>
            </a:r>
            <a:r>
              <a:rPr spc="95" dirty="0"/>
              <a:t> </a:t>
            </a:r>
            <a:r>
              <a:rPr spc="-10" dirty="0"/>
              <a:t>state.</a:t>
            </a:r>
            <a:endParaRPr spc="-10" dirty="0"/>
          </a:p>
          <a:p>
            <a:pPr marL="12700" algn="just">
              <a:lnSpc>
                <a:spcPct val="100000"/>
              </a:lnSpc>
              <a:spcBef>
                <a:spcPts val="440"/>
              </a:spcBef>
            </a:pPr>
            <a:r>
              <a:rPr dirty="0"/>
              <a:t>If</a:t>
            </a:r>
            <a:r>
              <a:rPr spc="70" dirty="0"/>
              <a:t> </a:t>
            </a:r>
            <a:r>
              <a:rPr dirty="0"/>
              <a:t>the</a:t>
            </a:r>
            <a:r>
              <a:rPr spc="75" dirty="0"/>
              <a:t> </a:t>
            </a:r>
            <a:r>
              <a:rPr dirty="0"/>
              <a:t>item</a:t>
            </a:r>
            <a:r>
              <a:rPr spc="70" dirty="0"/>
              <a:t> </a:t>
            </a:r>
            <a:r>
              <a:rPr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i="1" spc="-4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α</a:t>
            </a:r>
            <a:r>
              <a:rPr i="1" spc="20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•</a:t>
            </a:r>
            <a:r>
              <a:rPr spc="27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spc="7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Xβ</a:t>
            </a:r>
            <a:r>
              <a:rPr spc="7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</a:t>
            </a:r>
            <a:r>
              <a:rPr spc="7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dirty="0"/>
              <a:t>is</a:t>
            </a:r>
            <a:r>
              <a:rPr spc="75" dirty="0"/>
              <a:t> </a:t>
            </a:r>
            <a:r>
              <a:rPr dirty="0"/>
              <a:t>in</a:t>
            </a:r>
            <a:r>
              <a:rPr spc="70" dirty="0"/>
              <a:t> </a:t>
            </a:r>
            <a:r>
              <a:rPr dirty="0"/>
              <a:t>the</a:t>
            </a:r>
            <a:r>
              <a:rPr spc="75" dirty="0"/>
              <a:t> </a:t>
            </a:r>
            <a:r>
              <a:rPr dirty="0"/>
              <a:t>state,</a:t>
            </a:r>
            <a:r>
              <a:rPr spc="75" dirty="0"/>
              <a:t> </a:t>
            </a:r>
            <a:r>
              <a:rPr spc="-20" dirty="0"/>
              <a:t>then</a:t>
            </a:r>
            <a:endParaRPr spc="-20" dirty="0"/>
          </a:p>
          <a:p>
            <a:pPr marL="289560" algn="just">
              <a:lnSpc>
                <a:spcPct val="100000"/>
              </a:lnSpc>
              <a:spcBef>
                <a:spcPts val="175"/>
              </a:spcBef>
            </a:pPr>
            <a:r>
              <a:rPr sz="1000" dirty="0"/>
              <a:t>A</a:t>
            </a:r>
            <a:r>
              <a:rPr sz="1000" spc="20" dirty="0"/>
              <a:t> </a:t>
            </a:r>
            <a:r>
              <a:rPr sz="1000" dirty="0"/>
              <a:t>transition</a:t>
            </a:r>
            <a:r>
              <a:rPr sz="1000" spc="25" dirty="0"/>
              <a:t> </a:t>
            </a:r>
            <a:r>
              <a:rPr sz="1000" spc="-20" dirty="0"/>
              <a:t>from</a:t>
            </a:r>
            <a:r>
              <a:rPr sz="1000" spc="20" dirty="0"/>
              <a:t> </a:t>
            </a:r>
            <a:r>
              <a:rPr sz="1000" dirty="0"/>
              <a:t>that</a:t>
            </a:r>
            <a:r>
              <a:rPr sz="1000" spc="25" dirty="0"/>
              <a:t> </a:t>
            </a:r>
            <a:r>
              <a:rPr sz="1000" dirty="0"/>
              <a:t>state</a:t>
            </a:r>
            <a:r>
              <a:rPr sz="1000" spc="25" dirty="0"/>
              <a:t> </a:t>
            </a:r>
            <a:r>
              <a:rPr sz="1000" spc="-10" dirty="0"/>
              <a:t>occurs</a:t>
            </a:r>
            <a:r>
              <a:rPr sz="1000" spc="20" dirty="0"/>
              <a:t> </a:t>
            </a:r>
            <a:r>
              <a:rPr sz="1000" spc="-45" dirty="0"/>
              <a:t>when</a:t>
            </a:r>
            <a:r>
              <a:rPr sz="1000" spc="25" dirty="0"/>
              <a:t> </a:t>
            </a:r>
            <a:r>
              <a:rPr sz="1000" dirty="0"/>
              <a:t>the</a:t>
            </a:r>
            <a:r>
              <a:rPr sz="1000" spc="25" dirty="0"/>
              <a:t> </a:t>
            </a:r>
            <a:r>
              <a:rPr sz="1000" spc="-25" dirty="0"/>
              <a:t>symbol</a:t>
            </a:r>
            <a:r>
              <a:rPr sz="1000" spc="25" dirty="0"/>
              <a:t> </a:t>
            </a:r>
            <a:r>
              <a:rPr sz="1000" i="1" spc="114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X</a:t>
            </a:r>
            <a:r>
              <a:rPr sz="1000" i="1" spc="4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dirty="0"/>
              <a:t>is</a:t>
            </a:r>
            <a:r>
              <a:rPr sz="1000" spc="25" dirty="0"/>
              <a:t> </a:t>
            </a:r>
            <a:r>
              <a:rPr sz="1000" spc="-10" dirty="0"/>
              <a:t>processed.</a:t>
            </a:r>
            <a:endParaRPr sz="1000">
              <a:latin typeface="Bookman Old Style" panose="02050604050505020204"/>
              <a:cs typeface="Bookman Old Style" panose="02050604050505020204"/>
            </a:endParaRPr>
          </a:p>
          <a:p>
            <a:pPr marL="289560" algn="just">
              <a:lnSpc>
                <a:spcPts val="1200"/>
              </a:lnSpc>
              <a:spcBef>
                <a:spcPts val="565"/>
              </a:spcBef>
            </a:pPr>
            <a:r>
              <a:rPr sz="1000" dirty="0"/>
              <a:t>The</a:t>
            </a:r>
            <a:r>
              <a:rPr sz="1000" spc="60" dirty="0"/>
              <a:t> </a:t>
            </a:r>
            <a:r>
              <a:rPr sz="1000" dirty="0"/>
              <a:t>transition</a:t>
            </a:r>
            <a:r>
              <a:rPr sz="1000" spc="65" dirty="0"/>
              <a:t> </a:t>
            </a:r>
            <a:r>
              <a:rPr sz="1000" dirty="0"/>
              <a:t>is</a:t>
            </a:r>
            <a:r>
              <a:rPr sz="1000" spc="65" dirty="0"/>
              <a:t> </a:t>
            </a:r>
            <a:r>
              <a:rPr sz="1000" dirty="0"/>
              <a:t>to</a:t>
            </a:r>
            <a:r>
              <a:rPr sz="1000" spc="60" dirty="0"/>
              <a:t> </a:t>
            </a:r>
            <a:r>
              <a:rPr sz="1000" dirty="0"/>
              <a:t>the</a:t>
            </a:r>
            <a:r>
              <a:rPr sz="1000" spc="65" dirty="0"/>
              <a:t> </a:t>
            </a:r>
            <a:r>
              <a:rPr sz="1000" dirty="0"/>
              <a:t>state</a:t>
            </a:r>
            <a:r>
              <a:rPr sz="1000" spc="65" dirty="0"/>
              <a:t> </a:t>
            </a:r>
            <a:r>
              <a:rPr sz="1000" dirty="0"/>
              <a:t>that</a:t>
            </a:r>
            <a:r>
              <a:rPr sz="1000" spc="65" dirty="0"/>
              <a:t> </a:t>
            </a:r>
            <a:r>
              <a:rPr sz="1000" dirty="0"/>
              <a:t>is</a:t>
            </a:r>
            <a:r>
              <a:rPr sz="1000" spc="60" dirty="0"/>
              <a:t> </a:t>
            </a:r>
            <a:r>
              <a:rPr sz="1000" dirty="0"/>
              <a:t>the</a:t>
            </a:r>
            <a:r>
              <a:rPr sz="1000" spc="65" dirty="0"/>
              <a:t> </a:t>
            </a:r>
            <a:r>
              <a:rPr sz="1000" spc="-20" dirty="0"/>
              <a:t>closure</a:t>
            </a:r>
            <a:r>
              <a:rPr sz="1000" spc="65" dirty="0"/>
              <a:t> </a:t>
            </a:r>
            <a:r>
              <a:rPr sz="1000" dirty="0"/>
              <a:t>of</a:t>
            </a:r>
            <a:r>
              <a:rPr sz="1000" spc="60" dirty="0"/>
              <a:t> </a:t>
            </a:r>
            <a:r>
              <a:rPr sz="1000" dirty="0"/>
              <a:t>the</a:t>
            </a:r>
            <a:r>
              <a:rPr sz="1000" spc="65" dirty="0"/>
              <a:t> </a:t>
            </a:r>
            <a:r>
              <a:rPr sz="1000" spc="-20" dirty="0"/>
              <a:t>item</a:t>
            </a:r>
            <a:endParaRPr sz="1000"/>
          </a:p>
          <a:p>
            <a:pPr marL="289560" algn="just">
              <a:lnSpc>
                <a:spcPts val="1200"/>
              </a:lnSpc>
            </a:pPr>
            <a:r>
              <a:rPr sz="10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0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0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spc="1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000" spc="6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i="1" spc="5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αX</a:t>
            </a:r>
            <a:r>
              <a:rPr sz="1000" i="1" spc="29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•</a:t>
            </a:r>
            <a:r>
              <a:rPr sz="1000" spc="29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β</a:t>
            </a:r>
            <a:r>
              <a:rPr sz="1000" spc="-2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</a:t>
            </a:r>
            <a:r>
              <a:rPr sz="1000" spc="-25" dirty="0"/>
              <a:t>.</a:t>
            </a:r>
            <a:endParaRPr sz="1000">
              <a:latin typeface="Garamond" panose="02020404030301010803"/>
              <a:cs typeface="Garamond" panose="02020404030301010803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674590" y="1648940"/>
            <a:ext cx="259715" cy="228600"/>
          </a:xfrm>
          <a:custGeom>
            <a:avLst/>
            <a:gdLst/>
            <a:ahLst/>
            <a:cxnLst/>
            <a:rect l="l" t="t" r="r" b="b"/>
            <a:pathLst>
              <a:path w="259714" h="228600">
                <a:moveTo>
                  <a:pt x="191023" y="0"/>
                </a:moveTo>
                <a:lnTo>
                  <a:pt x="159979" y="0"/>
                </a:lnTo>
                <a:lnTo>
                  <a:pt x="155455" y="311"/>
                </a:lnTo>
                <a:lnTo>
                  <a:pt x="155956" y="311"/>
                </a:lnTo>
                <a:lnTo>
                  <a:pt x="134926" y="3042"/>
                </a:lnTo>
                <a:lnTo>
                  <a:pt x="77030" y="14769"/>
                </a:lnTo>
                <a:lnTo>
                  <a:pt x="33324" y="29806"/>
                </a:lnTo>
                <a:lnTo>
                  <a:pt x="3495" y="65787"/>
                </a:lnTo>
                <a:lnTo>
                  <a:pt x="0" y="105469"/>
                </a:lnTo>
                <a:lnTo>
                  <a:pt x="123" y="131343"/>
                </a:lnTo>
                <a:lnTo>
                  <a:pt x="27585" y="184921"/>
                </a:lnTo>
                <a:lnTo>
                  <a:pt x="56384" y="213499"/>
                </a:lnTo>
                <a:lnTo>
                  <a:pt x="100744" y="226515"/>
                </a:lnTo>
                <a:lnTo>
                  <a:pt x="101887" y="226515"/>
                </a:lnTo>
                <a:lnTo>
                  <a:pt x="128576" y="228031"/>
                </a:lnTo>
                <a:lnTo>
                  <a:pt x="167279" y="228187"/>
                </a:lnTo>
                <a:lnTo>
                  <a:pt x="210161" y="226515"/>
                </a:lnTo>
                <a:lnTo>
                  <a:pt x="218554" y="222735"/>
                </a:lnTo>
                <a:lnTo>
                  <a:pt x="159722" y="222735"/>
                </a:lnTo>
                <a:lnTo>
                  <a:pt x="128837" y="222472"/>
                </a:lnTo>
                <a:lnTo>
                  <a:pt x="109394" y="221670"/>
                </a:lnTo>
                <a:lnTo>
                  <a:pt x="107834" y="221670"/>
                </a:lnTo>
                <a:lnTo>
                  <a:pt x="90848" y="219805"/>
                </a:lnTo>
                <a:lnTo>
                  <a:pt x="45750" y="197136"/>
                </a:lnTo>
                <a:lnTo>
                  <a:pt x="15705" y="162221"/>
                </a:lnTo>
                <a:lnTo>
                  <a:pt x="5523" y="132449"/>
                </a:lnTo>
                <a:lnTo>
                  <a:pt x="5641" y="106517"/>
                </a:lnTo>
                <a:lnTo>
                  <a:pt x="6485" y="84193"/>
                </a:lnTo>
                <a:lnTo>
                  <a:pt x="6577" y="81745"/>
                </a:lnTo>
                <a:lnTo>
                  <a:pt x="21498" y="45575"/>
                </a:lnTo>
                <a:lnTo>
                  <a:pt x="62905" y="23942"/>
                </a:lnTo>
                <a:lnTo>
                  <a:pt x="112231" y="12017"/>
                </a:lnTo>
                <a:lnTo>
                  <a:pt x="183052" y="12017"/>
                </a:lnTo>
                <a:lnTo>
                  <a:pt x="175003" y="9444"/>
                </a:lnTo>
                <a:lnTo>
                  <a:pt x="159686" y="7152"/>
                </a:lnTo>
                <a:lnTo>
                  <a:pt x="154040" y="6606"/>
                </a:lnTo>
                <a:lnTo>
                  <a:pt x="153448" y="6209"/>
                </a:lnTo>
                <a:lnTo>
                  <a:pt x="158917" y="5794"/>
                </a:lnTo>
                <a:lnTo>
                  <a:pt x="191329" y="4288"/>
                </a:lnTo>
                <a:lnTo>
                  <a:pt x="193939" y="3922"/>
                </a:lnTo>
                <a:lnTo>
                  <a:pt x="193247" y="311"/>
                </a:lnTo>
                <a:lnTo>
                  <a:pt x="191023" y="0"/>
                </a:lnTo>
                <a:close/>
              </a:path>
              <a:path w="259714" h="228600">
                <a:moveTo>
                  <a:pt x="183052" y="12017"/>
                </a:moveTo>
                <a:lnTo>
                  <a:pt x="112231" y="12017"/>
                </a:lnTo>
                <a:lnTo>
                  <a:pt x="154324" y="12925"/>
                </a:lnTo>
                <a:lnTo>
                  <a:pt x="166012" y="13527"/>
                </a:lnTo>
                <a:lnTo>
                  <a:pt x="165245" y="13527"/>
                </a:lnTo>
                <a:lnTo>
                  <a:pt x="171669" y="14170"/>
                </a:lnTo>
                <a:lnTo>
                  <a:pt x="176675" y="15145"/>
                </a:lnTo>
                <a:lnTo>
                  <a:pt x="209575" y="40269"/>
                </a:lnTo>
                <a:lnTo>
                  <a:pt x="235231" y="78636"/>
                </a:lnTo>
                <a:lnTo>
                  <a:pt x="253246" y="117904"/>
                </a:lnTo>
                <a:lnTo>
                  <a:pt x="254112" y="131343"/>
                </a:lnTo>
                <a:lnTo>
                  <a:pt x="252801" y="145782"/>
                </a:lnTo>
                <a:lnTo>
                  <a:pt x="252729" y="146584"/>
                </a:lnTo>
                <a:lnTo>
                  <a:pt x="248103" y="167424"/>
                </a:lnTo>
                <a:lnTo>
                  <a:pt x="248022" y="167789"/>
                </a:lnTo>
                <a:lnTo>
                  <a:pt x="240865" y="187109"/>
                </a:lnTo>
                <a:lnTo>
                  <a:pt x="214764" y="219096"/>
                </a:lnTo>
                <a:lnTo>
                  <a:pt x="159722" y="222735"/>
                </a:lnTo>
                <a:lnTo>
                  <a:pt x="218554" y="222735"/>
                </a:lnTo>
                <a:lnTo>
                  <a:pt x="246033" y="188402"/>
                </a:lnTo>
                <a:lnTo>
                  <a:pt x="258430" y="145782"/>
                </a:lnTo>
                <a:lnTo>
                  <a:pt x="259278" y="125351"/>
                </a:lnTo>
                <a:lnTo>
                  <a:pt x="258474" y="117904"/>
                </a:lnTo>
                <a:lnTo>
                  <a:pt x="242354" y="79972"/>
                </a:lnTo>
                <a:lnTo>
                  <a:pt x="215826" y="39774"/>
                </a:lnTo>
                <a:lnTo>
                  <a:pt x="187778" y="13527"/>
                </a:lnTo>
                <a:lnTo>
                  <a:pt x="183052" y="12017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623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Building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PDA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5" dirty="0"/>
              <a:t>Example</a:t>
            </a:r>
            <a:endParaRPr spc="75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955903"/>
            <a:ext cx="4483735" cy="1872614"/>
            <a:chOff x="87743" y="955903"/>
            <a:chExt cx="4483735" cy="1872614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100975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726918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714218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955903"/>
              <a:ext cx="50800" cy="177101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145247"/>
              <a:ext cx="4432935" cy="1632585"/>
            </a:xfrm>
            <a:custGeom>
              <a:avLst/>
              <a:gdLst/>
              <a:ahLst/>
              <a:cxnLst/>
              <a:rect l="l" t="t" r="r" b="b"/>
              <a:pathLst>
                <a:path w="4432935" h="1632585">
                  <a:moveTo>
                    <a:pt x="4432567" y="0"/>
                  </a:moveTo>
                  <a:lnTo>
                    <a:pt x="0" y="0"/>
                  </a:lnTo>
                  <a:lnTo>
                    <a:pt x="0" y="1581670"/>
                  </a:lnTo>
                  <a:lnTo>
                    <a:pt x="4008" y="1601395"/>
                  </a:lnTo>
                  <a:lnTo>
                    <a:pt x="14922" y="1617548"/>
                  </a:lnTo>
                  <a:lnTo>
                    <a:pt x="31075" y="1628462"/>
                  </a:lnTo>
                  <a:lnTo>
                    <a:pt x="50800" y="1632471"/>
                  </a:lnTo>
                  <a:lnTo>
                    <a:pt x="4381767" y="1632471"/>
                  </a:lnTo>
                  <a:lnTo>
                    <a:pt x="4401492" y="1628462"/>
                  </a:lnTo>
                  <a:lnTo>
                    <a:pt x="4417644" y="1617548"/>
                  </a:lnTo>
                  <a:lnTo>
                    <a:pt x="4428558" y="1601395"/>
                  </a:lnTo>
                  <a:lnTo>
                    <a:pt x="4432567" y="1581670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994003"/>
              <a:ext cx="0" cy="1751964"/>
            </a:xfrm>
            <a:custGeom>
              <a:avLst/>
              <a:gdLst/>
              <a:ahLst/>
              <a:cxnLst/>
              <a:rect l="l" t="t" r="r" b="b"/>
              <a:pathLst>
                <a:path h="1751964">
                  <a:moveTo>
                    <a:pt x="0" y="175196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98130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96860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95590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200505"/>
              <a:ext cx="65201" cy="6520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00444" y="854149"/>
            <a:ext cx="4279265" cy="45465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7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(Building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PDA)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14960">
              <a:lnSpc>
                <a:spcPct val="100000"/>
              </a:lnSpc>
              <a:spcBef>
                <a:spcPts val="37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Thus,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from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state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6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I</a:t>
            </a:r>
            <a:r>
              <a:rPr sz="1200" spc="97" baseline="-10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0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,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there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will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be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transitions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symbols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165" y="1616659"/>
            <a:ext cx="65201" cy="6520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77532" y="1211260"/>
            <a:ext cx="3074670" cy="13087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0"/>
              </a:spcBef>
            </a:pPr>
            <a:r>
              <a:rPr sz="1100" i="1" spc="7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,</a:t>
            </a:r>
            <a:r>
              <a:rPr sz="1100" spc="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-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100" i="1" spc="-18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,</a:t>
            </a:r>
            <a:r>
              <a:rPr sz="1100" spc="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F</a:t>
            </a:r>
            <a:r>
              <a:rPr sz="1100" i="1" spc="-17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,</a:t>
            </a:r>
            <a:r>
              <a:rPr sz="1100" spc="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95" dirty="0">
                <a:latin typeface="Trebuchet MS" panose="020B0603020202020204"/>
                <a:cs typeface="Trebuchet MS" panose="020B0603020202020204"/>
              </a:rPr>
              <a:t>(</a:t>
            </a:r>
            <a:r>
              <a:rPr sz="1100" spc="95" dirty="0">
                <a:latin typeface="Palatino Linotype" panose="02040502050505030304"/>
                <a:cs typeface="Palatino Linotype" panose="02040502050505030304"/>
              </a:rPr>
              <a:t>,</a:t>
            </a:r>
            <a:r>
              <a:rPr sz="1100" spc="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id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,</a:t>
            </a:r>
            <a:r>
              <a:rPr sz="1100" spc="9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-2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num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8100">
              <a:lnSpc>
                <a:spcPct val="100000"/>
              </a:lnSpc>
              <a:spcBef>
                <a:spcPts val="60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example,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on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processing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7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,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items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143635">
              <a:lnSpc>
                <a:spcPct val="100000"/>
              </a:lnSpc>
              <a:spcBef>
                <a:spcPts val="1130"/>
              </a:spcBef>
            </a:pPr>
            <a:r>
              <a:rPr sz="1100" spc="5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100" i="1" spc="5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200" i="1" spc="82" baseline="31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′</a:t>
            </a:r>
            <a:r>
              <a:rPr sz="1200" i="1" spc="209" baseline="31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•</a:t>
            </a:r>
            <a:r>
              <a:rPr sz="11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5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spc="5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</a:t>
            </a:r>
            <a:r>
              <a:rPr sz="1100" spc="8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85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•</a:t>
            </a:r>
            <a:r>
              <a:rPr sz="11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+</a:t>
            </a:r>
            <a:r>
              <a:rPr sz="1100" spc="-35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i="1" spc="-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100" i="1" spc="-18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-5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</a:t>
            </a:r>
            <a:endParaRPr sz="1100">
              <a:latin typeface="Garamond" panose="02020404030301010803"/>
              <a:cs typeface="Garamond" panose="02020404030301010803"/>
            </a:endParaRPr>
          </a:p>
          <a:p>
            <a:pPr marL="38100">
              <a:lnSpc>
                <a:spcPct val="100000"/>
              </a:lnSpc>
              <a:spcBef>
                <a:spcPts val="113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become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093470">
              <a:lnSpc>
                <a:spcPct val="100000"/>
              </a:lnSpc>
              <a:spcBef>
                <a:spcPts val="35"/>
              </a:spcBef>
            </a:pPr>
            <a:r>
              <a:rPr sz="1100" spc="5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100" i="1" spc="5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200" i="1" spc="82" baseline="31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′</a:t>
            </a:r>
            <a:r>
              <a:rPr sz="1200" i="1" spc="225" baseline="31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•</a:t>
            </a: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</a:t>
            </a:r>
            <a:r>
              <a:rPr sz="1100" spc="8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9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27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•</a:t>
            </a:r>
            <a:r>
              <a:rPr sz="1100" spc="3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+</a:t>
            </a:r>
            <a:r>
              <a:rPr sz="1100" spc="-3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i="1" spc="-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100" i="1" spc="-18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-2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.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8623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Building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PDA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5300" y="182191"/>
            <a:ext cx="8032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7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Example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934566"/>
            <a:ext cx="18078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(Building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PDA)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7743" y="988021"/>
            <a:ext cx="4483735" cy="1792605"/>
            <a:chOff x="87743" y="988021"/>
            <a:chExt cx="4483735" cy="179260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133106"/>
              <a:ext cx="4432566" cy="5060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678734"/>
              <a:ext cx="101600" cy="101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666034"/>
              <a:ext cx="4381767" cy="1143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988021"/>
              <a:ext cx="50800" cy="169071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7743" y="1177366"/>
              <a:ext cx="4432935" cy="1552575"/>
            </a:xfrm>
            <a:custGeom>
              <a:avLst/>
              <a:gdLst/>
              <a:ahLst/>
              <a:cxnLst/>
              <a:rect l="l" t="t" r="r" b="b"/>
              <a:pathLst>
                <a:path w="4432935" h="1552575">
                  <a:moveTo>
                    <a:pt x="4432567" y="0"/>
                  </a:moveTo>
                  <a:lnTo>
                    <a:pt x="0" y="0"/>
                  </a:lnTo>
                  <a:lnTo>
                    <a:pt x="0" y="1501368"/>
                  </a:lnTo>
                  <a:lnTo>
                    <a:pt x="4008" y="1521093"/>
                  </a:lnTo>
                  <a:lnTo>
                    <a:pt x="14922" y="1537246"/>
                  </a:lnTo>
                  <a:lnTo>
                    <a:pt x="31075" y="1548160"/>
                  </a:lnTo>
                  <a:lnTo>
                    <a:pt x="50800" y="1552168"/>
                  </a:lnTo>
                  <a:lnTo>
                    <a:pt x="4381767" y="1552168"/>
                  </a:lnTo>
                  <a:lnTo>
                    <a:pt x="4401492" y="1548160"/>
                  </a:lnTo>
                  <a:lnTo>
                    <a:pt x="4417644" y="1537246"/>
                  </a:lnTo>
                  <a:lnTo>
                    <a:pt x="4428558" y="1521093"/>
                  </a:lnTo>
                  <a:lnTo>
                    <a:pt x="4432567" y="1501368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1026121"/>
              <a:ext cx="0" cy="1671955"/>
            </a:xfrm>
            <a:custGeom>
              <a:avLst/>
              <a:gdLst/>
              <a:ahLst/>
              <a:cxnLst/>
              <a:rect l="l" t="t" r="r" b="b"/>
              <a:pathLst>
                <a:path h="1671955">
                  <a:moveTo>
                    <a:pt x="0" y="167166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101342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20311" y="100072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520311" y="98802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232636"/>
              <a:ext cx="65201" cy="65201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051267" y="1207222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1</a:t>
            </a:r>
            <a:endParaRPr sz="8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2932" y="1149120"/>
            <a:ext cx="25450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Let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state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1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I</a:t>
            </a:r>
            <a:r>
              <a:rPr sz="1100" i="1" spc="434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be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closure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these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items.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924837" y="1374279"/>
            <a:ext cx="1035685" cy="174625"/>
          </a:xfrm>
          <a:custGeom>
            <a:avLst/>
            <a:gdLst/>
            <a:ahLst/>
            <a:cxnLst/>
            <a:rect l="l" t="t" r="r" b="b"/>
            <a:pathLst>
              <a:path w="1035685" h="174625">
                <a:moveTo>
                  <a:pt x="0" y="0"/>
                </a:moveTo>
                <a:lnTo>
                  <a:pt x="1035405" y="0"/>
                </a:lnTo>
              </a:path>
              <a:path w="1035685" h="174625">
                <a:moveTo>
                  <a:pt x="2539" y="174612"/>
                </a:moveTo>
                <a:lnTo>
                  <a:pt x="2539" y="254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904507" y="1346020"/>
            <a:ext cx="10763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i="1" spc="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I</a:t>
            </a:r>
            <a:r>
              <a:rPr sz="1200" spc="52" baseline="-10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1</a:t>
            </a:r>
            <a:endParaRPr sz="1200" baseline="-100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957715" y="1376819"/>
            <a:ext cx="0" cy="172085"/>
          </a:xfrm>
          <a:custGeom>
            <a:avLst/>
            <a:gdLst/>
            <a:ahLst/>
            <a:cxnLst/>
            <a:rect l="l" t="t" r="r" b="b"/>
            <a:pathLst>
              <a:path h="172084">
                <a:moveTo>
                  <a:pt x="0" y="172072"/>
                </a:moveTo>
                <a:lnTo>
                  <a:pt x="0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927377" y="1551419"/>
            <a:ext cx="1030605" cy="387350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8105">
              <a:lnSpc>
                <a:spcPts val="1190"/>
              </a:lnSpc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200" i="1" baseline="31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′</a:t>
            </a:r>
            <a:r>
              <a:rPr sz="1200" i="1" spc="262" baseline="31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8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6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•</a:t>
            </a:r>
            <a:endParaRPr sz="1100">
              <a:latin typeface="Cambria" panose="02040503050406030204"/>
              <a:cs typeface="Cambria" panose="02040503050406030204"/>
            </a:endParaRPr>
          </a:p>
          <a:p>
            <a:pPr marL="96520">
              <a:lnSpc>
                <a:spcPct val="100000"/>
              </a:lnSpc>
              <a:spcBef>
                <a:spcPts val="330"/>
              </a:spcBef>
            </a:pP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27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•</a:t>
            </a:r>
            <a:r>
              <a:rPr sz="1100" spc="29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+</a:t>
            </a:r>
            <a:r>
              <a:rPr sz="1100" spc="-25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81165" y="2057235"/>
            <a:ext cx="2757805" cy="501015"/>
            <a:chOff x="281165" y="2057235"/>
            <a:chExt cx="2757805" cy="501015"/>
          </a:xfrm>
        </p:grpSpPr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165" y="2057235"/>
              <a:ext cx="65201" cy="6520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863051" y="2296911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80" h="259080">
                  <a:moveTo>
                    <a:pt x="129316" y="0"/>
                  </a:moveTo>
                  <a:lnTo>
                    <a:pt x="78982" y="10163"/>
                  </a:lnTo>
                  <a:lnTo>
                    <a:pt x="37877" y="37877"/>
                  </a:lnTo>
                  <a:lnTo>
                    <a:pt x="10163" y="78982"/>
                  </a:lnTo>
                  <a:lnTo>
                    <a:pt x="0" y="129316"/>
                  </a:lnTo>
                  <a:lnTo>
                    <a:pt x="10163" y="179650"/>
                  </a:lnTo>
                  <a:lnTo>
                    <a:pt x="37877" y="220755"/>
                  </a:lnTo>
                  <a:lnTo>
                    <a:pt x="78982" y="248469"/>
                  </a:lnTo>
                  <a:lnTo>
                    <a:pt x="129316" y="258632"/>
                  </a:lnTo>
                  <a:lnTo>
                    <a:pt x="179650" y="248469"/>
                  </a:lnTo>
                  <a:lnTo>
                    <a:pt x="220755" y="220755"/>
                  </a:lnTo>
                  <a:lnTo>
                    <a:pt x="248469" y="179650"/>
                  </a:lnTo>
                  <a:lnTo>
                    <a:pt x="258632" y="129316"/>
                  </a:lnTo>
                  <a:lnTo>
                    <a:pt x="248469" y="78982"/>
                  </a:lnTo>
                  <a:lnTo>
                    <a:pt x="220755" y="37877"/>
                  </a:lnTo>
                  <a:lnTo>
                    <a:pt x="179650" y="10163"/>
                  </a:lnTo>
                  <a:lnTo>
                    <a:pt x="129316" y="0"/>
                  </a:lnTo>
                  <a:close/>
                </a:path>
              </a:pathLst>
            </a:custGeom>
            <a:solidFill>
              <a:srgbClr val="FFA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863051" y="2296911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80" h="259080">
                  <a:moveTo>
                    <a:pt x="258632" y="129316"/>
                  </a:moveTo>
                  <a:lnTo>
                    <a:pt x="248469" y="78982"/>
                  </a:lnTo>
                  <a:lnTo>
                    <a:pt x="220755" y="37877"/>
                  </a:lnTo>
                  <a:lnTo>
                    <a:pt x="179650" y="10163"/>
                  </a:lnTo>
                  <a:lnTo>
                    <a:pt x="129316" y="0"/>
                  </a:lnTo>
                  <a:lnTo>
                    <a:pt x="78982" y="10163"/>
                  </a:lnTo>
                  <a:lnTo>
                    <a:pt x="37877" y="37877"/>
                  </a:lnTo>
                  <a:lnTo>
                    <a:pt x="10163" y="78982"/>
                  </a:lnTo>
                  <a:lnTo>
                    <a:pt x="0" y="129316"/>
                  </a:lnTo>
                  <a:lnTo>
                    <a:pt x="10163" y="179650"/>
                  </a:lnTo>
                  <a:lnTo>
                    <a:pt x="37877" y="220755"/>
                  </a:lnTo>
                  <a:lnTo>
                    <a:pt x="78982" y="248469"/>
                  </a:lnTo>
                  <a:lnTo>
                    <a:pt x="129316" y="258632"/>
                  </a:lnTo>
                  <a:lnTo>
                    <a:pt x="179650" y="248469"/>
                  </a:lnTo>
                  <a:lnTo>
                    <a:pt x="220755" y="220755"/>
                  </a:lnTo>
                  <a:lnTo>
                    <a:pt x="248469" y="179650"/>
                  </a:lnTo>
                  <a:lnTo>
                    <a:pt x="258632" y="129316"/>
                  </a:lnTo>
                  <a:close/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777451" y="2296911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80" h="259080">
                  <a:moveTo>
                    <a:pt x="129316" y="0"/>
                  </a:moveTo>
                  <a:lnTo>
                    <a:pt x="78982" y="10163"/>
                  </a:lnTo>
                  <a:lnTo>
                    <a:pt x="37877" y="37877"/>
                  </a:lnTo>
                  <a:lnTo>
                    <a:pt x="10163" y="78982"/>
                  </a:lnTo>
                  <a:lnTo>
                    <a:pt x="0" y="129316"/>
                  </a:lnTo>
                  <a:lnTo>
                    <a:pt x="10163" y="179650"/>
                  </a:lnTo>
                  <a:lnTo>
                    <a:pt x="37877" y="220755"/>
                  </a:lnTo>
                  <a:lnTo>
                    <a:pt x="78982" y="248469"/>
                  </a:lnTo>
                  <a:lnTo>
                    <a:pt x="129316" y="258632"/>
                  </a:lnTo>
                  <a:lnTo>
                    <a:pt x="179650" y="248469"/>
                  </a:lnTo>
                  <a:lnTo>
                    <a:pt x="220755" y="220755"/>
                  </a:lnTo>
                  <a:lnTo>
                    <a:pt x="248469" y="179650"/>
                  </a:lnTo>
                  <a:lnTo>
                    <a:pt x="258632" y="129316"/>
                  </a:lnTo>
                  <a:lnTo>
                    <a:pt x="248469" y="78982"/>
                  </a:lnTo>
                  <a:lnTo>
                    <a:pt x="220755" y="37877"/>
                  </a:lnTo>
                  <a:lnTo>
                    <a:pt x="179650" y="10163"/>
                  </a:lnTo>
                  <a:lnTo>
                    <a:pt x="129316" y="0"/>
                  </a:lnTo>
                  <a:close/>
                </a:path>
              </a:pathLst>
            </a:custGeom>
            <a:solidFill>
              <a:srgbClr val="FFA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777451" y="2296911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80" h="259080">
                  <a:moveTo>
                    <a:pt x="258632" y="129316"/>
                  </a:moveTo>
                  <a:lnTo>
                    <a:pt x="248469" y="78982"/>
                  </a:lnTo>
                  <a:lnTo>
                    <a:pt x="220755" y="37877"/>
                  </a:lnTo>
                  <a:lnTo>
                    <a:pt x="179650" y="10163"/>
                  </a:lnTo>
                  <a:lnTo>
                    <a:pt x="129316" y="0"/>
                  </a:lnTo>
                  <a:lnTo>
                    <a:pt x="78982" y="10163"/>
                  </a:lnTo>
                  <a:lnTo>
                    <a:pt x="37877" y="37877"/>
                  </a:lnTo>
                  <a:lnTo>
                    <a:pt x="10163" y="78982"/>
                  </a:lnTo>
                  <a:lnTo>
                    <a:pt x="0" y="129316"/>
                  </a:lnTo>
                  <a:lnTo>
                    <a:pt x="10163" y="179650"/>
                  </a:lnTo>
                  <a:lnTo>
                    <a:pt x="37877" y="220755"/>
                  </a:lnTo>
                  <a:lnTo>
                    <a:pt x="78982" y="248469"/>
                  </a:lnTo>
                  <a:lnTo>
                    <a:pt x="129316" y="258632"/>
                  </a:lnTo>
                  <a:lnTo>
                    <a:pt x="179650" y="248469"/>
                  </a:lnTo>
                  <a:lnTo>
                    <a:pt x="220755" y="220755"/>
                  </a:lnTo>
                  <a:lnTo>
                    <a:pt x="248469" y="179650"/>
                  </a:lnTo>
                  <a:lnTo>
                    <a:pt x="258632" y="129316"/>
                  </a:lnTo>
                  <a:close/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144768" y="2426228"/>
              <a:ext cx="548640" cy="0"/>
            </a:xfrm>
            <a:custGeom>
              <a:avLst/>
              <a:gdLst/>
              <a:ahLst/>
              <a:cxnLst/>
              <a:rect l="l" t="t" r="r" b="b"/>
              <a:pathLst>
                <a:path w="548639">
                  <a:moveTo>
                    <a:pt x="548640" y="0"/>
                  </a:moveTo>
                  <a:lnTo>
                    <a:pt x="0" y="0"/>
                  </a:lnTo>
                </a:path>
              </a:pathLst>
            </a:custGeom>
            <a:solidFill>
              <a:srgbClr val="FF64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144768" y="2426228"/>
              <a:ext cx="548640" cy="0"/>
            </a:xfrm>
            <a:custGeom>
              <a:avLst/>
              <a:gdLst/>
              <a:ahLst/>
              <a:cxnLst/>
              <a:rect l="l" t="t" r="r" b="b"/>
              <a:pathLst>
                <a:path w="548639">
                  <a:moveTo>
                    <a:pt x="0" y="0"/>
                  </a:moveTo>
                  <a:lnTo>
                    <a:pt x="548640" y="0"/>
                  </a:lnTo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685788" y="2403368"/>
              <a:ext cx="68580" cy="45720"/>
            </a:xfrm>
            <a:custGeom>
              <a:avLst/>
              <a:gdLst/>
              <a:ahLst/>
              <a:cxnLst/>
              <a:rect l="l" t="t" r="r" b="b"/>
              <a:pathLst>
                <a:path w="68580" h="45719">
                  <a:moveTo>
                    <a:pt x="0" y="0"/>
                  </a:moveTo>
                  <a:lnTo>
                    <a:pt x="0" y="45720"/>
                  </a:lnTo>
                  <a:lnTo>
                    <a:pt x="68580" y="228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402932" y="1973718"/>
            <a:ext cx="204406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Then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PDA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has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transition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11596" y="2339360"/>
            <a:ext cx="16192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950" i="1" spc="-2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050" spc="-37" baseline="-20000" dirty="0">
                <a:latin typeface="Times New Roman" panose="02020603050405020304"/>
                <a:cs typeface="Times New Roman" panose="02020603050405020304"/>
              </a:rPr>
              <a:t>0</a:t>
            </a:r>
            <a:endParaRPr sz="1050" baseline="-20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825996" y="2339360"/>
            <a:ext cx="16192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950" i="1" spc="-2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050" spc="-37" baseline="-20000" dirty="0">
                <a:latin typeface="Times New Roman" panose="02020603050405020304"/>
                <a:cs typeface="Times New Roman" panose="02020603050405020304"/>
              </a:rPr>
              <a:t>1</a:t>
            </a:r>
            <a:endParaRPr sz="1050" baseline="-20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399276" y="2247920"/>
            <a:ext cx="10033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i="1" spc="-50" dirty="0">
                <a:latin typeface="Times New Roman" panose="02020603050405020304"/>
                <a:cs typeface="Times New Roman" panose="02020603050405020304"/>
              </a:rPr>
              <a:t>E</a:t>
            </a:r>
            <a:endParaRPr sz="9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8" name="object 3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34017" y="632283"/>
            <a:ext cx="1259433" cy="1970358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3201654" y="1429659"/>
            <a:ext cx="75184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E—&gt;</a:t>
            </a:r>
            <a:r>
              <a:rPr sz="1150" spc="5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E</a:t>
            </a:r>
            <a:r>
              <a:rPr sz="1150" spc="55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spc="-25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+.T</a:t>
            </a:r>
            <a:endParaRPr sz="11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252656" y="2223889"/>
            <a:ext cx="75184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E</a:t>
            </a:r>
            <a:r>
              <a:rPr sz="1150" spc="25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-&gt;</a:t>
            </a:r>
            <a:r>
              <a:rPr sz="1150" spc="3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E</a:t>
            </a:r>
            <a:r>
              <a:rPr sz="1150" spc="3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+</a:t>
            </a:r>
            <a:r>
              <a:rPr sz="1150" spc="3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50" spc="-25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T.</a:t>
            </a:r>
            <a:endParaRPr sz="1150">
              <a:latin typeface="Georgia" panose="02040502050405020303"/>
              <a:cs typeface="Georgia" panose="02040502050405020303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323110" y="1241691"/>
            <a:ext cx="288290" cy="1203960"/>
            <a:chOff x="2323110" y="1241691"/>
            <a:chExt cx="288290" cy="1203960"/>
          </a:xfrm>
        </p:grpSpPr>
        <p:sp>
          <p:nvSpPr>
            <p:cNvPr id="42" name="object 42"/>
            <p:cNvSpPr/>
            <p:nvPr/>
          </p:nvSpPr>
          <p:spPr>
            <a:xfrm>
              <a:off x="2336455" y="1241691"/>
              <a:ext cx="274955" cy="326390"/>
            </a:xfrm>
            <a:custGeom>
              <a:avLst/>
              <a:gdLst/>
              <a:ahLst/>
              <a:cxnLst/>
              <a:rect l="l" t="t" r="r" b="b"/>
              <a:pathLst>
                <a:path w="274955" h="326390">
                  <a:moveTo>
                    <a:pt x="79658" y="24324"/>
                  </a:moveTo>
                  <a:lnTo>
                    <a:pt x="77591" y="26391"/>
                  </a:lnTo>
                  <a:lnTo>
                    <a:pt x="79946" y="29543"/>
                  </a:lnTo>
                  <a:lnTo>
                    <a:pt x="88772" y="33751"/>
                  </a:lnTo>
                  <a:lnTo>
                    <a:pt x="70759" y="52194"/>
                  </a:lnTo>
                  <a:lnTo>
                    <a:pt x="30804" y="101698"/>
                  </a:lnTo>
                  <a:lnTo>
                    <a:pt x="9756" y="155207"/>
                  </a:lnTo>
                  <a:lnTo>
                    <a:pt x="2128" y="195503"/>
                  </a:lnTo>
                  <a:lnTo>
                    <a:pt x="460" y="215661"/>
                  </a:lnTo>
                  <a:lnTo>
                    <a:pt x="381" y="216614"/>
                  </a:lnTo>
                  <a:lnTo>
                    <a:pt x="0" y="232004"/>
                  </a:lnTo>
                  <a:lnTo>
                    <a:pt x="80" y="263542"/>
                  </a:lnTo>
                  <a:lnTo>
                    <a:pt x="160" y="265921"/>
                  </a:lnTo>
                  <a:lnTo>
                    <a:pt x="27107" y="306890"/>
                  </a:lnTo>
                  <a:lnTo>
                    <a:pt x="72627" y="323929"/>
                  </a:lnTo>
                  <a:lnTo>
                    <a:pt x="108526" y="326160"/>
                  </a:lnTo>
                  <a:lnTo>
                    <a:pt x="128618" y="325605"/>
                  </a:lnTo>
                  <a:lnTo>
                    <a:pt x="144498" y="323929"/>
                  </a:lnTo>
                  <a:lnTo>
                    <a:pt x="159766" y="320402"/>
                  </a:lnTo>
                  <a:lnTo>
                    <a:pt x="102937" y="320402"/>
                  </a:lnTo>
                  <a:lnTo>
                    <a:pt x="81688" y="319486"/>
                  </a:lnTo>
                  <a:lnTo>
                    <a:pt x="30344" y="302465"/>
                  </a:lnTo>
                  <a:lnTo>
                    <a:pt x="6331" y="269208"/>
                  </a:lnTo>
                  <a:lnTo>
                    <a:pt x="5779" y="225682"/>
                  </a:lnTo>
                  <a:lnTo>
                    <a:pt x="5910" y="216614"/>
                  </a:lnTo>
                  <a:lnTo>
                    <a:pt x="5923" y="215661"/>
                  </a:lnTo>
                  <a:lnTo>
                    <a:pt x="8415" y="189098"/>
                  </a:lnTo>
                  <a:lnTo>
                    <a:pt x="13256" y="163575"/>
                  </a:lnTo>
                  <a:lnTo>
                    <a:pt x="20637" y="137405"/>
                  </a:lnTo>
                  <a:lnTo>
                    <a:pt x="20730" y="137076"/>
                  </a:lnTo>
                  <a:lnTo>
                    <a:pt x="41569" y="94868"/>
                  </a:lnTo>
                  <a:lnTo>
                    <a:pt x="78534" y="51884"/>
                  </a:lnTo>
                  <a:lnTo>
                    <a:pt x="94398" y="37255"/>
                  </a:lnTo>
                  <a:lnTo>
                    <a:pt x="104200" y="37255"/>
                  </a:lnTo>
                  <a:lnTo>
                    <a:pt x="98749" y="33439"/>
                  </a:lnTo>
                  <a:lnTo>
                    <a:pt x="102614" y="30594"/>
                  </a:lnTo>
                  <a:lnTo>
                    <a:pt x="93569" y="30594"/>
                  </a:lnTo>
                  <a:lnTo>
                    <a:pt x="83075" y="25447"/>
                  </a:lnTo>
                  <a:lnTo>
                    <a:pt x="79658" y="24324"/>
                  </a:lnTo>
                  <a:close/>
                </a:path>
                <a:path w="274955" h="326390">
                  <a:moveTo>
                    <a:pt x="104200" y="37255"/>
                  </a:moveTo>
                  <a:lnTo>
                    <a:pt x="94398" y="37255"/>
                  </a:lnTo>
                  <a:lnTo>
                    <a:pt x="96322" y="38384"/>
                  </a:lnTo>
                  <a:lnTo>
                    <a:pt x="100459" y="41089"/>
                  </a:lnTo>
                  <a:lnTo>
                    <a:pt x="137472" y="67068"/>
                  </a:lnTo>
                  <a:lnTo>
                    <a:pt x="167603" y="90757"/>
                  </a:lnTo>
                  <a:lnTo>
                    <a:pt x="212607" y="133695"/>
                  </a:lnTo>
                  <a:lnTo>
                    <a:pt x="238420" y="168807"/>
                  </a:lnTo>
                  <a:lnTo>
                    <a:pt x="259002" y="204390"/>
                  </a:lnTo>
                  <a:lnTo>
                    <a:pt x="269090" y="245278"/>
                  </a:lnTo>
                  <a:lnTo>
                    <a:pt x="269132" y="259480"/>
                  </a:lnTo>
                  <a:lnTo>
                    <a:pt x="268963" y="260434"/>
                  </a:lnTo>
                  <a:lnTo>
                    <a:pt x="236807" y="289721"/>
                  </a:lnTo>
                  <a:lnTo>
                    <a:pt x="171847" y="312030"/>
                  </a:lnTo>
                  <a:lnTo>
                    <a:pt x="124917" y="320196"/>
                  </a:lnTo>
                  <a:lnTo>
                    <a:pt x="102937" y="320402"/>
                  </a:lnTo>
                  <a:lnTo>
                    <a:pt x="159766" y="320402"/>
                  </a:lnTo>
                  <a:lnTo>
                    <a:pt x="199218" y="309302"/>
                  </a:lnTo>
                  <a:lnTo>
                    <a:pt x="250015" y="289330"/>
                  </a:lnTo>
                  <a:lnTo>
                    <a:pt x="274506" y="249876"/>
                  </a:lnTo>
                  <a:lnTo>
                    <a:pt x="273680" y="232004"/>
                  </a:lnTo>
                  <a:lnTo>
                    <a:pt x="258953" y="192747"/>
                  </a:lnTo>
                  <a:lnTo>
                    <a:pt x="232199" y="150659"/>
                  </a:lnTo>
                  <a:lnTo>
                    <a:pt x="201491" y="114208"/>
                  </a:lnTo>
                  <a:lnTo>
                    <a:pt x="166413" y="82920"/>
                  </a:lnTo>
                  <a:lnTo>
                    <a:pt x="118495" y="47262"/>
                  </a:lnTo>
                  <a:lnTo>
                    <a:pt x="104200" y="37255"/>
                  </a:lnTo>
                  <a:close/>
                </a:path>
                <a:path w="274955" h="326390">
                  <a:moveTo>
                    <a:pt x="155123" y="0"/>
                  </a:moveTo>
                  <a:lnTo>
                    <a:pt x="113410" y="16438"/>
                  </a:lnTo>
                  <a:lnTo>
                    <a:pt x="93569" y="30594"/>
                  </a:lnTo>
                  <a:lnTo>
                    <a:pt x="102614" y="30594"/>
                  </a:lnTo>
                  <a:lnTo>
                    <a:pt x="106667" y="27610"/>
                  </a:lnTo>
                  <a:lnTo>
                    <a:pt x="119120" y="19269"/>
                  </a:lnTo>
                  <a:lnTo>
                    <a:pt x="131048" y="13028"/>
                  </a:lnTo>
                  <a:lnTo>
                    <a:pt x="142774" y="8744"/>
                  </a:lnTo>
                  <a:lnTo>
                    <a:pt x="154622" y="6273"/>
                  </a:lnTo>
                  <a:lnTo>
                    <a:pt x="162699" y="5189"/>
                  </a:lnTo>
                  <a:lnTo>
                    <a:pt x="165379" y="4357"/>
                  </a:lnTo>
                  <a:lnTo>
                    <a:pt x="165379" y="396"/>
                  </a:lnTo>
                  <a:lnTo>
                    <a:pt x="155123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23110" y="2204501"/>
              <a:ext cx="236486" cy="240766"/>
            </a:xfrm>
            <a:prstGeom prst="rect">
              <a:avLst/>
            </a:prstGeom>
          </p:spPr>
        </p:pic>
      </p:grpSp>
      <p:sp>
        <p:nvSpPr>
          <p:cNvPr id="44" name="object 44"/>
          <p:cNvSpPr/>
          <p:nvPr/>
        </p:nvSpPr>
        <p:spPr>
          <a:xfrm>
            <a:off x="3342767" y="220725"/>
            <a:ext cx="516255" cy="351790"/>
          </a:xfrm>
          <a:custGeom>
            <a:avLst/>
            <a:gdLst/>
            <a:ahLst/>
            <a:cxnLst/>
            <a:rect l="l" t="t" r="r" b="b"/>
            <a:pathLst>
              <a:path w="516254" h="351790">
                <a:moveTo>
                  <a:pt x="439140" y="112166"/>
                </a:moveTo>
                <a:lnTo>
                  <a:pt x="435229" y="112052"/>
                </a:lnTo>
                <a:lnTo>
                  <a:pt x="429006" y="114795"/>
                </a:lnTo>
                <a:lnTo>
                  <a:pt x="425081" y="115798"/>
                </a:lnTo>
                <a:lnTo>
                  <a:pt x="417677" y="116713"/>
                </a:lnTo>
                <a:lnTo>
                  <a:pt x="405993" y="117589"/>
                </a:lnTo>
                <a:lnTo>
                  <a:pt x="361086" y="120192"/>
                </a:lnTo>
                <a:lnTo>
                  <a:pt x="339356" y="122288"/>
                </a:lnTo>
                <a:lnTo>
                  <a:pt x="283464" y="134899"/>
                </a:lnTo>
                <a:lnTo>
                  <a:pt x="241757" y="151180"/>
                </a:lnTo>
                <a:lnTo>
                  <a:pt x="181749" y="183210"/>
                </a:lnTo>
                <a:lnTo>
                  <a:pt x="141605" y="210210"/>
                </a:lnTo>
                <a:lnTo>
                  <a:pt x="101511" y="240728"/>
                </a:lnTo>
                <a:lnTo>
                  <a:pt x="64706" y="272300"/>
                </a:lnTo>
                <a:lnTo>
                  <a:pt x="34467" y="302412"/>
                </a:lnTo>
                <a:lnTo>
                  <a:pt x="3505" y="341515"/>
                </a:lnTo>
                <a:lnTo>
                  <a:pt x="0" y="347700"/>
                </a:lnTo>
                <a:lnTo>
                  <a:pt x="0" y="350608"/>
                </a:lnTo>
                <a:lnTo>
                  <a:pt x="4089" y="351396"/>
                </a:lnTo>
                <a:lnTo>
                  <a:pt x="5613" y="348754"/>
                </a:lnTo>
                <a:lnTo>
                  <a:pt x="13055" y="337756"/>
                </a:lnTo>
                <a:lnTo>
                  <a:pt x="37693" y="308394"/>
                </a:lnTo>
                <a:lnTo>
                  <a:pt x="92075" y="256362"/>
                </a:lnTo>
                <a:lnTo>
                  <a:pt x="135064" y="222059"/>
                </a:lnTo>
                <a:lnTo>
                  <a:pt x="178752" y="192036"/>
                </a:lnTo>
                <a:lnTo>
                  <a:pt x="220472" y="168275"/>
                </a:lnTo>
                <a:lnTo>
                  <a:pt x="264287" y="148183"/>
                </a:lnTo>
                <a:lnTo>
                  <a:pt x="303530" y="135356"/>
                </a:lnTo>
                <a:lnTo>
                  <a:pt x="345478" y="127965"/>
                </a:lnTo>
                <a:lnTo>
                  <a:pt x="397370" y="124231"/>
                </a:lnTo>
                <a:lnTo>
                  <a:pt x="412483" y="123494"/>
                </a:lnTo>
                <a:lnTo>
                  <a:pt x="422046" y="122745"/>
                </a:lnTo>
                <a:lnTo>
                  <a:pt x="428040" y="121729"/>
                </a:lnTo>
                <a:lnTo>
                  <a:pt x="432485" y="120243"/>
                </a:lnTo>
                <a:lnTo>
                  <a:pt x="437146" y="118287"/>
                </a:lnTo>
                <a:lnTo>
                  <a:pt x="439140" y="116751"/>
                </a:lnTo>
                <a:lnTo>
                  <a:pt x="439140" y="112166"/>
                </a:lnTo>
                <a:close/>
              </a:path>
              <a:path w="516254" h="351790">
                <a:moveTo>
                  <a:pt x="515708" y="90157"/>
                </a:moveTo>
                <a:lnTo>
                  <a:pt x="487083" y="55397"/>
                </a:lnTo>
                <a:lnTo>
                  <a:pt x="451586" y="48526"/>
                </a:lnTo>
                <a:lnTo>
                  <a:pt x="432752" y="43776"/>
                </a:lnTo>
                <a:lnTo>
                  <a:pt x="410679" y="36664"/>
                </a:lnTo>
                <a:lnTo>
                  <a:pt x="348068" y="13728"/>
                </a:lnTo>
                <a:lnTo>
                  <a:pt x="325678" y="6413"/>
                </a:lnTo>
                <a:lnTo>
                  <a:pt x="309130" y="2590"/>
                </a:lnTo>
                <a:lnTo>
                  <a:pt x="292887" y="711"/>
                </a:lnTo>
                <a:lnTo>
                  <a:pt x="284251" y="0"/>
                </a:lnTo>
                <a:lnTo>
                  <a:pt x="282435" y="203"/>
                </a:lnTo>
                <a:lnTo>
                  <a:pt x="280936" y="1993"/>
                </a:lnTo>
                <a:lnTo>
                  <a:pt x="279666" y="3543"/>
                </a:lnTo>
                <a:lnTo>
                  <a:pt x="279539" y="4673"/>
                </a:lnTo>
                <a:lnTo>
                  <a:pt x="281533" y="7848"/>
                </a:lnTo>
                <a:lnTo>
                  <a:pt x="284683" y="8521"/>
                </a:lnTo>
                <a:lnTo>
                  <a:pt x="294360" y="9169"/>
                </a:lnTo>
                <a:lnTo>
                  <a:pt x="308648" y="10833"/>
                </a:lnTo>
                <a:lnTo>
                  <a:pt x="324662" y="14719"/>
                </a:lnTo>
                <a:lnTo>
                  <a:pt x="347040" y="22199"/>
                </a:lnTo>
                <a:lnTo>
                  <a:pt x="410552" y="45847"/>
                </a:lnTo>
                <a:lnTo>
                  <a:pt x="432257" y="52895"/>
                </a:lnTo>
                <a:lnTo>
                  <a:pt x="450583" y="57251"/>
                </a:lnTo>
                <a:lnTo>
                  <a:pt x="470623" y="60350"/>
                </a:lnTo>
                <a:lnTo>
                  <a:pt x="478599" y="61404"/>
                </a:lnTo>
                <a:lnTo>
                  <a:pt x="486956" y="63030"/>
                </a:lnTo>
                <a:lnTo>
                  <a:pt x="495604" y="66636"/>
                </a:lnTo>
                <a:lnTo>
                  <a:pt x="503326" y="74409"/>
                </a:lnTo>
                <a:lnTo>
                  <a:pt x="505663" y="80556"/>
                </a:lnTo>
                <a:lnTo>
                  <a:pt x="507365" y="90233"/>
                </a:lnTo>
                <a:lnTo>
                  <a:pt x="504202" y="104381"/>
                </a:lnTo>
                <a:lnTo>
                  <a:pt x="494372" y="128257"/>
                </a:lnTo>
                <a:lnTo>
                  <a:pt x="456260" y="209092"/>
                </a:lnTo>
                <a:lnTo>
                  <a:pt x="442315" y="239750"/>
                </a:lnTo>
                <a:lnTo>
                  <a:pt x="437286" y="251587"/>
                </a:lnTo>
                <a:lnTo>
                  <a:pt x="434581" y="258699"/>
                </a:lnTo>
                <a:lnTo>
                  <a:pt x="433755" y="262432"/>
                </a:lnTo>
                <a:lnTo>
                  <a:pt x="434352" y="264160"/>
                </a:lnTo>
                <a:lnTo>
                  <a:pt x="436638" y="266433"/>
                </a:lnTo>
                <a:lnTo>
                  <a:pt x="440042" y="265176"/>
                </a:lnTo>
                <a:lnTo>
                  <a:pt x="441159" y="261632"/>
                </a:lnTo>
                <a:lnTo>
                  <a:pt x="446735" y="248310"/>
                </a:lnTo>
                <a:lnTo>
                  <a:pt x="458368" y="222491"/>
                </a:lnTo>
                <a:lnTo>
                  <a:pt x="472986" y="190881"/>
                </a:lnTo>
                <a:lnTo>
                  <a:pt x="499656" y="134835"/>
                </a:lnTo>
                <a:lnTo>
                  <a:pt x="506730" y="119291"/>
                </a:lnTo>
                <a:lnTo>
                  <a:pt x="510603" y="109283"/>
                </a:lnTo>
                <a:lnTo>
                  <a:pt x="513092" y="100533"/>
                </a:lnTo>
                <a:lnTo>
                  <a:pt x="515708" y="90157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3142965" y="220146"/>
            <a:ext cx="1236980" cy="10115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607060">
              <a:lnSpc>
                <a:spcPct val="100000"/>
              </a:lnSpc>
              <a:spcBef>
                <a:spcPts val="115"/>
              </a:spcBef>
            </a:pPr>
            <a:r>
              <a:rPr sz="900" b="1" spc="130" dirty="0">
                <a:latin typeface="Book Antiqua" panose="02040602050305030304"/>
                <a:cs typeface="Book Antiqua" panose="02040602050305030304"/>
              </a:rPr>
              <a:t>E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160" dirty="0">
                <a:latin typeface="Book Antiqua" panose="02040602050305030304"/>
                <a:cs typeface="Book Antiqua" panose="02040602050305030304"/>
              </a:rPr>
              <a:t>—</a:t>
            </a:r>
            <a:r>
              <a:rPr sz="900" b="1" spc="-100" dirty="0">
                <a:latin typeface="Book Antiqua" panose="02040602050305030304"/>
                <a:cs typeface="Book Antiqua" panose="02040602050305030304"/>
              </a:rPr>
              <a:t>&gt;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130" dirty="0">
                <a:latin typeface="Book Antiqua" panose="02040602050305030304"/>
                <a:cs typeface="Book Antiqua" panose="02040602050305030304"/>
              </a:rPr>
              <a:t>E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100" dirty="0">
                <a:latin typeface="Book Antiqua" panose="02040602050305030304"/>
                <a:cs typeface="Book Antiqua" panose="02040602050305030304"/>
              </a:rPr>
              <a:t>+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25" dirty="0">
                <a:latin typeface="Book Antiqua" panose="02040602050305030304"/>
                <a:cs typeface="Book Antiqua" panose="02040602050305030304"/>
              </a:rPr>
              <a:t>T.</a:t>
            </a:r>
            <a:endParaRPr sz="900">
              <a:latin typeface="Book Antiqua" panose="02040602050305030304"/>
              <a:cs typeface="Book Antiqua" panose="02040602050305030304"/>
            </a:endParaRPr>
          </a:p>
          <a:p>
            <a:pPr marL="12700" marR="565785" algn="ctr">
              <a:lnSpc>
                <a:spcPct val="111000"/>
              </a:lnSpc>
              <a:spcBef>
                <a:spcPts val="660"/>
              </a:spcBef>
            </a:pPr>
            <a:r>
              <a:rPr sz="900" b="1" spc="130" dirty="0">
                <a:latin typeface="Book Antiqua" panose="02040602050305030304"/>
                <a:cs typeface="Book Antiqua" panose="02040602050305030304"/>
              </a:rPr>
              <a:t>E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160" dirty="0">
                <a:latin typeface="Book Antiqua" panose="02040602050305030304"/>
                <a:cs typeface="Book Antiqua" panose="02040602050305030304"/>
              </a:rPr>
              <a:t>—</a:t>
            </a:r>
            <a:r>
              <a:rPr sz="900" b="1" spc="-100" dirty="0">
                <a:latin typeface="Book Antiqua" panose="02040602050305030304"/>
                <a:cs typeface="Book Antiqua" panose="02040602050305030304"/>
              </a:rPr>
              <a:t>&gt;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130" dirty="0">
                <a:latin typeface="Book Antiqua" panose="02040602050305030304"/>
                <a:cs typeface="Book Antiqua" panose="02040602050305030304"/>
              </a:rPr>
              <a:t>E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100" dirty="0">
                <a:latin typeface="Book Antiqua" panose="02040602050305030304"/>
                <a:cs typeface="Book Antiqua" panose="02040602050305030304"/>
              </a:rPr>
              <a:t>+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70" dirty="0">
                <a:latin typeface="Book Antiqua" panose="02040602050305030304"/>
                <a:cs typeface="Book Antiqua" panose="02040602050305030304"/>
              </a:rPr>
              <a:t>.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50" dirty="0">
                <a:latin typeface="Book Antiqua" panose="02040602050305030304"/>
                <a:cs typeface="Book Antiqua" panose="02040602050305030304"/>
              </a:rPr>
              <a:t>T</a:t>
            </a:r>
            <a:r>
              <a:rPr sz="900" b="1" spc="50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90" dirty="0">
                <a:latin typeface="Book Antiqua" panose="02040602050305030304"/>
                <a:cs typeface="Book Antiqua" panose="02040602050305030304"/>
              </a:rPr>
              <a:t>T—</a:t>
            </a:r>
            <a:r>
              <a:rPr sz="900" b="1" spc="-70" dirty="0">
                <a:latin typeface="Book Antiqua" panose="02040602050305030304"/>
                <a:cs typeface="Book Antiqua" panose="02040602050305030304"/>
              </a:rPr>
              <a:t>&gt;</a:t>
            </a:r>
            <a:r>
              <a:rPr sz="900" b="1" spc="1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50" dirty="0">
                <a:latin typeface="Book Antiqua" panose="02040602050305030304"/>
                <a:cs typeface="Book Antiqua" panose="02040602050305030304"/>
              </a:rPr>
              <a:t>.T</a:t>
            </a:r>
            <a:r>
              <a:rPr sz="900" b="1" spc="1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200" dirty="0">
                <a:latin typeface="Book Antiqua" panose="02040602050305030304"/>
                <a:cs typeface="Book Antiqua" panose="02040602050305030304"/>
              </a:rPr>
              <a:t>*</a:t>
            </a:r>
            <a:r>
              <a:rPr sz="900" b="1" spc="1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100" dirty="0">
                <a:latin typeface="Book Antiqua" panose="02040602050305030304"/>
                <a:cs typeface="Book Antiqua" panose="02040602050305030304"/>
              </a:rPr>
              <a:t>F 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T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90" dirty="0">
                <a:latin typeface="Book Antiqua" panose="02040602050305030304"/>
                <a:cs typeface="Book Antiqua" panose="02040602050305030304"/>
              </a:rPr>
              <a:t>—</a:t>
            </a:r>
            <a:r>
              <a:rPr sz="900" b="1" spc="-30" dirty="0">
                <a:latin typeface="Book Antiqua" panose="02040602050305030304"/>
                <a:cs typeface="Book Antiqua" panose="02040602050305030304"/>
              </a:rPr>
              <a:t>&gt;.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100" dirty="0">
                <a:latin typeface="Book Antiqua" panose="02040602050305030304"/>
                <a:cs typeface="Book Antiqua" panose="02040602050305030304"/>
              </a:rPr>
              <a:t>F</a:t>
            </a:r>
            <a:endParaRPr sz="900">
              <a:latin typeface="Book Antiqua" panose="02040602050305030304"/>
              <a:cs typeface="Book Antiqua" panose="02040602050305030304"/>
            </a:endParaRPr>
          </a:p>
          <a:p>
            <a:pPr marR="553085" algn="ctr">
              <a:lnSpc>
                <a:spcPct val="100000"/>
              </a:lnSpc>
              <a:spcBef>
                <a:spcPts val="120"/>
              </a:spcBef>
            </a:pPr>
            <a:r>
              <a:rPr sz="900" b="1" spc="150" dirty="0">
                <a:latin typeface="Book Antiqua" panose="02040602050305030304"/>
                <a:cs typeface="Book Antiqua" panose="02040602050305030304"/>
              </a:rPr>
              <a:t>F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160" dirty="0">
                <a:latin typeface="Book Antiqua" panose="02040602050305030304"/>
                <a:cs typeface="Book Antiqua" panose="02040602050305030304"/>
              </a:rPr>
              <a:t>—</a:t>
            </a:r>
            <a:r>
              <a:rPr sz="900" b="1" spc="-100" dirty="0">
                <a:latin typeface="Book Antiqua" panose="02040602050305030304"/>
                <a:cs typeface="Book Antiqua" panose="02040602050305030304"/>
              </a:rPr>
              <a:t>&gt;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170" dirty="0">
                <a:latin typeface="Book Antiqua" panose="02040602050305030304"/>
                <a:cs typeface="Book Antiqua" panose="02040602050305030304"/>
              </a:rPr>
              <a:t>.(E)</a:t>
            </a:r>
            <a:endParaRPr sz="900">
              <a:latin typeface="Book Antiqua" panose="02040602050305030304"/>
              <a:cs typeface="Book Antiqua" panose="02040602050305030304"/>
            </a:endParaRPr>
          </a:p>
          <a:p>
            <a:pPr marR="553085" algn="ctr">
              <a:lnSpc>
                <a:spcPct val="100000"/>
              </a:lnSpc>
              <a:spcBef>
                <a:spcPts val="120"/>
              </a:spcBef>
            </a:pPr>
            <a:r>
              <a:rPr sz="900" b="1" spc="-35" dirty="0">
                <a:latin typeface="Book Antiqua" panose="02040602050305030304"/>
                <a:cs typeface="Book Antiqua" panose="02040602050305030304"/>
              </a:rPr>
              <a:t>F—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&gt;</a:t>
            </a:r>
            <a:r>
              <a:rPr sz="900" b="1" spc="-3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25" dirty="0">
                <a:latin typeface="Book Antiqua" panose="02040602050305030304"/>
                <a:cs typeface="Book Antiqua" panose="02040602050305030304"/>
              </a:rPr>
              <a:t>id</a:t>
            </a:r>
            <a:endParaRPr sz="90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008972" y="1630767"/>
            <a:ext cx="89103" cy="1108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3236595" y="3236248"/>
            <a:ext cx="203200" cy="55880"/>
            <a:chOff x="3236595" y="3236248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3299764" y="3238778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236595" y="3245129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3513531" y="3234982"/>
            <a:ext cx="203200" cy="58419"/>
            <a:chOff x="3513531" y="3234982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3602432" y="3251478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513531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589732" y="323877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3790467" y="3234982"/>
            <a:ext cx="203200" cy="58419"/>
            <a:chOff x="3790467" y="3234982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866668" y="3238778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790467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866668" y="3276879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4326582" y="3236248"/>
            <a:ext cx="238760" cy="57150"/>
            <a:chOff x="4326582" y="3236248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4451033" y="326925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423969" y="3242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329112" y="3238778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30911" y="-4300"/>
            <a:ext cx="8623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Building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the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PDA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5" dirty="0"/>
              <a:t>Example</a:t>
            </a:r>
            <a:endParaRPr spc="75" dirty="0"/>
          </a:p>
        </p:txBody>
      </p:sp>
      <p:grpSp>
        <p:nvGrpSpPr>
          <p:cNvPr id="27" name="object 27"/>
          <p:cNvGrpSpPr/>
          <p:nvPr/>
        </p:nvGrpSpPr>
        <p:grpSpPr>
          <a:xfrm>
            <a:off x="87743" y="1211707"/>
            <a:ext cx="4483735" cy="1233170"/>
            <a:chOff x="87743" y="1211707"/>
            <a:chExt cx="4483735" cy="1233170"/>
          </a:xfrm>
        </p:grpSpPr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43" y="1356791"/>
              <a:ext cx="4432566" cy="5060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544" y="2343188"/>
              <a:ext cx="101600" cy="1016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9344" y="2330487"/>
              <a:ext cx="4381767" cy="11430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20311" y="1211707"/>
              <a:ext cx="50800" cy="1131481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7743" y="1401058"/>
              <a:ext cx="4432935" cy="993140"/>
            </a:xfrm>
            <a:custGeom>
              <a:avLst/>
              <a:gdLst/>
              <a:ahLst/>
              <a:cxnLst/>
              <a:rect l="l" t="t" r="r" b="b"/>
              <a:pathLst>
                <a:path w="4432935" h="993139">
                  <a:moveTo>
                    <a:pt x="4432567" y="0"/>
                  </a:moveTo>
                  <a:lnTo>
                    <a:pt x="0" y="0"/>
                  </a:lnTo>
                  <a:lnTo>
                    <a:pt x="0" y="942129"/>
                  </a:lnTo>
                  <a:lnTo>
                    <a:pt x="4008" y="961853"/>
                  </a:lnTo>
                  <a:lnTo>
                    <a:pt x="14922" y="978006"/>
                  </a:lnTo>
                  <a:lnTo>
                    <a:pt x="31075" y="988921"/>
                  </a:lnTo>
                  <a:lnTo>
                    <a:pt x="50800" y="992929"/>
                  </a:lnTo>
                  <a:lnTo>
                    <a:pt x="4381767" y="992929"/>
                  </a:lnTo>
                  <a:lnTo>
                    <a:pt x="4401492" y="988921"/>
                  </a:lnTo>
                  <a:lnTo>
                    <a:pt x="4417644" y="978006"/>
                  </a:lnTo>
                  <a:lnTo>
                    <a:pt x="4428558" y="961853"/>
                  </a:lnTo>
                  <a:lnTo>
                    <a:pt x="4432567" y="942129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520311" y="1249810"/>
              <a:ext cx="0" cy="1112520"/>
            </a:xfrm>
            <a:custGeom>
              <a:avLst/>
              <a:gdLst/>
              <a:ahLst/>
              <a:cxnLst/>
              <a:rect l="l" t="t" r="r" b="b"/>
              <a:pathLst>
                <a:path h="1112520">
                  <a:moveTo>
                    <a:pt x="0" y="111242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520311" y="12371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520311" y="12244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520311" y="12117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165" y="1456321"/>
              <a:ext cx="65201" cy="65201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113144" y="1109952"/>
            <a:ext cx="3568700" cy="45465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7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(Building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PDA)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02260">
              <a:lnSpc>
                <a:spcPct val="100000"/>
              </a:lnSpc>
              <a:spcBef>
                <a:spcPts val="37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Similarly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5" dirty="0">
                <a:latin typeface="Palatino Linotype" panose="02040502050505030304"/>
                <a:cs typeface="Palatino Linotype" panose="02040502050505030304"/>
              </a:rPr>
              <a:t>we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determine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other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transitions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from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4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I</a:t>
            </a:r>
            <a:r>
              <a:rPr sz="1200" spc="60" baseline="-10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0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1527286" y="1603067"/>
          <a:ext cx="1906905" cy="739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0285"/>
                <a:gridCol w="815340"/>
              </a:tblGrid>
              <a:tr h="176530">
                <a:tc>
                  <a:txBody>
                    <a:bodyPr/>
                    <a:lstStyle/>
                    <a:p>
                      <a:pPr marR="11430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On</a:t>
                      </a:r>
                      <a:r>
                        <a:rPr sz="1100" spc="4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endParaRPr sz="11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ts val="1190"/>
                        </a:lnSpc>
                      </a:pP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On</a:t>
                      </a:r>
                      <a:r>
                        <a:rPr sz="1100" spc="4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endParaRPr sz="11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i="1" spc="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1200" spc="52" baseline="-1000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2</a:t>
                      </a:r>
                      <a:endParaRPr sz="1200" baseline="-10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i="1" spc="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1200" spc="52" baseline="-1000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3</a:t>
                      </a:r>
                      <a:endParaRPr sz="1200" baseline="-10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6715">
                <a:tc>
                  <a:txBody>
                    <a:bodyPr/>
                    <a:lstStyle/>
                    <a:p>
                      <a:pPr marL="78105">
                        <a:lnSpc>
                          <a:spcPts val="1190"/>
                        </a:lnSpc>
                      </a:pPr>
                      <a:r>
                        <a:rPr sz="1100" i="1" spc="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1100" i="1" spc="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1100" i="1" spc="114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•</a:t>
                      </a:r>
                      <a:endParaRPr sz="1100">
                        <a:latin typeface="Cambria" panose="02040503050406030204"/>
                        <a:cs typeface="Cambria" panose="02040503050406030204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1100" i="1" spc="114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1100" i="1" spc="34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5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•</a:t>
                      </a:r>
                      <a:r>
                        <a:rPr sz="1100" spc="28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spc="17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*</a:t>
                      </a:r>
                      <a:r>
                        <a:rPr sz="1100" spc="-4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1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endParaRPr sz="11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1100" i="1" spc="12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r>
                        <a:rPr sz="1100" i="1" spc="114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•</a:t>
                      </a:r>
                      <a:endParaRPr sz="11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882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0" name="object 40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8623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Building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PDA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5300" y="182191"/>
            <a:ext cx="1838325" cy="818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7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Example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400">
              <a:latin typeface="Palatino Linotype" panose="02040502050505030304"/>
              <a:cs typeface="Palatino Linotype" panose="02040502050505030304"/>
            </a:endParaRPr>
          </a:p>
          <a:p>
            <a:pPr marL="43180">
              <a:lnSpc>
                <a:spcPct val="100000"/>
              </a:lnSpc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(Building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PDA)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7743" y="862317"/>
            <a:ext cx="4483735" cy="2106930"/>
            <a:chOff x="87743" y="862317"/>
            <a:chExt cx="4483735" cy="210693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007402"/>
              <a:ext cx="4432566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867279"/>
              <a:ext cx="101600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854578"/>
              <a:ext cx="4381767" cy="1143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862317"/>
              <a:ext cx="50800" cy="200496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7743" y="1051661"/>
              <a:ext cx="4432935" cy="1866900"/>
            </a:xfrm>
            <a:custGeom>
              <a:avLst/>
              <a:gdLst/>
              <a:ahLst/>
              <a:cxnLst/>
              <a:rect l="l" t="t" r="r" b="b"/>
              <a:pathLst>
                <a:path w="4432935" h="1866900">
                  <a:moveTo>
                    <a:pt x="4432567" y="0"/>
                  </a:moveTo>
                  <a:lnTo>
                    <a:pt x="0" y="0"/>
                  </a:lnTo>
                  <a:lnTo>
                    <a:pt x="0" y="1815617"/>
                  </a:lnTo>
                  <a:lnTo>
                    <a:pt x="4008" y="1835342"/>
                  </a:lnTo>
                  <a:lnTo>
                    <a:pt x="14922" y="1851495"/>
                  </a:lnTo>
                  <a:lnTo>
                    <a:pt x="31075" y="1862409"/>
                  </a:lnTo>
                  <a:lnTo>
                    <a:pt x="50800" y="1866417"/>
                  </a:lnTo>
                  <a:lnTo>
                    <a:pt x="4381767" y="1866417"/>
                  </a:lnTo>
                  <a:lnTo>
                    <a:pt x="4401492" y="1862409"/>
                  </a:lnTo>
                  <a:lnTo>
                    <a:pt x="4417644" y="1851495"/>
                  </a:lnTo>
                  <a:lnTo>
                    <a:pt x="4428558" y="1835342"/>
                  </a:lnTo>
                  <a:lnTo>
                    <a:pt x="4432567" y="1815617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900417"/>
              <a:ext cx="0" cy="1986280"/>
            </a:xfrm>
            <a:custGeom>
              <a:avLst/>
              <a:gdLst/>
              <a:ahLst/>
              <a:cxnLst/>
              <a:rect l="l" t="t" r="r" b="b"/>
              <a:pathLst>
                <a:path h="1986280">
                  <a:moveTo>
                    <a:pt x="0" y="198591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8877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8750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20311" y="8623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404713" y="1076995"/>
          <a:ext cx="1898650" cy="1790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1390"/>
                <a:gridCol w="847724"/>
              </a:tblGrid>
              <a:tr h="176530">
                <a:tc>
                  <a:txBody>
                    <a:bodyPr/>
                    <a:lstStyle/>
                    <a:p>
                      <a:pPr marR="15240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On</a:t>
                      </a:r>
                      <a:r>
                        <a:rPr sz="1100" spc="4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120" dirty="0">
                          <a:latin typeface="Trebuchet MS" panose="020B0603020202020204"/>
                          <a:cs typeface="Trebuchet MS" panose="020B0603020202020204"/>
                        </a:rPr>
                        <a:t>(</a:t>
                      </a:r>
                      <a:endParaRPr sz="11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31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On</a:t>
                      </a:r>
                      <a:r>
                        <a:rPr sz="1100" spc="4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b="1" spc="-25" dirty="0">
                          <a:solidFill>
                            <a:srgbClr val="0000CC"/>
                          </a:solidFill>
                          <a:latin typeface="Tahoma" panose="020B0604030504040204"/>
                          <a:cs typeface="Tahoma" panose="020B0604030504040204"/>
                        </a:rPr>
                        <a:t>id</a:t>
                      </a:r>
                      <a:endParaRPr sz="11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marR="21590" algn="ctr">
                        <a:lnSpc>
                          <a:spcPts val="1190"/>
                        </a:lnSpc>
                      </a:pPr>
                      <a:r>
                        <a:rPr sz="1100" i="1" spc="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1200" spc="52" baseline="-1000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4</a:t>
                      </a:r>
                      <a:endParaRPr sz="1200" baseline="-10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i="1" spc="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1200" spc="52" baseline="-1000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5</a:t>
                      </a:r>
                      <a:endParaRPr sz="1200" baseline="-10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37005">
                <a:tc>
                  <a:txBody>
                    <a:bodyPr/>
                    <a:lstStyle/>
                    <a:p>
                      <a:pPr marL="56515">
                        <a:lnSpc>
                          <a:spcPts val="1190"/>
                        </a:lnSpc>
                      </a:pP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r>
                        <a:rPr sz="1100" i="1" spc="12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6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spc="17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</a:t>
                      </a:r>
                      <a:r>
                        <a:rPr sz="1100" spc="22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100" spc="5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•</a:t>
                      </a:r>
                      <a:r>
                        <a:rPr sz="1100" spc="30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i="1" spc="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1100" i="1" spc="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2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)</a:t>
                      </a:r>
                      <a:endParaRPr sz="11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54610" marR="123825">
                        <a:lnSpc>
                          <a:spcPct val="125000"/>
                        </a:lnSpc>
                      </a:pPr>
                      <a:r>
                        <a:rPr sz="1100" i="1" spc="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1100" i="1" spc="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spc="5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•</a:t>
                      </a:r>
                      <a:r>
                        <a:rPr sz="1100" spc="6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i="1" spc="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1100" i="1" spc="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+</a:t>
                      </a:r>
                      <a:r>
                        <a:rPr sz="1100" spc="-25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1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 </a:t>
                      </a:r>
                      <a:r>
                        <a:rPr sz="1100" i="1" spc="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1100" i="1" spc="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6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spc="5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•</a:t>
                      </a:r>
                      <a:r>
                        <a:rPr sz="1100" spc="6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endParaRPr sz="1100">
                        <a:latin typeface="Bookman Old Style" panose="02050604050505020204"/>
                        <a:cs typeface="Bookman Old Style" panose="02050604050505020204"/>
                      </a:endParaRPr>
                    </a:p>
                    <a:p>
                      <a:pPr marL="64770" marR="125730">
                        <a:lnSpc>
                          <a:spcPct val="125000"/>
                        </a:lnSpc>
                      </a:pP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1100" i="1" spc="11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5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• </a:t>
                      </a: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1100" i="1" spc="114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7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*</a:t>
                      </a:r>
                      <a:r>
                        <a:rPr sz="1100" spc="-4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1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 </a:t>
                      </a: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1100" i="1" spc="114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5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• </a:t>
                      </a:r>
                      <a:r>
                        <a:rPr sz="11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endParaRPr sz="1100">
                        <a:latin typeface="Bookman Old Style" panose="02050604050505020204"/>
                        <a:cs typeface="Bookman Old Style" panose="02050604050505020204"/>
                      </a:endParaRPr>
                    </a:p>
                    <a:p>
                      <a:pPr marL="5651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r>
                        <a:rPr sz="1100" i="1" spc="1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6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spc="5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•</a:t>
                      </a:r>
                      <a:r>
                        <a:rPr sz="1100" spc="6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spc="17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</a:t>
                      </a:r>
                      <a:r>
                        <a:rPr sz="1100" spc="-25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100" i="1" spc="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1100" i="1" spc="4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2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)</a:t>
                      </a:r>
                      <a:endParaRPr sz="11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5651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r>
                        <a:rPr sz="1100" i="1" spc="1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6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spc="5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•</a:t>
                      </a:r>
                      <a:r>
                        <a:rPr sz="1100" spc="6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b="1" spc="-25" dirty="0">
                          <a:solidFill>
                            <a:srgbClr val="0000CC"/>
                          </a:solidFill>
                          <a:latin typeface="Tahoma" panose="020B0604030504040204"/>
                          <a:cs typeface="Tahoma" panose="020B0604030504040204"/>
                        </a:rPr>
                        <a:t>id</a:t>
                      </a:r>
                      <a:endParaRPr sz="11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196850" algn="r">
                        <a:lnSpc>
                          <a:spcPct val="100000"/>
                        </a:lnSpc>
                      </a:pP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r>
                        <a:rPr sz="1100" i="1" spc="13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6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b="1" dirty="0">
                          <a:solidFill>
                            <a:srgbClr val="0000CC"/>
                          </a:solidFill>
                          <a:latin typeface="Tahoma" panose="020B0604030504040204"/>
                          <a:cs typeface="Tahoma" panose="020B0604030504040204"/>
                        </a:rPr>
                        <a:t>id</a:t>
                      </a:r>
                      <a:r>
                        <a:rPr sz="1100" b="1" spc="-10" dirty="0">
                          <a:solidFill>
                            <a:srgbClr val="0000CC"/>
                          </a:solidFill>
                          <a:latin typeface="Tahoma" panose="020B0604030504040204"/>
                          <a:cs typeface="Tahoma" panose="020B0604030504040204"/>
                        </a:rPr>
                        <a:t> </a:t>
                      </a:r>
                      <a:r>
                        <a:rPr sz="110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•</a:t>
                      </a:r>
                      <a:endParaRPr sz="11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623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Building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PDA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5" dirty="0"/>
              <a:t>Example</a:t>
            </a:r>
            <a:endParaRPr spc="75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1462341"/>
            <a:ext cx="4483735" cy="607060"/>
            <a:chOff x="87743" y="1462341"/>
            <a:chExt cx="4483735" cy="6070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607413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967255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954555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1462341"/>
              <a:ext cx="50800" cy="50491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651693"/>
              <a:ext cx="4432935" cy="366395"/>
            </a:xfrm>
            <a:custGeom>
              <a:avLst/>
              <a:gdLst/>
              <a:ahLst/>
              <a:cxnLst/>
              <a:rect l="l" t="t" r="r" b="b"/>
              <a:pathLst>
                <a:path w="4432935" h="366394">
                  <a:moveTo>
                    <a:pt x="4432567" y="0"/>
                  </a:moveTo>
                  <a:lnTo>
                    <a:pt x="0" y="0"/>
                  </a:lnTo>
                  <a:lnTo>
                    <a:pt x="0" y="315561"/>
                  </a:lnTo>
                  <a:lnTo>
                    <a:pt x="4008" y="335286"/>
                  </a:lnTo>
                  <a:lnTo>
                    <a:pt x="14922" y="351439"/>
                  </a:lnTo>
                  <a:lnTo>
                    <a:pt x="31075" y="362353"/>
                  </a:lnTo>
                  <a:lnTo>
                    <a:pt x="50800" y="366362"/>
                  </a:lnTo>
                  <a:lnTo>
                    <a:pt x="4381767" y="366362"/>
                  </a:lnTo>
                  <a:lnTo>
                    <a:pt x="4401492" y="362353"/>
                  </a:lnTo>
                  <a:lnTo>
                    <a:pt x="4417644" y="351439"/>
                  </a:lnTo>
                  <a:lnTo>
                    <a:pt x="4428558" y="335286"/>
                  </a:lnTo>
                  <a:lnTo>
                    <a:pt x="4432567" y="315561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1500446"/>
              <a:ext cx="0" cy="486409"/>
            </a:xfrm>
            <a:custGeom>
              <a:avLst/>
              <a:gdLst/>
              <a:ahLst/>
              <a:cxnLst/>
              <a:rect l="l" t="t" r="r" b="b"/>
              <a:pathLst>
                <a:path h="486410">
                  <a:moveTo>
                    <a:pt x="0" y="48585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14877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147504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14623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706943"/>
              <a:ext cx="65201" cy="6520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13144" y="1360599"/>
            <a:ext cx="4369435" cy="62674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7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(Building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PDA)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02260" marR="43180">
              <a:lnSpc>
                <a:spcPct val="103000"/>
              </a:lnSpc>
              <a:spcBef>
                <a:spcPts val="335"/>
              </a:spcBef>
            </a:pPr>
            <a:r>
              <a:rPr sz="1100" spc="-80" dirty="0">
                <a:latin typeface="Palatino Linotype" panose="02040502050505030304"/>
                <a:cs typeface="Palatino Linotype" panose="02040502050505030304"/>
              </a:rPr>
              <a:t>Now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find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transitions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from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states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I</a:t>
            </a:r>
            <a:r>
              <a:rPr sz="1200" spc="89" baseline="-10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1</a:t>
            </a:r>
            <a:r>
              <a:rPr sz="1200" spc="179" baseline="-10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through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I</a:t>
            </a:r>
            <a:r>
              <a:rPr sz="1200" spc="89" baseline="-10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5</a:t>
            </a:r>
            <a:r>
              <a:rPr sz="1200" spc="179" baseline="-10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other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states,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 so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on,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until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no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new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states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appear.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641674" y="1956142"/>
            <a:ext cx="72732" cy="19263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4593" y="1273104"/>
            <a:ext cx="102273" cy="1139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21381" y="1851126"/>
            <a:ext cx="89103" cy="1926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3236595" y="3236248"/>
            <a:ext cx="203200" cy="55880"/>
            <a:chOff x="3236595" y="3236248"/>
            <a:chExt cx="203200" cy="55880"/>
          </a:xfrm>
        </p:grpSpPr>
        <p:sp>
          <p:nvSpPr>
            <p:cNvPr id="10" name="object 10"/>
            <p:cNvSpPr/>
            <p:nvPr/>
          </p:nvSpPr>
          <p:spPr>
            <a:xfrm>
              <a:off x="3299764" y="3238778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236595" y="3245129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3513531" y="3234982"/>
            <a:ext cx="203200" cy="58419"/>
            <a:chOff x="3513531" y="3234982"/>
            <a:chExt cx="203200" cy="58419"/>
          </a:xfrm>
        </p:grpSpPr>
        <p:sp>
          <p:nvSpPr>
            <p:cNvPr id="13" name="object 13"/>
            <p:cNvSpPr/>
            <p:nvPr/>
          </p:nvSpPr>
          <p:spPr>
            <a:xfrm>
              <a:off x="3602432" y="3251478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513531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589732" y="323877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3790467" y="3234982"/>
            <a:ext cx="203200" cy="58419"/>
            <a:chOff x="3790467" y="3234982"/>
            <a:chExt cx="203200" cy="58419"/>
          </a:xfrm>
        </p:grpSpPr>
        <p:sp>
          <p:nvSpPr>
            <p:cNvPr id="17" name="object 17"/>
            <p:cNvSpPr/>
            <p:nvPr/>
          </p:nvSpPr>
          <p:spPr>
            <a:xfrm>
              <a:off x="3866668" y="3238778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790467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866668" y="3276879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1" name="object 21"/>
          <p:cNvGrpSpPr/>
          <p:nvPr/>
        </p:nvGrpSpPr>
        <p:grpSpPr>
          <a:xfrm>
            <a:off x="4326582" y="3236248"/>
            <a:ext cx="238760" cy="57150"/>
            <a:chOff x="4326582" y="3236248"/>
            <a:chExt cx="238760" cy="57150"/>
          </a:xfrm>
        </p:grpSpPr>
        <p:sp>
          <p:nvSpPr>
            <p:cNvPr id="22" name="object 22"/>
            <p:cNvSpPr/>
            <p:nvPr/>
          </p:nvSpPr>
          <p:spPr>
            <a:xfrm>
              <a:off x="4451033" y="326925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423969" y="3242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329112" y="3238778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30911" y="-4300"/>
            <a:ext cx="8623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Building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the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PDA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95300" y="182191"/>
            <a:ext cx="8032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7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Example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5844" y="976895"/>
            <a:ext cx="18078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(Building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PDA)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7743" y="1030338"/>
            <a:ext cx="4483735" cy="1686560"/>
            <a:chOff x="87743" y="1030338"/>
            <a:chExt cx="4483735" cy="1686560"/>
          </a:xfrm>
        </p:grpSpPr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3" y="1175423"/>
              <a:ext cx="4432566" cy="5060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2615234"/>
              <a:ext cx="101600" cy="1016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2602534"/>
              <a:ext cx="4381767" cy="11430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311" y="1030338"/>
              <a:ext cx="50800" cy="158489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7743" y="1219682"/>
              <a:ext cx="4432935" cy="1446530"/>
            </a:xfrm>
            <a:custGeom>
              <a:avLst/>
              <a:gdLst/>
              <a:ahLst/>
              <a:cxnLst/>
              <a:rect l="l" t="t" r="r" b="b"/>
              <a:pathLst>
                <a:path w="4432935" h="1446530">
                  <a:moveTo>
                    <a:pt x="4432567" y="0"/>
                  </a:moveTo>
                  <a:lnTo>
                    <a:pt x="0" y="0"/>
                  </a:lnTo>
                  <a:lnTo>
                    <a:pt x="0" y="1395552"/>
                  </a:lnTo>
                  <a:lnTo>
                    <a:pt x="4008" y="1415276"/>
                  </a:lnTo>
                  <a:lnTo>
                    <a:pt x="14922" y="1431429"/>
                  </a:lnTo>
                  <a:lnTo>
                    <a:pt x="31075" y="1442344"/>
                  </a:lnTo>
                  <a:lnTo>
                    <a:pt x="50800" y="1446352"/>
                  </a:lnTo>
                  <a:lnTo>
                    <a:pt x="4381767" y="1446352"/>
                  </a:lnTo>
                  <a:lnTo>
                    <a:pt x="4401492" y="1442344"/>
                  </a:lnTo>
                  <a:lnTo>
                    <a:pt x="4417644" y="1431429"/>
                  </a:lnTo>
                  <a:lnTo>
                    <a:pt x="4428558" y="1415276"/>
                  </a:lnTo>
                  <a:lnTo>
                    <a:pt x="4432567" y="1395552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520311" y="1068438"/>
              <a:ext cx="0" cy="1565910"/>
            </a:xfrm>
            <a:custGeom>
              <a:avLst/>
              <a:gdLst/>
              <a:ahLst/>
              <a:cxnLst/>
              <a:rect l="l" t="t" r="r" b="b"/>
              <a:pathLst>
                <a:path h="1565910">
                  <a:moveTo>
                    <a:pt x="0" y="156584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520311" y="105573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520311" y="104303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520311" y="103033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785148" y="1245015"/>
          <a:ext cx="3114040" cy="1369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2190"/>
                <a:gridCol w="1008380"/>
                <a:gridCol w="1012189"/>
              </a:tblGrid>
              <a:tr h="176530">
                <a:tc>
                  <a:txBody>
                    <a:bodyPr/>
                    <a:lstStyle/>
                    <a:p>
                      <a:pPr marR="34607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On</a:t>
                      </a:r>
                      <a:r>
                        <a:rPr sz="1100" spc="4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-50" dirty="0">
                          <a:latin typeface="Trebuchet MS" panose="020B0603020202020204"/>
                          <a:cs typeface="Trebuchet MS" panose="020B0603020202020204"/>
                        </a:rPr>
                        <a:t>+</a:t>
                      </a:r>
                      <a:endParaRPr sz="11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On</a:t>
                      </a:r>
                      <a:r>
                        <a:rPr sz="1100" spc="4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120" dirty="0">
                          <a:latin typeface="Trebuchet MS" panose="020B0603020202020204"/>
                          <a:cs typeface="Trebuchet MS" panose="020B0603020202020204"/>
                        </a:rPr>
                        <a:t>*</a:t>
                      </a:r>
                      <a:endParaRPr sz="11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On</a:t>
                      </a:r>
                      <a:r>
                        <a:rPr sz="1100" spc="4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endParaRPr sz="11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i="1" spc="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1200" spc="52" baseline="-1000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6</a:t>
                      </a:r>
                      <a:endParaRPr sz="1200" baseline="-10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i="1" spc="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1200" spc="52" baseline="-1000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7</a:t>
                      </a:r>
                      <a:endParaRPr sz="1200" baseline="-10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i="1" spc="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1200" spc="52" baseline="-1000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8</a:t>
                      </a:r>
                      <a:endParaRPr sz="1200" baseline="-10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27405">
                <a:tc>
                  <a:txBody>
                    <a:bodyPr/>
                    <a:lstStyle/>
                    <a:p>
                      <a:pPr marL="78105">
                        <a:lnSpc>
                          <a:spcPts val="1190"/>
                        </a:lnSpc>
                      </a:pPr>
                      <a:r>
                        <a:rPr sz="1100" i="1" spc="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1100" i="1" spc="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6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i="1" spc="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1100" i="1" spc="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+</a:t>
                      </a:r>
                      <a:r>
                        <a:rPr sz="1100" spc="215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100" spc="5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•</a:t>
                      </a:r>
                      <a:r>
                        <a:rPr sz="1100" spc="30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endParaRPr sz="1100">
                        <a:latin typeface="Bookman Old Style" panose="02050604050505020204"/>
                        <a:cs typeface="Bookman Old Style" panose="02050604050505020204"/>
                      </a:endParaRPr>
                    </a:p>
                    <a:p>
                      <a:pPr marL="88265" marR="153035">
                        <a:lnSpc>
                          <a:spcPct val="125000"/>
                        </a:lnSpc>
                      </a:pP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1100" i="1" spc="11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5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• </a:t>
                      </a: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1100" i="1" spc="114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7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*</a:t>
                      </a:r>
                      <a:r>
                        <a:rPr sz="1100" spc="-4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1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 </a:t>
                      </a: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1100" i="1" spc="114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5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• </a:t>
                      </a:r>
                      <a:r>
                        <a:rPr sz="11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endParaRPr sz="1100">
                        <a:latin typeface="Bookman Old Style" panose="02050604050505020204"/>
                        <a:cs typeface="Bookman Old Style" panose="02050604050505020204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r>
                        <a:rPr sz="1100" i="1" spc="1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6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spc="5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•</a:t>
                      </a:r>
                      <a:r>
                        <a:rPr sz="1100" spc="6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spc="17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</a:t>
                      </a:r>
                      <a:r>
                        <a:rPr sz="1100" spc="-25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100" i="1" spc="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1100" i="1" spc="4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2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)</a:t>
                      </a:r>
                      <a:endParaRPr sz="11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8105" marR="89535" indent="7620">
                        <a:lnSpc>
                          <a:spcPct val="125000"/>
                        </a:lnSpc>
                        <a:spcBef>
                          <a:spcPts val="1185"/>
                        </a:spcBef>
                      </a:pP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1100" i="1" spc="114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1100" i="1" spc="114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7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*</a:t>
                      </a:r>
                      <a:r>
                        <a:rPr sz="1100" spc="204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100" spc="5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•</a:t>
                      </a:r>
                      <a:r>
                        <a:rPr sz="1100" spc="28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 </a:t>
                      </a: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r>
                        <a:rPr sz="1100" i="1" spc="1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6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spc="5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•</a:t>
                      </a:r>
                      <a:r>
                        <a:rPr sz="1100" spc="6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spc="17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</a:t>
                      </a:r>
                      <a:r>
                        <a:rPr sz="1100" spc="-25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100" i="1" spc="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1100" i="1" spc="4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2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) </a:t>
                      </a: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r>
                        <a:rPr sz="1100" i="1" spc="1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6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spc="5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•</a:t>
                      </a:r>
                      <a:r>
                        <a:rPr sz="1100" spc="6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b="1" spc="-25" dirty="0">
                          <a:solidFill>
                            <a:srgbClr val="0000CC"/>
                          </a:solidFill>
                          <a:latin typeface="Tahoma" panose="020B0604030504040204"/>
                          <a:cs typeface="Tahoma" panose="020B0604030504040204"/>
                        </a:rPr>
                        <a:t>id</a:t>
                      </a:r>
                      <a:endParaRPr sz="11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150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r>
                        <a:rPr sz="1100" i="1" spc="12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6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spc="17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</a:t>
                      </a:r>
                      <a:r>
                        <a:rPr sz="1100" spc="-25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100" i="1" spc="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1100" i="1" spc="27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5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•</a:t>
                      </a:r>
                      <a:r>
                        <a:rPr sz="1100" spc="30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spc="11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)</a:t>
                      </a:r>
                      <a:endParaRPr sz="11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100" i="1" spc="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1100" i="1" spc="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6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i="1" spc="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1100" i="1" spc="27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5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•</a:t>
                      </a:r>
                      <a:r>
                        <a:rPr sz="1100" spc="29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+</a:t>
                      </a:r>
                      <a:r>
                        <a:rPr sz="1100" spc="-25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1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endParaRPr sz="11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137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9230">
                <a:tc>
                  <a:txBody>
                    <a:bodyPr/>
                    <a:lstStyle/>
                    <a:p>
                      <a:pPr marR="359410" algn="r">
                        <a:lnSpc>
                          <a:spcPts val="1285"/>
                        </a:lnSpc>
                      </a:pP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r>
                        <a:rPr sz="1100" i="1" spc="1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6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spc="5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•</a:t>
                      </a:r>
                      <a:r>
                        <a:rPr sz="1100" spc="6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b="1" spc="-25" dirty="0">
                          <a:solidFill>
                            <a:srgbClr val="0000CC"/>
                          </a:solidFill>
                          <a:latin typeface="Tahoma" panose="020B0604030504040204"/>
                          <a:cs typeface="Tahoma" panose="020B0604030504040204"/>
                        </a:rPr>
                        <a:t>id</a:t>
                      </a:r>
                      <a:endParaRPr sz="11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1" name="object 41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2999351" y="2924803"/>
            <a:ext cx="365760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F</a:t>
            </a:r>
            <a:r>
              <a:rPr sz="600" spc="3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—&gt;</a:t>
            </a:r>
            <a:r>
              <a:rPr sz="600" spc="35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spc="-2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(E).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19097" y="1543290"/>
            <a:ext cx="211809" cy="229288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81088" y="1963427"/>
            <a:ext cx="197216" cy="195351"/>
          </a:xfrm>
          <a:prstGeom prst="rect">
            <a:avLst/>
          </a:prstGeom>
        </p:spPr>
      </p:pic>
      <p:sp>
        <p:nvSpPr>
          <p:cNvPr id="45" name="object 45"/>
          <p:cNvSpPr/>
          <p:nvPr/>
        </p:nvSpPr>
        <p:spPr>
          <a:xfrm>
            <a:off x="732015" y="2234868"/>
            <a:ext cx="340995" cy="478155"/>
          </a:xfrm>
          <a:custGeom>
            <a:avLst/>
            <a:gdLst/>
            <a:ahLst/>
            <a:cxnLst/>
            <a:rect l="l" t="t" r="r" b="b"/>
            <a:pathLst>
              <a:path w="340994" h="478155">
                <a:moveTo>
                  <a:pt x="85308" y="225994"/>
                </a:moveTo>
                <a:lnTo>
                  <a:pt x="74918" y="225994"/>
                </a:lnTo>
                <a:lnTo>
                  <a:pt x="79606" y="228386"/>
                </a:lnTo>
                <a:lnTo>
                  <a:pt x="89193" y="235787"/>
                </a:lnTo>
                <a:lnTo>
                  <a:pt x="115941" y="265878"/>
                </a:lnTo>
                <a:lnTo>
                  <a:pt x="140589" y="303966"/>
                </a:lnTo>
                <a:lnTo>
                  <a:pt x="176112" y="372632"/>
                </a:lnTo>
                <a:lnTo>
                  <a:pt x="202991" y="429776"/>
                </a:lnTo>
                <a:lnTo>
                  <a:pt x="211849" y="447179"/>
                </a:lnTo>
                <a:lnTo>
                  <a:pt x="242729" y="474512"/>
                </a:lnTo>
                <a:lnTo>
                  <a:pt x="271893" y="477732"/>
                </a:lnTo>
                <a:lnTo>
                  <a:pt x="284639" y="477113"/>
                </a:lnTo>
                <a:lnTo>
                  <a:pt x="294416" y="475670"/>
                </a:lnTo>
                <a:lnTo>
                  <a:pt x="302368" y="472692"/>
                </a:lnTo>
                <a:lnTo>
                  <a:pt x="271288" y="472692"/>
                </a:lnTo>
                <a:lnTo>
                  <a:pt x="260892" y="472361"/>
                </a:lnTo>
                <a:lnTo>
                  <a:pt x="220713" y="451514"/>
                </a:lnTo>
                <a:lnTo>
                  <a:pt x="187264" y="383465"/>
                </a:lnTo>
                <a:lnTo>
                  <a:pt x="169864" y="348095"/>
                </a:lnTo>
                <a:lnTo>
                  <a:pt x="141165" y="293185"/>
                </a:lnTo>
                <a:lnTo>
                  <a:pt x="109727" y="249602"/>
                </a:lnTo>
                <a:lnTo>
                  <a:pt x="93859" y="232632"/>
                </a:lnTo>
                <a:lnTo>
                  <a:pt x="85308" y="225994"/>
                </a:lnTo>
                <a:close/>
              </a:path>
              <a:path w="340994" h="478155">
                <a:moveTo>
                  <a:pt x="339819" y="446513"/>
                </a:moveTo>
                <a:lnTo>
                  <a:pt x="339117" y="446746"/>
                </a:lnTo>
                <a:lnTo>
                  <a:pt x="328123" y="453565"/>
                </a:lnTo>
                <a:lnTo>
                  <a:pt x="311921" y="462868"/>
                </a:lnTo>
                <a:lnTo>
                  <a:pt x="298284" y="468742"/>
                </a:lnTo>
                <a:lnTo>
                  <a:pt x="285289" y="471813"/>
                </a:lnTo>
                <a:lnTo>
                  <a:pt x="271288" y="472692"/>
                </a:lnTo>
                <a:lnTo>
                  <a:pt x="302368" y="472692"/>
                </a:lnTo>
                <a:lnTo>
                  <a:pt x="308179" y="470516"/>
                </a:lnTo>
                <a:lnTo>
                  <a:pt x="323805" y="462541"/>
                </a:lnTo>
                <a:lnTo>
                  <a:pt x="336357" y="454542"/>
                </a:lnTo>
                <a:lnTo>
                  <a:pt x="340896" y="449321"/>
                </a:lnTo>
                <a:lnTo>
                  <a:pt x="339908" y="446746"/>
                </a:lnTo>
                <a:lnTo>
                  <a:pt x="339819" y="446513"/>
                </a:lnTo>
                <a:close/>
              </a:path>
              <a:path w="340994" h="478155">
                <a:moveTo>
                  <a:pt x="47218" y="214671"/>
                </a:moveTo>
                <a:lnTo>
                  <a:pt x="8045" y="231888"/>
                </a:lnTo>
                <a:lnTo>
                  <a:pt x="0" y="263052"/>
                </a:lnTo>
                <a:lnTo>
                  <a:pt x="123" y="269807"/>
                </a:lnTo>
                <a:lnTo>
                  <a:pt x="22890" y="289506"/>
                </a:lnTo>
                <a:lnTo>
                  <a:pt x="33881" y="286158"/>
                </a:lnTo>
                <a:lnTo>
                  <a:pt x="35156" y="285332"/>
                </a:lnTo>
                <a:lnTo>
                  <a:pt x="18800" y="285332"/>
                </a:lnTo>
                <a:lnTo>
                  <a:pt x="13462" y="284822"/>
                </a:lnTo>
                <a:lnTo>
                  <a:pt x="5548" y="275417"/>
                </a:lnTo>
                <a:lnTo>
                  <a:pt x="4520" y="269807"/>
                </a:lnTo>
                <a:lnTo>
                  <a:pt x="5582" y="258079"/>
                </a:lnTo>
                <a:lnTo>
                  <a:pt x="29739" y="222540"/>
                </a:lnTo>
                <a:lnTo>
                  <a:pt x="49992" y="221209"/>
                </a:lnTo>
                <a:lnTo>
                  <a:pt x="78254" y="221209"/>
                </a:lnTo>
                <a:lnTo>
                  <a:pt x="77196" y="220507"/>
                </a:lnTo>
                <a:lnTo>
                  <a:pt x="77196" y="220161"/>
                </a:lnTo>
                <a:lnTo>
                  <a:pt x="77873" y="217966"/>
                </a:lnTo>
                <a:lnTo>
                  <a:pt x="70658" y="217966"/>
                </a:lnTo>
                <a:lnTo>
                  <a:pt x="63423" y="216413"/>
                </a:lnTo>
                <a:lnTo>
                  <a:pt x="63627" y="216413"/>
                </a:lnTo>
                <a:lnTo>
                  <a:pt x="55460" y="215122"/>
                </a:lnTo>
                <a:lnTo>
                  <a:pt x="56316" y="215122"/>
                </a:lnTo>
                <a:lnTo>
                  <a:pt x="47218" y="214671"/>
                </a:lnTo>
                <a:close/>
              </a:path>
              <a:path w="340994" h="478155">
                <a:moveTo>
                  <a:pt x="78254" y="221209"/>
                </a:moveTo>
                <a:lnTo>
                  <a:pt x="49992" y="221209"/>
                </a:lnTo>
                <a:lnTo>
                  <a:pt x="61318" y="221748"/>
                </a:lnTo>
                <a:lnTo>
                  <a:pt x="67204" y="223011"/>
                </a:lnTo>
                <a:lnTo>
                  <a:pt x="52919" y="259700"/>
                </a:lnTo>
                <a:lnTo>
                  <a:pt x="18800" y="285332"/>
                </a:lnTo>
                <a:lnTo>
                  <a:pt x="35156" y="285332"/>
                </a:lnTo>
                <a:lnTo>
                  <a:pt x="62469" y="254916"/>
                </a:lnTo>
                <a:lnTo>
                  <a:pt x="74918" y="225994"/>
                </a:lnTo>
                <a:lnTo>
                  <a:pt x="85308" y="225994"/>
                </a:lnTo>
                <a:lnTo>
                  <a:pt x="81466" y="223011"/>
                </a:lnTo>
                <a:lnTo>
                  <a:pt x="80624" y="222540"/>
                </a:lnTo>
                <a:lnTo>
                  <a:pt x="79072" y="221748"/>
                </a:lnTo>
                <a:lnTo>
                  <a:pt x="78254" y="221209"/>
                </a:lnTo>
                <a:close/>
              </a:path>
              <a:path w="340994" h="478155">
                <a:moveTo>
                  <a:pt x="121430" y="0"/>
                </a:moveTo>
                <a:lnTo>
                  <a:pt x="114772" y="33558"/>
                </a:lnTo>
                <a:lnTo>
                  <a:pt x="114167" y="52834"/>
                </a:lnTo>
                <a:lnTo>
                  <a:pt x="103253" y="113919"/>
                </a:lnTo>
                <a:lnTo>
                  <a:pt x="92239" y="152943"/>
                </a:lnTo>
                <a:lnTo>
                  <a:pt x="76380" y="201377"/>
                </a:lnTo>
                <a:lnTo>
                  <a:pt x="70658" y="217966"/>
                </a:lnTo>
                <a:lnTo>
                  <a:pt x="77873" y="217966"/>
                </a:lnTo>
                <a:lnTo>
                  <a:pt x="78187" y="216949"/>
                </a:lnTo>
                <a:lnTo>
                  <a:pt x="80886" y="208666"/>
                </a:lnTo>
                <a:lnTo>
                  <a:pt x="84881" y="196569"/>
                </a:lnTo>
                <a:lnTo>
                  <a:pt x="89759" y="181912"/>
                </a:lnTo>
                <a:lnTo>
                  <a:pt x="105577" y="131103"/>
                </a:lnTo>
                <a:lnTo>
                  <a:pt x="115722" y="89350"/>
                </a:lnTo>
                <a:lnTo>
                  <a:pt x="120945" y="52834"/>
                </a:lnTo>
                <a:lnTo>
                  <a:pt x="121870" y="21886"/>
                </a:lnTo>
                <a:lnTo>
                  <a:pt x="121810" y="9387"/>
                </a:lnTo>
                <a:lnTo>
                  <a:pt x="121701" y="5198"/>
                </a:lnTo>
                <a:lnTo>
                  <a:pt x="121623" y="2237"/>
                </a:lnTo>
                <a:lnTo>
                  <a:pt x="121480" y="555"/>
                </a:lnTo>
                <a:lnTo>
                  <a:pt x="121430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8623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Building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PDA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5300" y="182191"/>
            <a:ext cx="8032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7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Example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1228926"/>
            <a:ext cx="18078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(Building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PDA)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7743" y="1282392"/>
            <a:ext cx="4483735" cy="1056640"/>
            <a:chOff x="87743" y="1282392"/>
            <a:chExt cx="4483735" cy="105664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427467"/>
              <a:ext cx="4432566" cy="5060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237181"/>
              <a:ext cx="101600" cy="101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224481"/>
              <a:ext cx="4381767" cy="1143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1282395"/>
              <a:ext cx="50800" cy="95478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7743" y="1471739"/>
              <a:ext cx="4432935" cy="816610"/>
            </a:xfrm>
            <a:custGeom>
              <a:avLst/>
              <a:gdLst/>
              <a:ahLst/>
              <a:cxnLst/>
              <a:rect l="l" t="t" r="r" b="b"/>
              <a:pathLst>
                <a:path w="4432935" h="816610">
                  <a:moveTo>
                    <a:pt x="4432567" y="0"/>
                  </a:moveTo>
                  <a:lnTo>
                    <a:pt x="0" y="0"/>
                  </a:lnTo>
                  <a:lnTo>
                    <a:pt x="0" y="765441"/>
                  </a:lnTo>
                  <a:lnTo>
                    <a:pt x="4008" y="785166"/>
                  </a:lnTo>
                  <a:lnTo>
                    <a:pt x="14922" y="801319"/>
                  </a:lnTo>
                  <a:lnTo>
                    <a:pt x="31075" y="812233"/>
                  </a:lnTo>
                  <a:lnTo>
                    <a:pt x="50800" y="816242"/>
                  </a:lnTo>
                  <a:lnTo>
                    <a:pt x="4381767" y="816242"/>
                  </a:lnTo>
                  <a:lnTo>
                    <a:pt x="4401492" y="812233"/>
                  </a:lnTo>
                  <a:lnTo>
                    <a:pt x="4417644" y="801319"/>
                  </a:lnTo>
                  <a:lnTo>
                    <a:pt x="4428558" y="785166"/>
                  </a:lnTo>
                  <a:lnTo>
                    <a:pt x="4432567" y="765441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1320492"/>
              <a:ext cx="0" cy="935990"/>
            </a:xfrm>
            <a:custGeom>
              <a:avLst/>
              <a:gdLst/>
              <a:ahLst/>
              <a:cxnLst/>
              <a:rect l="l" t="t" r="r" b="b"/>
              <a:pathLst>
                <a:path h="935989">
                  <a:moveTo>
                    <a:pt x="0" y="9357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13077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20311" y="12950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520311" y="12823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739924" y="1497060"/>
          <a:ext cx="3204845" cy="739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0285"/>
                <a:gridCol w="1064894"/>
                <a:gridCol w="1047750"/>
              </a:tblGrid>
              <a:tr h="176530">
                <a:tc>
                  <a:txBody>
                    <a:bodyPr/>
                    <a:lstStyle/>
                    <a:p>
                      <a:pPr marR="11430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On</a:t>
                      </a:r>
                      <a:r>
                        <a:rPr sz="1100" spc="4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endParaRPr sz="11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On</a:t>
                      </a:r>
                      <a:r>
                        <a:rPr sz="1100" spc="4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endParaRPr sz="11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On</a:t>
                      </a:r>
                      <a:r>
                        <a:rPr sz="1100" spc="4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12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)</a:t>
                      </a:r>
                      <a:endParaRPr sz="11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i="1" spc="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1200" spc="52" baseline="-1000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9</a:t>
                      </a:r>
                      <a:endParaRPr sz="1200" baseline="-10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65"/>
                        </a:lnSpc>
                        <a:spcBef>
                          <a:spcPts val="30"/>
                        </a:spcBef>
                      </a:pPr>
                      <a:r>
                        <a:rPr sz="1650" i="1" spc="-37" baseline="8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800" spc="-25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10</a:t>
                      </a:r>
                      <a:endParaRPr sz="8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65"/>
                        </a:lnSpc>
                        <a:spcBef>
                          <a:spcPts val="30"/>
                        </a:spcBef>
                      </a:pPr>
                      <a:r>
                        <a:rPr sz="1650" i="1" spc="-37" baseline="8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800" spc="-25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11</a:t>
                      </a:r>
                      <a:endParaRPr sz="8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6715">
                <a:tc>
                  <a:txBody>
                    <a:bodyPr/>
                    <a:lstStyle/>
                    <a:p>
                      <a:pPr marL="78105">
                        <a:lnSpc>
                          <a:spcPts val="1190"/>
                        </a:lnSpc>
                      </a:pPr>
                      <a:r>
                        <a:rPr sz="1100" i="1" spc="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1100" i="1" spc="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6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i="1" spc="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1100" i="1" spc="3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+</a:t>
                      </a:r>
                      <a:r>
                        <a:rPr sz="1100" spc="-35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1100" i="1" spc="12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-1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•</a:t>
                      </a:r>
                      <a:endParaRPr sz="1100">
                        <a:latin typeface="Cambria" panose="02040503050406030204"/>
                        <a:cs typeface="Cambria" panose="02040503050406030204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1100" i="1" spc="114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1100" i="1" spc="34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5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•</a:t>
                      </a:r>
                      <a:r>
                        <a:rPr sz="1100" spc="28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spc="17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*</a:t>
                      </a:r>
                      <a:r>
                        <a:rPr sz="1100" spc="-4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1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endParaRPr sz="11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1100" i="1" spc="114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1100" i="1" spc="114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7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*</a:t>
                      </a:r>
                      <a:r>
                        <a:rPr sz="1100" spc="-35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r>
                        <a:rPr sz="1100" i="1" spc="114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•</a:t>
                      </a:r>
                      <a:endParaRPr sz="11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882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1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r>
                        <a:rPr sz="1100" i="1" spc="1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5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→</a:t>
                      </a:r>
                      <a:r>
                        <a:rPr sz="1100" spc="6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1100" spc="17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</a:t>
                      </a:r>
                      <a:r>
                        <a:rPr sz="1100" spc="-25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100" i="1" spc="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1100" i="1" spc="4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spc="170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)</a:t>
                      </a:r>
                      <a:r>
                        <a:rPr sz="1100" spc="-25" dirty="0">
                          <a:solidFill>
                            <a:srgbClr val="0000CC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10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•</a:t>
                      </a:r>
                      <a:endParaRPr sz="11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882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077242" y="889700"/>
            <a:ext cx="943610" cy="21082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 indent="421005">
              <a:lnSpc>
                <a:spcPts val="700"/>
              </a:lnSpc>
              <a:spcBef>
                <a:spcPts val="170"/>
              </a:spcBef>
            </a:pPr>
            <a:r>
              <a:rPr sz="600" spc="-25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r5</a:t>
            </a:r>
            <a:r>
              <a:rPr sz="600" spc="50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FOLLOW(F)</a:t>
            </a:r>
            <a:r>
              <a:rPr sz="600" spc="4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=</a:t>
            </a:r>
            <a:r>
              <a:rPr sz="600" spc="4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{+,</a:t>
            </a:r>
            <a:r>
              <a:rPr sz="600" spc="45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*,</a:t>
            </a:r>
            <a:r>
              <a:rPr sz="600" spc="4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$,</a:t>
            </a:r>
            <a:r>
              <a:rPr sz="600" spc="45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)</a:t>
            </a:r>
            <a:r>
              <a:rPr sz="600" spc="4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spc="-50" dirty="0">
                <a:solidFill>
                  <a:srgbClr val="0433FF"/>
                </a:solidFill>
                <a:latin typeface="Georgia" panose="02040502050405020303"/>
                <a:cs typeface="Georgia" panose="02040502050405020303"/>
              </a:rPr>
              <a:t>}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8623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Building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PDA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5300" y="182191"/>
            <a:ext cx="1838325" cy="671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7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Example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400">
              <a:latin typeface="Palatino Linotype" panose="02040502050505030304"/>
              <a:cs typeface="Palatino Linotype" panose="02040502050505030304"/>
            </a:endParaRPr>
          </a:p>
          <a:p>
            <a:pPr marL="43180">
              <a:lnSpc>
                <a:spcPct val="100000"/>
              </a:lnSpc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(Building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PDA)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7743" y="714794"/>
            <a:ext cx="4483735" cy="2475865"/>
            <a:chOff x="87743" y="714794"/>
            <a:chExt cx="4483735" cy="247586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859891"/>
              <a:ext cx="4432566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3088551"/>
              <a:ext cx="101600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3075851"/>
              <a:ext cx="4381767" cy="1143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714794"/>
              <a:ext cx="50800" cy="237375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7743" y="904138"/>
              <a:ext cx="4432935" cy="2235835"/>
            </a:xfrm>
            <a:custGeom>
              <a:avLst/>
              <a:gdLst/>
              <a:ahLst/>
              <a:cxnLst/>
              <a:rect l="l" t="t" r="r" b="b"/>
              <a:pathLst>
                <a:path w="4432935" h="2235835">
                  <a:moveTo>
                    <a:pt x="4432567" y="0"/>
                  </a:moveTo>
                  <a:lnTo>
                    <a:pt x="0" y="0"/>
                  </a:lnTo>
                  <a:lnTo>
                    <a:pt x="0" y="2184412"/>
                  </a:lnTo>
                  <a:lnTo>
                    <a:pt x="4008" y="2204137"/>
                  </a:lnTo>
                  <a:lnTo>
                    <a:pt x="14922" y="2220290"/>
                  </a:lnTo>
                  <a:lnTo>
                    <a:pt x="31075" y="2231204"/>
                  </a:lnTo>
                  <a:lnTo>
                    <a:pt x="50800" y="2235213"/>
                  </a:lnTo>
                  <a:lnTo>
                    <a:pt x="4381767" y="2235213"/>
                  </a:lnTo>
                  <a:lnTo>
                    <a:pt x="4401492" y="2231204"/>
                  </a:lnTo>
                  <a:lnTo>
                    <a:pt x="4417644" y="2220290"/>
                  </a:lnTo>
                  <a:lnTo>
                    <a:pt x="4428558" y="2204137"/>
                  </a:lnTo>
                  <a:lnTo>
                    <a:pt x="4432567" y="2184412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752894"/>
              <a:ext cx="0" cy="2355215"/>
            </a:xfrm>
            <a:custGeom>
              <a:avLst/>
              <a:gdLst/>
              <a:ahLst/>
              <a:cxnLst/>
              <a:rect l="l" t="t" r="r" b="b"/>
              <a:pathLst>
                <a:path h="2355215">
                  <a:moveTo>
                    <a:pt x="0" y="23547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74019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72749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20311" y="71479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20036" y="929471"/>
          <a:ext cx="4044315" cy="1957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5450"/>
                <a:gridCol w="309880"/>
                <a:gridCol w="258445"/>
                <a:gridCol w="260984"/>
                <a:gridCol w="260984"/>
                <a:gridCol w="260985"/>
                <a:gridCol w="260985"/>
                <a:gridCol w="269239"/>
                <a:gridCol w="260985"/>
                <a:gridCol w="260985"/>
                <a:gridCol w="260985"/>
                <a:gridCol w="260984"/>
                <a:gridCol w="307339"/>
                <a:gridCol w="307339"/>
              </a:tblGrid>
              <a:tr h="14414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12">
                  <a:txBody>
                    <a:bodyPr/>
                    <a:lstStyle/>
                    <a:p>
                      <a:pPr marL="1905" algn="ctr">
                        <a:lnSpc>
                          <a:spcPts val="965"/>
                        </a:lnSpc>
                      </a:pPr>
                      <a:r>
                        <a:rPr sz="900" spc="-25" dirty="0">
                          <a:latin typeface="Palatino Linotype" panose="02040502050505030304"/>
                          <a:cs typeface="Palatino Linotype" panose="02040502050505030304"/>
                        </a:rPr>
                        <a:t>To</a:t>
                      </a:r>
                      <a:endParaRPr sz="9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39065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95"/>
                        </a:lnSpc>
                      </a:pPr>
                      <a:r>
                        <a:rPr sz="1350" i="1" spc="37" baseline="6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600" spc="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0</a:t>
                      </a:r>
                      <a:endParaRPr sz="6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95"/>
                        </a:lnSpc>
                      </a:pPr>
                      <a:r>
                        <a:rPr sz="1350" i="1" spc="37" baseline="6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600" spc="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1</a:t>
                      </a:r>
                      <a:endParaRPr sz="6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95"/>
                        </a:lnSpc>
                      </a:pPr>
                      <a:r>
                        <a:rPr sz="1350" i="1" spc="37" baseline="6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600" spc="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2</a:t>
                      </a:r>
                      <a:endParaRPr sz="6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95"/>
                        </a:lnSpc>
                      </a:pPr>
                      <a:r>
                        <a:rPr sz="1350" i="1" spc="37" baseline="6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600" spc="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3</a:t>
                      </a:r>
                      <a:endParaRPr sz="6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95"/>
                        </a:lnSpc>
                      </a:pPr>
                      <a:r>
                        <a:rPr sz="1350" i="1" spc="37" baseline="6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600" spc="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4</a:t>
                      </a:r>
                      <a:endParaRPr sz="6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95"/>
                        </a:lnSpc>
                      </a:pPr>
                      <a:r>
                        <a:rPr sz="1350" i="1" spc="37" baseline="6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600" spc="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5</a:t>
                      </a:r>
                      <a:endParaRPr sz="6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95"/>
                        </a:lnSpc>
                      </a:pPr>
                      <a:r>
                        <a:rPr sz="1350" i="1" spc="37" baseline="6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600" spc="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6</a:t>
                      </a:r>
                      <a:endParaRPr sz="6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95"/>
                        </a:lnSpc>
                      </a:pPr>
                      <a:r>
                        <a:rPr sz="1350" i="1" spc="37" baseline="6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600" spc="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7</a:t>
                      </a:r>
                      <a:endParaRPr sz="6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95"/>
                        </a:lnSpc>
                      </a:pPr>
                      <a:r>
                        <a:rPr sz="1350" i="1" spc="37" baseline="6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600" spc="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8</a:t>
                      </a:r>
                      <a:endParaRPr sz="6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95"/>
                        </a:lnSpc>
                      </a:pPr>
                      <a:r>
                        <a:rPr sz="1350" i="1" spc="37" baseline="6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600" spc="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9</a:t>
                      </a:r>
                      <a:endParaRPr sz="6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95"/>
                        </a:lnSpc>
                      </a:pPr>
                      <a:r>
                        <a:rPr sz="1350" i="1" spc="-37" baseline="6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600" spc="-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10</a:t>
                      </a:r>
                      <a:endParaRPr sz="6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95"/>
                        </a:lnSpc>
                      </a:pPr>
                      <a:r>
                        <a:rPr sz="1350" i="1" spc="-37" baseline="6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600" spc="-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11</a:t>
                      </a:r>
                      <a:endParaRPr sz="6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4145">
                <a:tc row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20" dirty="0">
                          <a:latin typeface="Palatino Linotype" panose="02040502050505030304"/>
                          <a:cs typeface="Palatino Linotype" panose="02040502050505030304"/>
                        </a:rPr>
                        <a:t>From</a:t>
                      </a:r>
                      <a:endParaRPr sz="9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1035"/>
                        </a:lnSpc>
                      </a:pPr>
                      <a:r>
                        <a:rPr sz="1350" i="1" spc="37" baseline="6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600" spc="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0</a:t>
                      </a:r>
                      <a:endParaRPr sz="6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i="1" spc="1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endParaRPr sz="9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965"/>
                        </a:lnSpc>
                      </a:pPr>
                      <a:r>
                        <a:rPr sz="9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endParaRPr sz="9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965"/>
                        </a:lnSpc>
                      </a:pPr>
                      <a:r>
                        <a:rPr sz="9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endParaRPr sz="9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spc="80" dirty="0">
                          <a:latin typeface="Century Gothic" panose="020B0502020202020204"/>
                          <a:cs typeface="Century Gothic" panose="020B0502020202020204"/>
                        </a:rPr>
                        <a:t>(</a:t>
                      </a:r>
                      <a:endParaRPr sz="900">
                        <a:latin typeface="Century Gothic" panose="020B0502020202020204"/>
                        <a:cs typeface="Century Gothic" panose="020B0502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spc="-25" dirty="0">
                          <a:solidFill>
                            <a:srgbClr val="0000CC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id</a:t>
                      </a:r>
                      <a:endParaRPr sz="900">
                        <a:latin typeface="Arial Black" panose="020B0A04020102020204"/>
                        <a:cs typeface="Arial Black" panose="020B0A040201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9065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995"/>
                        </a:lnSpc>
                      </a:pPr>
                      <a:r>
                        <a:rPr sz="1350" i="1" spc="37" baseline="6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600" spc="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1</a:t>
                      </a:r>
                      <a:endParaRPr sz="6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25"/>
                        </a:lnSpc>
                      </a:pPr>
                      <a:r>
                        <a:rPr sz="900" spc="-50" dirty="0">
                          <a:latin typeface="Century Gothic" panose="020B0502020202020204"/>
                          <a:cs typeface="Century Gothic" panose="020B0502020202020204"/>
                        </a:rPr>
                        <a:t>+</a:t>
                      </a:r>
                      <a:endParaRPr sz="900">
                        <a:latin typeface="Century Gothic" panose="020B0502020202020204"/>
                        <a:cs typeface="Century Gothic" panose="020B0502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9065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995"/>
                        </a:lnSpc>
                      </a:pPr>
                      <a:r>
                        <a:rPr sz="1350" i="1" spc="37" baseline="6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600" spc="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2</a:t>
                      </a:r>
                      <a:endParaRPr sz="6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25"/>
                        </a:lnSpc>
                      </a:pPr>
                      <a:r>
                        <a:rPr sz="900" spc="30" dirty="0">
                          <a:latin typeface="Century Gothic" panose="020B0502020202020204"/>
                          <a:cs typeface="Century Gothic" panose="020B0502020202020204"/>
                        </a:rPr>
                        <a:t>*</a:t>
                      </a:r>
                      <a:endParaRPr sz="900">
                        <a:latin typeface="Century Gothic" panose="020B0502020202020204"/>
                        <a:cs typeface="Century Gothic" panose="020B0502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9065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995"/>
                        </a:lnSpc>
                      </a:pPr>
                      <a:r>
                        <a:rPr sz="1350" i="1" spc="37" baseline="6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600" spc="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3</a:t>
                      </a:r>
                      <a:endParaRPr sz="6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9065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995"/>
                        </a:lnSpc>
                      </a:pPr>
                      <a:r>
                        <a:rPr sz="1350" i="1" spc="37" baseline="6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600" spc="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4</a:t>
                      </a:r>
                      <a:endParaRPr sz="6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925"/>
                        </a:lnSpc>
                      </a:pPr>
                      <a:r>
                        <a:rPr sz="9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endParaRPr sz="9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925"/>
                        </a:lnSpc>
                      </a:pPr>
                      <a:r>
                        <a:rPr sz="9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endParaRPr sz="9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25"/>
                        </a:lnSpc>
                      </a:pPr>
                      <a:r>
                        <a:rPr sz="900" spc="80" dirty="0">
                          <a:latin typeface="Century Gothic" panose="020B0502020202020204"/>
                          <a:cs typeface="Century Gothic" panose="020B0502020202020204"/>
                        </a:rPr>
                        <a:t>(</a:t>
                      </a:r>
                      <a:endParaRPr sz="900">
                        <a:latin typeface="Century Gothic" panose="020B0502020202020204"/>
                        <a:cs typeface="Century Gothic" panose="020B0502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25"/>
                        </a:lnSpc>
                      </a:pPr>
                      <a:r>
                        <a:rPr sz="900" spc="-25" dirty="0">
                          <a:solidFill>
                            <a:srgbClr val="0000CC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id</a:t>
                      </a:r>
                      <a:endParaRPr sz="900">
                        <a:latin typeface="Arial Black" panose="020B0A04020102020204"/>
                        <a:cs typeface="Arial Black" panose="020B0A040201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25"/>
                        </a:lnSpc>
                      </a:pPr>
                      <a:r>
                        <a:rPr sz="900" i="1" spc="1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endParaRPr sz="9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9065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995"/>
                        </a:lnSpc>
                      </a:pPr>
                      <a:r>
                        <a:rPr sz="1350" i="1" spc="37" baseline="6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600" spc="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5</a:t>
                      </a:r>
                      <a:endParaRPr sz="6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9065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995"/>
                        </a:lnSpc>
                      </a:pPr>
                      <a:r>
                        <a:rPr sz="1350" i="1" spc="37" baseline="6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600" spc="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6</a:t>
                      </a:r>
                      <a:endParaRPr sz="6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925"/>
                        </a:lnSpc>
                      </a:pPr>
                      <a:r>
                        <a:rPr sz="9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endParaRPr sz="9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25"/>
                        </a:lnSpc>
                      </a:pPr>
                      <a:r>
                        <a:rPr sz="900" spc="80" dirty="0">
                          <a:latin typeface="Century Gothic" panose="020B0502020202020204"/>
                          <a:cs typeface="Century Gothic" panose="020B0502020202020204"/>
                        </a:rPr>
                        <a:t>(</a:t>
                      </a:r>
                      <a:endParaRPr sz="900">
                        <a:latin typeface="Century Gothic" panose="020B0502020202020204"/>
                        <a:cs typeface="Century Gothic" panose="020B0502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25"/>
                        </a:lnSpc>
                      </a:pPr>
                      <a:r>
                        <a:rPr sz="900" spc="-25" dirty="0">
                          <a:solidFill>
                            <a:srgbClr val="0000CC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id</a:t>
                      </a:r>
                      <a:endParaRPr sz="900">
                        <a:latin typeface="Arial Black" panose="020B0A04020102020204"/>
                        <a:cs typeface="Arial Black" panose="020B0A040201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925"/>
                        </a:lnSpc>
                      </a:pPr>
                      <a:r>
                        <a:rPr sz="9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endParaRPr sz="9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9065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995"/>
                        </a:lnSpc>
                      </a:pPr>
                      <a:r>
                        <a:rPr sz="1350" i="1" spc="37" baseline="6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600" spc="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7</a:t>
                      </a:r>
                      <a:endParaRPr sz="6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25"/>
                        </a:lnSpc>
                      </a:pPr>
                      <a:r>
                        <a:rPr sz="900" spc="80" dirty="0">
                          <a:latin typeface="Century Gothic" panose="020B0502020202020204"/>
                          <a:cs typeface="Century Gothic" panose="020B0502020202020204"/>
                        </a:rPr>
                        <a:t>(</a:t>
                      </a:r>
                      <a:endParaRPr sz="900">
                        <a:latin typeface="Century Gothic" panose="020B0502020202020204"/>
                        <a:cs typeface="Century Gothic" panose="020B0502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25"/>
                        </a:lnSpc>
                      </a:pPr>
                      <a:r>
                        <a:rPr sz="900" spc="-25" dirty="0">
                          <a:solidFill>
                            <a:srgbClr val="0000CC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id</a:t>
                      </a:r>
                      <a:endParaRPr sz="900">
                        <a:latin typeface="Arial Black" panose="020B0A04020102020204"/>
                        <a:cs typeface="Arial Black" panose="020B0A040201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925"/>
                        </a:lnSpc>
                      </a:pPr>
                      <a:r>
                        <a:rPr sz="9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endParaRPr sz="9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9065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995"/>
                        </a:lnSpc>
                      </a:pPr>
                      <a:r>
                        <a:rPr sz="1350" i="1" spc="37" baseline="6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600" spc="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8</a:t>
                      </a:r>
                      <a:endParaRPr sz="6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25"/>
                        </a:lnSpc>
                      </a:pPr>
                      <a:r>
                        <a:rPr sz="900" spc="-50" dirty="0">
                          <a:latin typeface="Century Gothic" panose="020B0502020202020204"/>
                          <a:cs typeface="Century Gothic" panose="020B0502020202020204"/>
                        </a:rPr>
                        <a:t>+</a:t>
                      </a:r>
                      <a:endParaRPr sz="900">
                        <a:latin typeface="Century Gothic" panose="020B0502020202020204"/>
                        <a:cs typeface="Century Gothic" panose="020B0502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25"/>
                        </a:lnSpc>
                      </a:pPr>
                      <a:r>
                        <a:rPr sz="900" spc="80" dirty="0">
                          <a:latin typeface="Century Gothic" panose="020B0502020202020204"/>
                          <a:cs typeface="Century Gothic" panose="020B0502020202020204"/>
                        </a:rPr>
                        <a:t>)</a:t>
                      </a:r>
                      <a:endParaRPr sz="900">
                        <a:latin typeface="Century Gothic" panose="020B0502020202020204"/>
                        <a:cs typeface="Century Gothic" panose="020B0502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9065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995"/>
                        </a:lnSpc>
                      </a:pPr>
                      <a:r>
                        <a:rPr sz="1350" i="1" spc="37" baseline="6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600" spc="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9</a:t>
                      </a:r>
                      <a:endParaRPr sz="6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25"/>
                        </a:lnSpc>
                      </a:pPr>
                      <a:r>
                        <a:rPr sz="900" spc="30" dirty="0">
                          <a:latin typeface="Century Gothic" panose="020B0502020202020204"/>
                          <a:cs typeface="Century Gothic" panose="020B0502020202020204"/>
                        </a:rPr>
                        <a:t>*</a:t>
                      </a:r>
                      <a:endParaRPr sz="900">
                        <a:latin typeface="Century Gothic" panose="020B0502020202020204"/>
                        <a:cs typeface="Century Gothic" panose="020B0502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9065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995"/>
                        </a:lnSpc>
                      </a:pPr>
                      <a:r>
                        <a:rPr sz="1350" i="1" spc="-37" baseline="6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600" spc="-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10</a:t>
                      </a:r>
                      <a:endParaRPr sz="6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9065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995"/>
                        </a:lnSpc>
                      </a:pPr>
                      <a:r>
                        <a:rPr sz="1350" i="1" spc="-37" baseline="6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I</a:t>
                      </a:r>
                      <a:r>
                        <a:rPr sz="600" spc="-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11</a:t>
                      </a:r>
                      <a:endParaRPr sz="6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1682597" y="2942157"/>
            <a:ext cx="12433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transition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table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650" y="-22225"/>
            <a:ext cx="4040505" cy="346075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5600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Assignment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950861"/>
            <a:ext cx="155257" cy="1552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4675" y="947875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055" y="919059"/>
            <a:ext cx="12122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Bottom-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Up</a:t>
            </a:r>
            <a:r>
              <a:rPr sz="1100" spc="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Parsing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353108"/>
            <a:ext cx="155257" cy="15525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79" y="1755356"/>
            <a:ext cx="155257" cy="15525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4675" y="1321306"/>
            <a:ext cx="938530" cy="594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90"/>
              </a:spcBef>
              <a:buClr>
                <a:srgbClr val="FAF9FB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LR</a:t>
            </a:r>
            <a:r>
              <a:rPr sz="1100" spc="15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Parsers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Clr>
                <a:srgbClr val="FAF9FB"/>
              </a:buClr>
              <a:buFont typeface="Comic Sans MS" panose="030F0702030302020204"/>
              <a:buAutoNum type="arabicPlain" startAt="2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spcBef>
                <a:spcPts val="5"/>
              </a:spcBef>
              <a:buClr>
                <a:srgbClr val="FAF9FB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LR(0)</a:t>
            </a:r>
            <a:r>
              <a:rPr sz="1100" spc="27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Items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779" y="2157602"/>
            <a:ext cx="155257" cy="1552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4675" y="2154668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4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0055" y="2125801"/>
            <a:ext cx="1124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Building</a:t>
            </a:r>
            <a:r>
              <a:rPr sz="1100" spc="5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the</a:t>
            </a:r>
            <a:r>
              <a:rPr sz="1100" spc="5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PDA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0779" y="2559850"/>
            <a:ext cx="155257" cy="15525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24675" y="2528035"/>
            <a:ext cx="892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5</a:t>
            </a:r>
            <a:r>
              <a:rPr sz="1200" b="1" spc="697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Assignment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5600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Assignment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0860" y="182191"/>
            <a:ext cx="18243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Assignment</a:t>
            </a:r>
            <a:endParaRPr spc="-10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896950"/>
            <a:ext cx="4483735" cy="2020570"/>
            <a:chOff x="87743" y="896950"/>
            <a:chExt cx="4483735" cy="20205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018616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815336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802635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896950"/>
              <a:ext cx="50800" cy="19183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062875"/>
              <a:ext cx="4432935" cy="1803400"/>
            </a:xfrm>
            <a:custGeom>
              <a:avLst/>
              <a:gdLst/>
              <a:ahLst/>
              <a:cxnLst/>
              <a:rect l="l" t="t" r="r" b="b"/>
              <a:pathLst>
                <a:path w="4432935" h="1803400">
                  <a:moveTo>
                    <a:pt x="4432567" y="0"/>
                  </a:moveTo>
                  <a:lnTo>
                    <a:pt x="0" y="0"/>
                  </a:lnTo>
                  <a:lnTo>
                    <a:pt x="0" y="1752460"/>
                  </a:lnTo>
                  <a:lnTo>
                    <a:pt x="4008" y="1772185"/>
                  </a:lnTo>
                  <a:lnTo>
                    <a:pt x="14922" y="1788337"/>
                  </a:lnTo>
                  <a:lnTo>
                    <a:pt x="31075" y="1799252"/>
                  </a:lnTo>
                  <a:lnTo>
                    <a:pt x="50800" y="1803260"/>
                  </a:lnTo>
                  <a:lnTo>
                    <a:pt x="4381767" y="1803260"/>
                  </a:lnTo>
                  <a:lnTo>
                    <a:pt x="4401492" y="1799252"/>
                  </a:lnTo>
                  <a:lnTo>
                    <a:pt x="4417644" y="1788337"/>
                  </a:lnTo>
                  <a:lnTo>
                    <a:pt x="4428558" y="1772185"/>
                  </a:lnTo>
                  <a:lnTo>
                    <a:pt x="4432567" y="1752460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935050"/>
              <a:ext cx="0" cy="1899920"/>
            </a:xfrm>
            <a:custGeom>
              <a:avLst/>
              <a:gdLst/>
              <a:ahLst/>
              <a:cxnLst/>
              <a:rect l="l" t="t" r="r" b="b"/>
              <a:pathLst>
                <a:path h="1899920">
                  <a:moveTo>
                    <a:pt x="0" y="189933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92235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90965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89695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116622"/>
              <a:ext cx="65201" cy="6520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165" y="1983206"/>
              <a:ext cx="65201" cy="6520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165" y="2227275"/>
              <a:ext cx="65201" cy="6520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165" y="2471343"/>
              <a:ext cx="65201" cy="6520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25844" y="804619"/>
            <a:ext cx="3953510" cy="202311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Homework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>
              <a:lnSpc>
                <a:spcPct val="100000"/>
              </a:lnSpc>
              <a:spcBef>
                <a:spcPts val="23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Let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grammar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be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377315">
              <a:lnSpc>
                <a:spcPct val="100000"/>
              </a:lnSpc>
              <a:spcBef>
                <a:spcPts val="1130"/>
              </a:spcBef>
            </a:pP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+</a:t>
            </a:r>
            <a:r>
              <a:rPr sz="1100" spc="-4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7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*</a:t>
            </a:r>
            <a:r>
              <a:rPr sz="1100" spc="-35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spc="17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(</a:t>
            </a:r>
            <a:r>
              <a:rPr sz="1100" spc="-4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7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)</a:t>
            </a:r>
            <a:r>
              <a:rPr sz="1100" spc="-4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b="1" spc="-25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id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>
              <a:latin typeface="Tahoma" panose="020B0604030504040204"/>
              <a:cs typeface="Tahoma" panose="020B0604030504040204"/>
            </a:endParaRPr>
          </a:p>
          <a:p>
            <a:pPr marL="289560" marR="1181735">
              <a:lnSpc>
                <a:spcPct val="146000"/>
              </a:lnSpc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Write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LR(0)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items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this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grammar.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Write</a:t>
            </a:r>
            <a:r>
              <a:rPr sz="1100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LR(0)</a:t>
            </a:r>
            <a:r>
              <a:rPr sz="1100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states.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080" indent="276860">
              <a:lnSpc>
                <a:spcPts val="1950"/>
              </a:lnSpc>
              <a:spcBef>
                <a:spcPts val="75"/>
              </a:spcBef>
            </a:pP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Draw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transition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diagram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PDA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SLR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parser.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(continued…)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5600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Assignment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Assignment</a:t>
            </a:r>
            <a:endParaRPr spc="-10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914577"/>
            <a:ext cx="4483735" cy="1976120"/>
            <a:chOff x="87743" y="914577"/>
            <a:chExt cx="4483735" cy="197612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036231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788907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776207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914577"/>
              <a:ext cx="50800" cy="187432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080503"/>
              <a:ext cx="4432935" cy="1759585"/>
            </a:xfrm>
            <a:custGeom>
              <a:avLst/>
              <a:gdLst/>
              <a:ahLst/>
              <a:cxnLst/>
              <a:rect l="l" t="t" r="r" b="b"/>
              <a:pathLst>
                <a:path w="4432935" h="1759585">
                  <a:moveTo>
                    <a:pt x="4432567" y="0"/>
                  </a:moveTo>
                  <a:lnTo>
                    <a:pt x="0" y="0"/>
                  </a:lnTo>
                  <a:lnTo>
                    <a:pt x="0" y="1708404"/>
                  </a:lnTo>
                  <a:lnTo>
                    <a:pt x="4008" y="1728128"/>
                  </a:lnTo>
                  <a:lnTo>
                    <a:pt x="14922" y="1744281"/>
                  </a:lnTo>
                  <a:lnTo>
                    <a:pt x="31075" y="1755195"/>
                  </a:lnTo>
                  <a:lnTo>
                    <a:pt x="50800" y="1759204"/>
                  </a:lnTo>
                  <a:lnTo>
                    <a:pt x="4381767" y="1759204"/>
                  </a:lnTo>
                  <a:lnTo>
                    <a:pt x="4401492" y="1755195"/>
                  </a:lnTo>
                  <a:lnTo>
                    <a:pt x="4417644" y="1744281"/>
                  </a:lnTo>
                  <a:lnTo>
                    <a:pt x="4428558" y="1728128"/>
                  </a:lnTo>
                  <a:lnTo>
                    <a:pt x="4432567" y="1708404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952677"/>
              <a:ext cx="0" cy="1855470"/>
            </a:xfrm>
            <a:custGeom>
              <a:avLst/>
              <a:gdLst/>
              <a:ahLst/>
              <a:cxnLst/>
              <a:rect l="l" t="t" r="r" b="b"/>
              <a:pathLst>
                <a:path h="1855470">
                  <a:moveTo>
                    <a:pt x="0" y="185527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93997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92727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91457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134249"/>
              <a:ext cx="65201" cy="6520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165" y="2210854"/>
              <a:ext cx="65201" cy="6520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165" y="2454935"/>
              <a:ext cx="65201" cy="6520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165" y="2699004"/>
              <a:ext cx="65201" cy="6520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25844" y="822246"/>
            <a:ext cx="3953510" cy="198501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Homework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>
              <a:lnSpc>
                <a:spcPct val="100000"/>
              </a:lnSpc>
              <a:spcBef>
                <a:spcPts val="23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Let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grammar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be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880235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100" i="1" spc="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4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spc="17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(</a:t>
            </a:r>
            <a:r>
              <a:rPr sz="1100" spc="-4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i="1" spc="10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L</a:t>
            </a:r>
            <a:r>
              <a:rPr sz="1100" i="1" spc="-4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7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)</a:t>
            </a:r>
            <a:r>
              <a:rPr sz="1100" spc="-4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4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b="1" spc="-35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id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1878965">
              <a:lnSpc>
                <a:spcPct val="100000"/>
              </a:lnSpc>
              <a:spcBef>
                <a:spcPts val="335"/>
              </a:spcBef>
            </a:pPr>
            <a:r>
              <a:rPr sz="1100" i="1" spc="10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L</a:t>
            </a:r>
            <a:r>
              <a:rPr sz="1100" i="1" spc="-4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10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L</a:t>
            </a:r>
            <a:r>
              <a:rPr sz="1100" i="1" spc="-4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7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,</a:t>
            </a:r>
            <a:r>
              <a:rPr sz="1100" spc="-4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100" i="1" spc="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4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289560" marR="1181735">
              <a:lnSpc>
                <a:spcPct val="146000"/>
              </a:lnSpc>
              <a:spcBef>
                <a:spcPts val="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Write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LR(0)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items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this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grammar.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Write</a:t>
            </a:r>
            <a:r>
              <a:rPr sz="1100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LR(0)</a:t>
            </a:r>
            <a:r>
              <a:rPr sz="1100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states.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>
              <a:lnSpc>
                <a:spcPct val="100000"/>
              </a:lnSpc>
              <a:spcBef>
                <a:spcPts val="600"/>
              </a:spcBef>
            </a:pP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Draw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transition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diagram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PDA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SLR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parser.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99296" y="3318429"/>
            <a:ext cx="107442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Bottom-</a:t>
            </a:r>
            <a:r>
              <a:rPr sz="600" b="1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Up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Parsing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-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I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9833</Words>
  <Application>WPS Presentation</Application>
  <PresentationFormat>On-screen Show (4:3)</PresentationFormat>
  <Paragraphs>948</Paragraphs>
  <Slides>54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73" baseType="lpstr">
      <vt:lpstr>Arial</vt:lpstr>
      <vt:lpstr>SimSun</vt:lpstr>
      <vt:lpstr>Wingdings</vt:lpstr>
      <vt:lpstr>Palatino Linotype</vt:lpstr>
      <vt:lpstr>Georgia</vt:lpstr>
      <vt:lpstr>Comic Sans MS</vt:lpstr>
      <vt:lpstr>Book Antiqua</vt:lpstr>
      <vt:lpstr>Bookman Old Style</vt:lpstr>
      <vt:lpstr>Times New Roman</vt:lpstr>
      <vt:lpstr>Garamond</vt:lpstr>
      <vt:lpstr>Microsoft YaHei</vt:lpstr>
      <vt:lpstr>Arial Unicode MS</vt:lpstr>
      <vt:lpstr>Calibri</vt:lpstr>
      <vt:lpstr>Cambria</vt:lpstr>
      <vt:lpstr>Trebuchet MS</vt:lpstr>
      <vt:lpstr>Tahoma</vt:lpstr>
      <vt:lpstr>Century Gothic</vt:lpstr>
      <vt:lpstr>Arial Black</vt:lpstr>
      <vt:lpstr>Office Theme</vt:lpstr>
      <vt:lpstr>Bottom-Up Parsing - I</vt:lpstr>
      <vt:lpstr>PowerPoint 演示文稿</vt:lpstr>
      <vt:lpstr>Outline</vt:lpstr>
      <vt:lpstr>PowerPoint 演示文稿</vt:lpstr>
      <vt:lpstr>Reductions</vt:lpstr>
      <vt:lpstr>PowerPoint 演示文稿</vt:lpstr>
      <vt:lpstr>Shift-Reduce Parser</vt:lpstr>
      <vt:lpstr>Shift-Reduce Parser</vt:lpstr>
      <vt:lpstr>PowerPoint 演示文稿</vt:lpstr>
      <vt:lpstr>LR Parsers</vt:lpstr>
      <vt:lpstr>LR Parsers</vt:lpstr>
      <vt:lpstr>Example</vt:lpstr>
      <vt:lpstr>Example</vt:lpstr>
      <vt:lpstr>LR Parsers</vt:lpstr>
      <vt:lpstr>LR Parsers</vt:lpstr>
      <vt:lpstr>LR Parsers</vt:lpstr>
      <vt:lpstr>Outline</vt:lpstr>
      <vt:lpstr> Lec-11: LR(0) Parsing Table | Check Whether a Grammar is LR(0) or not | Bottom-Up Parser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parse table</vt:lpstr>
      <vt:lpstr>PowerPoint 演示文稿</vt:lpstr>
      <vt:lpstr>PowerPoint 演示文稿</vt:lpstr>
      <vt:lpstr>PowerPoint 演示文稿</vt:lpstr>
      <vt:lpstr>LR (0) parsing | Input string | Part-3/3 | </vt:lpstr>
      <vt:lpstr>PowerPoint 演示文稿</vt:lpstr>
      <vt:lpstr>PowerPoint 演示文稿</vt:lpstr>
      <vt:lpstr>LR(0) Items</vt:lpstr>
      <vt:lpstr>Example</vt:lpstr>
      <vt:lpstr>LR(0) Items</vt:lpstr>
      <vt:lpstr>Outline</vt:lpstr>
      <vt:lpstr>LR Parsing</vt:lpstr>
      <vt:lpstr>States of the PDA</vt:lpstr>
      <vt:lpstr>Example</vt:lpstr>
      <vt:lpstr>Example</vt:lpstr>
      <vt:lpstr>Transitions</vt:lpstr>
      <vt:lpstr>Example</vt:lpstr>
      <vt:lpstr>PowerPoint 演示文稿</vt:lpstr>
      <vt:lpstr>Example</vt:lpstr>
      <vt:lpstr>PowerPoint 演示文稿</vt:lpstr>
      <vt:lpstr>Example</vt:lpstr>
      <vt:lpstr>PowerPoint 演示文稿</vt:lpstr>
      <vt:lpstr>PowerPoint 演示文稿</vt:lpstr>
      <vt:lpstr>PowerPoint 演示文稿</vt:lpstr>
      <vt:lpstr>PowerPoint 演示文稿</vt:lpstr>
      <vt:lpstr>Outline</vt:lpstr>
      <vt:lpstr>Assignment</vt:lpstr>
      <vt:lpstr>Assignment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Bottom-Up Parsing - I</dc:title>
  <dc:creator>Rokan Uddin Faruqui </dc:creator>
  <cp:lastModifiedBy>Sharifunnaher Snigdha</cp:lastModifiedBy>
  <cp:revision>9</cp:revision>
  <dcterms:created xsi:type="dcterms:W3CDTF">2025-11-16T06:40:00Z</dcterms:created>
  <dcterms:modified xsi:type="dcterms:W3CDTF">2025-11-16T19:51:14Z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2020-02-10T12:00:00Z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2025-11-16T12:00:00Z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ICV">
    <vt:lpwstr>A2F6A56240974DE4AD17991A180C38B2_12</vt:lpwstr>
  </property>
  <property fmtid="{D5CDD505-2E9C-101B-9397-08002B2CF9AE}" pid="7" name="KSOProductBuildVer">
    <vt:lpwstr>1033-12.2.0.23155</vt:lpwstr>
  </property>
</Properties>
</file>