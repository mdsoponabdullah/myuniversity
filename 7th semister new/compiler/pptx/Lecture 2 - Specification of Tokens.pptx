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330066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99764" y="323877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3" y="0"/>
                </a:lnTo>
                <a:lnTo>
                  <a:pt x="63833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236595" y="3245129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602432" y="325147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1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513531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589732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66668" y="3238778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1" y="12700"/>
                </a:lnTo>
              </a:path>
              <a:path w="50800" h="25400">
                <a:moveTo>
                  <a:pt x="12700" y="25400"/>
                </a:moveTo>
                <a:lnTo>
                  <a:pt x="50801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790467" y="324512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3866668" y="3276879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1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51033" y="3269259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1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423969" y="3242764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7" y="15183"/>
                </a:moveTo>
                <a:lnTo>
                  <a:pt x="30367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7" y="23568"/>
                </a:lnTo>
                <a:lnTo>
                  <a:pt x="30367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4329112" y="323877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80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80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91"/>
            <a:ext cx="29940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330066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959266"/>
            <a:ext cx="4358411" cy="163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5300" y="3318429"/>
            <a:ext cx="1379855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56531" y="3318429"/>
            <a:ext cx="194310" cy="13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mailto:rokan@cu.ac.bd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" Target="slide13.xml"/><Relationship Id="rId7" Type="http://schemas.openxmlformats.org/officeDocument/2006/relationships/slide" Target="slide17.xml"/><Relationship Id="rId8" Type="http://schemas.openxmlformats.org/officeDocument/2006/relationships/image" Target="../media/image8.png"/><Relationship Id="rId9" Type="http://schemas.openxmlformats.org/officeDocument/2006/relationships/slide" Target="slide20.xml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slide" Target="slide29.xml"/><Relationship Id="rId13" Type="http://schemas.openxmlformats.org/officeDocument/2006/relationships/slide" Target="slide33.xml"/><Relationship Id="rId14" Type="http://schemas.openxmlformats.org/officeDocument/2006/relationships/slide" Target="slide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3.xml"/><Relationship Id="rId3" Type="http://schemas.openxmlformats.org/officeDocument/2006/relationships/image" Target="../media/image11.jpg"/><Relationship Id="rId4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3.xml"/><Relationship Id="rId3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32.png"/><Relationship Id="rId4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Relationship Id="rId3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4.xml"/><Relationship Id="rId3" Type="http://schemas.openxmlformats.org/officeDocument/2006/relationships/image" Target="../media/image37.png"/><Relationship Id="rId4" Type="http://schemas.openxmlformats.org/officeDocument/2006/relationships/slide" Target="slide3.xml"/><Relationship Id="rId5" Type="http://schemas.openxmlformats.org/officeDocument/2006/relationships/image" Target="../media/image38.png"/><Relationship Id="rId6" Type="http://schemas.openxmlformats.org/officeDocument/2006/relationships/image" Target="../media/image7.png"/><Relationship Id="rId7" Type="http://schemas.openxmlformats.org/officeDocument/2006/relationships/slide" Target="slide13.xml"/><Relationship Id="rId8" Type="http://schemas.openxmlformats.org/officeDocument/2006/relationships/slide" Target="slide17.xml"/><Relationship Id="rId9" Type="http://schemas.openxmlformats.org/officeDocument/2006/relationships/image" Target="../media/image8.png"/><Relationship Id="rId10" Type="http://schemas.openxmlformats.org/officeDocument/2006/relationships/slide" Target="slide20.xml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slide" Target="slide29.xml"/><Relationship Id="rId14" Type="http://schemas.openxmlformats.org/officeDocument/2006/relationships/slide" Target="slide33.xml"/><Relationship Id="rId15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4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4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4.xml"/><Relationship Id="rId3" Type="http://schemas.openxmlformats.org/officeDocument/2006/relationships/image" Target="../media/image39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3" Type="http://schemas.openxmlformats.org/officeDocument/2006/relationships/image" Target="../media/image37.png"/><Relationship Id="rId4" Type="http://schemas.openxmlformats.org/officeDocument/2006/relationships/slide" Target="slide3.xml"/><Relationship Id="rId5" Type="http://schemas.openxmlformats.org/officeDocument/2006/relationships/image" Target="../media/image6.png"/><Relationship Id="rId6" Type="http://schemas.openxmlformats.org/officeDocument/2006/relationships/image" Target="../media/image62.png"/><Relationship Id="rId7" Type="http://schemas.openxmlformats.org/officeDocument/2006/relationships/slide" Target="slide13.xml"/><Relationship Id="rId8" Type="http://schemas.openxmlformats.org/officeDocument/2006/relationships/slide" Target="slide17.xml"/><Relationship Id="rId9" Type="http://schemas.openxmlformats.org/officeDocument/2006/relationships/image" Target="../media/image8.png"/><Relationship Id="rId10" Type="http://schemas.openxmlformats.org/officeDocument/2006/relationships/slide" Target="slide20.xml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slide" Target="slide29.xml"/><Relationship Id="rId14" Type="http://schemas.openxmlformats.org/officeDocument/2006/relationships/slide" Target="slide33.xml"/><Relationship Id="rId15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18.xml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8.xml"/><Relationship Id="rId3" Type="http://schemas.openxmlformats.org/officeDocument/2006/relationships/image" Target="../media/image39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37.png"/><Relationship Id="rId4" Type="http://schemas.openxmlformats.org/officeDocument/2006/relationships/slide" Target="slide3.xm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13.xml"/><Relationship Id="rId8" Type="http://schemas.openxmlformats.org/officeDocument/2006/relationships/slide" Target="slide17.xml"/><Relationship Id="rId9" Type="http://schemas.openxmlformats.org/officeDocument/2006/relationships/image" Target="../media/image76.png"/><Relationship Id="rId10" Type="http://schemas.openxmlformats.org/officeDocument/2006/relationships/slide" Target="slide20.xml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slide" Target="slide29.xml"/><Relationship Id="rId14" Type="http://schemas.openxmlformats.org/officeDocument/2006/relationships/slide" Target="slide33.xml"/><Relationship Id="rId15" Type="http://schemas.openxmlformats.org/officeDocument/2006/relationships/slide" Target="slide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slide" Target="slide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slide" Target="slide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slide" Target="slide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slide" Target="slide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3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slide" Target="slide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6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slide" Target="slide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3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slide" Target="slide1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1.xml"/><Relationship Id="rId3" Type="http://schemas.openxmlformats.org/officeDocument/2006/relationships/image" Target="../media/image97.png"/><Relationship Id="rId4" Type="http://schemas.openxmlformats.org/officeDocument/2006/relationships/image" Target="../media/image71.png"/><Relationship Id="rId5" Type="http://schemas.openxmlformats.org/officeDocument/2006/relationships/slide" Target="slide1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image" Target="../media/image37.png"/><Relationship Id="rId4" Type="http://schemas.openxmlformats.org/officeDocument/2006/relationships/slide" Target="slide3.xm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13.xml"/><Relationship Id="rId8" Type="http://schemas.openxmlformats.org/officeDocument/2006/relationships/slide" Target="slide17.xml"/><Relationship Id="rId9" Type="http://schemas.openxmlformats.org/officeDocument/2006/relationships/image" Target="../media/image8.png"/><Relationship Id="rId10" Type="http://schemas.openxmlformats.org/officeDocument/2006/relationships/slide" Target="slide20.xml"/><Relationship Id="rId11" Type="http://schemas.openxmlformats.org/officeDocument/2006/relationships/image" Target="../media/image98.png"/><Relationship Id="rId12" Type="http://schemas.openxmlformats.org/officeDocument/2006/relationships/image" Target="../media/image10.png"/><Relationship Id="rId13" Type="http://schemas.openxmlformats.org/officeDocument/2006/relationships/slide" Target="slide29.xml"/><Relationship Id="rId14" Type="http://schemas.openxmlformats.org/officeDocument/2006/relationships/slide" Target="slide33.xml"/><Relationship Id="rId15" Type="http://schemas.openxmlformats.org/officeDocument/2006/relationships/slide" Target="slide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image" Target="../media/image39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slide" Target="slide1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image" Target="../media/image39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slide" Target="slide1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0.xml"/><Relationship Id="rId3" Type="http://schemas.openxmlformats.org/officeDocument/2006/relationships/image" Target="../media/image39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Relationship Id="rId8" Type="http://schemas.openxmlformats.org/officeDocument/2006/relationships/slide" Target="slide1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34.xml"/><Relationship Id="rId3" Type="http://schemas.openxmlformats.org/officeDocument/2006/relationships/image" Target="../media/image37.png"/><Relationship Id="rId4" Type="http://schemas.openxmlformats.org/officeDocument/2006/relationships/slide" Target="slide3.xml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13.xml"/><Relationship Id="rId8" Type="http://schemas.openxmlformats.org/officeDocument/2006/relationships/slide" Target="slide17.xml"/><Relationship Id="rId9" Type="http://schemas.openxmlformats.org/officeDocument/2006/relationships/image" Target="../media/image8.png"/><Relationship Id="rId10" Type="http://schemas.openxmlformats.org/officeDocument/2006/relationships/slide" Target="slide20.xml"/><Relationship Id="rId11" Type="http://schemas.openxmlformats.org/officeDocument/2006/relationships/image" Target="../media/image9.png"/><Relationship Id="rId12" Type="http://schemas.openxmlformats.org/officeDocument/2006/relationships/image" Target="../media/image113.png"/><Relationship Id="rId13" Type="http://schemas.openxmlformats.org/officeDocument/2006/relationships/slide" Target="slide29.xml"/><Relationship Id="rId14" Type="http://schemas.openxmlformats.org/officeDocument/2006/relationships/slide" Target="slide33.xml"/><Relationship Id="rId15" Type="http://schemas.openxmlformats.org/officeDocument/2006/relationships/slide" Target="slide1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4.xml"/><Relationship Id="rId3" Type="http://schemas.openxmlformats.org/officeDocument/2006/relationships/image" Target="../media/image39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7743" y="54930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2" y="4008"/>
                </a:lnTo>
                <a:lnTo>
                  <a:pt x="4381767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87743" y="593721"/>
            <a:ext cx="4483735" cy="844550"/>
            <a:chOff x="87743" y="593721"/>
            <a:chExt cx="4483735" cy="8445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336116"/>
              <a:ext cx="101600" cy="1016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323416"/>
              <a:ext cx="4381767" cy="11430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1" y="599859"/>
              <a:ext cx="50800" cy="73625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7743" y="593721"/>
              <a:ext cx="4432935" cy="793750"/>
            </a:xfrm>
            <a:custGeom>
              <a:avLst/>
              <a:gdLst/>
              <a:ahLst/>
              <a:cxnLst/>
              <a:rect l="l" t="t" r="r" b="b"/>
              <a:pathLst>
                <a:path w="4432935" h="793750">
                  <a:moveTo>
                    <a:pt x="4432567" y="0"/>
                  </a:moveTo>
                  <a:lnTo>
                    <a:pt x="0" y="0"/>
                  </a:lnTo>
                  <a:lnTo>
                    <a:pt x="0" y="742395"/>
                  </a:lnTo>
                  <a:lnTo>
                    <a:pt x="4008" y="762119"/>
                  </a:lnTo>
                  <a:lnTo>
                    <a:pt x="14922" y="778272"/>
                  </a:lnTo>
                  <a:lnTo>
                    <a:pt x="31075" y="789186"/>
                  </a:lnTo>
                  <a:lnTo>
                    <a:pt x="50800" y="793195"/>
                  </a:lnTo>
                  <a:lnTo>
                    <a:pt x="4381767" y="793195"/>
                  </a:lnTo>
                  <a:lnTo>
                    <a:pt x="4401492" y="789186"/>
                  </a:lnTo>
                  <a:lnTo>
                    <a:pt x="4417644" y="778272"/>
                  </a:lnTo>
                  <a:lnTo>
                    <a:pt x="4428558" y="762119"/>
                  </a:lnTo>
                  <a:lnTo>
                    <a:pt x="4432567" y="74239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00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20311" y="637957"/>
              <a:ext cx="0" cy="717550"/>
            </a:xfrm>
            <a:custGeom>
              <a:avLst/>
              <a:gdLst/>
              <a:ahLst/>
              <a:cxnLst/>
              <a:rect l="l" t="t" r="r" b="b"/>
              <a:pathLst>
                <a:path w="0" h="717550">
                  <a:moveTo>
                    <a:pt x="0" y="71720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520311" y="6252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520311" y="61255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59985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96352" y="653628"/>
            <a:ext cx="181610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 b="0">
                <a:solidFill>
                  <a:srgbClr val="FFFFFF"/>
                </a:solidFill>
                <a:latin typeface="Palatino Linotype"/>
                <a:cs typeface="Palatino Linotype"/>
              </a:rPr>
              <a:t>Specification</a:t>
            </a:r>
            <a:r>
              <a:rPr dirty="0" spc="10" b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b="0">
                <a:solidFill>
                  <a:srgbClr val="FFFFFF"/>
                </a:solidFill>
                <a:latin typeface="Palatino Linotype"/>
                <a:cs typeface="Palatino Linotype"/>
              </a:rPr>
              <a:t>of</a:t>
            </a:r>
            <a:r>
              <a:rPr dirty="0" spc="15" b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pc="-20" b="0">
                <a:solidFill>
                  <a:srgbClr val="FFFFFF"/>
                </a:solidFill>
                <a:latin typeface="Palatino Linotype"/>
                <a:cs typeface="Palatino Linotype"/>
              </a:rPr>
              <a:t>Tokens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960321" y="914906"/>
            <a:ext cx="687705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dirty="0" sz="1100" spc="12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FFFFFF"/>
                </a:solidFill>
                <a:latin typeface="Cambria"/>
                <a:cs typeface="Cambria"/>
              </a:rPr>
              <a:t>Section</a:t>
            </a:r>
            <a:r>
              <a:rPr dirty="0" sz="110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mbria"/>
                <a:cs typeface="Cambria"/>
              </a:rPr>
              <a:t>3.3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71447" y="1595423"/>
            <a:ext cx="2065655" cy="8521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Palatino Linotype"/>
                <a:cs typeface="Palatino Linotype"/>
              </a:rPr>
              <a:t>R</a:t>
            </a:r>
            <a:r>
              <a:rPr dirty="0" cap="small" sz="1100">
                <a:latin typeface="Palatino Linotype"/>
                <a:cs typeface="Palatino Linotype"/>
              </a:rPr>
              <a:t>okan</a:t>
            </a:r>
            <a:r>
              <a:rPr dirty="0" sz="1100" spc="105">
                <a:latin typeface="Palatino Linotype"/>
                <a:cs typeface="Palatino Linotype"/>
              </a:rPr>
              <a:t> </a:t>
            </a:r>
            <a:r>
              <a:rPr dirty="0" sz="1100">
                <a:latin typeface="Palatino Linotype"/>
                <a:cs typeface="Palatino Linotype"/>
              </a:rPr>
              <a:t>U</a:t>
            </a:r>
            <a:r>
              <a:rPr dirty="0" cap="small" sz="1100">
                <a:latin typeface="Palatino Linotype"/>
                <a:cs typeface="Palatino Linotype"/>
              </a:rPr>
              <a:t>ddin</a:t>
            </a:r>
            <a:r>
              <a:rPr dirty="0" sz="1100" spc="110">
                <a:latin typeface="Palatino Linotype"/>
                <a:cs typeface="Palatino Linotype"/>
              </a:rPr>
              <a:t> </a:t>
            </a:r>
            <a:r>
              <a:rPr dirty="0" sz="1100" spc="-10">
                <a:latin typeface="Palatino Linotype"/>
                <a:cs typeface="Palatino Linotype"/>
              </a:rPr>
              <a:t>F</a:t>
            </a:r>
            <a:r>
              <a:rPr dirty="0" cap="small" sz="1100" spc="-10">
                <a:latin typeface="Palatino Linotype"/>
                <a:cs typeface="Palatino Linotype"/>
              </a:rPr>
              <a:t>aruqui</a:t>
            </a:r>
            <a:endParaRPr sz="1100">
              <a:latin typeface="Palatino Linotype"/>
              <a:cs typeface="Palatino Linotype"/>
            </a:endParaRPr>
          </a:p>
          <a:p>
            <a:pPr algn="ctr">
              <a:lnSpc>
                <a:spcPts val="955"/>
              </a:lnSpc>
              <a:spcBef>
                <a:spcPts val="1400"/>
              </a:spcBef>
            </a:pPr>
            <a:r>
              <a:rPr dirty="0" sz="800">
                <a:latin typeface="Palatino Linotype"/>
                <a:cs typeface="Palatino Linotype"/>
              </a:rPr>
              <a:t>Associate</a:t>
            </a:r>
            <a:r>
              <a:rPr dirty="0" sz="800" spc="180">
                <a:latin typeface="Palatino Linotype"/>
                <a:cs typeface="Palatino Linotype"/>
              </a:rPr>
              <a:t> </a:t>
            </a:r>
            <a:r>
              <a:rPr dirty="0" sz="800" spc="-10">
                <a:latin typeface="Palatino Linotype"/>
                <a:cs typeface="Palatino Linotype"/>
              </a:rPr>
              <a:t>Professor</a:t>
            </a:r>
            <a:endParaRPr sz="800">
              <a:latin typeface="Palatino Linotype"/>
              <a:cs typeface="Palatino Linotype"/>
            </a:endParaRPr>
          </a:p>
          <a:p>
            <a:pPr algn="ctr" marL="12700" marR="5080">
              <a:lnSpc>
                <a:spcPts val="950"/>
              </a:lnSpc>
              <a:spcBef>
                <a:spcPts val="30"/>
              </a:spcBef>
            </a:pPr>
            <a:r>
              <a:rPr dirty="0" sz="800">
                <a:latin typeface="Palatino Linotype"/>
                <a:cs typeface="Palatino Linotype"/>
              </a:rPr>
              <a:t>Dept</a:t>
            </a:r>
            <a:r>
              <a:rPr dirty="0" sz="800" spc="120">
                <a:latin typeface="Palatino Linotype"/>
                <a:cs typeface="Palatino Linotype"/>
              </a:rPr>
              <a:t> </a:t>
            </a:r>
            <a:r>
              <a:rPr dirty="0" sz="800">
                <a:latin typeface="Palatino Linotype"/>
                <a:cs typeface="Palatino Linotype"/>
              </a:rPr>
              <a:t>of</a:t>
            </a:r>
            <a:r>
              <a:rPr dirty="0" sz="800" spc="125">
                <a:latin typeface="Palatino Linotype"/>
                <a:cs typeface="Palatino Linotype"/>
              </a:rPr>
              <a:t> </a:t>
            </a:r>
            <a:r>
              <a:rPr dirty="0" sz="800">
                <a:latin typeface="Palatino Linotype"/>
                <a:cs typeface="Palatino Linotype"/>
              </a:rPr>
              <a:t>Computer</a:t>
            </a:r>
            <a:r>
              <a:rPr dirty="0" sz="800" spc="120">
                <a:latin typeface="Palatino Linotype"/>
                <a:cs typeface="Palatino Linotype"/>
              </a:rPr>
              <a:t> </a:t>
            </a:r>
            <a:r>
              <a:rPr dirty="0" sz="800">
                <a:latin typeface="Palatino Linotype"/>
                <a:cs typeface="Palatino Linotype"/>
              </a:rPr>
              <a:t>Science</a:t>
            </a:r>
            <a:r>
              <a:rPr dirty="0" sz="800" spc="125">
                <a:latin typeface="Palatino Linotype"/>
                <a:cs typeface="Palatino Linotype"/>
              </a:rPr>
              <a:t> </a:t>
            </a:r>
            <a:r>
              <a:rPr dirty="0" sz="800">
                <a:latin typeface="Palatino Linotype"/>
                <a:cs typeface="Palatino Linotype"/>
              </a:rPr>
              <a:t>and</a:t>
            </a:r>
            <a:r>
              <a:rPr dirty="0" sz="800" spc="120">
                <a:latin typeface="Palatino Linotype"/>
                <a:cs typeface="Palatino Linotype"/>
              </a:rPr>
              <a:t> </a:t>
            </a:r>
            <a:r>
              <a:rPr dirty="0" sz="800" spc="-10">
                <a:latin typeface="Palatino Linotype"/>
                <a:cs typeface="Palatino Linotype"/>
              </a:rPr>
              <a:t>Engineering</a:t>
            </a:r>
            <a:r>
              <a:rPr dirty="0" sz="800" spc="500">
                <a:latin typeface="Palatino Linotype"/>
                <a:cs typeface="Palatino Linotype"/>
              </a:rPr>
              <a:t> </a:t>
            </a:r>
            <a:r>
              <a:rPr dirty="0" sz="800">
                <a:latin typeface="Palatino Linotype"/>
                <a:cs typeface="Palatino Linotype"/>
              </a:rPr>
              <a:t>University</a:t>
            </a:r>
            <a:r>
              <a:rPr dirty="0" sz="800" spc="135">
                <a:latin typeface="Palatino Linotype"/>
                <a:cs typeface="Palatino Linotype"/>
              </a:rPr>
              <a:t> </a:t>
            </a:r>
            <a:r>
              <a:rPr dirty="0" sz="800">
                <a:latin typeface="Palatino Linotype"/>
                <a:cs typeface="Palatino Linotype"/>
              </a:rPr>
              <a:t>of</a:t>
            </a:r>
            <a:r>
              <a:rPr dirty="0" sz="800" spc="140">
                <a:latin typeface="Palatino Linotype"/>
                <a:cs typeface="Palatino Linotype"/>
              </a:rPr>
              <a:t> </a:t>
            </a:r>
            <a:r>
              <a:rPr dirty="0" sz="800">
                <a:latin typeface="Palatino Linotype"/>
                <a:cs typeface="Palatino Linotype"/>
              </a:rPr>
              <a:t>Chittaong,</a:t>
            </a:r>
            <a:r>
              <a:rPr dirty="0" sz="800" spc="135">
                <a:latin typeface="Palatino Linotype"/>
                <a:cs typeface="Palatino Linotype"/>
              </a:rPr>
              <a:t> </a:t>
            </a:r>
            <a:r>
              <a:rPr dirty="0" sz="800" spc="-10">
                <a:latin typeface="Palatino Linotype"/>
                <a:cs typeface="Palatino Linotype"/>
              </a:rPr>
              <a:t>Bangladesh</a:t>
            </a:r>
            <a:r>
              <a:rPr dirty="0" sz="800" spc="500">
                <a:latin typeface="Palatino Linotype"/>
                <a:cs typeface="Palatino Linotype"/>
              </a:rPr>
              <a:t>  </a:t>
            </a:r>
            <a:r>
              <a:rPr dirty="0" sz="800">
                <a:latin typeface="Palatino Linotype"/>
                <a:cs typeface="Palatino Linotype"/>
              </a:rPr>
              <a:t>Email:</a:t>
            </a:r>
            <a:r>
              <a:rPr dirty="0" sz="800" spc="285">
                <a:latin typeface="Palatino Linotype"/>
                <a:cs typeface="Palatino Linotype"/>
              </a:rPr>
              <a:t> </a:t>
            </a:r>
            <a:r>
              <a:rPr dirty="0" sz="800" spc="40" i="1">
                <a:latin typeface="Palatino Linotype"/>
                <a:cs typeface="Palatino Linotype"/>
                <a:hlinkClick r:id="rId5"/>
              </a:rPr>
              <a:t>rokan@cu.ac.bd</a:t>
            </a:r>
            <a:endParaRPr sz="800">
              <a:latin typeface="Palatino Linotype"/>
              <a:cs typeface="Palatino Linotype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2938730" y="339658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2859113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3036915" y="3392627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3158299" y="3383746"/>
            <a:ext cx="203200" cy="55880"/>
            <a:chOff x="3158299" y="3383746"/>
            <a:chExt cx="203200" cy="55880"/>
          </a:xfrm>
        </p:grpSpPr>
        <p:sp>
          <p:nvSpPr>
            <p:cNvPr id="19" name="object 19" descr=""/>
            <p:cNvSpPr/>
            <p:nvPr/>
          </p:nvSpPr>
          <p:spPr>
            <a:xfrm>
              <a:off x="3221468" y="3386276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158299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3457486" y="3382480"/>
            <a:ext cx="203200" cy="58419"/>
            <a:chOff x="3457486" y="3382480"/>
            <a:chExt cx="203200" cy="58419"/>
          </a:xfrm>
        </p:grpSpPr>
        <p:sp>
          <p:nvSpPr>
            <p:cNvPr id="22" name="object 22" descr=""/>
            <p:cNvSpPr/>
            <p:nvPr/>
          </p:nvSpPr>
          <p:spPr>
            <a:xfrm>
              <a:off x="3546387" y="339897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457486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533687" y="3386276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3756673" y="3382480"/>
            <a:ext cx="203200" cy="58419"/>
            <a:chOff x="3756673" y="3382480"/>
            <a:chExt cx="203200" cy="58419"/>
          </a:xfrm>
        </p:grpSpPr>
        <p:sp>
          <p:nvSpPr>
            <p:cNvPr id="26" name="object 26" descr=""/>
            <p:cNvSpPr/>
            <p:nvPr/>
          </p:nvSpPr>
          <p:spPr>
            <a:xfrm>
              <a:off x="3832873" y="3386276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756673" y="339262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832873" y="342437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/>
          <p:nvPr/>
        </p:nvSpPr>
        <p:spPr>
          <a:xfrm>
            <a:off x="4132060" y="3386276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4337275" y="3383746"/>
            <a:ext cx="238760" cy="57150"/>
            <a:chOff x="4337275" y="3383746"/>
            <a:chExt cx="238760" cy="57150"/>
          </a:xfrm>
        </p:grpSpPr>
        <p:sp>
          <p:nvSpPr>
            <p:cNvPr id="31" name="object 31" descr=""/>
            <p:cNvSpPr/>
            <p:nvPr/>
          </p:nvSpPr>
          <p:spPr>
            <a:xfrm>
              <a:off x="4461727" y="341675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434663" y="3390262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339806" y="3386276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4492" y="2935494"/>
            <a:ext cx="177526" cy="25919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039276" y="324909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959659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137461" y="3245129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399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3236595" y="3236248"/>
            <a:ext cx="203200" cy="55880"/>
            <a:chOff x="3236595" y="3236248"/>
            <a:chExt cx="203200" cy="55880"/>
          </a:xfrm>
        </p:grpSpPr>
        <p:sp>
          <p:nvSpPr>
            <p:cNvPr id="7" name="object 7" descr=""/>
            <p:cNvSpPr/>
            <p:nvPr/>
          </p:nvSpPr>
          <p:spPr>
            <a:xfrm>
              <a:off x="3299764" y="3238778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3" y="0"/>
                  </a:lnTo>
                  <a:lnTo>
                    <a:pt x="63833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236595" y="3245129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3513531" y="3234982"/>
            <a:ext cx="203200" cy="58419"/>
            <a:chOff x="3513531" y="3234982"/>
            <a:chExt cx="203200" cy="58419"/>
          </a:xfrm>
        </p:grpSpPr>
        <p:sp>
          <p:nvSpPr>
            <p:cNvPr id="10" name="object 10" descr=""/>
            <p:cNvSpPr/>
            <p:nvPr/>
          </p:nvSpPr>
          <p:spPr>
            <a:xfrm>
              <a:off x="3602432" y="3251478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1" y="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513531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89732" y="323877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1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1" y="508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3790467" y="3234982"/>
            <a:ext cx="203200" cy="58419"/>
            <a:chOff x="3790467" y="3234982"/>
            <a:chExt cx="203200" cy="58419"/>
          </a:xfrm>
        </p:grpSpPr>
        <p:sp>
          <p:nvSpPr>
            <p:cNvPr id="14" name="object 14" descr=""/>
            <p:cNvSpPr/>
            <p:nvPr/>
          </p:nvSpPr>
          <p:spPr>
            <a:xfrm>
              <a:off x="3866668" y="3238778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1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1" y="2540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90467" y="3245128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66668" y="3276879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700"/>
                  </a:moveTo>
                  <a:lnTo>
                    <a:pt x="50801" y="12700"/>
                  </a:lnTo>
                </a:path>
              </a:pathLst>
            </a:custGeom>
            <a:ln w="7591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/>
          <p:nvPr/>
        </p:nvSpPr>
        <p:spPr>
          <a:xfrm>
            <a:off x="4143604" y="323877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1" y="12700"/>
                </a:lnTo>
              </a:path>
              <a:path w="50800" h="50800">
                <a:moveTo>
                  <a:pt x="12700" y="25400"/>
                </a:moveTo>
                <a:lnTo>
                  <a:pt x="50801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1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4326582" y="3236248"/>
            <a:ext cx="238760" cy="57150"/>
            <a:chOff x="4326582" y="3236248"/>
            <a:chExt cx="238760" cy="57150"/>
          </a:xfrm>
        </p:grpSpPr>
        <p:sp>
          <p:nvSpPr>
            <p:cNvPr id="19" name="object 19" descr=""/>
            <p:cNvSpPr/>
            <p:nvPr/>
          </p:nvSpPr>
          <p:spPr>
            <a:xfrm>
              <a:off x="4451033" y="326925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1" y="20320"/>
                  </a:lnTo>
                </a:path>
              </a:pathLst>
            </a:custGeom>
            <a:ln w="7591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423969" y="3242764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7" y="15183"/>
                  </a:moveTo>
                  <a:lnTo>
                    <a:pt x="30367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7" y="23568"/>
                  </a:lnTo>
                  <a:lnTo>
                    <a:pt x="30367" y="15183"/>
                  </a:lnTo>
                  <a:close/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329112" y="3238778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80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80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0" y="50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5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80"/>
              <a:t>The</a:t>
            </a:r>
            <a:r>
              <a:rPr dirty="0" spc="180"/>
              <a:t> </a:t>
            </a:r>
            <a:r>
              <a:rPr dirty="0" spc="70"/>
              <a:t>Phases</a:t>
            </a:r>
            <a:r>
              <a:rPr dirty="0" spc="185"/>
              <a:t> </a:t>
            </a:r>
            <a:r>
              <a:rPr dirty="0"/>
              <a:t>of</a:t>
            </a:r>
            <a:r>
              <a:rPr dirty="0" spc="185"/>
              <a:t> </a:t>
            </a:r>
            <a:r>
              <a:rPr dirty="0" spc="40"/>
              <a:t>Compilation</a:t>
            </a:r>
          </a:p>
        </p:txBody>
      </p:sp>
      <p:grpSp>
        <p:nvGrpSpPr>
          <p:cNvPr id="24" name="object 24" descr=""/>
          <p:cNvGrpSpPr/>
          <p:nvPr/>
        </p:nvGrpSpPr>
        <p:grpSpPr>
          <a:xfrm>
            <a:off x="1926525" y="925080"/>
            <a:ext cx="1417955" cy="194945"/>
            <a:chOff x="1926525" y="925080"/>
            <a:chExt cx="1417955" cy="194945"/>
          </a:xfrm>
        </p:grpSpPr>
        <p:sp>
          <p:nvSpPr>
            <p:cNvPr id="25" name="object 25" descr=""/>
            <p:cNvSpPr/>
            <p:nvPr/>
          </p:nvSpPr>
          <p:spPr>
            <a:xfrm>
              <a:off x="1929065" y="927620"/>
              <a:ext cx="1412875" cy="189865"/>
            </a:xfrm>
            <a:custGeom>
              <a:avLst/>
              <a:gdLst/>
              <a:ahLst/>
              <a:cxnLst/>
              <a:rect l="l" t="t" r="r" b="b"/>
              <a:pathLst>
                <a:path w="1412875" h="189865">
                  <a:moveTo>
                    <a:pt x="1361728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64"/>
                  </a:lnTo>
                  <a:lnTo>
                    <a:pt x="3977" y="158765"/>
                  </a:lnTo>
                  <a:lnTo>
                    <a:pt x="14823" y="174852"/>
                  </a:lnTo>
                  <a:lnTo>
                    <a:pt x="30910" y="185697"/>
                  </a:lnTo>
                  <a:lnTo>
                    <a:pt x="50610" y="189674"/>
                  </a:lnTo>
                  <a:lnTo>
                    <a:pt x="1361728" y="189674"/>
                  </a:lnTo>
                  <a:lnTo>
                    <a:pt x="1381428" y="185697"/>
                  </a:lnTo>
                  <a:lnTo>
                    <a:pt x="1397515" y="174852"/>
                  </a:lnTo>
                  <a:lnTo>
                    <a:pt x="1408361" y="158765"/>
                  </a:lnTo>
                  <a:lnTo>
                    <a:pt x="1412339" y="139064"/>
                  </a:lnTo>
                  <a:lnTo>
                    <a:pt x="1412339" y="50609"/>
                  </a:lnTo>
                  <a:lnTo>
                    <a:pt x="1408361" y="30909"/>
                  </a:lnTo>
                  <a:lnTo>
                    <a:pt x="1397515" y="14822"/>
                  </a:lnTo>
                  <a:lnTo>
                    <a:pt x="1381428" y="3976"/>
                  </a:lnTo>
                  <a:lnTo>
                    <a:pt x="1361728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929065" y="927620"/>
              <a:ext cx="1412875" cy="189865"/>
            </a:xfrm>
            <a:custGeom>
              <a:avLst/>
              <a:gdLst/>
              <a:ahLst/>
              <a:cxnLst/>
              <a:rect l="l" t="t" r="r" b="b"/>
              <a:pathLst>
                <a:path w="1412875" h="189865">
                  <a:moveTo>
                    <a:pt x="1361728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64"/>
                  </a:lnTo>
                  <a:lnTo>
                    <a:pt x="3977" y="158765"/>
                  </a:lnTo>
                  <a:lnTo>
                    <a:pt x="14823" y="174852"/>
                  </a:lnTo>
                  <a:lnTo>
                    <a:pt x="30910" y="185697"/>
                  </a:lnTo>
                  <a:lnTo>
                    <a:pt x="50610" y="189674"/>
                  </a:lnTo>
                  <a:lnTo>
                    <a:pt x="1361728" y="189674"/>
                  </a:lnTo>
                  <a:lnTo>
                    <a:pt x="1381428" y="185697"/>
                  </a:lnTo>
                  <a:lnTo>
                    <a:pt x="1397515" y="174852"/>
                  </a:lnTo>
                  <a:lnTo>
                    <a:pt x="1408361" y="158765"/>
                  </a:lnTo>
                  <a:lnTo>
                    <a:pt x="1412339" y="139064"/>
                  </a:lnTo>
                  <a:lnTo>
                    <a:pt x="1412339" y="50609"/>
                  </a:lnTo>
                  <a:lnTo>
                    <a:pt x="1408361" y="30909"/>
                  </a:lnTo>
                  <a:lnTo>
                    <a:pt x="1397515" y="14822"/>
                  </a:lnTo>
                  <a:lnTo>
                    <a:pt x="1381428" y="3976"/>
                  </a:lnTo>
                  <a:lnTo>
                    <a:pt x="1361728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954314" y="587344"/>
            <a:ext cx="1362075" cy="4997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Palatino Linotype"/>
                <a:cs typeface="Palatino Linotype"/>
              </a:rPr>
              <a:t>Source</a:t>
            </a:r>
            <a:r>
              <a:rPr dirty="0" sz="900" spc="50">
                <a:latin typeface="Palatino Linotype"/>
                <a:cs typeface="Palatino Linotype"/>
              </a:rPr>
              <a:t> </a:t>
            </a:r>
            <a:r>
              <a:rPr dirty="0" sz="900" spc="-10">
                <a:latin typeface="Palatino Linotype"/>
                <a:cs typeface="Palatino Linotype"/>
              </a:rPr>
              <a:t>Program</a:t>
            </a:r>
            <a:endParaRPr sz="9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9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</a:pPr>
            <a:r>
              <a:rPr dirty="0" sz="900">
                <a:latin typeface="Palatino Linotype"/>
                <a:cs typeface="Palatino Linotype"/>
              </a:rPr>
              <a:t>Scanner</a:t>
            </a:r>
            <a:r>
              <a:rPr dirty="0" sz="900" spc="125">
                <a:latin typeface="Palatino Linotype"/>
                <a:cs typeface="Palatino Linotype"/>
              </a:rPr>
              <a:t> </a:t>
            </a:r>
            <a:r>
              <a:rPr dirty="0" sz="900">
                <a:latin typeface="Palatino Linotype"/>
                <a:cs typeface="Palatino Linotype"/>
              </a:rPr>
              <a:t>(Lexical</a:t>
            </a:r>
            <a:r>
              <a:rPr dirty="0" sz="900" spc="125">
                <a:latin typeface="Palatino Linotype"/>
                <a:cs typeface="Palatino Linotype"/>
              </a:rPr>
              <a:t> </a:t>
            </a:r>
            <a:r>
              <a:rPr dirty="0" sz="900" spc="-10">
                <a:latin typeface="Palatino Linotype"/>
                <a:cs typeface="Palatino Linotype"/>
              </a:rPr>
              <a:t>analysis)</a:t>
            </a:r>
            <a:endParaRPr sz="900">
              <a:latin typeface="Palatino Linotype"/>
              <a:cs typeface="Palatino Linotype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417107" y="787971"/>
            <a:ext cx="2983865" cy="2276475"/>
            <a:chOff x="1417107" y="787971"/>
            <a:chExt cx="2983865" cy="2276475"/>
          </a:xfrm>
        </p:grpSpPr>
        <p:sp>
          <p:nvSpPr>
            <p:cNvPr id="29" name="object 29" descr=""/>
            <p:cNvSpPr/>
            <p:nvPr/>
          </p:nvSpPr>
          <p:spPr>
            <a:xfrm>
              <a:off x="2635234" y="790511"/>
              <a:ext cx="0" cy="128905"/>
            </a:xfrm>
            <a:custGeom>
              <a:avLst/>
              <a:gdLst/>
              <a:ahLst/>
              <a:cxnLst/>
              <a:rect l="l" t="t" r="r" b="b"/>
              <a:pathLst>
                <a:path w="0" h="128905">
                  <a:moveTo>
                    <a:pt x="0" y="12876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614990" y="90409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995454" y="1251623"/>
              <a:ext cx="1280160" cy="189865"/>
            </a:xfrm>
            <a:custGeom>
              <a:avLst/>
              <a:gdLst/>
              <a:ahLst/>
              <a:cxnLst/>
              <a:rect l="l" t="t" r="r" b="b"/>
              <a:pathLst>
                <a:path w="1280160" h="189865">
                  <a:moveTo>
                    <a:pt x="1228949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64"/>
                  </a:lnTo>
                  <a:lnTo>
                    <a:pt x="3977" y="158765"/>
                  </a:lnTo>
                  <a:lnTo>
                    <a:pt x="14823" y="174852"/>
                  </a:lnTo>
                  <a:lnTo>
                    <a:pt x="30910" y="185697"/>
                  </a:lnTo>
                  <a:lnTo>
                    <a:pt x="50610" y="189674"/>
                  </a:lnTo>
                  <a:lnTo>
                    <a:pt x="1228949" y="189674"/>
                  </a:lnTo>
                  <a:lnTo>
                    <a:pt x="1248650" y="185697"/>
                  </a:lnTo>
                  <a:lnTo>
                    <a:pt x="1264737" y="174852"/>
                  </a:lnTo>
                  <a:lnTo>
                    <a:pt x="1275583" y="158765"/>
                  </a:lnTo>
                  <a:lnTo>
                    <a:pt x="1279560" y="139064"/>
                  </a:lnTo>
                  <a:lnTo>
                    <a:pt x="1279560" y="50609"/>
                  </a:lnTo>
                  <a:lnTo>
                    <a:pt x="1275583" y="30909"/>
                  </a:lnTo>
                  <a:lnTo>
                    <a:pt x="1264737" y="14822"/>
                  </a:lnTo>
                  <a:lnTo>
                    <a:pt x="1248650" y="3976"/>
                  </a:lnTo>
                  <a:lnTo>
                    <a:pt x="1228949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995454" y="1251623"/>
              <a:ext cx="1280160" cy="189865"/>
            </a:xfrm>
            <a:custGeom>
              <a:avLst/>
              <a:gdLst/>
              <a:ahLst/>
              <a:cxnLst/>
              <a:rect l="l" t="t" r="r" b="b"/>
              <a:pathLst>
                <a:path w="1280160" h="189865">
                  <a:moveTo>
                    <a:pt x="1228949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39064"/>
                  </a:lnTo>
                  <a:lnTo>
                    <a:pt x="3977" y="158765"/>
                  </a:lnTo>
                  <a:lnTo>
                    <a:pt x="14823" y="174852"/>
                  </a:lnTo>
                  <a:lnTo>
                    <a:pt x="30910" y="185697"/>
                  </a:lnTo>
                  <a:lnTo>
                    <a:pt x="50610" y="189674"/>
                  </a:lnTo>
                  <a:lnTo>
                    <a:pt x="1228949" y="189674"/>
                  </a:lnTo>
                  <a:lnTo>
                    <a:pt x="1248650" y="185697"/>
                  </a:lnTo>
                  <a:lnTo>
                    <a:pt x="1264737" y="174852"/>
                  </a:lnTo>
                  <a:lnTo>
                    <a:pt x="1275583" y="158765"/>
                  </a:lnTo>
                  <a:lnTo>
                    <a:pt x="1279560" y="139064"/>
                  </a:lnTo>
                  <a:lnTo>
                    <a:pt x="1279560" y="50609"/>
                  </a:lnTo>
                  <a:lnTo>
                    <a:pt x="1275583" y="30909"/>
                  </a:lnTo>
                  <a:lnTo>
                    <a:pt x="1264737" y="14822"/>
                  </a:lnTo>
                  <a:lnTo>
                    <a:pt x="1248650" y="3976"/>
                  </a:lnTo>
                  <a:lnTo>
                    <a:pt x="1228949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144687" y="1580692"/>
              <a:ext cx="981710" cy="179705"/>
            </a:xfrm>
            <a:custGeom>
              <a:avLst/>
              <a:gdLst/>
              <a:ahLst/>
              <a:cxnLst/>
              <a:rect l="l" t="t" r="r" b="b"/>
              <a:pathLst>
                <a:path w="981710" h="179705">
                  <a:moveTo>
                    <a:pt x="930484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930"/>
                  </a:lnTo>
                  <a:lnTo>
                    <a:pt x="3977" y="148630"/>
                  </a:lnTo>
                  <a:lnTo>
                    <a:pt x="14823" y="164717"/>
                  </a:lnTo>
                  <a:lnTo>
                    <a:pt x="30910" y="175563"/>
                  </a:lnTo>
                  <a:lnTo>
                    <a:pt x="50610" y="179539"/>
                  </a:lnTo>
                  <a:lnTo>
                    <a:pt x="930484" y="179539"/>
                  </a:lnTo>
                  <a:lnTo>
                    <a:pt x="950185" y="175563"/>
                  </a:lnTo>
                  <a:lnTo>
                    <a:pt x="966272" y="164717"/>
                  </a:lnTo>
                  <a:lnTo>
                    <a:pt x="977118" y="148630"/>
                  </a:lnTo>
                  <a:lnTo>
                    <a:pt x="981095" y="128930"/>
                  </a:lnTo>
                  <a:lnTo>
                    <a:pt x="981095" y="50609"/>
                  </a:lnTo>
                  <a:lnTo>
                    <a:pt x="977118" y="30909"/>
                  </a:lnTo>
                  <a:lnTo>
                    <a:pt x="966272" y="14822"/>
                  </a:lnTo>
                  <a:lnTo>
                    <a:pt x="950185" y="3976"/>
                  </a:lnTo>
                  <a:lnTo>
                    <a:pt x="930484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144687" y="1580692"/>
              <a:ext cx="981710" cy="179705"/>
            </a:xfrm>
            <a:custGeom>
              <a:avLst/>
              <a:gdLst/>
              <a:ahLst/>
              <a:cxnLst/>
              <a:rect l="l" t="t" r="r" b="b"/>
              <a:pathLst>
                <a:path w="981710" h="179705">
                  <a:moveTo>
                    <a:pt x="930484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8930"/>
                  </a:lnTo>
                  <a:lnTo>
                    <a:pt x="3977" y="148630"/>
                  </a:lnTo>
                  <a:lnTo>
                    <a:pt x="14823" y="164717"/>
                  </a:lnTo>
                  <a:lnTo>
                    <a:pt x="30910" y="175563"/>
                  </a:lnTo>
                  <a:lnTo>
                    <a:pt x="50610" y="179539"/>
                  </a:lnTo>
                  <a:lnTo>
                    <a:pt x="930484" y="179539"/>
                  </a:lnTo>
                  <a:lnTo>
                    <a:pt x="950185" y="175563"/>
                  </a:lnTo>
                  <a:lnTo>
                    <a:pt x="966272" y="164717"/>
                  </a:lnTo>
                  <a:lnTo>
                    <a:pt x="977118" y="148630"/>
                  </a:lnTo>
                  <a:lnTo>
                    <a:pt x="981095" y="128930"/>
                  </a:lnTo>
                  <a:lnTo>
                    <a:pt x="981095" y="50609"/>
                  </a:lnTo>
                  <a:lnTo>
                    <a:pt x="977118" y="30909"/>
                  </a:lnTo>
                  <a:lnTo>
                    <a:pt x="966272" y="14822"/>
                  </a:lnTo>
                  <a:lnTo>
                    <a:pt x="950185" y="3976"/>
                  </a:lnTo>
                  <a:lnTo>
                    <a:pt x="93048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850663" y="1905266"/>
              <a:ext cx="1569720" cy="178435"/>
            </a:xfrm>
            <a:custGeom>
              <a:avLst/>
              <a:gdLst/>
              <a:ahLst/>
              <a:cxnLst/>
              <a:rect l="l" t="t" r="r" b="b"/>
              <a:pathLst>
                <a:path w="1569720" h="178435">
                  <a:moveTo>
                    <a:pt x="151853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7"/>
                  </a:lnTo>
                  <a:lnTo>
                    <a:pt x="3977" y="147487"/>
                  </a:lnTo>
                  <a:lnTo>
                    <a:pt x="14823" y="163574"/>
                  </a:lnTo>
                  <a:lnTo>
                    <a:pt x="30910" y="174420"/>
                  </a:lnTo>
                  <a:lnTo>
                    <a:pt x="50610" y="178396"/>
                  </a:lnTo>
                  <a:lnTo>
                    <a:pt x="1518532" y="178396"/>
                  </a:lnTo>
                  <a:lnTo>
                    <a:pt x="1538232" y="174420"/>
                  </a:lnTo>
                  <a:lnTo>
                    <a:pt x="1554319" y="163574"/>
                  </a:lnTo>
                  <a:lnTo>
                    <a:pt x="1565166" y="147487"/>
                  </a:lnTo>
                  <a:lnTo>
                    <a:pt x="1569143" y="127787"/>
                  </a:lnTo>
                  <a:lnTo>
                    <a:pt x="1569143" y="50609"/>
                  </a:lnTo>
                  <a:lnTo>
                    <a:pt x="1565166" y="30909"/>
                  </a:lnTo>
                  <a:lnTo>
                    <a:pt x="1554319" y="14822"/>
                  </a:lnTo>
                  <a:lnTo>
                    <a:pt x="1538232" y="3976"/>
                  </a:lnTo>
                  <a:lnTo>
                    <a:pt x="1518532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850663" y="1905266"/>
              <a:ext cx="1569720" cy="178435"/>
            </a:xfrm>
            <a:custGeom>
              <a:avLst/>
              <a:gdLst/>
              <a:ahLst/>
              <a:cxnLst/>
              <a:rect l="l" t="t" r="r" b="b"/>
              <a:pathLst>
                <a:path w="1569720" h="178435">
                  <a:moveTo>
                    <a:pt x="1518532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7"/>
                  </a:lnTo>
                  <a:lnTo>
                    <a:pt x="3977" y="147487"/>
                  </a:lnTo>
                  <a:lnTo>
                    <a:pt x="14823" y="163574"/>
                  </a:lnTo>
                  <a:lnTo>
                    <a:pt x="30910" y="174420"/>
                  </a:lnTo>
                  <a:lnTo>
                    <a:pt x="50610" y="178396"/>
                  </a:lnTo>
                  <a:lnTo>
                    <a:pt x="1518532" y="178396"/>
                  </a:lnTo>
                  <a:lnTo>
                    <a:pt x="1538232" y="174420"/>
                  </a:lnTo>
                  <a:lnTo>
                    <a:pt x="1554319" y="163574"/>
                  </a:lnTo>
                  <a:lnTo>
                    <a:pt x="1565166" y="147487"/>
                  </a:lnTo>
                  <a:lnTo>
                    <a:pt x="1569143" y="127787"/>
                  </a:lnTo>
                  <a:lnTo>
                    <a:pt x="1569143" y="50609"/>
                  </a:lnTo>
                  <a:lnTo>
                    <a:pt x="1565166" y="30909"/>
                  </a:lnTo>
                  <a:lnTo>
                    <a:pt x="1554319" y="14822"/>
                  </a:lnTo>
                  <a:lnTo>
                    <a:pt x="1538232" y="3976"/>
                  </a:lnTo>
                  <a:lnTo>
                    <a:pt x="1518532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74460" y="2229954"/>
              <a:ext cx="2122170" cy="177165"/>
            </a:xfrm>
            <a:custGeom>
              <a:avLst/>
              <a:gdLst/>
              <a:ahLst/>
              <a:cxnLst/>
              <a:rect l="l" t="t" r="r" b="b"/>
              <a:pathLst>
                <a:path w="2122170" h="177164">
                  <a:moveTo>
                    <a:pt x="2070934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6415"/>
                  </a:lnTo>
                  <a:lnTo>
                    <a:pt x="3977" y="146116"/>
                  </a:lnTo>
                  <a:lnTo>
                    <a:pt x="14823" y="162202"/>
                  </a:lnTo>
                  <a:lnTo>
                    <a:pt x="30910" y="173048"/>
                  </a:lnTo>
                  <a:lnTo>
                    <a:pt x="50610" y="177025"/>
                  </a:lnTo>
                  <a:lnTo>
                    <a:pt x="2070934" y="177025"/>
                  </a:lnTo>
                  <a:lnTo>
                    <a:pt x="2090634" y="173048"/>
                  </a:lnTo>
                  <a:lnTo>
                    <a:pt x="2106721" y="162202"/>
                  </a:lnTo>
                  <a:lnTo>
                    <a:pt x="2117567" y="146116"/>
                  </a:lnTo>
                  <a:lnTo>
                    <a:pt x="2121543" y="126415"/>
                  </a:lnTo>
                  <a:lnTo>
                    <a:pt x="2121543" y="50609"/>
                  </a:lnTo>
                  <a:lnTo>
                    <a:pt x="2117567" y="30909"/>
                  </a:lnTo>
                  <a:lnTo>
                    <a:pt x="2106721" y="14822"/>
                  </a:lnTo>
                  <a:lnTo>
                    <a:pt x="2090634" y="3976"/>
                  </a:lnTo>
                  <a:lnTo>
                    <a:pt x="2070934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74460" y="2229954"/>
              <a:ext cx="2122170" cy="177165"/>
            </a:xfrm>
            <a:custGeom>
              <a:avLst/>
              <a:gdLst/>
              <a:ahLst/>
              <a:cxnLst/>
              <a:rect l="l" t="t" r="r" b="b"/>
              <a:pathLst>
                <a:path w="2122170" h="177164">
                  <a:moveTo>
                    <a:pt x="2070934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6415"/>
                  </a:lnTo>
                  <a:lnTo>
                    <a:pt x="3977" y="146116"/>
                  </a:lnTo>
                  <a:lnTo>
                    <a:pt x="14823" y="162202"/>
                  </a:lnTo>
                  <a:lnTo>
                    <a:pt x="30910" y="173048"/>
                  </a:lnTo>
                  <a:lnTo>
                    <a:pt x="50610" y="177025"/>
                  </a:lnTo>
                  <a:lnTo>
                    <a:pt x="2070934" y="177025"/>
                  </a:lnTo>
                  <a:lnTo>
                    <a:pt x="2090634" y="173048"/>
                  </a:lnTo>
                  <a:lnTo>
                    <a:pt x="2106721" y="162202"/>
                  </a:lnTo>
                  <a:lnTo>
                    <a:pt x="2117567" y="146116"/>
                  </a:lnTo>
                  <a:lnTo>
                    <a:pt x="2121543" y="126415"/>
                  </a:lnTo>
                  <a:lnTo>
                    <a:pt x="2121543" y="50609"/>
                  </a:lnTo>
                  <a:lnTo>
                    <a:pt x="2117567" y="30909"/>
                  </a:lnTo>
                  <a:lnTo>
                    <a:pt x="2106721" y="14822"/>
                  </a:lnTo>
                  <a:lnTo>
                    <a:pt x="2090634" y="3976"/>
                  </a:lnTo>
                  <a:lnTo>
                    <a:pt x="2070934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008379" y="2553271"/>
              <a:ext cx="1254125" cy="178435"/>
            </a:xfrm>
            <a:custGeom>
              <a:avLst/>
              <a:gdLst/>
              <a:ahLst/>
              <a:cxnLst/>
              <a:rect l="l" t="t" r="r" b="b"/>
              <a:pathLst>
                <a:path w="1254125" h="178435">
                  <a:moveTo>
                    <a:pt x="1203100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2"/>
                  </a:lnTo>
                  <a:lnTo>
                    <a:pt x="3977" y="147482"/>
                  </a:lnTo>
                  <a:lnTo>
                    <a:pt x="14823" y="163569"/>
                  </a:lnTo>
                  <a:lnTo>
                    <a:pt x="30910" y="174416"/>
                  </a:lnTo>
                  <a:lnTo>
                    <a:pt x="50610" y="178393"/>
                  </a:lnTo>
                  <a:lnTo>
                    <a:pt x="1203100" y="178393"/>
                  </a:lnTo>
                  <a:lnTo>
                    <a:pt x="1222800" y="174416"/>
                  </a:lnTo>
                  <a:lnTo>
                    <a:pt x="1238887" y="163569"/>
                  </a:lnTo>
                  <a:lnTo>
                    <a:pt x="1249733" y="147482"/>
                  </a:lnTo>
                  <a:lnTo>
                    <a:pt x="1253710" y="127782"/>
                  </a:lnTo>
                  <a:lnTo>
                    <a:pt x="1253710" y="50609"/>
                  </a:lnTo>
                  <a:lnTo>
                    <a:pt x="1249733" y="30909"/>
                  </a:lnTo>
                  <a:lnTo>
                    <a:pt x="1238887" y="14822"/>
                  </a:lnTo>
                  <a:lnTo>
                    <a:pt x="1222800" y="3976"/>
                  </a:lnTo>
                  <a:lnTo>
                    <a:pt x="120310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008379" y="2553271"/>
              <a:ext cx="1254125" cy="178435"/>
            </a:xfrm>
            <a:custGeom>
              <a:avLst/>
              <a:gdLst/>
              <a:ahLst/>
              <a:cxnLst/>
              <a:rect l="l" t="t" r="r" b="b"/>
              <a:pathLst>
                <a:path w="1254125" h="178435">
                  <a:moveTo>
                    <a:pt x="1203100" y="0"/>
                  </a:moveTo>
                  <a:lnTo>
                    <a:pt x="50610" y="0"/>
                  </a:lnTo>
                  <a:lnTo>
                    <a:pt x="30910" y="3976"/>
                  </a:lnTo>
                  <a:lnTo>
                    <a:pt x="14823" y="14822"/>
                  </a:lnTo>
                  <a:lnTo>
                    <a:pt x="3977" y="30909"/>
                  </a:lnTo>
                  <a:lnTo>
                    <a:pt x="0" y="50609"/>
                  </a:lnTo>
                  <a:lnTo>
                    <a:pt x="0" y="127782"/>
                  </a:lnTo>
                  <a:lnTo>
                    <a:pt x="3977" y="147482"/>
                  </a:lnTo>
                  <a:lnTo>
                    <a:pt x="14823" y="163569"/>
                  </a:lnTo>
                  <a:lnTo>
                    <a:pt x="30910" y="174416"/>
                  </a:lnTo>
                  <a:lnTo>
                    <a:pt x="50610" y="178393"/>
                  </a:lnTo>
                  <a:lnTo>
                    <a:pt x="1203100" y="178393"/>
                  </a:lnTo>
                  <a:lnTo>
                    <a:pt x="1222800" y="174416"/>
                  </a:lnTo>
                  <a:lnTo>
                    <a:pt x="1238887" y="163569"/>
                  </a:lnTo>
                  <a:lnTo>
                    <a:pt x="1249733" y="147482"/>
                  </a:lnTo>
                  <a:lnTo>
                    <a:pt x="1253710" y="127782"/>
                  </a:lnTo>
                  <a:lnTo>
                    <a:pt x="1253710" y="50609"/>
                  </a:lnTo>
                  <a:lnTo>
                    <a:pt x="1249733" y="30909"/>
                  </a:lnTo>
                  <a:lnTo>
                    <a:pt x="1238887" y="14822"/>
                  </a:lnTo>
                  <a:lnTo>
                    <a:pt x="1222800" y="3976"/>
                  </a:lnTo>
                  <a:lnTo>
                    <a:pt x="120310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419647" y="2871635"/>
              <a:ext cx="2431415" cy="189865"/>
            </a:xfrm>
            <a:custGeom>
              <a:avLst/>
              <a:gdLst/>
              <a:ahLst/>
              <a:cxnLst/>
              <a:rect l="l" t="t" r="r" b="b"/>
              <a:pathLst>
                <a:path w="2431415" h="189864">
                  <a:moveTo>
                    <a:pt x="238056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9057"/>
                  </a:lnTo>
                  <a:lnTo>
                    <a:pt x="3977" y="158757"/>
                  </a:lnTo>
                  <a:lnTo>
                    <a:pt x="14823" y="174845"/>
                  </a:lnTo>
                  <a:lnTo>
                    <a:pt x="30910" y="185691"/>
                  </a:lnTo>
                  <a:lnTo>
                    <a:pt x="50610" y="189668"/>
                  </a:lnTo>
                  <a:lnTo>
                    <a:pt x="2380560" y="189668"/>
                  </a:lnTo>
                  <a:lnTo>
                    <a:pt x="2400260" y="185691"/>
                  </a:lnTo>
                  <a:lnTo>
                    <a:pt x="2416347" y="174845"/>
                  </a:lnTo>
                  <a:lnTo>
                    <a:pt x="2427193" y="158757"/>
                  </a:lnTo>
                  <a:lnTo>
                    <a:pt x="2431169" y="139057"/>
                  </a:lnTo>
                  <a:lnTo>
                    <a:pt x="2431169" y="50610"/>
                  </a:lnTo>
                  <a:lnTo>
                    <a:pt x="2427193" y="30910"/>
                  </a:lnTo>
                  <a:lnTo>
                    <a:pt x="2416347" y="14823"/>
                  </a:lnTo>
                  <a:lnTo>
                    <a:pt x="2400260" y="3977"/>
                  </a:lnTo>
                  <a:lnTo>
                    <a:pt x="2380560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19647" y="2871635"/>
              <a:ext cx="2431415" cy="189865"/>
            </a:xfrm>
            <a:custGeom>
              <a:avLst/>
              <a:gdLst/>
              <a:ahLst/>
              <a:cxnLst/>
              <a:rect l="l" t="t" r="r" b="b"/>
              <a:pathLst>
                <a:path w="2431415" h="189864">
                  <a:moveTo>
                    <a:pt x="238056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39057"/>
                  </a:lnTo>
                  <a:lnTo>
                    <a:pt x="3977" y="158757"/>
                  </a:lnTo>
                  <a:lnTo>
                    <a:pt x="14823" y="174845"/>
                  </a:lnTo>
                  <a:lnTo>
                    <a:pt x="30910" y="185691"/>
                  </a:lnTo>
                  <a:lnTo>
                    <a:pt x="50610" y="189668"/>
                  </a:lnTo>
                  <a:lnTo>
                    <a:pt x="2380560" y="189668"/>
                  </a:lnTo>
                  <a:lnTo>
                    <a:pt x="2400260" y="185691"/>
                  </a:lnTo>
                  <a:lnTo>
                    <a:pt x="2416347" y="174845"/>
                  </a:lnTo>
                  <a:lnTo>
                    <a:pt x="2427193" y="158757"/>
                  </a:lnTo>
                  <a:lnTo>
                    <a:pt x="2431169" y="139057"/>
                  </a:lnTo>
                  <a:lnTo>
                    <a:pt x="2431169" y="50610"/>
                  </a:lnTo>
                  <a:lnTo>
                    <a:pt x="2427193" y="30910"/>
                  </a:lnTo>
                  <a:lnTo>
                    <a:pt x="2416347" y="14823"/>
                  </a:lnTo>
                  <a:lnTo>
                    <a:pt x="2400260" y="3977"/>
                  </a:lnTo>
                  <a:lnTo>
                    <a:pt x="2380560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752608" y="1198143"/>
              <a:ext cx="645795" cy="297180"/>
            </a:xfrm>
            <a:custGeom>
              <a:avLst/>
              <a:gdLst/>
              <a:ahLst/>
              <a:cxnLst/>
              <a:rect l="l" t="t" r="r" b="b"/>
              <a:pathLst>
                <a:path w="645795" h="297180">
                  <a:moveTo>
                    <a:pt x="594677" y="0"/>
                  </a:moveTo>
                  <a:lnTo>
                    <a:pt x="50609" y="0"/>
                  </a:lnTo>
                  <a:lnTo>
                    <a:pt x="30914" y="3978"/>
                  </a:lnTo>
                  <a:lnTo>
                    <a:pt x="14827" y="14828"/>
                  </a:lnTo>
                  <a:lnTo>
                    <a:pt x="3978" y="30919"/>
                  </a:lnTo>
                  <a:lnTo>
                    <a:pt x="0" y="50622"/>
                  </a:lnTo>
                  <a:lnTo>
                    <a:pt x="0" y="246011"/>
                  </a:lnTo>
                  <a:lnTo>
                    <a:pt x="3978" y="265713"/>
                  </a:lnTo>
                  <a:lnTo>
                    <a:pt x="14827" y="281805"/>
                  </a:lnTo>
                  <a:lnTo>
                    <a:pt x="30914" y="292655"/>
                  </a:lnTo>
                  <a:lnTo>
                    <a:pt x="50609" y="296633"/>
                  </a:lnTo>
                  <a:lnTo>
                    <a:pt x="594677" y="296633"/>
                  </a:lnTo>
                  <a:lnTo>
                    <a:pt x="614377" y="292655"/>
                  </a:lnTo>
                  <a:lnTo>
                    <a:pt x="630464" y="281805"/>
                  </a:lnTo>
                  <a:lnTo>
                    <a:pt x="641310" y="265713"/>
                  </a:lnTo>
                  <a:lnTo>
                    <a:pt x="645287" y="246011"/>
                  </a:lnTo>
                  <a:lnTo>
                    <a:pt x="645287" y="50622"/>
                  </a:lnTo>
                  <a:lnTo>
                    <a:pt x="641310" y="30919"/>
                  </a:lnTo>
                  <a:lnTo>
                    <a:pt x="630464" y="14828"/>
                  </a:lnTo>
                  <a:lnTo>
                    <a:pt x="614377" y="3978"/>
                  </a:lnTo>
                  <a:lnTo>
                    <a:pt x="59467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752608" y="1198143"/>
              <a:ext cx="645795" cy="297180"/>
            </a:xfrm>
            <a:custGeom>
              <a:avLst/>
              <a:gdLst/>
              <a:ahLst/>
              <a:cxnLst/>
              <a:rect l="l" t="t" r="r" b="b"/>
              <a:pathLst>
                <a:path w="645795" h="297180">
                  <a:moveTo>
                    <a:pt x="594677" y="0"/>
                  </a:moveTo>
                  <a:lnTo>
                    <a:pt x="50609" y="0"/>
                  </a:lnTo>
                  <a:lnTo>
                    <a:pt x="30914" y="3978"/>
                  </a:lnTo>
                  <a:lnTo>
                    <a:pt x="14827" y="14828"/>
                  </a:lnTo>
                  <a:lnTo>
                    <a:pt x="3978" y="30919"/>
                  </a:lnTo>
                  <a:lnTo>
                    <a:pt x="0" y="50622"/>
                  </a:lnTo>
                  <a:lnTo>
                    <a:pt x="0" y="246011"/>
                  </a:lnTo>
                  <a:lnTo>
                    <a:pt x="3978" y="265713"/>
                  </a:lnTo>
                  <a:lnTo>
                    <a:pt x="14827" y="281805"/>
                  </a:lnTo>
                  <a:lnTo>
                    <a:pt x="30914" y="292655"/>
                  </a:lnTo>
                  <a:lnTo>
                    <a:pt x="50609" y="296633"/>
                  </a:lnTo>
                  <a:lnTo>
                    <a:pt x="594677" y="296633"/>
                  </a:lnTo>
                  <a:lnTo>
                    <a:pt x="614377" y="292655"/>
                  </a:lnTo>
                  <a:lnTo>
                    <a:pt x="630464" y="281805"/>
                  </a:lnTo>
                  <a:lnTo>
                    <a:pt x="641310" y="265713"/>
                  </a:lnTo>
                  <a:lnTo>
                    <a:pt x="645287" y="246011"/>
                  </a:lnTo>
                  <a:lnTo>
                    <a:pt x="645287" y="50622"/>
                  </a:lnTo>
                  <a:lnTo>
                    <a:pt x="641310" y="30919"/>
                  </a:lnTo>
                  <a:lnTo>
                    <a:pt x="630464" y="14828"/>
                  </a:lnTo>
                  <a:lnTo>
                    <a:pt x="614377" y="3978"/>
                  </a:lnTo>
                  <a:lnTo>
                    <a:pt x="59467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3872382" y="1189807"/>
            <a:ext cx="405765" cy="30162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60960" marR="5080" indent="-48895">
              <a:lnSpc>
                <a:spcPct val="101499"/>
              </a:lnSpc>
              <a:spcBef>
                <a:spcPts val="80"/>
              </a:spcBef>
            </a:pPr>
            <a:r>
              <a:rPr dirty="0" sz="900" spc="-20">
                <a:latin typeface="Palatino Linotype"/>
                <a:cs typeface="Palatino Linotype"/>
              </a:rPr>
              <a:t>Symbol </a:t>
            </a:r>
            <a:r>
              <a:rPr dirty="0" sz="900" spc="-10">
                <a:latin typeface="Palatino Linotype"/>
                <a:cs typeface="Palatino Linotype"/>
              </a:rPr>
              <a:t>Table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250380" y="2735079"/>
            <a:ext cx="52197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35" b="1">
                <a:latin typeface="Palatino Linotype"/>
                <a:cs typeface="Palatino Linotype"/>
              </a:rPr>
              <a:t>Backend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1221431" y="668134"/>
            <a:ext cx="189865" cy="1614805"/>
          </a:xfrm>
          <a:custGeom>
            <a:avLst/>
            <a:gdLst/>
            <a:ahLst/>
            <a:cxnLst/>
            <a:rect l="l" t="t" r="r" b="b"/>
            <a:pathLst>
              <a:path w="189865" h="1614805">
                <a:moveTo>
                  <a:pt x="189790" y="1614335"/>
                </a:moveTo>
                <a:lnTo>
                  <a:pt x="158056" y="1592778"/>
                </a:lnTo>
                <a:lnTo>
                  <a:pt x="131790" y="1562564"/>
                </a:lnTo>
                <a:lnTo>
                  <a:pt x="111900" y="1524149"/>
                </a:lnTo>
                <a:lnTo>
                  <a:pt x="99298" y="1477991"/>
                </a:lnTo>
                <a:lnTo>
                  <a:pt x="94895" y="1424546"/>
                </a:lnTo>
                <a:lnTo>
                  <a:pt x="94895" y="994117"/>
                </a:lnTo>
                <a:lnTo>
                  <a:pt x="90492" y="940673"/>
                </a:lnTo>
                <a:lnTo>
                  <a:pt x="77890" y="894518"/>
                </a:lnTo>
                <a:lnTo>
                  <a:pt x="58000" y="856105"/>
                </a:lnTo>
                <a:lnTo>
                  <a:pt x="31733" y="825891"/>
                </a:lnTo>
                <a:lnTo>
                  <a:pt x="0" y="804329"/>
                </a:lnTo>
                <a:lnTo>
                  <a:pt x="31733" y="782772"/>
                </a:lnTo>
                <a:lnTo>
                  <a:pt x="58000" y="752558"/>
                </a:lnTo>
                <a:lnTo>
                  <a:pt x="77890" y="714143"/>
                </a:lnTo>
                <a:lnTo>
                  <a:pt x="90492" y="667985"/>
                </a:lnTo>
                <a:lnTo>
                  <a:pt x="94895" y="614540"/>
                </a:lnTo>
                <a:lnTo>
                  <a:pt x="94895" y="184111"/>
                </a:lnTo>
                <a:lnTo>
                  <a:pt x="101538" y="118514"/>
                </a:lnTo>
                <a:lnTo>
                  <a:pt x="119570" y="65014"/>
                </a:lnTo>
                <a:lnTo>
                  <a:pt x="146149" y="25034"/>
                </a:lnTo>
                <a:lnTo>
                  <a:pt x="178428" y="0"/>
                </a:lnTo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1218891" y="1117282"/>
            <a:ext cx="1438910" cy="2068195"/>
            <a:chOff x="1218891" y="1117282"/>
            <a:chExt cx="1438910" cy="2068195"/>
          </a:xfrm>
        </p:grpSpPr>
        <p:sp>
          <p:nvSpPr>
            <p:cNvPr id="49" name="object 49" descr=""/>
            <p:cNvSpPr/>
            <p:nvPr/>
          </p:nvSpPr>
          <p:spPr>
            <a:xfrm>
              <a:off x="1221431" y="1119822"/>
              <a:ext cx="1414145" cy="2063114"/>
            </a:xfrm>
            <a:custGeom>
              <a:avLst/>
              <a:gdLst/>
              <a:ahLst/>
              <a:cxnLst/>
              <a:rect l="l" t="t" r="r" b="b"/>
              <a:pathLst>
                <a:path w="1414145" h="2063114">
                  <a:moveTo>
                    <a:pt x="189790" y="2062662"/>
                  </a:moveTo>
                  <a:lnTo>
                    <a:pt x="158056" y="2041102"/>
                  </a:lnTo>
                  <a:lnTo>
                    <a:pt x="131790" y="2010887"/>
                  </a:lnTo>
                  <a:lnTo>
                    <a:pt x="111900" y="1972474"/>
                  </a:lnTo>
                  <a:lnTo>
                    <a:pt x="99298" y="1926316"/>
                  </a:lnTo>
                  <a:lnTo>
                    <a:pt x="94895" y="1872871"/>
                  </a:lnTo>
                  <a:lnTo>
                    <a:pt x="94895" y="1892448"/>
                  </a:lnTo>
                  <a:lnTo>
                    <a:pt x="90492" y="1839003"/>
                  </a:lnTo>
                  <a:lnTo>
                    <a:pt x="77890" y="1792846"/>
                  </a:lnTo>
                  <a:lnTo>
                    <a:pt x="58000" y="1754432"/>
                  </a:lnTo>
                  <a:lnTo>
                    <a:pt x="31733" y="1724218"/>
                  </a:lnTo>
                  <a:lnTo>
                    <a:pt x="0" y="1702658"/>
                  </a:lnTo>
                  <a:lnTo>
                    <a:pt x="31733" y="1681098"/>
                  </a:lnTo>
                  <a:lnTo>
                    <a:pt x="58000" y="1650883"/>
                  </a:lnTo>
                  <a:lnTo>
                    <a:pt x="77890" y="1612469"/>
                  </a:lnTo>
                  <a:lnTo>
                    <a:pt x="90492" y="1566312"/>
                  </a:lnTo>
                  <a:lnTo>
                    <a:pt x="94895" y="1512867"/>
                  </a:lnTo>
                  <a:lnTo>
                    <a:pt x="94895" y="1532444"/>
                  </a:lnTo>
                  <a:lnTo>
                    <a:pt x="101538" y="1466847"/>
                  </a:lnTo>
                  <a:lnTo>
                    <a:pt x="119570" y="1413347"/>
                  </a:lnTo>
                  <a:lnTo>
                    <a:pt x="146149" y="1373368"/>
                  </a:lnTo>
                  <a:lnTo>
                    <a:pt x="178428" y="1348333"/>
                  </a:lnTo>
                </a:path>
                <a:path w="1414145" h="2063114">
                  <a:moveTo>
                    <a:pt x="1413803" y="0"/>
                  </a:moveTo>
                  <a:lnTo>
                    <a:pt x="1413803" y="11079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614990" y="121543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2020709" y="1081789"/>
            <a:ext cx="1229360" cy="328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41985">
              <a:lnSpc>
                <a:spcPct val="110600"/>
              </a:lnSpc>
              <a:spcBef>
                <a:spcPts val="100"/>
              </a:spcBef>
            </a:pPr>
            <a:r>
              <a:rPr dirty="0" sz="900" spc="-10">
                <a:latin typeface="Palatino Linotype"/>
                <a:cs typeface="Palatino Linotype"/>
              </a:rPr>
              <a:t>Token </a:t>
            </a:r>
            <a:r>
              <a:rPr dirty="0" sz="900">
                <a:latin typeface="Palatino Linotype"/>
                <a:cs typeface="Palatino Linotype"/>
              </a:rPr>
              <a:t>Parser</a:t>
            </a:r>
            <a:r>
              <a:rPr dirty="0" sz="900" spc="155">
                <a:latin typeface="Palatino Linotype"/>
                <a:cs typeface="Palatino Linotype"/>
              </a:rPr>
              <a:t> </a:t>
            </a:r>
            <a:r>
              <a:rPr dirty="0" sz="900">
                <a:latin typeface="Palatino Linotype"/>
                <a:cs typeface="Palatino Linotype"/>
              </a:rPr>
              <a:t>(Syntax</a:t>
            </a:r>
            <a:r>
              <a:rPr dirty="0" sz="900" spc="160">
                <a:latin typeface="Palatino Linotype"/>
                <a:cs typeface="Palatino Linotype"/>
              </a:rPr>
              <a:t> </a:t>
            </a:r>
            <a:r>
              <a:rPr dirty="0" sz="900" spc="-10">
                <a:latin typeface="Palatino Linotype"/>
                <a:cs typeface="Palatino Linotype"/>
              </a:rPr>
              <a:t>analysis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32841" y="1385069"/>
            <a:ext cx="55689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40" b="1">
                <a:latin typeface="Palatino Linotype"/>
                <a:cs typeface="Palatino Linotype"/>
              </a:rPr>
              <a:t>Frontend</a:t>
            </a:r>
            <a:endParaRPr sz="900">
              <a:latin typeface="Palatino Linotype"/>
              <a:cs typeface="Palatino Linotype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2612768" y="1441284"/>
            <a:ext cx="45085" cy="124460"/>
            <a:chOff x="2612768" y="1441284"/>
            <a:chExt cx="45085" cy="124460"/>
          </a:xfrm>
        </p:grpSpPr>
        <p:sp>
          <p:nvSpPr>
            <p:cNvPr id="54" name="object 54" descr=""/>
            <p:cNvSpPr/>
            <p:nvPr/>
          </p:nvSpPr>
          <p:spPr>
            <a:xfrm>
              <a:off x="2635234" y="1443824"/>
              <a:ext cx="0" cy="116205"/>
            </a:xfrm>
            <a:custGeom>
              <a:avLst/>
              <a:gdLst/>
              <a:ahLst/>
              <a:cxnLst/>
              <a:rect l="l" t="t" r="r" b="b"/>
              <a:pathLst>
                <a:path w="0" h="116205">
                  <a:moveTo>
                    <a:pt x="0" y="0"/>
                  </a:moveTo>
                  <a:lnTo>
                    <a:pt x="0" y="115862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614990" y="154450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2169934" y="1408979"/>
            <a:ext cx="930910" cy="325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92759">
              <a:lnSpc>
                <a:spcPct val="109400"/>
              </a:lnSpc>
              <a:spcBef>
                <a:spcPts val="100"/>
              </a:spcBef>
            </a:pPr>
            <a:r>
              <a:rPr dirty="0" sz="900" spc="-20">
                <a:latin typeface="Palatino Linotype"/>
                <a:cs typeface="Palatino Linotype"/>
              </a:rPr>
              <a:t>Tree </a:t>
            </a:r>
            <a:r>
              <a:rPr dirty="0" sz="900">
                <a:latin typeface="Palatino Linotype"/>
                <a:cs typeface="Palatino Linotype"/>
              </a:rPr>
              <a:t>Semantic</a:t>
            </a:r>
            <a:r>
              <a:rPr dirty="0" sz="900" spc="85">
                <a:latin typeface="Palatino Linotype"/>
                <a:cs typeface="Palatino Linotype"/>
              </a:rPr>
              <a:t> </a:t>
            </a:r>
            <a:r>
              <a:rPr dirty="0" sz="900" spc="-10">
                <a:latin typeface="Palatino Linotype"/>
                <a:cs typeface="Palatino Linotype"/>
              </a:rPr>
              <a:t>analysis</a:t>
            </a:r>
            <a:endParaRPr sz="900">
              <a:latin typeface="Palatino Linotype"/>
              <a:cs typeface="Palatino Linotype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2612768" y="1760220"/>
            <a:ext cx="45085" cy="778510"/>
            <a:chOff x="2612768" y="1760220"/>
            <a:chExt cx="45085" cy="778510"/>
          </a:xfrm>
        </p:grpSpPr>
        <p:sp>
          <p:nvSpPr>
            <p:cNvPr id="58" name="object 58" descr=""/>
            <p:cNvSpPr/>
            <p:nvPr/>
          </p:nvSpPr>
          <p:spPr>
            <a:xfrm>
              <a:off x="2635234" y="1762760"/>
              <a:ext cx="0" cy="121920"/>
            </a:xfrm>
            <a:custGeom>
              <a:avLst/>
              <a:gdLst/>
              <a:ahLst/>
              <a:cxnLst/>
              <a:rect l="l" t="t" r="r" b="b"/>
              <a:pathLst>
                <a:path w="0" h="121919">
                  <a:moveTo>
                    <a:pt x="0" y="0"/>
                  </a:moveTo>
                  <a:lnTo>
                    <a:pt x="0" y="12150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614990" y="186907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635234" y="2086190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w="0" h="123189">
                  <a:moveTo>
                    <a:pt x="0" y="0"/>
                  </a:moveTo>
                  <a:lnTo>
                    <a:pt x="0" y="12275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614990" y="219376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635234" y="2409507"/>
              <a:ext cx="0" cy="123189"/>
            </a:xfrm>
            <a:custGeom>
              <a:avLst/>
              <a:gdLst/>
              <a:ahLst/>
              <a:cxnLst/>
              <a:rect l="l" t="t" r="r" b="b"/>
              <a:pathLst>
                <a:path w="0" h="123189">
                  <a:moveTo>
                    <a:pt x="0" y="0"/>
                  </a:moveTo>
                  <a:lnTo>
                    <a:pt x="0" y="12275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614990" y="2517082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1599717" y="1729172"/>
            <a:ext cx="2071370" cy="976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8290" marR="280670" indent="786765">
              <a:lnSpc>
                <a:spcPct val="110500"/>
              </a:lnSpc>
              <a:spcBef>
                <a:spcPts val="100"/>
              </a:spcBef>
            </a:pPr>
            <a:r>
              <a:rPr dirty="0" sz="900" spc="-20">
                <a:latin typeface="Palatino Linotype"/>
                <a:cs typeface="Palatino Linotype"/>
              </a:rPr>
              <a:t>Tree </a:t>
            </a:r>
            <a:r>
              <a:rPr dirty="0" sz="900">
                <a:latin typeface="Palatino Linotype"/>
                <a:cs typeface="Palatino Linotype"/>
              </a:rPr>
              <a:t>Intermediate</a:t>
            </a:r>
            <a:r>
              <a:rPr dirty="0" sz="900" spc="45">
                <a:latin typeface="Palatino Linotype"/>
                <a:cs typeface="Palatino Linotype"/>
              </a:rPr>
              <a:t> </a:t>
            </a:r>
            <a:r>
              <a:rPr dirty="0" sz="900">
                <a:latin typeface="Palatino Linotype"/>
                <a:cs typeface="Palatino Linotype"/>
              </a:rPr>
              <a:t>code</a:t>
            </a:r>
            <a:r>
              <a:rPr dirty="0" sz="900" spc="50">
                <a:latin typeface="Palatino Linotype"/>
                <a:cs typeface="Palatino Linotype"/>
              </a:rPr>
              <a:t> </a:t>
            </a:r>
            <a:r>
              <a:rPr dirty="0" sz="900" spc="-10">
                <a:latin typeface="Palatino Linotype"/>
                <a:cs typeface="Palatino Linotype"/>
              </a:rPr>
              <a:t>generation</a:t>
            </a:r>
            <a:endParaRPr sz="900">
              <a:latin typeface="Palatino Linotype"/>
              <a:cs typeface="Palatino Linotype"/>
            </a:endParaRPr>
          </a:p>
          <a:p>
            <a:pPr algn="ctr" marL="208915">
              <a:lnSpc>
                <a:spcPct val="100000"/>
              </a:lnSpc>
              <a:spcBef>
                <a:spcPts val="275"/>
              </a:spcBef>
            </a:pPr>
            <a:r>
              <a:rPr dirty="0" sz="900" spc="25">
                <a:latin typeface="Palatino Linotype"/>
                <a:cs typeface="Palatino Linotype"/>
              </a:rPr>
              <a:t>IR</a:t>
            </a:r>
            <a:endParaRPr sz="9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900" spc="-20">
                <a:latin typeface="Palatino Linotype"/>
                <a:cs typeface="Palatino Linotype"/>
              </a:rPr>
              <a:t>Machine-</a:t>
            </a:r>
            <a:r>
              <a:rPr dirty="0" sz="900" spc="-10">
                <a:latin typeface="Palatino Linotype"/>
                <a:cs typeface="Palatino Linotype"/>
              </a:rPr>
              <a:t>independent</a:t>
            </a:r>
            <a:r>
              <a:rPr dirty="0" sz="900" spc="70">
                <a:latin typeface="Palatino Linotype"/>
                <a:cs typeface="Palatino Linotype"/>
              </a:rPr>
              <a:t> </a:t>
            </a:r>
            <a:r>
              <a:rPr dirty="0" sz="900">
                <a:latin typeface="Palatino Linotype"/>
                <a:cs typeface="Palatino Linotype"/>
              </a:rPr>
              <a:t>code</a:t>
            </a:r>
            <a:r>
              <a:rPr dirty="0" sz="900" spc="70">
                <a:latin typeface="Palatino Linotype"/>
                <a:cs typeface="Palatino Linotype"/>
              </a:rPr>
              <a:t> </a:t>
            </a:r>
            <a:r>
              <a:rPr dirty="0" sz="900" spc="-10">
                <a:latin typeface="Palatino Linotype"/>
                <a:cs typeface="Palatino Linotype"/>
              </a:rPr>
              <a:t>optimization</a:t>
            </a:r>
            <a:endParaRPr sz="900">
              <a:latin typeface="Palatino Linotype"/>
              <a:cs typeface="Palatino Linotype"/>
            </a:endParaRPr>
          </a:p>
          <a:p>
            <a:pPr algn="ctr" marL="208915">
              <a:lnSpc>
                <a:spcPct val="100000"/>
              </a:lnSpc>
              <a:spcBef>
                <a:spcPts val="265"/>
              </a:spcBef>
            </a:pPr>
            <a:r>
              <a:rPr dirty="0" sz="900" spc="25">
                <a:latin typeface="Palatino Linotype"/>
                <a:cs typeface="Palatino Linotype"/>
              </a:rPr>
              <a:t>IR</a:t>
            </a:r>
            <a:endParaRPr sz="900">
              <a:latin typeface="Palatino Linotype"/>
              <a:cs typeface="Palatino Linotype"/>
            </a:endParaRPr>
          </a:p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latin typeface="Palatino Linotype"/>
                <a:cs typeface="Palatino Linotype"/>
              </a:rPr>
              <a:t>Target</a:t>
            </a:r>
            <a:r>
              <a:rPr dirty="0" sz="900" spc="75">
                <a:latin typeface="Palatino Linotype"/>
                <a:cs typeface="Palatino Linotype"/>
              </a:rPr>
              <a:t> </a:t>
            </a:r>
            <a:r>
              <a:rPr dirty="0" sz="900">
                <a:latin typeface="Palatino Linotype"/>
                <a:cs typeface="Palatino Linotype"/>
              </a:rPr>
              <a:t>code</a:t>
            </a:r>
            <a:r>
              <a:rPr dirty="0" sz="900" spc="80">
                <a:latin typeface="Palatino Linotype"/>
                <a:cs typeface="Palatino Linotype"/>
              </a:rPr>
              <a:t> </a:t>
            </a:r>
            <a:r>
              <a:rPr dirty="0" sz="900" spc="-10">
                <a:latin typeface="Palatino Linotype"/>
                <a:cs typeface="Palatino Linotype"/>
              </a:rPr>
              <a:t>generation</a:t>
            </a:r>
            <a:endParaRPr sz="900">
              <a:latin typeface="Palatino Linotype"/>
              <a:cs typeface="Palatino Linotype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2612768" y="2731655"/>
            <a:ext cx="45085" cy="125095"/>
            <a:chOff x="2612768" y="2731655"/>
            <a:chExt cx="45085" cy="125095"/>
          </a:xfrm>
        </p:grpSpPr>
        <p:sp>
          <p:nvSpPr>
            <p:cNvPr id="66" name="object 66" descr=""/>
            <p:cNvSpPr/>
            <p:nvPr/>
          </p:nvSpPr>
          <p:spPr>
            <a:xfrm>
              <a:off x="2635234" y="2734195"/>
              <a:ext cx="0" cy="116839"/>
            </a:xfrm>
            <a:custGeom>
              <a:avLst/>
              <a:gdLst/>
              <a:ahLst/>
              <a:cxnLst/>
              <a:rect l="l" t="t" r="r" b="b"/>
              <a:pathLst>
                <a:path w="0" h="116839">
                  <a:moveTo>
                    <a:pt x="0" y="0"/>
                  </a:moveTo>
                  <a:lnTo>
                    <a:pt x="0" y="116436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614990" y="2835448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2663024" y="2703494"/>
            <a:ext cx="6629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latin typeface="Palatino Linotype"/>
                <a:cs typeface="Palatino Linotype"/>
              </a:rPr>
              <a:t>Target</a:t>
            </a:r>
            <a:r>
              <a:rPr dirty="0" sz="900" spc="130">
                <a:latin typeface="Palatino Linotype"/>
                <a:cs typeface="Palatino Linotype"/>
              </a:rPr>
              <a:t> </a:t>
            </a:r>
            <a:r>
              <a:rPr dirty="0" sz="900" spc="-20">
                <a:latin typeface="Palatino Linotype"/>
                <a:cs typeface="Palatino Linotype"/>
              </a:rPr>
              <a:t>Code</a:t>
            </a:r>
            <a:endParaRPr sz="900">
              <a:latin typeface="Palatino Linotype"/>
              <a:cs typeface="Palatino Linotype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2612768" y="3061294"/>
            <a:ext cx="45085" cy="217170"/>
            <a:chOff x="2612768" y="3061294"/>
            <a:chExt cx="45085" cy="217170"/>
          </a:xfrm>
        </p:grpSpPr>
        <p:sp>
          <p:nvSpPr>
            <p:cNvPr id="70" name="object 70" descr=""/>
            <p:cNvSpPr/>
            <p:nvPr/>
          </p:nvSpPr>
          <p:spPr>
            <a:xfrm>
              <a:off x="2635234" y="3063834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w="0" h="208279">
                  <a:moveTo>
                    <a:pt x="0" y="0"/>
                  </a:moveTo>
                  <a:lnTo>
                    <a:pt x="0" y="208164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614990" y="3256815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1444904" y="2794486"/>
            <a:ext cx="2380615" cy="44704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900" spc="-20">
                <a:latin typeface="Palatino Linotype"/>
                <a:cs typeface="Palatino Linotype"/>
              </a:rPr>
              <a:t>Machine-</a:t>
            </a:r>
            <a:r>
              <a:rPr dirty="0" sz="900">
                <a:latin typeface="Palatino Linotype"/>
                <a:cs typeface="Palatino Linotype"/>
              </a:rPr>
              <a:t>specific</a:t>
            </a:r>
            <a:r>
              <a:rPr dirty="0" sz="900" spc="45">
                <a:latin typeface="Palatino Linotype"/>
                <a:cs typeface="Palatino Linotype"/>
              </a:rPr>
              <a:t> </a:t>
            </a:r>
            <a:r>
              <a:rPr dirty="0" sz="900">
                <a:latin typeface="Palatino Linotype"/>
                <a:cs typeface="Palatino Linotype"/>
              </a:rPr>
              <a:t>code</a:t>
            </a:r>
            <a:r>
              <a:rPr dirty="0" sz="900" spc="50">
                <a:latin typeface="Palatino Linotype"/>
                <a:cs typeface="Palatino Linotype"/>
              </a:rPr>
              <a:t> </a:t>
            </a:r>
            <a:r>
              <a:rPr dirty="0" sz="900" spc="-20">
                <a:latin typeface="Palatino Linotype"/>
                <a:cs typeface="Palatino Linotype"/>
              </a:rPr>
              <a:t>improvement</a:t>
            </a:r>
            <a:r>
              <a:rPr dirty="0" sz="900" spc="50">
                <a:latin typeface="Palatino Linotype"/>
                <a:cs typeface="Palatino Linotype"/>
              </a:rPr>
              <a:t> </a:t>
            </a:r>
            <a:r>
              <a:rPr dirty="0" sz="900" spc="-10">
                <a:latin typeface="Palatino Linotype"/>
                <a:cs typeface="Palatino Linotype"/>
              </a:rPr>
              <a:t>(optional)</a:t>
            </a:r>
            <a:endParaRPr sz="900">
              <a:latin typeface="Palatino Linotype"/>
              <a:cs typeface="Palatino Linotype"/>
            </a:endParaRPr>
          </a:p>
          <a:p>
            <a:pPr marL="1230630">
              <a:lnSpc>
                <a:spcPct val="100000"/>
              </a:lnSpc>
              <a:spcBef>
                <a:spcPts val="580"/>
              </a:spcBef>
            </a:pPr>
            <a:r>
              <a:rPr dirty="0" sz="900">
                <a:latin typeface="Palatino Linotype"/>
                <a:cs typeface="Palatino Linotype"/>
              </a:rPr>
              <a:t>Target</a:t>
            </a:r>
            <a:r>
              <a:rPr dirty="0" sz="900" spc="130">
                <a:latin typeface="Palatino Linotype"/>
                <a:cs typeface="Palatino Linotype"/>
              </a:rPr>
              <a:t> </a:t>
            </a:r>
            <a:r>
              <a:rPr dirty="0" sz="900" spc="-20">
                <a:latin typeface="Palatino Linotype"/>
                <a:cs typeface="Palatino Linotype"/>
              </a:rPr>
              <a:t>Code</a:t>
            </a:r>
            <a:endParaRPr sz="900">
              <a:latin typeface="Palatino Linotype"/>
              <a:cs typeface="Palatino Linotype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2838966" y="1119822"/>
            <a:ext cx="899794" cy="782955"/>
          </a:xfrm>
          <a:custGeom>
            <a:avLst/>
            <a:gdLst/>
            <a:ahLst/>
            <a:cxnLst/>
            <a:rect l="l" t="t" r="r" b="b"/>
            <a:pathLst>
              <a:path w="899795" h="782955">
                <a:moveTo>
                  <a:pt x="438579" y="226631"/>
                </a:moveTo>
                <a:lnTo>
                  <a:pt x="898465" y="226631"/>
                </a:lnTo>
              </a:path>
              <a:path w="899795" h="782955">
                <a:moveTo>
                  <a:pt x="228773" y="0"/>
                </a:moveTo>
                <a:lnTo>
                  <a:pt x="898757" y="150799"/>
                </a:lnTo>
              </a:path>
              <a:path w="899795" h="782955">
                <a:moveTo>
                  <a:pt x="206263" y="458343"/>
                </a:moveTo>
                <a:lnTo>
                  <a:pt x="898757" y="302475"/>
                </a:lnTo>
              </a:path>
              <a:path w="899795" h="782955">
                <a:moveTo>
                  <a:pt x="0" y="782916"/>
                </a:moveTo>
                <a:lnTo>
                  <a:pt x="899582" y="377939"/>
                </a:lnTo>
              </a:path>
            </a:pathLst>
          </a:custGeom>
          <a:ln w="506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76" name="object 76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7" name="object 7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866178"/>
            <a:ext cx="155257" cy="15525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834376"/>
            <a:ext cx="1176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EAE5EF"/>
                </a:solidFill>
                <a:latin typeface="Comic Sans MS"/>
                <a:cs typeface="Comic Sans MS"/>
              </a:rPr>
              <a:t>1</a:t>
            </a:r>
            <a:r>
              <a:rPr dirty="0" baseline="3472" sz="1200" spc="120" b="1">
                <a:solidFill>
                  <a:srgbClr val="EAE5EF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latin typeface="Cambria"/>
                <a:cs typeface="Cambria"/>
                <a:hlinkClick r:id="rId2" action="ppaction://hlinksldjump"/>
              </a:rPr>
              <a:t>Lexical</a:t>
            </a:r>
            <a:r>
              <a:rPr dirty="0" sz="1100" spc="140">
                <a:latin typeface="Cambria"/>
                <a:cs typeface="Cambria"/>
                <a:hlinkClick r:id="rId2" action="ppaction://hlinksldjump"/>
              </a:rPr>
              <a:t> </a:t>
            </a:r>
            <a:r>
              <a:rPr dirty="0" sz="1100" spc="-10">
                <a:latin typeface="Cambria"/>
                <a:cs typeface="Cambria"/>
                <a:hlinkClick r:id="rId2" action="ppaction://hlinksldjump"/>
              </a:rPr>
              <a:t>Analysis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779" y="1226083"/>
            <a:ext cx="155257" cy="15525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585988"/>
            <a:ext cx="155257" cy="15525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582291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675" y="1194281"/>
            <a:ext cx="1757045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2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6" action="ppaction://hlinksldjump"/>
              </a:rPr>
              <a:t>Alphabets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6" action="ppaction://hlinksldjump"/>
              </a:rPr>
              <a:t>and</a:t>
            </a:r>
            <a:r>
              <a:rPr dirty="0" sz="1100" spc="145">
                <a:solidFill>
                  <a:srgbClr val="CCCCCC"/>
                </a:solidFill>
                <a:latin typeface="Cambria"/>
                <a:cs typeface="Cambria"/>
                <a:hlinkClick r:id="rId6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6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Operations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on</a:t>
            </a:r>
            <a:r>
              <a:rPr dirty="0" sz="1100" spc="114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779" y="1945894"/>
            <a:ext cx="155257" cy="15525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1914092"/>
            <a:ext cx="1417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4</a:t>
            </a:r>
            <a:r>
              <a:rPr dirty="0" baseline="3472" sz="1200" spc="735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9" action="ppaction://hlinksldjump"/>
              </a:rPr>
              <a:t>Regular</a:t>
            </a:r>
            <a:r>
              <a:rPr dirty="0" sz="1100" spc="130">
                <a:solidFill>
                  <a:srgbClr val="CCCCCC"/>
                </a:solidFill>
                <a:latin typeface="Cambria"/>
                <a:cs typeface="Cambria"/>
                <a:hlinkClick r:id="rId9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9" action="ppaction://hlinksldjump"/>
              </a:rPr>
              <a:t>Expressions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779" y="2305799"/>
            <a:ext cx="155257" cy="15525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779" y="2665704"/>
            <a:ext cx="155257" cy="155257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24675" y="2662007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6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4675" y="2273997"/>
            <a:ext cx="2200910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5</a:t>
            </a:r>
            <a:r>
              <a:rPr dirty="0" baseline="3472" sz="1200" spc="652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2" action="ppaction://hlinksldjump"/>
              </a:rPr>
              <a:t>Extensions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2" action="ppaction://hlinksldjump"/>
              </a:rPr>
              <a:t>of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2" action="ppaction://hlinksldjump"/>
              </a:rPr>
              <a:t>Regular</a:t>
            </a:r>
            <a:r>
              <a:rPr dirty="0" sz="1100" spc="105">
                <a:solidFill>
                  <a:srgbClr val="CCCCCC"/>
                </a:solidFill>
                <a:latin typeface="Cambria"/>
                <a:cs typeface="Cambria"/>
                <a:hlinkClick r:id="rId12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2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Assignment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4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5300" y="182191"/>
            <a:ext cx="15259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60" b="1">
                <a:solidFill>
                  <a:srgbClr val="330066"/>
                </a:solidFill>
                <a:latin typeface="Palatino Linotype"/>
                <a:cs typeface="Palatino Linotype"/>
              </a:rPr>
              <a:t>Lexical</a:t>
            </a:r>
            <a:r>
              <a:rPr dirty="0" sz="1400" spc="204" b="1">
                <a:solidFill>
                  <a:srgbClr val="330066"/>
                </a:solidFill>
                <a:latin typeface="Palatino Linotype"/>
                <a:cs typeface="Palatino Linotype"/>
              </a:rPr>
              <a:t> </a:t>
            </a:r>
            <a:r>
              <a:rPr dirty="0" sz="1400" spc="45" b="1">
                <a:solidFill>
                  <a:srgbClr val="330066"/>
                </a:solidFill>
                <a:latin typeface="Palatino Linotype"/>
                <a:cs typeface="Palatino Linotype"/>
              </a:rPr>
              <a:t>Analyzer</a:t>
            </a:r>
            <a:endParaRPr sz="1400">
              <a:latin typeface="Palatino Linotype"/>
              <a:cs typeface="Palatino Linotype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544" y="954189"/>
            <a:ext cx="4469396" cy="2011514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89032" y="171427"/>
            <a:ext cx="693420" cy="482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5895">
              <a:lnSpc>
                <a:spcPct val="111100"/>
              </a:lnSpc>
              <a:spcBef>
                <a:spcPts val="95"/>
              </a:spcBef>
            </a:pPr>
            <a:r>
              <a:rPr dirty="0" sz="900" spc="65">
                <a:solidFill>
                  <a:srgbClr val="000000"/>
                </a:solidFill>
                <a:latin typeface="Book Antiqua"/>
                <a:cs typeface="Book Antiqua"/>
              </a:rPr>
              <a:t>int</a:t>
            </a:r>
            <a:r>
              <a:rPr dirty="0" sz="90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dirty="0" sz="900" spc="85">
                <a:solidFill>
                  <a:srgbClr val="000000"/>
                </a:solidFill>
                <a:latin typeface="Book Antiqua"/>
                <a:cs typeface="Book Antiqua"/>
              </a:rPr>
              <a:t>x; </a:t>
            </a:r>
            <a:r>
              <a:rPr dirty="0" sz="900">
                <a:solidFill>
                  <a:srgbClr val="000000"/>
                </a:solidFill>
                <a:latin typeface="Book Antiqua"/>
                <a:cs typeface="Book Antiqua"/>
              </a:rPr>
              <a:t>float</a:t>
            </a:r>
            <a:r>
              <a:rPr dirty="0" sz="900" spc="55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dirty="0" sz="900" spc="65">
                <a:solidFill>
                  <a:srgbClr val="000000"/>
                </a:solidFill>
                <a:latin typeface="Book Antiqua"/>
                <a:cs typeface="Book Antiqua"/>
              </a:rPr>
              <a:t>y</a:t>
            </a:r>
            <a:r>
              <a:rPr dirty="0" sz="900" spc="6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dirty="0" sz="900" spc="-100">
                <a:solidFill>
                  <a:srgbClr val="000000"/>
                </a:solidFill>
                <a:latin typeface="Book Antiqua"/>
                <a:cs typeface="Book Antiqua"/>
              </a:rPr>
              <a:t>=</a:t>
            </a:r>
            <a:r>
              <a:rPr dirty="0" sz="900" spc="6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dirty="0" sz="900" spc="80">
                <a:solidFill>
                  <a:srgbClr val="000000"/>
                </a:solidFill>
                <a:latin typeface="Book Antiqua"/>
                <a:cs typeface="Book Antiqua"/>
              </a:rPr>
              <a:t>10;</a:t>
            </a:r>
            <a:endParaRPr sz="900">
              <a:latin typeface="Book Antiqua"/>
              <a:cs typeface="Book Antiqua"/>
            </a:endParaRPr>
          </a:p>
          <a:p>
            <a:pPr marL="111125">
              <a:lnSpc>
                <a:spcPct val="100000"/>
              </a:lnSpc>
              <a:spcBef>
                <a:spcPts val="120"/>
              </a:spcBef>
            </a:pPr>
            <a:r>
              <a:rPr dirty="0" sz="900" spc="80">
                <a:solidFill>
                  <a:srgbClr val="000000"/>
                </a:solidFill>
                <a:latin typeface="Book Antiqua"/>
                <a:cs typeface="Book Antiqua"/>
              </a:rPr>
              <a:t>char</a:t>
            </a:r>
            <a:r>
              <a:rPr dirty="0" sz="900" spc="10">
                <a:solidFill>
                  <a:srgbClr val="000000"/>
                </a:solidFill>
                <a:latin typeface="Book Antiqua"/>
                <a:cs typeface="Book Antiqua"/>
              </a:rPr>
              <a:t> </a:t>
            </a:r>
            <a:r>
              <a:rPr dirty="0" sz="900" spc="40">
                <a:solidFill>
                  <a:srgbClr val="000000"/>
                </a:solidFill>
                <a:latin typeface="Book Antiqua"/>
                <a:cs typeface="Book Antiqua"/>
              </a:rPr>
              <a:t>ch;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Tasks</a:t>
            </a:r>
            <a:r>
              <a:rPr dirty="0" spc="225"/>
              <a:t> </a:t>
            </a:r>
            <a:r>
              <a:rPr dirty="0"/>
              <a:t>of</a:t>
            </a:r>
            <a:r>
              <a:rPr dirty="0" spc="225"/>
              <a:t> </a:t>
            </a:r>
            <a:r>
              <a:rPr dirty="0" spc="80"/>
              <a:t>the</a:t>
            </a:r>
            <a:r>
              <a:rPr dirty="0" spc="225"/>
              <a:t> </a:t>
            </a:r>
            <a:r>
              <a:rPr dirty="0" spc="85"/>
              <a:t>Lexer/Scanner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099959"/>
            <a:ext cx="65201" cy="65201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289560">
              <a:lnSpc>
                <a:spcPct val="100000"/>
              </a:lnSpc>
              <a:spcBef>
                <a:spcPts val="700"/>
              </a:spcBef>
            </a:pPr>
            <a:r>
              <a:rPr dirty="0" b="1">
                <a:latin typeface="Palatino Linotype"/>
                <a:cs typeface="Palatino Linotype"/>
              </a:rPr>
              <a:t>read</a:t>
            </a:r>
            <a:r>
              <a:rPr dirty="0" spc="90" b="1">
                <a:latin typeface="Palatino Linotype"/>
                <a:cs typeface="Palatino Linotype"/>
              </a:rPr>
              <a:t> </a:t>
            </a:r>
            <a:r>
              <a:rPr dirty="0"/>
              <a:t>the</a:t>
            </a:r>
            <a:r>
              <a:rPr dirty="0" spc="130"/>
              <a:t> </a:t>
            </a:r>
            <a:r>
              <a:rPr dirty="0"/>
              <a:t>input</a:t>
            </a:r>
            <a:r>
              <a:rPr dirty="0" spc="125"/>
              <a:t> </a:t>
            </a:r>
            <a:r>
              <a:rPr dirty="0" spc="-10"/>
              <a:t>characters</a:t>
            </a:r>
            <a:r>
              <a:rPr dirty="0" spc="125"/>
              <a:t> </a:t>
            </a:r>
            <a:r>
              <a:rPr dirty="0"/>
              <a:t>of</a:t>
            </a:r>
            <a:r>
              <a:rPr dirty="0" spc="125"/>
              <a:t> </a:t>
            </a:r>
            <a:r>
              <a:rPr dirty="0"/>
              <a:t>the</a:t>
            </a:r>
            <a:r>
              <a:rPr dirty="0" spc="130"/>
              <a:t> </a:t>
            </a:r>
            <a:r>
              <a:rPr dirty="0" spc="-20"/>
              <a:t>source</a:t>
            </a:r>
            <a:r>
              <a:rPr dirty="0" spc="125"/>
              <a:t> </a:t>
            </a:r>
            <a:r>
              <a:rPr dirty="0" spc="-10"/>
              <a:t>program</a:t>
            </a:r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dirty="0" b="1">
                <a:latin typeface="Palatino Linotype"/>
                <a:cs typeface="Palatino Linotype"/>
              </a:rPr>
              <a:t>group</a:t>
            </a:r>
            <a:r>
              <a:rPr dirty="0" spc="110" b="1">
                <a:latin typeface="Palatino Linotype"/>
                <a:cs typeface="Palatino Linotype"/>
              </a:rPr>
              <a:t> </a:t>
            </a:r>
            <a:r>
              <a:rPr dirty="0"/>
              <a:t>them</a:t>
            </a:r>
            <a:r>
              <a:rPr dirty="0" spc="150"/>
              <a:t> </a:t>
            </a:r>
            <a:r>
              <a:rPr dirty="0"/>
              <a:t>into</a:t>
            </a:r>
            <a:r>
              <a:rPr dirty="0" spc="145"/>
              <a:t> </a:t>
            </a:r>
            <a:r>
              <a:rPr dirty="0" spc="-10"/>
              <a:t>lexemes</a:t>
            </a:r>
          </a:p>
          <a:p>
            <a:pPr marL="289560" marR="5080">
              <a:lnSpc>
                <a:spcPct val="102600"/>
              </a:lnSpc>
              <a:spcBef>
                <a:spcPts val="565"/>
              </a:spcBef>
            </a:pPr>
            <a:r>
              <a:rPr dirty="0" spc="-10"/>
              <a:t>produce</a:t>
            </a:r>
            <a:r>
              <a:rPr dirty="0" spc="90"/>
              <a:t> </a:t>
            </a:r>
            <a:r>
              <a:rPr dirty="0"/>
              <a:t>as</a:t>
            </a:r>
            <a:r>
              <a:rPr dirty="0" spc="95"/>
              <a:t> </a:t>
            </a:r>
            <a:r>
              <a:rPr dirty="0"/>
              <a:t>output</a:t>
            </a:r>
            <a:r>
              <a:rPr dirty="0" spc="90"/>
              <a:t> </a:t>
            </a:r>
            <a:r>
              <a:rPr dirty="0"/>
              <a:t>a</a:t>
            </a:r>
            <a:r>
              <a:rPr dirty="0" spc="95"/>
              <a:t> </a:t>
            </a:r>
            <a:r>
              <a:rPr dirty="0" spc="-25"/>
              <a:t>sequence</a:t>
            </a:r>
            <a:r>
              <a:rPr dirty="0" spc="90"/>
              <a:t> </a:t>
            </a:r>
            <a:r>
              <a:rPr dirty="0"/>
              <a:t>of</a:t>
            </a:r>
            <a:r>
              <a:rPr dirty="0" spc="135"/>
              <a:t> </a:t>
            </a:r>
            <a:r>
              <a:rPr dirty="0" b="1">
                <a:latin typeface="Palatino Linotype"/>
                <a:cs typeface="Palatino Linotype"/>
              </a:rPr>
              <a:t>tokens</a:t>
            </a:r>
            <a:r>
              <a:rPr dirty="0" spc="55" b="1">
                <a:latin typeface="Palatino Linotype"/>
                <a:cs typeface="Palatino Linotype"/>
              </a:rPr>
              <a:t> </a:t>
            </a:r>
            <a:r>
              <a:rPr dirty="0"/>
              <a:t>for</a:t>
            </a:r>
            <a:r>
              <a:rPr dirty="0" spc="95"/>
              <a:t> </a:t>
            </a:r>
            <a:r>
              <a:rPr dirty="0"/>
              <a:t>each</a:t>
            </a:r>
            <a:r>
              <a:rPr dirty="0" spc="85"/>
              <a:t> </a:t>
            </a:r>
            <a:r>
              <a:rPr dirty="0" spc="-10"/>
              <a:t>lexeme</a:t>
            </a:r>
            <a:r>
              <a:rPr dirty="0" spc="95"/>
              <a:t> </a:t>
            </a:r>
            <a:r>
              <a:rPr dirty="0"/>
              <a:t>in</a:t>
            </a:r>
            <a:r>
              <a:rPr dirty="0" spc="90"/>
              <a:t> </a:t>
            </a:r>
            <a:r>
              <a:rPr dirty="0" spc="-25"/>
              <a:t>the </a:t>
            </a:r>
            <a:r>
              <a:rPr dirty="0" spc="-20"/>
              <a:t>source</a:t>
            </a:r>
            <a:r>
              <a:rPr dirty="0" spc="50"/>
              <a:t> </a:t>
            </a:r>
            <a:r>
              <a:rPr dirty="0" spc="-10"/>
              <a:t>program</a:t>
            </a:r>
          </a:p>
          <a:p>
            <a:pPr marL="289560" marR="409575">
              <a:lnSpc>
                <a:spcPct val="145600"/>
              </a:lnSpc>
            </a:pPr>
            <a:r>
              <a:rPr dirty="0"/>
              <a:t>stream</a:t>
            </a:r>
            <a:r>
              <a:rPr dirty="0" spc="65"/>
              <a:t> </a:t>
            </a:r>
            <a:r>
              <a:rPr dirty="0"/>
              <a:t>of</a:t>
            </a:r>
            <a:r>
              <a:rPr dirty="0" spc="70"/>
              <a:t> </a:t>
            </a:r>
            <a:r>
              <a:rPr dirty="0" spc="-10"/>
              <a:t>tokens</a:t>
            </a:r>
            <a:r>
              <a:rPr dirty="0" spc="60"/>
              <a:t> </a:t>
            </a:r>
            <a:r>
              <a:rPr dirty="0"/>
              <a:t>is</a:t>
            </a:r>
            <a:r>
              <a:rPr dirty="0" spc="70"/>
              <a:t> </a:t>
            </a:r>
            <a:r>
              <a:rPr dirty="0"/>
              <a:t>sent</a:t>
            </a:r>
            <a:r>
              <a:rPr dirty="0" spc="60"/>
              <a:t> </a:t>
            </a:r>
            <a:r>
              <a:rPr dirty="0"/>
              <a:t>to</a:t>
            </a:r>
            <a:r>
              <a:rPr dirty="0" spc="70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 spc="-10"/>
              <a:t>parser</a:t>
            </a:r>
            <a:r>
              <a:rPr dirty="0" spc="70"/>
              <a:t> </a:t>
            </a:r>
            <a:r>
              <a:rPr dirty="0"/>
              <a:t>for</a:t>
            </a:r>
            <a:r>
              <a:rPr dirty="0" spc="65"/>
              <a:t> </a:t>
            </a:r>
            <a:r>
              <a:rPr dirty="0"/>
              <a:t>syntax</a:t>
            </a:r>
            <a:r>
              <a:rPr dirty="0" spc="65"/>
              <a:t> </a:t>
            </a:r>
            <a:r>
              <a:rPr dirty="0" spc="-10"/>
              <a:t>analysis </a:t>
            </a:r>
            <a:r>
              <a:rPr dirty="0"/>
              <a:t>interact</a:t>
            </a:r>
            <a:r>
              <a:rPr dirty="0" spc="80"/>
              <a:t> </a:t>
            </a:r>
            <a:r>
              <a:rPr dirty="0"/>
              <a:t>with</a:t>
            </a:r>
            <a:r>
              <a:rPr dirty="0" spc="90"/>
              <a:t> </a:t>
            </a:r>
            <a:r>
              <a:rPr dirty="0"/>
              <a:t>the</a:t>
            </a:r>
            <a:r>
              <a:rPr dirty="0" spc="85"/>
              <a:t> </a:t>
            </a:r>
            <a:r>
              <a:rPr dirty="0"/>
              <a:t>symbol</a:t>
            </a:r>
            <a:r>
              <a:rPr dirty="0" spc="85"/>
              <a:t> </a:t>
            </a:r>
            <a:r>
              <a:rPr dirty="0" spc="-20"/>
              <a:t>table</a:t>
            </a:r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dirty="0" spc="-10"/>
              <a:t>inserts</a:t>
            </a:r>
            <a:r>
              <a:rPr dirty="0" spc="60"/>
              <a:t> </a:t>
            </a:r>
            <a:r>
              <a:rPr dirty="0"/>
              <a:t>the</a:t>
            </a:r>
            <a:r>
              <a:rPr dirty="0" spc="60"/>
              <a:t> </a:t>
            </a:r>
            <a:r>
              <a:rPr dirty="0" spc="-10"/>
              <a:t>identifiers</a:t>
            </a:r>
            <a:r>
              <a:rPr dirty="0" spc="60"/>
              <a:t> </a:t>
            </a:r>
            <a:r>
              <a:rPr dirty="0"/>
              <a:t>into</a:t>
            </a:r>
            <a:r>
              <a:rPr dirty="0" spc="55"/>
              <a:t> </a:t>
            </a:r>
            <a:r>
              <a:rPr dirty="0"/>
              <a:t>symbol</a:t>
            </a:r>
            <a:r>
              <a:rPr dirty="0" spc="65"/>
              <a:t> </a:t>
            </a:r>
            <a:r>
              <a:rPr dirty="0" spc="-10"/>
              <a:t>table.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344028"/>
            <a:ext cx="65201" cy="652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588097"/>
            <a:ext cx="65201" cy="6520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004250"/>
            <a:ext cx="65201" cy="65201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248319"/>
            <a:ext cx="65201" cy="65201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492400"/>
            <a:ext cx="65201" cy="65201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19621" y="983740"/>
            <a:ext cx="4214495" cy="708025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708025" marR="5080" indent="-695960">
              <a:lnSpc>
                <a:spcPct val="102600"/>
              </a:lnSpc>
              <a:spcBef>
                <a:spcPts val="55"/>
              </a:spcBef>
            </a:pPr>
            <a:r>
              <a:rPr dirty="0" sz="1100"/>
              <a:t>Scanning</a:t>
            </a:r>
            <a:r>
              <a:rPr dirty="0" sz="1100" spc="265"/>
              <a:t> </a:t>
            </a:r>
            <a:r>
              <a:rPr dirty="0" sz="1100" spc="-10" b="0">
                <a:solidFill>
                  <a:srgbClr val="000000"/>
                </a:solidFill>
                <a:latin typeface="Cambria"/>
                <a:cs typeface="Cambria"/>
              </a:rPr>
              <a:t>consists</a:t>
            </a:r>
            <a:r>
              <a:rPr dirty="0" sz="1100" spc="114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1100" spc="114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dirty="0" sz="1100" spc="12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spc="-10" b="0">
                <a:solidFill>
                  <a:srgbClr val="000000"/>
                </a:solidFill>
                <a:latin typeface="Cambria"/>
                <a:cs typeface="Cambria"/>
              </a:rPr>
              <a:t>simple</a:t>
            </a:r>
            <a:r>
              <a:rPr dirty="0" sz="1100" spc="12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spc="-30" b="0">
                <a:solidFill>
                  <a:srgbClr val="000000"/>
                </a:solidFill>
                <a:latin typeface="Cambria"/>
                <a:cs typeface="Cambria"/>
              </a:rPr>
              <a:t>processes</a:t>
            </a:r>
            <a:r>
              <a:rPr dirty="0" sz="1100" spc="12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that</a:t>
            </a:r>
            <a:r>
              <a:rPr dirty="0" sz="1100" spc="114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do</a:t>
            </a:r>
            <a:r>
              <a:rPr dirty="0" sz="1100" spc="12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not</a:t>
            </a:r>
            <a:r>
              <a:rPr dirty="0" sz="1100" spc="12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spc="-10" b="0">
                <a:solidFill>
                  <a:srgbClr val="000000"/>
                </a:solidFill>
                <a:latin typeface="Cambria"/>
                <a:cs typeface="Cambria"/>
              </a:rPr>
              <a:t>require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tokenization</a:t>
            </a:r>
            <a:r>
              <a:rPr dirty="0" sz="1100" spc="65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1100" spc="75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the</a:t>
            </a:r>
            <a:r>
              <a:rPr dirty="0" sz="1100" spc="7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input,</a:t>
            </a:r>
            <a:r>
              <a:rPr dirty="0" sz="1100" spc="75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such</a:t>
            </a:r>
            <a:r>
              <a:rPr dirty="0" sz="1100" spc="7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as</a:t>
            </a:r>
            <a:r>
              <a:rPr dirty="0" sz="1100" spc="7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deletion</a:t>
            </a:r>
            <a:r>
              <a:rPr dirty="0" sz="1100" spc="75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1100" spc="7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spc="-10" b="0">
                <a:solidFill>
                  <a:srgbClr val="000000"/>
                </a:solidFill>
                <a:latin typeface="Cambria"/>
                <a:cs typeface="Cambria"/>
              </a:rPr>
              <a:t>comments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and</a:t>
            </a:r>
            <a:r>
              <a:rPr dirty="0" sz="1100" spc="6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compaction</a:t>
            </a:r>
            <a:r>
              <a:rPr dirty="0" sz="1100" spc="6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b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1100" spc="65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spc="-10" b="0">
                <a:solidFill>
                  <a:srgbClr val="000000"/>
                </a:solidFill>
                <a:latin typeface="Cambria"/>
                <a:cs typeface="Cambria"/>
              </a:rPr>
              <a:t>consecutive</a:t>
            </a:r>
            <a:r>
              <a:rPr dirty="0" sz="1100" spc="6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spc="-10" b="0">
                <a:solidFill>
                  <a:srgbClr val="000000"/>
                </a:solidFill>
                <a:latin typeface="Cambria"/>
                <a:cs typeface="Cambria"/>
              </a:rPr>
              <a:t>whitespace</a:t>
            </a:r>
            <a:r>
              <a:rPr dirty="0" sz="1100" spc="65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spc="-10" b="0">
                <a:solidFill>
                  <a:srgbClr val="000000"/>
                </a:solidFill>
                <a:latin typeface="Cambria"/>
                <a:cs typeface="Cambria"/>
              </a:rPr>
              <a:t>characters</a:t>
            </a:r>
            <a:r>
              <a:rPr dirty="0" sz="1100" spc="60" b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1100" spc="-20" b="0">
                <a:solidFill>
                  <a:srgbClr val="000000"/>
                </a:solidFill>
                <a:latin typeface="Cambria"/>
                <a:cs typeface="Cambria"/>
              </a:rPr>
              <a:t>into one.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5844" y="1710002"/>
            <a:ext cx="4350385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801370" marR="5080" indent="-789305">
              <a:lnSpc>
                <a:spcPct val="102600"/>
              </a:lnSpc>
              <a:spcBef>
                <a:spcPts val="55"/>
              </a:spcBef>
            </a:pPr>
            <a:r>
              <a:rPr dirty="0" sz="1100" b="1">
                <a:solidFill>
                  <a:srgbClr val="330066"/>
                </a:solidFill>
                <a:latin typeface="Palatino Linotype"/>
                <a:cs typeface="Palatino Linotype"/>
              </a:rPr>
              <a:t>Lexical</a:t>
            </a:r>
            <a:r>
              <a:rPr dirty="0" sz="1100" spc="150" b="1">
                <a:solidFill>
                  <a:srgbClr val="330066"/>
                </a:solidFill>
                <a:latin typeface="Palatino Linotype"/>
                <a:cs typeface="Palatino Linotype"/>
              </a:rPr>
              <a:t> </a:t>
            </a:r>
            <a:r>
              <a:rPr dirty="0" sz="1100" b="1">
                <a:solidFill>
                  <a:srgbClr val="330066"/>
                </a:solidFill>
                <a:latin typeface="Palatino Linotype"/>
                <a:cs typeface="Palatino Linotype"/>
              </a:rPr>
              <a:t>analysis</a:t>
            </a:r>
            <a:r>
              <a:rPr dirty="0" sz="1100" spc="280" b="1">
                <a:solidFill>
                  <a:srgbClr val="330066"/>
                </a:solidFill>
                <a:latin typeface="Palatino Linotype"/>
                <a:cs typeface="Palatino Linotype"/>
              </a:rPr>
              <a:t> </a:t>
            </a:r>
            <a:r>
              <a:rPr dirty="0" sz="1100" spc="-10">
                <a:latin typeface="Cambria"/>
                <a:cs typeface="Cambria"/>
              </a:rPr>
              <a:t>proper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more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complex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portion,</a:t>
            </a:r>
            <a:r>
              <a:rPr dirty="0" sz="1100" spc="1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which</a:t>
            </a:r>
            <a:r>
              <a:rPr dirty="0" sz="1100" spc="1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produces tokens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from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output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scanner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Scanning</a:t>
            </a:r>
            <a:r>
              <a:rPr dirty="0" spc="380"/>
              <a:t> </a:t>
            </a:r>
            <a:r>
              <a:rPr dirty="0"/>
              <a:t>Vs.</a:t>
            </a:r>
            <a:r>
              <a:rPr dirty="0" spc="135"/>
              <a:t>  </a:t>
            </a:r>
            <a:r>
              <a:rPr dirty="0" spc="50"/>
              <a:t>Parsing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68731" y="1291017"/>
            <a:ext cx="32708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5" b="1">
                <a:latin typeface="Palatino Linotype"/>
                <a:cs typeface="Palatino Linotype"/>
              </a:rPr>
              <a:t>Why</a:t>
            </a:r>
            <a:r>
              <a:rPr dirty="0" sz="1100" spc="270" b="1">
                <a:latin typeface="Palatino Linotype"/>
                <a:cs typeface="Palatino Linotype"/>
              </a:rPr>
              <a:t> </a:t>
            </a:r>
            <a:r>
              <a:rPr dirty="0" sz="1100" b="1">
                <a:latin typeface="Palatino Linotype"/>
                <a:cs typeface="Palatino Linotype"/>
              </a:rPr>
              <a:t>separating</a:t>
            </a:r>
            <a:r>
              <a:rPr dirty="0" sz="1100" spc="270" b="1">
                <a:latin typeface="Palatino Linotype"/>
                <a:cs typeface="Palatino Linotype"/>
              </a:rPr>
              <a:t> </a:t>
            </a:r>
            <a:r>
              <a:rPr dirty="0" sz="1100" b="1">
                <a:latin typeface="Palatino Linotype"/>
                <a:cs typeface="Palatino Linotype"/>
              </a:rPr>
              <a:t>lexical</a:t>
            </a:r>
            <a:r>
              <a:rPr dirty="0" sz="1100" spc="275" b="1">
                <a:latin typeface="Palatino Linotype"/>
                <a:cs typeface="Palatino Linotype"/>
              </a:rPr>
              <a:t> </a:t>
            </a:r>
            <a:r>
              <a:rPr dirty="0" sz="1100" b="1">
                <a:latin typeface="Palatino Linotype"/>
                <a:cs typeface="Palatino Linotype"/>
              </a:rPr>
              <a:t>and</a:t>
            </a:r>
            <a:r>
              <a:rPr dirty="0" sz="1100" spc="270" b="1">
                <a:latin typeface="Palatino Linotype"/>
                <a:cs typeface="Palatino Linotype"/>
              </a:rPr>
              <a:t> </a:t>
            </a:r>
            <a:r>
              <a:rPr dirty="0" sz="1100" spc="50" b="1">
                <a:latin typeface="Palatino Linotype"/>
                <a:cs typeface="Palatino Linotype"/>
              </a:rPr>
              <a:t>syntactic</a:t>
            </a:r>
            <a:r>
              <a:rPr dirty="0" sz="1100" spc="275" b="1">
                <a:latin typeface="Palatino Linotype"/>
                <a:cs typeface="Palatino Linotype"/>
              </a:rPr>
              <a:t> </a:t>
            </a:r>
            <a:r>
              <a:rPr dirty="0" sz="1100" spc="-10" b="1">
                <a:latin typeface="Palatino Linotype"/>
                <a:cs typeface="Palatino Linotype"/>
              </a:rPr>
              <a:t>analysis?</a:t>
            </a:r>
            <a:endParaRPr sz="1100">
              <a:latin typeface="Palatino Linotype"/>
              <a:cs typeface="Palatino Linotype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7796" y="1745046"/>
            <a:ext cx="114103" cy="11410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45808" y="1732120"/>
            <a:ext cx="7810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600">
              <a:latin typeface="Georgia"/>
              <a:cs typeface="Georg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7796" y="1955072"/>
            <a:ext cx="114103" cy="114103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796" y="2165112"/>
            <a:ext cx="114103" cy="114103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245808" y="1942152"/>
            <a:ext cx="78105" cy="326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600" spc="-50" b="1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2932" y="1647060"/>
            <a:ext cx="3435350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dirty="0" sz="1100">
                <a:latin typeface="Cambria"/>
                <a:cs typeface="Cambria"/>
              </a:rPr>
              <a:t>Simplicity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design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most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important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consideration </a:t>
            </a:r>
            <a:r>
              <a:rPr dirty="0" sz="1100">
                <a:latin typeface="Cambria"/>
                <a:cs typeface="Cambria"/>
              </a:rPr>
              <a:t>Compiler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efficiency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improved.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100">
                <a:latin typeface="Cambria"/>
                <a:cs typeface="Cambria"/>
              </a:rPr>
              <a:t>Compiler</a:t>
            </a:r>
            <a:r>
              <a:rPr dirty="0" sz="1100" spc="1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portability</a:t>
            </a:r>
            <a:r>
              <a:rPr dirty="0" sz="1100" spc="12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1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enhanced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117150" y="1640662"/>
            <a:ext cx="356235" cy="412115"/>
            <a:chOff x="117150" y="1640662"/>
            <a:chExt cx="356235" cy="412115"/>
          </a:xfrm>
        </p:grpSpPr>
        <p:sp>
          <p:nvSpPr>
            <p:cNvPr id="14" name="object 14" descr=""/>
            <p:cNvSpPr/>
            <p:nvPr/>
          </p:nvSpPr>
          <p:spPr>
            <a:xfrm>
              <a:off x="126347" y="1649859"/>
              <a:ext cx="337820" cy="175260"/>
            </a:xfrm>
            <a:custGeom>
              <a:avLst/>
              <a:gdLst/>
              <a:ahLst/>
              <a:cxnLst/>
              <a:rect l="l" t="t" r="r" b="b"/>
              <a:pathLst>
                <a:path w="337820" h="175260">
                  <a:moveTo>
                    <a:pt x="2476" y="118738"/>
                  </a:moveTo>
                  <a:lnTo>
                    <a:pt x="0" y="145840"/>
                  </a:lnTo>
                  <a:lnTo>
                    <a:pt x="5523" y="164280"/>
                  </a:lnTo>
                  <a:lnTo>
                    <a:pt x="19046" y="174059"/>
                  </a:lnTo>
                  <a:lnTo>
                    <a:pt x="40570" y="175177"/>
                  </a:lnTo>
                  <a:lnTo>
                    <a:pt x="70093" y="167634"/>
                  </a:lnTo>
                  <a:lnTo>
                    <a:pt x="107617" y="151430"/>
                  </a:lnTo>
                  <a:lnTo>
                    <a:pt x="153141" y="126565"/>
                  </a:lnTo>
                  <a:lnTo>
                    <a:pt x="206665" y="93038"/>
                  </a:lnTo>
                  <a:lnTo>
                    <a:pt x="268189" y="50850"/>
                  </a:lnTo>
                  <a:lnTo>
                    <a:pt x="337713" y="1"/>
                  </a:lnTo>
                </a:path>
              </a:pathLst>
            </a:custGeom>
            <a:ln w="1839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8831" y="1886891"/>
              <a:ext cx="220930" cy="165392"/>
            </a:xfrm>
            <a:prstGeom prst="rect">
              <a:avLst/>
            </a:prstGeom>
          </p:spPr>
        </p:pic>
      </p:grpSp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3802" y="2116014"/>
            <a:ext cx="251091" cy="146221"/>
          </a:xfrm>
          <a:prstGeom prst="rect">
            <a:avLst/>
          </a:prstGeom>
        </p:spPr>
      </p:pic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Tokens,</a:t>
            </a:r>
            <a:r>
              <a:rPr dirty="0" spc="254"/>
              <a:t> </a:t>
            </a:r>
            <a:r>
              <a:rPr dirty="0" spc="100"/>
              <a:t>Patterns,</a:t>
            </a:r>
            <a:r>
              <a:rPr dirty="0" spc="254"/>
              <a:t> </a:t>
            </a:r>
            <a:r>
              <a:rPr dirty="0" spc="55"/>
              <a:t>and</a:t>
            </a:r>
            <a:r>
              <a:rPr dirty="0" spc="260"/>
              <a:t> </a:t>
            </a:r>
            <a:r>
              <a:rPr dirty="0" spc="50"/>
              <a:t>Lexemes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432" y="1396809"/>
            <a:ext cx="65201" cy="652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432" y="1792719"/>
            <a:ext cx="65201" cy="652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0195" y="2134361"/>
            <a:ext cx="52527" cy="5252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0195" y="2358186"/>
            <a:ext cx="52527" cy="52527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8072" rIns="0" bIns="0" rtlCol="0" vert="horz">
            <a:spAutoFit/>
          </a:bodyPr>
          <a:lstStyle/>
          <a:p>
            <a:pPr marL="313690">
              <a:lnSpc>
                <a:spcPct val="100000"/>
              </a:lnSpc>
              <a:spcBef>
                <a:spcPts val="335"/>
              </a:spcBef>
            </a:pPr>
            <a:r>
              <a:rPr dirty="0" b="1">
                <a:solidFill>
                  <a:srgbClr val="330066"/>
                </a:solidFill>
                <a:latin typeface="Palatino Linotype"/>
                <a:cs typeface="Palatino Linotype"/>
              </a:rPr>
              <a:t>Token</a:t>
            </a:r>
            <a:r>
              <a:rPr dirty="0" spc="295" b="1">
                <a:solidFill>
                  <a:srgbClr val="330066"/>
                </a:solidFill>
                <a:latin typeface="Palatino Linotype"/>
                <a:cs typeface="Palatino Linotype"/>
              </a:rPr>
              <a:t> </a:t>
            </a:r>
            <a:r>
              <a:rPr dirty="0" spc="-50"/>
              <a:t>-</a:t>
            </a:r>
          </a:p>
          <a:p>
            <a:pPr marL="1078230" marR="106045">
              <a:lnSpc>
                <a:spcPct val="102600"/>
              </a:lnSpc>
              <a:spcBef>
                <a:spcPts val="200"/>
              </a:spcBef>
            </a:pPr>
            <a:r>
              <a:rPr dirty="0"/>
              <a:t>is</a:t>
            </a:r>
            <a:r>
              <a:rPr dirty="0" spc="75"/>
              <a:t> </a:t>
            </a:r>
            <a:r>
              <a:rPr dirty="0"/>
              <a:t>a</a:t>
            </a:r>
            <a:r>
              <a:rPr dirty="0" spc="80"/>
              <a:t> </a:t>
            </a:r>
            <a:r>
              <a:rPr dirty="0"/>
              <a:t>pair</a:t>
            </a:r>
            <a:r>
              <a:rPr dirty="0" spc="80"/>
              <a:t> </a:t>
            </a:r>
            <a:r>
              <a:rPr dirty="0"/>
              <a:t>consisting</a:t>
            </a:r>
            <a:r>
              <a:rPr dirty="0" spc="80"/>
              <a:t> </a:t>
            </a:r>
            <a:r>
              <a:rPr dirty="0"/>
              <a:t>of</a:t>
            </a:r>
            <a:r>
              <a:rPr dirty="0" spc="80"/>
              <a:t> </a:t>
            </a:r>
            <a:r>
              <a:rPr dirty="0"/>
              <a:t>a</a:t>
            </a:r>
            <a:r>
              <a:rPr dirty="0" spc="85"/>
              <a:t> </a:t>
            </a:r>
            <a:r>
              <a:rPr dirty="0"/>
              <a:t>token</a:t>
            </a:r>
            <a:r>
              <a:rPr dirty="0" spc="75"/>
              <a:t> </a:t>
            </a:r>
            <a:r>
              <a:rPr dirty="0"/>
              <a:t>name</a:t>
            </a:r>
            <a:r>
              <a:rPr dirty="0" spc="80"/>
              <a:t> </a:t>
            </a:r>
            <a:r>
              <a:rPr dirty="0"/>
              <a:t>and</a:t>
            </a:r>
            <a:r>
              <a:rPr dirty="0" spc="80"/>
              <a:t> </a:t>
            </a:r>
            <a:r>
              <a:rPr dirty="0"/>
              <a:t>an</a:t>
            </a:r>
            <a:r>
              <a:rPr dirty="0" spc="80"/>
              <a:t> </a:t>
            </a:r>
            <a:r>
              <a:rPr dirty="0" spc="-10"/>
              <a:t>optional </a:t>
            </a:r>
            <a:r>
              <a:rPr dirty="0"/>
              <a:t>attribute</a:t>
            </a:r>
            <a:r>
              <a:rPr dirty="0" spc="195"/>
              <a:t> </a:t>
            </a:r>
            <a:r>
              <a:rPr dirty="0" spc="-10"/>
              <a:t>value</a:t>
            </a:r>
          </a:p>
          <a:p>
            <a:pPr marL="1078230" marR="5080">
              <a:lnSpc>
                <a:spcPts val="1200"/>
              </a:lnSpc>
              <a:spcBef>
                <a:spcPts val="580"/>
              </a:spcBef>
            </a:pPr>
            <a:r>
              <a:rPr dirty="0"/>
              <a:t>token</a:t>
            </a:r>
            <a:r>
              <a:rPr dirty="0" spc="75"/>
              <a:t> </a:t>
            </a:r>
            <a:r>
              <a:rPr dirty="0"/>
              <a:t>name</a:t>
            </a:r>
            <a:r>
              <a:rPr dirty="0" spc="80"/>
              <a:t> </a:t>
            </a:r>
            <a:r>
              <a:rPr dirty="0"/>
              <a:t>is</a:t>
            </a:r>
            <a:r>
              <a:rPr dirty="0" spc="85"/>
              <a:t> </a:t>
            </a:r>
            <a:r>
              <a:rPr dirty="0"/>
              <a:t>an</a:t>
            </a:r>
            <a:r>
              <a:rPr dirty="0" spc="80"/>
              <a:t> </a:t>
            </a:r>
            <a:r>
              <a:rPr dirty="0"/>
              <a:t>abstract</a:t>
            </a:r>
            <a:r>
              <a:rPr dirty="0" spc="85"/>
              <a:t> </a:t>
            </a:r>
            <a:r>
              <a:rPr dirty="0"/>
              <a:t>symbol</a:t>
            </a:r>
            <a:r>
              <a:rPr dirty="0" spc="80"/>
              <a:t> </a:t>
            </a:r>
            <a:r>
              <a:rPr dirty="0" spc="-20"/>
              <a:t>representing</a:t>
            </a:r>
            <a:r>
              <a:rPr dirty="0" spc="75"/>
              <a:t> </a:t>
            </a:r>
            <a:r>
              <a:rPr dirty="0"/>
              <a:t>a</a:t>
            </a:r>
            <a:r>
              <a:rPr dirty="0" spc="85"/>
              <a:t> </a:t>
            </a:r>
            <a:r>
              <a:rPr dirty="0" spc="-20"/>
              <a:t>kind </a:t>
            </a:r>
            <a:r>
              <a:rPr dirty="0"/>
              <a:t>of</a:t>
            </a:r>
            <a:r>
              <a:rPr dirty="0" spc="130"/>
              <a:t> </a:t>
            </a:r>
            <a:r>
              <a:rPr dirty="0"/>
              <a:t>lexical</a:t>
            </a:r>
            <a:r>
              <a:rPr dirty="0" spc="140"/>
              <a:t> </a:t>
            </a:r>
            <a:r>
              <a:rPr dirty="0"/>
              <a:t>unit,</a:t>
            </a:r>
            <a:r>
              <a:rPr dirty="0" spc="145"/>
              <a:t> </a:t>
            </a:r>
            <a:r>
              <a:rPr dirty="0" spc="-10"/>
              <a:t>e.g.,</a:t>
            </a:r>
          </a:p>
          <a:p>
            <a:pPr marL="1355090">
              <a:lnSpc>
                <a:spcPct val="100000"/>
              </a:lnSpc>
              <a:spcBef>
                <a:spcPts val="150"/>
              </a:spcBef>
            </a:pPr>
            <a:r>
              <a:rPr dirty="0" sz="1000"/>
              <a:t>a</a:t>
            </a:r>
            <a:r>
              <a:rPr dirty="0" sz="1000" spc="140"/>
              <a:t> </a:t>
            </a:r>
            <a:r>
              <a:rPr dirty="0" sz="1000"/>
              <a:t>particular</a:t>
            </a:r>
            <a:r>
              <a:rPr dirty="0" sz="1000" spc="140"/>
              <a:t> </a:t>
            </a:r>
            <a:r>
              <a:rPr dirty="0" sz="1000" spc="-10"/>
              <a:t>keyword</a:t>
            </a:r>
            <a:endParaRPr sz="1000"/>
          </a:p>
          <a:p>
            <a:pPr marL="1355090">
              <a:lnSpc>
                <a:spcPct val="100000"/>
              </a:lnSpc>
              <a:spcBef>
                <a:spcPts val="565"/>
              </a:spcBef>
            </a:pPr>
            <a:r>
              <a:rPr dirty="0" sz="1000"/>
              <a:t>a</a:t>
            </a:r>
            <a:r>
              <a:rPr dirty="0" sz="1000" spc="90"/>
              <a:t> </a:t>
            </a:r>
            <a:r>
              <a:rPr dirty="0" sz="1000" spc="-20"/>
              <a:t>sequence</a:t>
            </a:r>
            <a:r>
              <a:rPr dirty="0" sz="1000" spc="90"/>
              <a:t> </a:t>
            </a:r>
            <a:r>
              <a:rPr dirty="0" sz="1000"/>
              <a:t>of</a:t>
            </a:r>
            <a:r>
              <a:rPr dirty="0" sz="1000" spc="95"/>
              <a:t> </a:t>
            </a:r>
            <a:r>
              <a:rPr dirty="0" sz="1000"/>
              <a:t>input</a:t>
            </a:r>
            <a:r>
              <a:rPr dirty="0" sz="1000" spc="90"/>
              <a:t> </a:t>
            </a:r>
            <a:r>
              <a:rPr dirty="0" sz="1000"/>
              <a:t>characters</a:t>
            </a:r>
            <a:r>
              <a:rPr dirty="0" sz="1000" spc="95"/>
              <a:t> </a:t>
            </a:r>
            <a:r>
              <a:rPr dirty="0" sz="1000"/>
              <a:t>denoting</a:t>
            </a:r>
            <a:r>
              <a:rPr dirty="0" sz="1000" spc="90"/>
              <a:t> </a:t>
            </a:r>
            <a:r>
              <a:rPr dirty="0" sz="1000"/>
              <a:t>an</a:t>
            </a:r>
            <a:r>
              <a:rPr dirty="0" sz="1000" spc="95"/>
              <a:t> </a:t>
            </a:r>
            <a:r>
              <a:rPr dirty="0" sz="1000" spc="-10"/>
              <a:t>identifier.</a:t>
            </a:r>
            <a:endParaRPr sz="1000"/>
          </a:p>
        </p:txBody>
      </p:sp>
      <p:sp>
        <p:nvSpPr>
          <p:cNvPr id="10" name="object 10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282003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Tokens,</a:t>
            </a:r>
            <a:r>
              <a:rPr dirty="0" spc="254"/>
              <a:t> </a:t>
            </a:r>
            <a:r>
              <a:rPr dirty="0" spc="100"/>
              <a:t>Patterns,</a:t>
            </a:r>
            <a:r>
              <a:rPr dirty="0" spc="254"/>
              <a:t> </a:t>
            </a:r>
            <a:r>
              <a:rPr dirty="0" spc="55"/>
              <a:t>and</a:t>
            </a:r>
            <a:r>
              <a:rPr dirty="0" spc="260"/>
              <a:t> </a:t>
            </a:r>
            <a:r>
              <a:rPr dirty="0" spc="50"/>
              <a:t>Lexemes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12864" y="1205508"/>
            <a:ext cx="67437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0" b="1">
                <a:solidFill>
                  <a:srgbClr val="330066"/>
                </a:solidFill>
                <a:latin typeface="Palatino Linotype"/>
                <a:cs typeface="Palatino Linotype"/>
              </a:rPr>
              <a:t>Pattern</a:t>
            </a:r>
            <a:r>
              <a:rPr dirty="0" sz="1100" spc="295" b="1">
                <a:solidFill>
                  <a:srgbClr val="330066"/>
                </a:solidFill>
                <a:latin typeface="Palatino Linotype"/>
                <a:cs typeface="Palatino Linotype"/>
              </a:rPr>
              <a:t> </a:t>
            </a:r>
            <a:r>
              <a:rPr dirty="0" sz="1100" spc="-50">
                <a:latin typeface="Cambria"/>
                <a:cs typeface="Cambria"/>
              </a:rPr>
              <a:t>-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432" y="1486395"/>
            <a:ext cx="65201" cy="652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432" y="1882305"/>
            <a:ext cx="65201" cy="652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0195" y="2072106"/>
            <a:ext cx="52527" cy="52527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788398" y="352494"/>
            <a:ext cx="932815" cy="9150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08279" marR="200660">
              <a:lnSpc>
                <a:spcPct val="106100"/>
              </a:lnSpc>
              <a:spcBef>
                <a:spcPts val="95"/>
              </a:spcBef>
            </a:pPr>
            <a:r>
              <a:rPr dirty="0" sz="1100" spc="55" b="1">
                <a:latin typeface="Book Antiqua"/>
                <a:cs typeface="Book Antiqua"/>
              </a:rPr>
              <a:t>count </a:t>
            </a:r>
            <a:r>
              <a:rPr dirty="0" sz="1100" spc="100" b="1">
                <a:latin typeface="Book Antiqua"/>
                <a:cs typeface="Book Antiqua"/>
              </a:rPr>
              <a:t>abc123 </a:t>
            </a:r>
            <a:r>
              <a:rPr dirty="0" sz="1100" spc="95" b="1">
                <a:latin typeface="Book Antiqua"/>
                <a:cs typeface="Book Antiqua"/>
              </a:rPr>
              <a:t>12asd</a:t>
            </a:r>
            <a:endParaRPr sz="11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100" b="1">
                <a:latin typeface="Book Antiqua"/>
                <a:cs typeface="Book Antiqua"/>
              </a:rPr>
              <a:t>d</a:t>
            </a:r>
            <a:r>
              <a:rPr dirty="0" sz="1100" spc="25" b="1">
                <a:latin typeface="Book Antiqua"/>
                <a:cs typeface="Book Antiqua"/>
              </a:rPr>
              <a:t> </a:t>
            </a:r>
            <a:r>
              <a:rPr dirty="0" sz="1100" spc="-195" b="1">
                <a:latin typeface="Book Antiqua"/>
                <a:cs typeface="Book Antiqua"/>
              </a:rPr>
              <a:t>—</a:t>
            </a:r>
            <a:r>
              <a:rPr dirty="0" sz="1100" spc="-120" b="1">
                <a:latin typeface="Book Antiqua"/>
                <a:cs typeface="Book Antiqua"/>
              </a:rPr>
              <a:t>&gt;</a:t>
            </a:r>
            <a:r>
              <a:rPr dirty="0" sz="1100" spc="30" b="1">
                <a:latin typeface="Book Antiqua"/>
                <a:cs typeface="Book Antiqua"/>
              </a:rPr>
              <a:t> </a:t>
            </a:r>
            <a:r>
              <a:rPr dirty="0" sz="1100" spc="195" b="1">
                <a:latin typeface="Book Antiqua"/>
                <a:cs typeface="Book Antiqua"/>
              </a:rPr>
              <a:t>[0-</a:t>
            </a:r>
            <a:r>
              <a:rPr dirty="0" sz="1100" spc="185" b="1">
                <a:latin typeface="Book Antiqua"/>
                <a:cs typeface="Book Antiqua"/>
              </a:rPr>
              <a:t>9]</a:t>
            </a:r>
            <a:endParaRPr sz="11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100" b="1">
                <a:latin typeface="Book Antiqua"/>
                <a:cs typeface="Book Antiqua"/>
              </a:rPr>
              <a:t>l</a:t>
            </a:r>
            <a:r>
              <a:rPr dirty="0" sz="1100" spc="225" b="1">
                <a:latin typeface="Book Antiqua"/>
                <a:cs typeface="Book Antiqua"/>
              </a:rPr>
              <a:t> </a:t>
            </a:r>
            <a:r>
              <a:rPr dirty="0" sz="1100" spc="95" b="1">
                <a:latin typeface="Book Antiqua"/>
                <a:cs typeface="Book Antiqua"/>
              </a:rPr>
              <a:t>—</a:t>
            </a:r>
            <a:r>
              <a:rPr dirty="0" sz="1100" b="1">
                <a:latin typeface="Book Antiqua"/>
                <a:cs typeface="Book Antiqua"/>
              </a:rPr>
              <a:t>&gt;[a-</a:t>
            </a:r>
            <a:r>
              <a:rPr dirty="0" sz="1100" spc="50" b="1">
                <a:latin typeface="Book Antiqua"/>
                <a:cs typeface="Book Antiqua"/>
              </a:rPr>
              <a:t>zA-</a:t>
            </a:r>
            <a:r>
              <a:rPr dirty="0" sz="1100" spc="-25" b="1">
                <a:latin typeface="Book Antiqua"/>
                <a:cs typeface="Book Antiqua"/>
              </a:rPr>
              <a:t>Z]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6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1192212" y="1250071"/>
            <a:ext cx="3068955" cy="10674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60070">
              <a:lnSpc>
                <a:spcPts val="1250"/>
              </a:lnSpc>
              <a:spcBef>
                <a:spcPts val="110"/>
              </a:spcBef>
            </a:pPr>
            <a:r>
              <a:rPr dirty="0" sz="1100" b="1">
                <a:latin typeface="Book Antiqua"/>
                <a:cs typeface="Book Antiqua"/>
              </a:rPr>
              <a:t>id</a:t>
            </a:r>
            <a:r>
              <a:rPr dirty="0" sz="1100" spc="30" b="1">
                <a:latin typeface="Book Antiqua"/>
                <a:cs typeface="Book Antiqua"/>
              </a:rPr>
              <a:t> </a:t>
            </a:r>
            <a:r>
              <a:rPr dirty="0" sz="1100" spc="-195" b="1">
                <a:latin typeface="Book Antiqua"/>
                <a:cs typeface="Book Antiqua"/>
              </a:rPr>
              <a:t>—</a:t>
            </a:r>
            <a:r>
              <a:rPr dirty="0" sz="1100" spc="-120" b="1">
                <a:latin typeface="Book Antiqua"/>
                <a:cs typeface="Book Antiqua"/>
              </a:rPr>
              <a:t>&gt;</a:t>
            </a:r>
            <a:r>
              <a:rPr dirty="0" sz="1100" spc="35" b="1">
                <a:latin typeface="Book Antiqua"/>
                <a:cs typeface="Book Antiqua"/>
              </a:rPr>
              <a:t> </a:t>
            </a:r>
            <a:r>
              <a:rPr dirty="0" sz="1100" b="1">
                <a:latin typeface="Book Antiqua"/>
                <a:cs typeface="Book Antiqua"/>
              </a:rPr>
              <a:t>l</a:t>
            </a:r>
            <a:r>
              <a:rPr dirty="0" sz="1100" spc="30" b="1">
                <a:latin typeface="Book Antiqua"/>
                <a:cs typeface="Book Antiqua"/>
              </a:rPr>
              <a:t> </a:t>
            </a:r>
            <a:r>
              <a:rPr dirty="0" sz="1100" spc="190" b="1">
                <a:latin typeface="Book Antiqua"/>
                <a:cs typeface="Book Antiqua"/>
              </a:rPr>
              <a:t>(l</a:t>
            </a:r>
            <a:r>
              <a:rPr dirty="0" sz="1100" spc="35" b="1">
                <a:latin typeface="Book Antiqua"/>
                <a:cs typeface="Book Antiqua"/>
              </a:rPr>
              <a:t> </a:t>
            </a:r>
            <a:r>
              <a:rPr dirty="0" sz="1100" spc="105" b="1">
                <a:latin typeface="Book Antiqua"/>
                <a:cs typeface="Book Antiqua"/>
              </a:rPr>
              <a:t>|d)*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ts val="1250"/>
              </a:lnSpc>
            </a:pP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description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form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lexemes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Cambria"/>
                <a:cs typeface="Cambria"/>
              </a:rPr>
              <a:t>token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may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take.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case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keyword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token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0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pattern</a:t>
            </a:r>
            <a:r>
              <a:rPr dirty="0" sz="1000" spc="10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is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just</a:t>
            </a:r>
            <a:r>
              <a:rPr dirty="0" sz="1000" spc="10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00">
                <a:latin typeface="Cambria"/>
                <a:cs typeface="Cambria"/>
              </a:rPr>
              <a:t> </a:t>
            </a:r>
            <a:r>
              <a:rPr dirty="0" sz="1000" spc="-20">
                <a:latin typeface="Cambria"/>
                <a:cs typeface="Cambria"/>
              </a:rPr>
              <a:t>sequence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of</a:t>
            </a:r>
            <a:r>
              <a:rPr dirty="0" sz="1000" spc="10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characters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 spc="-20">
                <a:latin typeface="Cambria"/>
                <a:cs typeface="Cambria"/>
              </a:rPr>
              <a:t>that </a:t>
            </a:r>
            <a:r>
              <a:rPr dirty="0" sz="1000">
                <a:latin typeface="Cambria"/>
                <a:cs typeface="Cambria"/>
              </a:rPr>
              <a:t>form</a:t>
            </a:r>
            <a:r>
              <a:rPr dirty="0" sz="1000" spc="8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85">
                <a:latin typeface="Cambria"/>
                <a:cs typeface="Cambria"/>
              </a:rPr>
              <a:t> </a:t>
            </a:r>
            <a:r>
              <a:rPr dirty="0" sz="1000" spc="-10">
                <a:latin typeface="Cambria"/>
                <a:cs typeface="Cambria"/>
              </a:rPr>
              <a:t>keyword</a:t>
            </a:r>
            <a:endParaRPr sz="1000">
              <a:latin typeface="Cambria"/>
              <a:cs typeface="Cambri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Tokens,</a:t>
            </a:r>
            <a:r>
              <a:rPr dirty="0" spc="254"/>
              <a:t> </a:t>
            </a:r>
            <a:r>
              <a:rPr dirty="0" spc="100"/>
              <a:t>Patterns,</a:t>
            </a:r>
            <a:r>
              <a:rPr dirty="0" spc="254"/>
              <a:t> </a:t>
            </a:r>
            <a:r>
              <a:rPr dirty="0" spc="55"/>
              <a:t>and</a:t>
            </a:r>
            <a:r>
              <a:rPr dirty="0" spc="260"/>
              <a:t> </a:t>
            </a:r>
            <a:r>
              <a:rPr dirty="0" spc="50"/>
              <a:t>Lexemes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432" y="1550822"/>
            <a:ext cx="65201" cy="652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432" y="1966963"/>
            <a:ext cx="65201" cy="65201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22071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335"/>
              </a:spcBef>
            </a:pPr>
            <a:r>
              <a:rPr dirty="0" spc="55" b="1">
                <a:solidFill>
                  <a:srgbClr val="330066"/>
                </a:solidFill>
                <a:latin typeface="Palatino Linotype"/>
                <a:cs typeface="Palatino Linotype"/>
              </a:rPr>
              <a:t>Lexeme</a:t>
            </a:r>
            <a:r>
              <a:rPr dirty="0" spc="285" b="1">
                <a:solidFill>
                  <a:srgbClr val="330066"/>
                </a:solidFill>
                <a:latin typeface="Palatino Linotype"/>
                <a:cs typeface="Palatino Linotype"/>
              </a:rPr>
              <a:t> </a:t>
            </a:r>
            <a:r>
              <a:rPr dirty="0" spc="-50"/>
              <a:t>-</a:t>
            </a:r>
          </a:p>
          <a:p>
            <a:pPr marL="1078230" marR="5080">
              <a:lnSpc>
                <a:spcPct val="102600"/>
              </a:lnSpc>
              <a:spcBef>
                <a:spcPts val="200"/>
              </a:spcBef>
            </a:pPr>
            <a:r>
              <a:rPr dirty="0"/>
              <a:t>is</a:t>
            </a:r>
            <a:r>
              <a:rPr dirty="0" spc="65"/>
              <a:t> </a:t>
            </a:r>
            <a:r>
              <a:rPr dirty="0"/>
              <a:t>a</a:t>
            </a:r>
            <a:r>
              <a:rPr dirty="0" spc="65"/>
              <a:t> </a:t>
            </a:r>
            <a:r>
              <a:rPr dirty="0" spc="-25"/>
              <a:t>sequence</a:t>
            </a:r>
            <a:r>
              <a:rPr dirty="0" spc="65"/>
              <a:t> </a:t>
            </a:r>
            <a:r>
              <a:rPr dirty="0"/>
              <a:t>of</a:t>
            </a:r>
            <a:r>
              <a:rPr dirty="0" spc="65"/>
              <a:t> </a:t>
            </a:r>
            <a:r>
              <a:rPr dirty="0" spc="-10"/>
              <a:t>characters</a:t>
            </a:r>
            <a:r>
              <a:rPr dirty="0" spc="70"/>
              <a:t> </a:t>
            </a:r>
            <a:r>
              <a:rPr dirty="0"/>
              <a:t>in</a:t>
            </a:r>
            <a:r>
              <a:rPr dirty="0" spc="65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 spc="-20"/>
              <a:t>source</a:t>
            </a:r>
            <a:r>
              <a:rPr dirty="0" spc="65"/>
              <a:t> </a:t>
            </a:r>
            <a:r>
              <a:rPr dirty="0"/>
              <a:t>program</a:t>
            </a:r>
            <a:r>
              <a:rPr dirty="0" spc="65"/>
              <a:t> </a:t>
            </a:r>
            <a:r>
              <a:rPr dirty="0" spc="-20"/>
              <a:t>that </a:t>
            </a:r>
            <a:r>
              <a:rPr dirty="0"/>
              <a:t>matches</a:t>
            </a:r>
            <a:r>
              <a:rPr dirty="0" spc="75"/>
              <a:t> </a:t>
            </a:r>
            <a:r>
              <a:rPr dirty="0"/>
              <a:t>the</a:t>
            </a:r>
            <a:r>
              <a:rPr dirty="0" spc="85"/>
              <a:t> </a:t>
            </a:r>
            <a:r>
              <a:rPr dirty="0"/>
              <a:t>pattern</a:t>
            </a:r>
            <a:r>
              <a:rPr dirty="0" spc="85"/>
              <a:t> </a:t>
            </a:r>
            <a:r>
              <a:rPr dirty="0"/>
              <a:t>for</a:t>
            </a:r>
            <a:r>
              <a:rPr dirty="0" spc="85"/>
              <a:t> </a:t>
            </a:r>
            <a:r>
              <a:rPr dirty="0"/>
              <a:t>a</a:t>
            </a:r>
            <a:r>
              <a:rPr dirty="0" spc="80"/>
              <a:t> </a:t>
            </a:r>
            <a:r>
              <a:rPr dirty="0" spc="-10"/>
              <a:t>token</a:t>
            </a:r>
          </a:p>
          <a:p>
            <a:pPr marL="1078230" marR="103505">
              <a:lnSpc>
                <a:spcPct val="102600"/>
              </a:lnSpc>
              <a:spcBef>
                <a:spcPts val="565"/>
              </a:spcBef>
            </a:pPr>
            <a:r>
              <a:rPr dirty="0"/>
              <a:t>is</a:t>
            </a:r>
            <a:r>
              <a:rPr dirty="0" spc="80"/>
              <a:t> </a:t>
            </a:r>
            <a:r>
              <a:rPr dirty="0" spc="-10"/>
              <a:t>identified</a:t>
            </a:r>
            <a:r>
              <a:rPr dirty="0" spc="85"/>
              <a:t> </a:t>
            </a:r>
            <a:r>
              <a:rPr dirty="0"/>
              <a:t>by</a:t>
            </a:r>
            <a:r>
              <a:rPr dirty="0" spc="80"/>
              <a:t> </a:t>
            </a:r>
            <a:r>
              <a:rPr dirty="0"/>
              <a:t>the</a:t>
            </a:r>
            <a:r>
              <a:rPr dirty="0" spc="90"/>
              <a:t> </a:t>
            </a:r>
            <a:r>
              <a:rPr dirty="0"/>
              <a:t>lexical</a:t>
            </a:r>
            <a:r>
              <a:rPr dirty="0" spc="85"/>
              <a:t> </a:t>
            </a:r>
            <a:r>
              <a:rPr dirty="0"/>
              <a:t>analyzer</a:t>
            </a:r>
            <a:r>
              <a:rPr dirty="0" spc="90"/>
              <a:t> </a:t>
            </a:r>
            <a:r>
              <a:rPr dirty="0"/>
              <a:t>as</a:t>
            </a:r>
            <a:r>
              <a:rPr dirty="0" spc="85"/>
              <a:t> </a:t>
            </a:r>
            <a:r>
              <a:rPr dirty="0"/>
              <a:t>an</a:t>
            </a:r>
            <a:r>
              <a:rPr dirty="0" spc="90"/>
              <a:t> </a:t>
            </a:r>
            <a:r>
              <a:rPr dirty="0"/>
              <a:t>instance</a:t>
            </a:r>
            <a:r>
              <a:rPr dirty="0" spc="85"/>
              <a:t> </a:t>
            </a:r>
            <a:r>
              <a:rPr dirty="0" spc="-25"/>
              <a:t>of </a:t>
            </a:r>
            <a:r>
              <a:rPr dirty="0"/>
              <a:t>that</a:t>
            </a:r>
            <a:r>
              <a:rPr dirty="0" spc="210"/>
              <a:t> </a:t>
            </a:r>
            <a:r>
              <a:rPr dirty="0" spc="-10"/>
              <a:t>token.</a:t>
            </a:r>
          </a:p>
        </p:txBody>
      </p:sp>
      <p:sp>
        <p:nvSpPr>
          <p:cNvPr id="8" name="object 8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5"/>
              <a:t>Example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13144" y="734528"/>
            <a:ext cx="3239135" cy="1125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stream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characters:</a:t>
            </a:r>
            <a:endParaRPr sz="1100">
              <a:latin typeface="Cambria"/>
              <a:cs typeface="Cambria"/>
            </a:endParaRPr>
          </a:p>
          <a:p>
            <a:pPr algn="ctr" marL="1142365">
              <a:lnSpc>
                <a:spcPct val="100000"/>
              </a:lnSpc>
              <a:spcBef>
                <a:spcPts val="1130"/>
              </a:spcBef>
            </a:pPr>
            <a:r>
              <a:rPr dirty="0" sz="1100" spc="-10" i="1">
                <a:solidFill>
                  <a:srgbClr val="0000CC"/>
                </a:solidFill>
                <a:latin typeface="Bookman Old Style"/>
                <a:cs typeface="Bookman Old Style"/>
              </a:rPr>
              <a:t>position</a:t>
            </a:r>
            <a:r>
              <a:rPr dirty="0" sz="1100" spc="29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35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initial</a:t>
            </a:r>
            <a:r>
              <a:rPr dirty="0" sz="1100" spc="254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+</a:t>
            </a:r>
            <a:r>
              <a:rPr dirty="0" sz="1100" spc="29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rate</a:t>
            </a:r>
            <a:r>
              <a:rPr dirty="0" sz="1100" spc="24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r>
              <a:rPr dirty="0" sz="1100" spc="31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60</a:t>
            </a:r>
            <a:endParaRPr sz="1100">
              <a:latin typeface="Book Antiqua"/>
              <a:cs typeface="Book Antiqua"/>
            </a:endParaRPr>
          </a:p>
          <a:p>
            <a:pPr marL="25400">
              <a:lnSpc>
                <a:spcPct val="100000"/>
              </a:lnSpc>
              <a:spcBef>
                <a:spcPts val="1130"/>
              </a:spcBef>
            </a:pPr>
            <a:r>
              <a:rPr dirty="0" sz="1100">
                <a:latin typeface="Cambria"/>
                <a:cs typeface="Cambria"/>
              </a:rPr>
              <a:t>Scanned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into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list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tokens,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one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each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lexeme:</a:t>
            </a:r>
            <a:endParaRPr sz="1100">
              <a:latin typeface="Cambria"/>
              <a:cs typeface="Cambria"/>
            </a:endParaRPr>
          </a:p>
          <a:p>
            <a:pPr algn="ctr" marL="1142365">
              <a:lnSpc>
                <a:spcPct val="100000"/>
              </a:lnSpc>
              <a:spcBef>
                <a:spcPts val="1130"/>
              </a:spcBef>
            </a:pPr>
            <a:r>
              <a:rPr dirty="0" sz="1100" spc="55">
                <a:solidFill>
                  <a:srgbClr val="0000CC"/>
                </a:solidFill>
                <a:latin typeface="Segoe UI Symbol"/>
                <a:cs typeface="Segoe UI Symbol"/>
              </a:rPr>
              <a:t>id</a:t>
            </a:r>
            <a:r>
              <a:rPr dirty="0" baseline="-10416" sz="1200" spc="82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baseline="-10416" sz="1200" spc="240">
                <a:solidFill>
                  <a:srgbClr val="0000CC"/>
                </a:solidFill>
                <a:latin typeface="Garamond"/>
                <a:cs typeface="Garamond"/>
              </a:rPr>
              <a:t> 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40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55">
                <a:solidFill>
                  <a:srgbClr val="0000CC"/>
                </a:solidFill>
                <a:latin typeface="Segoe UI Symbol"/>
                <a:cs typeface="Segoe UI Symbol"/>
              </a:rPr>
              <a:t>id</a:t>
            </a:r>
            <a:r>
              <a:rPr dirty="0" baseline="-10416" sz="1200" spc="82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baseline="-10416" sz="1200" spc="142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+</a:t>
            </a:r>
            <a:r>
              <a:rPr dirty="0" sz="1100" spc="-3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55">
                <a:solidFill>
                  <a:srgbClr val="0000CC"/>
                </a:solidFill>
                <a:latin typeface="Segoe UI Symbol"/>
                <a:cs typeface="Segoe UI Symbol"/>
              </a:rPr>
              <a:t>id</a:t>
            </a:r>
            <a:r>
              <a:rPr dirty="0" baseline="-10416" sz="1200" spc="82">
                <a:solidFill>
                  <a:srgbClr val="0000CC"/>
                </a:solidFill>
                <a:latin typeface="Garamond"/>
                <a:cs typeface="Garamond"/>
              </a:rPr>
              <a:t>3</a:t>
            </a:r>
            <a:r>
              <a:rPr dirty="0" baseline="-10416" sz="1200" spc="697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r>
              <a:rPr dirty="0" sz="1100" spc="3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60">
                <a:solidFill>
                  <a:srgbClr val="0000CC"/>
                </a:solidFill>
                <a:latin typeface="Segoe UI Symbol"/>
                <a:cs typeface="Segoe UI Symbol"/>
              </a:rPr>
              <a:t>num</a:t>
            </a:r>
            <a:r>
              <a:rPr dirty="0" sz="1100" spc="65">
                <a:solidFill>
                  <a:srgbClr val="0000CC"/>
                </a:solidFill>
                <a:latin typeface="Segoe UI Symbol"/>
                <a:cs typeface="Segoe UI Symbol"/>
              </a:rPr>
              <a:t> </a:t>
            </a:r>
            <a:r>
              <a:rPr dirty="0" sz="1100" spc="-50">
                <a:solidFill>
                  <a:srgbClr val="0000CC"/>
                </a:solidFill>
                <a:latin typeface="Book Antiqua"/>
                <a:cs typeface="Book Antiqua"/>
              </a:rPr>
              <a:t>;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868941" y="2295267"/>
          <a:ext cx="946785" cy="520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060"/>
                <a:gridCol w="638810"/>
              </a:tblGrid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ts val="1090"/>
                        </a:lnSpc>
                      </a:pPr>
                      <a:r>
                        <a:rPr dirty="0" sz="1100" spc="-50">
                          <a:latin typeface="Cambria"/>
                          <a:cs typeface="Cambria"/>
                        </a:rPr>
                        <a:t>1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090"/>
                        </a:lnSpc>
                      </a:pPr>
                      <a:r>
                        <a:rPr dirty="0" sz="1100" spc="-10">
                          <a:latin typeface="Cambria"/>
                          <a:cs typeface="Cambria"/>
                        </a:rPr>
                        <a:t>position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spc="-50">
                          <a:latin typeface="Cambria"/>
                          <a:cs typeface="Cambria"/>
                        </a:rPr>
                        <a:t>2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220"/>
                        </a:lnSpc>
                        <a:spcBef>
                          <a:spcPts val="30"/>
                        </a:spcBef>
                      </a:pPr>
                      <a:r>
                        <a:rPr dirty="0" sz="1100" spc="-10">
                          <a:latin typeface="Cambria"/>
                          <a:cs typeface="Cambria"/>
                        </a:rPr>
                        <a:t>initial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50">
                          <a:latin typeface="Cambria"/>
                          <a:cs typeface="Cambria"/>
                        </a:rPr>
                        <a:t>3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100" spc="-20">
                          <a:latin typeface="Cambria"/>
                          <a:cs typeface="Cambria"/>
                        </a:rPr>
                        <a:t>rate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75572" y="1359579"/>
            <a:ext cx="2094864" cy="0"/>
          </a:xfrm>
          <a:custGeom>
            <a:avLst/>
            <a:gdLst/>
            <a:ahLst/>
            <a:cxnLst/>
            <a:rect l="l" t="t" r="r" b="b"/>
            <a:pathLst>
              <a:path w="2094864" h="0">
                <a:moveTo>
                  <a:pt x="0" y="0"/>
                </a:moveTo>
                <a:lnTo>
                  <a:pt x="0" y="0"/>
                </a:lnTo>
                <a:lnTo>
                  <a:pt x="2043159" y="0"/>
                </a:lnTo>
                <a:lnTo>
                  <a:pt x="2094238" y="0"/>
                </a:lnTo>
              </a:path>
            </a:pathLst>
          </a:custGeom>
          <a:ln w="1839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448558" y="1647921"/>
            <a:ext cx="257810" cy="257810"/>
          </a:xfrm>
          <a:custGeom>
            <a:avLst/>
            <a:gdLst/>
            <a:ahLst/>
            <a:cxnLst/>
            <a:rect l="l" t="t" r="r" b="b"/>
            <a:pathLst>
              <a:path w="257810" h="257810">
                <a:moveTo>
                  <a:pt x="257608" y="128802"/>
                </a:moveTo>
                <a:lnTo>
                  <a:pt x="247486" y="78664"/>
                </a:lnTo>
                <a:lnTo>
                  <a:pt x="219881" y="37722"/>
                </a:lnTo>
                <a:lnTo>
                  <a:pt x="178938" y="10117"/>
                </a:lnTo>
                <a:lnTo>
                  <a:pt x="128800" y="-4"/>
                </a:lnTo>
                <a:lnTo>
                  <a:pt x="78663" y="10117"/>
                </a:lnTo>
                <a:lnTo>
                  <a:pt x="37720" y="37722"/>
                </a:lnTo>
                <a:lnTo>
                  <a:pt x="10116" y="78664"/>
                </a:lnTo>
                <a:lnTo>
                  <a:pt x="-5" y="128802"/>
                </a:lnTo>
                <a:lnTo>
                  <a:pt x="10116" y="178939"/>
                </a:lnTo>
                <a:lnTo>
                  <a:pt x="37720" y="219882"/>
                </a:lnTo>
                <a:lnTo>
                  <a:pt x="78663" y="247486"/>
                </a:lnTo>
                <a:lnTo>
                  <a:pt x="128800" y="257608"/>
                </a:lnTo>
                <a:lnTo>
                  <a:pt x="178938" y="247486"/>
                </a:lnTo>
                <a:lnTo>
                  <a:pt x="219881" y="219882"/>
                </a:lnTo>
                <a:lnTo>
                  <a:pt x="247486" y="178939"/>
                </a:lnTo>
                <a:lnTo>
                  <a:pt x="257608" y="128802"/>
                </a:lnTo>
                <a:close/>
              </a:path>
            </a:pathLst>
          </a:custGeom>
          <a:ln w="18395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529829" y="2083732"/>
            <a:ext cx="1548765" cy="861694"/>
            <a:chOff x="1529829" y="2083732"/>
            <a:chExt cx="1548765" cy="861694"/>
          </a:xfrm>
        </p:grpSpPr>
        <p:sp>
          <p:nvSpPr>
            <p:cNvPr id="11" name="object 11" descr=""/>
            <p:cNvSpPr/>
            <p:nvPr/>
          </p:nvSpPr>
          <p:spPr>
            <a:xfrm>
              <a:off x="1893638" y="2311382"/>
              <a:ext cx="193675" cy="76835"/>
            </a:xfrm>
            <a:custGeom>
              <a:avLst/>
              <a:gdLst/>
              <a:ahLst/>
              <a:cxnLst/>
              <a:rect l="l" t="t" r="r" b="b"/>
              <a:pathLst>
                <a:path w="193675" h="76835">
                  <a:moveTo>
                    <a:pt x="2" y="66483"/>
                  </a:moveTo>
                  <a:lnTo>
                    <a:pt x="36815" y="76349"/>
                  </a:lnTo>
                  <a:lnTo>
                    <a:pt x="81347" y="68558"/>
                  </a:lnTo>
                  <a:lnTo>
                    <a:pt x="133597" y="43107"/>
                  </a:lnTo>
                  <a:lnTo>
                    <a:pt x="193567" y="0"/>
                  </a:lnTo>
                </a:path>
              </a:pathLst>
            </a:custGeom>
            <a:ln w="1839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5747" y="2653549"/>
              <a:ext cx="184190" cy="10790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539026" y="2092929"/>
              <a:ext cx="1530350" cy="843280"/>
            </a:xfrm>
            <a:custGeom>
              <a:avLst/>
              <a:gdLst/>
              <a:ahLst/>
              <a:cxnLst/>
              <a:rect l="l" t="t" r="r" b="b"/>
              <a:pathLst>
                <a:path w="1530350" h="843280">
                  <a:moveTo>
                    <a:pt x="1530201" y="421446"/>
                  </a:moveTo>
                  <a:lnTo>
                    <a:pt x="1521107" y="356267"/>
                  </a:lnTo>
                  <a:lnTo>
                    <a:pt x="1494731" y="294236"/>
                  </a:lnTo>
                  <a:lnTo>
                    <a:pt x="1452435" y="236102"/>
                  </a:lnTo>
                  <a:lnTo>
                    <a:pt x="1425742" y="208732"/>
                  </a:lnTo>
                  <a:lnTo>
                    <a:pt x="1395580" y="182616"/>
                  </a:lnTo>
                  <a:lnTo>
                    <a:pt x="1362117" y="157850"/>
                  </a:lnTo>
                  <a:lnTo>
                    <a:pt x="1325525" y="134526"/>
                  </a:lnTo>
                  <a:lnTo>
                    <a:pt x="1285973" y="112740"/>
                  </a:lnTo>
                  <a:lnTo>
                    <a:pt x="1243632" y="92583"/>
                  </a:lnTo>
                  <a:lnTo>
                    <a:pt x="1198671" y="74150"/>
                  </a:lnTo>
                  <a:lnTo>
                    <a:pt x="1151262" y="57535"/>
                  </a:lnTo>
                  <a:lnTo>
                    <a:pt x="1101572" y="42832"/>
                  </a:lnTo>
                  <a:lnTo>
                    <a:pt x="1049774" y="30133"/>
                  </a:lnTo>
                  <a:lnTo>
                    <a:pt x="996037" y="19533"/>
                  </a:lnTo>
                  <a:lnTo>
                    <a:pt x="940531" y="11126"/>
                  </a:lnTo>
                  <a:lnTo>
                    <a:pt x="883426" y="5005"/>
                  </a:lnTo>
                  <a:lnTo>
                    <a:pt x="824893" y="1263"/>
                  </a:lnTo>
                  <a:lnTo>
                    <a:pt x="765101" y="-4"/>
                  </a:lnTo>
                  <a:lnTo>
                    <a:pt x="705309" y="1263"/>
                  </a:lnTo>
                  <a:lnTo>
                    <a:pt x="646775" y="5005"/>
                  </a:lnTo>
                  <a:lnTo>
                    <a:pt x="589670" y="11126"/>
                  </a:lnTo>
                  <a:lnTo>
                    <a:pt x="534164" y="19533"/>
                  </a:lnTo>
                  <a:lnTo>
                    <a:pt x="480427" y="30133"/>
                  </a:lnTo>
                  <a:lnTo>
                    <a:pt x="428629" y="42832"/>
                  </a:lnTo>
                  <a:lnTo>
                    <a:pt x="378940" y="57535"/>
                  </a:lnTo>
                  <a:lnTo>
                    <a:pt x="331530" y="74150"/>
                  </a:lnTo>
                  <a:lnTo>
                    <a:pt x="286569" y="92583"/>
                  </a:lnTo>
                  <a:lnTo>
                    <a:pt x="244228" y="112740"/>
                  </a:lnTo>
                  <a:lnTo>
                    <a:pt x="204676" y="134526"/>
                  </a:lnTo>
                  <a:lnTo>
                    <a:pt x="168084" y="157850"/>
                  </a:lnTo>
                  <a:lnTo>
                    <a:pt x="134621" y="182616"/>
                  </a:lnTo>
                  <a:lnTo>
                    <a:pt x="104458" y="208732"/>
                  </a:lnTo>
                  <a:lnTo>
                    <a:pt x="77765" y="236102"/>
                  </a:lnTo>
                  <a:lnTo>
                    <a:pt x="35469" y="294236"/>
                  </a:lnTo>
                  <a:lnTo>
                    <a:pt x="9094" y="356267"/>
                  </a:lnTo>
                  <a:lnTo>
                    <a:pt x="0" y="421446"/>
                  </a:lnTo>
                  <a:lnTo>
                    <a:pt x="2301" y="454382"/>
                  </a:lnTo>
                  <a:lnTo>
                    <a:pt x="20206" y="518081"/>
                  </a:lnTo>
                  <a:lnTo>
                    <a:pt x="54712" y="578257"/>
                  </a:lnTo>
                  <a:lnTo>
                    <a:pt x="104458" y="634160"/>
                  </a:lnTo>
                  <a:lnTo>
                    <a:pt x="134621" y="660276"/>
                  </a:lnTo>
                  <a:lnTo>
                    <a:pt x="168084" y="685042"/>
                  </a:lnTo>
                  <a:lnTo>
                    <a:pt x="204676" y="708365"/>
                  </a:lnTo>
                  <a:lnTo>
                    <a:pt x="244228" y="730152"/>
                  </a:lnTo>
                  <a:lnTo>
                    <a:pt x="286569" y="750309"/>
                  </a:lnTo>
                  <a:lnTo>
                    <a:pt x="331530" y="768742"/>
                  </a:lnTo>
                  <a:lnTo>
                    <a:pt x="378940" y="785357"/>
                  </a:lnTo>
                  <a:lnTo>
                    <a:pt x="428629" y="800060"/>
                  </a:lnTo>
                  <a:lnTo>
                    <a:pt x="480427" y="812759"/>
                  </a:lnTo>
                  <a:lnTo>
                    <a:pt x="534164" y="823359"/>
                  </a:lnTo>
                  <a:lnTo>
                    <a:pt x="589670" y="831766"/>
                  </a:lnTo>
                  <a:lnTo>
                    <a:pt x="646775" y="837887"/>
                  </a:lnTo>
                  <a:lnTo>
                    <a:pt x="705309" y="841629"/>
                  </a:lnTo>
                  <a:lnTo>
                    <a:pt x="765101" y="842897"/>
                  </a:lnTo>
                  <a:lnTo>
                    <a:pt x="824893" y="841629"/>
                  </a:lnTo>
                  <a:lnTo>
                    <a:pt x="883426" y="837887"/>
                  </a:lnTo>
                  <a:lnTo>
                    <a:pt x="940531" y="831766"/>
                  </a:lnTo>
                  <a:lnTo>
                    <a:pt x="996037" y="823359"/>
                  </a:lnTo>
                  <a:lnTo>
                    <a:pt x="1049774" y="812759"/>
                  </a:lnTo>
                  <a:lnTo>
                    <a:pt x="1101572" y="800060"/>
                  </a:lnTo>
                  <a:lnTo>
                    <a:pt x="1151262" y="785357"/>
                  </a:lnTo>
                  <a:lnTo>
                    <a:pt x="1198671" y="768742"/>
                  </a:lnTo>
                  <a:lnTo>
                    <a:pt x="1243632" y="750309"/>
                  </a:lnTo>
                  <a:lnTo>
                    <a:pt x="1285973" y="730152"/>
                  </a:lnTo>
                  <a:lnTo>
                    <a:pt x="1325525" y="708365"/>
                  </a:lnTo>
                  <a:lnTo>
                    <a:pt x="1362117" y="685042"/>
                  </a:lnTo>
                  <a:lnTo>
                    <a:pt x="1395580" y="660276"/>
                  </a:lnTo>
                  <a:lnTo>
                    <a:pt x="1425742" y="634160"/>
                  </a:lnTo>
                  <a:lnTo>
                    <a:pt x="1452435" y="606789"/>
                  </a:lnTo>
                  <a:lnTo>
                    <a:pt x="1494731" y="548656"/>
                  </a:lnTo>
                  <a:lnTo>
                    <a:pt x="1521107" y="486625"/>
                  </a:lnTo>
                  <a:lnTo>
                    <a:pt x="1530201" y="421446"/>
                  </a:lnTo>
                  <a:close/>
                </a:path>
              </a:pathLst>
            </a:custGeom>
            <a:ln w="18394">
              <a:solidFill>
                <a:srgbClr val="FF26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5300" y="182191"/>
            <a:ext cx="80327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75" b="1">
                <a:solidFill>
                  <a:srgbClr val="330066"/>
                </a:solidFill>
                <a:latin typeface="Palatino Linotype"/>
                <a:cs typeface="Palatino Linotype"/>
              </a:rPr>
              <a:t>Example</a:t>
            </a:r>
            <a:endParaRPr sz="1400">
              <a:latin typeface="Palatino Linotype"/>
              <a:cs typeface="Palatino Linotype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138541" y="1068473"/>
          <a:ext cx="4434840" cy="138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8810"/>
                <a:gridCol w="861060"/>
                <a:gridCol w="1767839"/>
                <a:gridCol w="1084579"/>
              </a:tblGrid>
              <a:tr h="176530">
                <a:tc>
                  <a:txBody>
                    <a:bodyPr/>
                    <a:lstStyle/>
                    <a:p>
                      <a:pPr marL="8953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Cambria"/>
                          <a:cs typeface="Cambria"/>
                        </a:rPr>
                        <a:t>Lexeme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Cambria"/>
                          <a:cs typeface="Cambria"/>
                        </a:rPr>
                        <a:t>Token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Lexeme</a:t>
                      </a:r>
                      <a:r>
                        <a:rPr dirty="0" sz="11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>
                          <a:latin typeface="Cambria"/>
                          <a:cs typeface="Cambria"/>
                        </a:rPr>
                        <a:t>pattern</a:t>
                      </a:r>
                      <a:r>
                        <a:rPr dirty="0" sz="11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(informal)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Attribute</a:t>
                      </a:r>
                      <a:r>
                        <a:rPr dirty="0" sz="1100" spc="2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value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0904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Cambria"/>
                          <a:cs typeface="Cambria"/>
                        </a:rPr>
                        <a:t>position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180">
                          <a:latin typeface="Cambria"/>
                          <a:cs typeface="Cambria"/>
                        </a:rPr>
                        <a:t>=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-10">
                          <a:latin typeface="Cambria"/>
                          <a:cs typeface="Cambria"/>
                        </a:rPr>
                        <a:t>initial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180">
                          <a:latin typeface="Cambria"/>
                          <a:cs typeface="Cambria"/>
                        </a:rPr>
                        <a:t>+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-20">
                          <a:latin typeface="Cambria"/>
                          <a:cs typeface="Cambria"/>
                        </a:rPr>
                        <a:t>rate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algn="ctr" marL="249554" marR="241935" indent="-635">
                        <a:lnSpc>
                          <a:spcPct val="102699"/>
                        </a:lnSpc>
                      </a:pPr>
                      <a:r>
                        <a:rPr dirty="0" sz="1100" spc="15">
                          <a:latin typeface="Cambria"/>
                          <a:cs typeface="Cambria"/>
                        </a:rPr>
                        <a:t>* </a:t>
                      </a:r>
                      <a:r>
                        <a:rPr dirty="0" sz="1100" spc="-90">
                          <a:latin typeface="Cambria"/>
                          <a:cs typeface="Cambria"/>
                        </a:rPr>
                        <a:t>60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2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id</a:t>
                      </a:r>
                      <a:r>
                        <a:rPr dirty="0" baseline="-10416" sz="1200" spc="-37">
                          <a:solidFill>
                            <a:srgbClr val="0000CC"/>
                          </a:solidFill>
                          <a:latin typeface="Garamond"/>
                          <a:cs typeface="Garamond"/>
                        </a:rPr>
                        <a:t>1</a:t>
                      </a:r>
                      <a:endParaRPr baseline="-10416" sz="12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204">
                          <a:latin typeface="Cambria"/>
                          <a:cs typeface="Cambria"/>
                        </a:rPr>
                        <a:t>&lt;=&gt;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-2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id</a:t>
                      </a:r>
                      <a:r>
                        <a:rPr dirty="0" baseline="-10416" sz="1200" spc="-37">
                          <a:solidFill>
                            <a:srgbClr val="0000CC"/>
                          </a:solidFill>
                          <a:latin typeface="Garamond"/>
                          <a:cs typeface="Garamond"/>
                        </a:rPr>
                        <a:t>2</a:t>
                      </a:r>
                      <a:endParaRPr baseline="-10416" sz="12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204">
                          <a:latin typeface="Cambria"/>
                          <a:cs typeface="Cambria"/>
                        </a:rPr>
                        <a:t>&lt;+&gt;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-25" i="1">
                          <a:solidFill>
                            <a:srgbClr val="0000CC"/>
                          </a:solidFill>
                          <a:latin typeface="Bookman Old Style"/>
                          <a:cs typeface="Bookman Old Style"/>
                        </a:rPr>
                        <a:t>id</a:t>
                      </a:r>
                      <a:r>
                        <a:rPr dirty="0" baseline="-10416" sz="1200" spc="-37">
                          <a:solidFill>
                            <a:srgbClr val="0000CC"/>
                          </a:solidFill>
                          <a:latin typeface="Garamond"/>
                          <a:cs typeface="Garamond"/>
                        </a:rPr>
                        <a:t>3</a:t>
                      </a:r>
                      <a:endParaRPr baseline="-10416" sz="1200">
                        <a:latin typeface="Garamond"/>
                        <a:cs typeface="Garamond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 spc="135">
                          <a:latin typeface="Cambria"/>
                          <a:cs typeface="Cambria"/>
                        </a:rPr>
                        <a:t>&lt;∗&gt;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&lt;num,</a:t>
                      </a:r>
                      <a:r>
                        <a:rPr dirty="0" sz="1100" spc="3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5">
                          <a:latin typeface="Cambria"/>
                          <a:cs typeface="Cambria"/>
                        </a:rPr>
                        <a:t>60&gt;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Cambria"/>
                          <a:cs typeface="Cambria"/>
                        </a:rPr>
                        <a:t>identifier</a:t>
                      </a:r>
                      <a:r>
                        <a:rPr dirty="0" sz="11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string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 marL="78105" marR="364490">
                        <a:lnSpc>
                          <a:spcPct val="102600"/>
                        </a:lnSpc>
                      </a:pPr>
                      <a:r>
                        <a:rPr dirty="0" sz="1100">
                          <a:latin typeface="Cambria"/>
                          <a:cs typeface="Cambria"/>
                        </a:rPr>
                        <a:t>equality</a:t>
                      </a:r>
                      <a:r>
                        <a:rPr dirty="0" sz="11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symbol identifier</a:t>
                      </a:r>
                      <a:r>
                        <a:rPr dirty="0" sz="11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string </a:t>
                      </a:r>
                      <a:r>
                        <a:rPr dirty="0" sz="1100">
                          <a:latin typeface="Cambria"/>
                          <a:cs typeface="Cambria"/>
                        </a:rPr>
                        <a:t>addition</a:t>
                      </a:r>
                      <a:r>
                        <a:rPr dirty="0" sz="1100" spc="1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symbol identifier</a:t>
                      </a:r>
                      <a:r>
                        <a:rPr dirty="0" sz="1100" spc="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string </a:t>
                      </a:r>
                      <a:r>
                        <a:rPr dirty="0" sz="1100">
                          <a:latin typeface="Cambria"/>
                          <a:cs typeface="Cambria"/>
                        </a:rPr>
                        <a:t>multiplication</a:t>
                      </a:r>
                      <a:r>
                        <a:rPr dirty="0" sz="1100" spc="1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20">
                          <a:latin typeface="Cambria"/>
                          <a:cs typeface="Cambria"/>
                        </a:rPr>
                        <a:t>symbol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numeric</a:t>
                      </a:r>
                      <a:r>
                        <a:rPr dirty="0" sz="1100" spc="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100" spc="-10">
                          <a:latin typeface="Cambria"/>
                          <a:cs typeface="Cambria"/>
                        </a:rPr>
                        <a:t>constant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Cambria"/>
                          <a:cs typeface="Cambria"/>
                        </a:rPr>
                        <a:t>1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Cambria"/>
                          <a:cs typeface="Cambria"/>
                        </a:rPr>
                        <a:t>2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Cambria"/>
                          <a:cs typeface="Cambria"/>
                        </a:rPr>
                        <a:t>3</a:t>
                      </a:r>
                      <a:endParaRPr sz="110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Cambria"/>
                          <a:cs typeface="Cambria"/>
                        </a:rPr>
                        <a:t>60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2063157" y="706416"/>
            <a:ext cx="34861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145" b="1">
                <a:latin typeface="Book Antiqua"/>
                <a:cs typeface="Book Antiqua"/>
              </a:rPr>
              <a:t>x</a:t>
            </a:r>
            <a:r>
              <a:rPr dirty="0" sz="900" spc="5" b="1">
                <a:latin typeface="Book Antiqua"/>
                <a:cs typeface="Book Antiqua"/>
              </a:rPr>
              <a:t> </a:t>
            </a:r>
            <a:r>
              <a:rPr dirty="0" sz="900" spc="-100" b="1">
                <a:latin typeface="Book Antiqua"/>
                <a:cs typeface="Book Antiqua"/>
              </a:rPr>
              <a:t>&lt;&gt;</a:t>
            </a:r>
            <a:r>
              <a:rPr dirty="0" sz="900" spc="10" b="1">
                <a:latin typeface="Book Antiqua"/>
                <a:cs typeface="Book Antiqua"/>
              </a:rPr>
              <a:t> </a:t>
            </a:r>
            <a:r>
              <a:rPr dirty="0" sz="900" spc="15" b="1">
                <a:latin typeface="Book Antiqua"/>
                <a:cs typeface="Book Antiqua"/>
              </a:rPr>
              <a:t>y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7721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Lexical</a:t>
            </a:r>
            <a:r>
              <a:rPr dirty="0" sz="600" spc="38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Analysis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Dealing</a:t>
            </a:r>
            <a:r>
              <a:rPr dirty="0" spc="375"/>
              <a:t> </a:t>
            </a:r>
            <a:r>
              <a:rPr dirty="0"/>
              <a:t>with</a:t>
            </a:r>
            <a:r>
              <a:rPr dirty="0" spc="375"/>
              <a:t> </a:t>
            </a:r>
            <a:r>
              <a:rPr dirty="0" spc="50"/>
              <a:t>errors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295209"/>
            <a:ext cx="65201" cy="6520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02932" y="762344"/>
            <a:ext cx="3536315" cy="15455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33350">
              <a:lnSpc>
                <a:spcPct val="100000"/>
              </a:lnSpc>
              <a:spcBef>
                <a:spcPts val="110"/>
              </a:spcBef>
            </a:pPr>
            <a:r>
              <a:rPr dirty="0" sz="1100" spc="70" b="1">
                <a:latin typeface="Book Antiqua"/>
                <a:cs typeface="Book Antiqua"/>
              </a:rPr>
              <a:t>int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40" b="1">
                <a:latin typeface="Book Antiqua"/>
                <a:cs typeface="Book Antiqua"/>
              </a:rPr>
              <a:t>abc;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100">
              <a:latin typeface="Book Antiqua"/>
              <a:cs typeface="Book Antiqua"/>
            </a:endParaRPr>
          </a:p>
          <a:p>
            <a:pPr marL="12700" marR="5080">
              <a:lnSpc>
                <a:spcPct val="102699"/>
              </a:lnSpc>
            </a:pPr>
            <a:r>
              <a:rPr dirty="0" sz="1100">
                <a:latin typeface="Cambria"/>
                <a:cs typeface="Cambria"/>
              </a:rPr>
              <a:t>Panic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mode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recovery:</a:t>
            </a:r>
            <a:r>
              <a:rPr dirty="0" sz="1100" spc="1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delete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characters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from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input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until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</a:t>
            </a:r>
            <a:r>
              <a:rPr dirty="0" sz="1100">
                <a:latin typeface="Cambria"/>
                <a:cs typeface="Cambria"/>
              </a:rPr>
              <a:t> matching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pattern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10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found.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100">
                <a:latin typeface="Cambria"/>
                <a:cs typeface="Cambria"/>
              </a:rPr>
              <a:t>Insert</a:t>
            </a:r>
            <a:r>
              <a:rPr dirty="0" sz="1100" spc="3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missing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character.</a:t>
            </a:r>
            <a:endParaRPr sz="1100">
              <a:latin typeface="Cambria"/>
              <a:cs typeface="Cambria"/>
            </a:endParaRPr>
          </a:p>
          <a:p>
            <a:pPr marL="12700" marR="1430020">
              <a:lnSpc>
                <a:spcPct val="145600"/>
              </a:lnSpc>
            </a:pPr>
            <a:r>
              <a:rPr dirty="0" sz="1100">
                <a:latin typeface="Cambria"/>
                <a:cs typeface="Cambria"/>
              </a:rPr>
              <a:t>Replace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character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with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another. Transpose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two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adjacent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characters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711363"/>
            <a:ext cx="65201" cy="6520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955431"/>
            <a:ext cx="65201" cy="6520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199513"/>
            <a:ext cx="65201" cy="65201"/>
          </a:xfrm>
          <a:prstGeom prst="rect">
            <a:avLst/>
          </a:prstGeom>
        </p:spPr>
      </p:pic>
      <p:sp>
        <p:nvSpPr>
          <p:cNvPr id="10" name="object 10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2103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Alphabets</a:t>
            </a:r>
            <a:r>
              <a:rPr dirty="0" sz="600" spc="204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04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866178"/>
            <a:ext cx="155257" cy="15525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834376"/>
            <a:ext cx="1176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1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Analysis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226083"/>
            <a:ext cx="155257" cy="15525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585988"/>
            <a:ext cx="155257" cy="15525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582291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675" y="1194281"/>
            <a:ext cx="1757045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EAE5EF"/>
                </a:solidFill>
                <a:latin typeface="Comic Sans MS"/>
                <a:cs typeface="Comic Sans MS"/>
              </a:rPr>
              <a:t>2</a:t>
            </a:r>
            <a:r>
              <a:rPr dirty="0" baseline="3472" sz="1200" spc="120" b="1">
                <a:solidFill>
                  <a:srgbClr val="EAE5EF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latin typeface="Cambria"/>
                <a:cs typeface="Cambria"/>
                <a:hlinkClick r:id="rId7" action="ppaction://hlinksldjump"/>
              </a:rPr>
              <a:t>Alphabets</a:t>
            </a:r>
            <a:r>
              <a:rPr dirty="0" sz="1100" spc="140"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>
                <a:latin typeface="Cambria"/>
                <a:cs typeface="Cambria"/>
                <a:hlinkClick r:id="rId7" action="ppaction://hlinksldjump"/>
              </a:rPr>
              <a:t>and</a:t>
            </a:r>
            <a:r>
              <a:rPr dirty="0" sz="1100" spc="145"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 spc="-10">
                <a:latin typeface="Cambria"/>
                <a:cs typeface="Cambria"/>
                <a:hlinkClick r:id="rId7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Operations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on</a:t>
            </a:r>
            <a:r>
              <a:rPr dirty="0" sz="1100" spc="114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1945894"/>
            <a:ext cx="155257" cy="15525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1914092"/>
            <a:ext cx="1417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4</a:t>
            </a:r>
            <a:r>
              <a:rPr dirty="0" baseline="3472" sz="1200" spc="735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Regular</a:t>
            </a:r>
            <a:r>
              <a:rPr dirty="0" sz="1100" spc="13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Expressions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779" y="2305799"/>
            <a:ext cx="155257" cy="15525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779" y="2665704"/>
            <a:ext cx="155257" cy="155257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24675" y="2662007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6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4675" y="2273997"/>
            <a:ext cx="2200910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5</a:t>
            </a:r>
            <a:r>
              <a:rPr dirty="0" baseline="3472" sz="1200" spc="652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Extensions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of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Regular</a:t>
            </a:r>
            <a:r>
              <a:rPr dirty="0" sz="1100" spc="105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4" action="ppaction://hlinksldjump"/>
              </a:rPr>
              <a:t>Assignment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25"/>
              <a:t>10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2103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Alphabets</a:t>
            </a:r>
            <a:r>
              <a:rPr dirty="0" sz="600" spc="204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04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Alphabets</a:t>
            </a:r>
            <a:r>
              <a:rPr dirty="0" spc="200"/>
              <a:t> </a:t>
            </a:r>
            <a:r>
              <a:rPr dirty="0" spc="55"/>
              <a:t>and</a:t>
            </a:r>
            <a:r>
              <a:rPr dirty="0" spc="204"/>
              <a:t> </a:t>
            </a:r>
            <a:r>
              <a:rPr dirty="0" spc="40"/>
              <a:t>Strings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7743" y="927125"/>
            <a:ext cx="4483735" cy="609600"/>
            <a:chOff x="87743" y="927125"/>
            <a:chExt cx="4483735" cy="60960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072197"/>
              <a:ext cx="4432566" cy="5060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1435087"/>
              <a:ext cx="101600" cy="101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1422387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927125"/>
              <a:ext cx="50800" cy="50796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743" y="1116477"/>
              <a:ext cx="4432935" cy="369570"/>
            </a:xfrm>
            <a:custGeom>
              <a:avLst/>
              <a:gdLst/>
              <a:ahLst/>
              <a:cxnLst/>
              <a:rect l="l" t="t" r="r" b="b"/>
              <a:pathLst>
                <a:path w="4432935" h="369569">
                  <a:moveTo>
                    <a:pt x="4432567" y="0"/>
                  </a:moveTo>
                  <a:lnTo>
                    <a:pt x="0" y="0"/>
                  </a:lnTo>
                  <a:lnTo>
                    <a:pt x="0" y="318609"/>
                  </a:lnTo>
                  <a:lnTo>
                    <a:pt x="4008" y="338334"/>
                  </a:lnTo>
                  <a:lnTo>
                    <a:pt x="14922" y="354487"/>
                  </a:lnTo>
                  <a:lnTo>
                    <a:pt x="31075" y="365401"/>
                  </a:lnTo>
                  <a:lnTo>
                    <a:pt x="50800" y="369410"/>
                  </a:lnTo>
                  <a:lnTo>
                    <a:pt x="4381767" y="369410"/>
                  </a:lnTo>
                  <a:lnTo>
                    <a:pt x="4401492" y="365401"/>
                  </a:lnTo>
                  <a:lnTo>
                    <a:pt x="4417644" y="354487"/>
                  </a:lnTo>
                  <a:lnTo>
                    <a:pt x="4428558" y="338334"/>
                  </a:lnTo>
                  <a:lnTo>
                    <a:pt x="4432567" y="31860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965229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w="0" h="488950">
                  <a:moveTo>
                    <a:pt x="0" y="48890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9525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9398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92712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87743" y="1682049"/>
            <a:ext cx="4483735" cy="438150"/>
            <a:chOff x="87743" y="1682049"/>
            <a:chExt cx="4483735" cy="438150"/>
          </a:xfrm>
        </p:grpSpPr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827123"/>
              <a:ext cx="4432566" cy="50609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018068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005368"/>
              <a:ext cx="4381767" cy="114301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311" y="1682051"/>
              <a:ext cx="50800" cy="33601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7743" y="1871395"/>
              <a:ext cx="4432935" cy="197485"/>
            </a:xfrm>
            <a:custGeom>
              <a:avLst/>
              <a:gdLst/>
              <a:ahLst/>
              <a:cxnLst/>
              <a:rect l="l" t="t" r="r" b="b"/>
              <a:pathLst>
                <a:path w="4432935" h="197485">
                  <a:moveTo>
                    <a:pt x="4432567" y="0"/>
                  </a:moveTo>
                  <a:lnTo>
                    <a:pt x="0" y="0"/>
                  </a:lnTo>
                  <a:lnTo>
                    <a:pt x="0" y="146672"/>
                  </a:lnTo>
                  <a:lnTo>
                    <a:pt x="4008" y="166397"/>
                  </a:lnTo>
                  <a:lnTo>
                    <a:pt x="14922" y="182549"/>
                  </a:lnTo>
                  <a:lnTo>
                    <a:pt x="31075" y="193464"/>
                  </a:lnTo>
                  <a:lnTo>
                    <a:pt x="50800" y="197472"/>
                  </a:lnTo>
                  <a:lnTo>
                    <a:pt x="4381767" y="197472"/>
                  </a:lnTo>
                  <a:lnTo>
                    <a:pt x="4401492" y="193464"/>
                  </a:lnTo>
                  <a:lnTo>
                    <a:pt x="4417644" y="182549"/>
                  </a:lnTo>
                  <a:lnTo>
                    <a:pt x="4428558" y="166397"/>
                  </a:lnTo>
                  <a:lnTo>
                    <a:pt x="4432567" y="146672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20311" y="1720149"/>
              <a:ext cx="0" cy="317500"/>
            </a:xfrm>
            <a:custGeom>
              <a:avLst/>
              <a:gdLst/>
              <a:ahLst/>
              <a:cxnLst/>
              <a:rect l="l" t="t" r="r" b="b"/>
              <a:pathLst>
                <a:path w="0" h="317500">
                  <a:moveTo>
                    <a:pt x="0" y="3169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520311" y="17074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520311" y="16947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520311" y="168204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87743" y="2265019"/>
            <a:ext cx="4483735" cy="607060"/>
            <a:chOff x="87743" y="2265019"/>
            <a:chExt cx="4483735" cy="607060"/>
          </a:xfrm>
        </p:grpSpPr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2410091"/>
              <a:ext cx="4432566" cy="5060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770073"/>
              <a:ext cx="101600" cy="101600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757373"/>
              <a:ext cx="4381767" cy="11430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311" y="2265019"/>
              <a:ext cx="50800" cy="505053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87743" y="2454371"/>
              <a:ext cx="4432935" cy="367030"/>
            </a:xfrm>
            <a:custGeom>
              <a:avLst/>
              <a:gdLst/>
              <a:ahLst/>
              <a:cxnLst/>
              <a:rect l="l" t="t" r="r" b="b"/>
              <a:pathLst>
                <a:path w="4432935" h="367030">
                  <a:moveTo>
                    <a:pt x="4432567" y="0"/>
                  </a:moveTo>
                  <a:lnTo>
                    <a:pt x="0" y="0"/>
                  </a:lnTo>
                  <a:lnTo>
                    <a:pt x="0" y="315701"/>
                  </a:lnTo>
                  <a:lnTo>
                    <a:pt x="4008" y="335426"/>
                  </a:lnTo>
                  <a:lnTo>
                    <a:pt x="14922" y="351579"/>
                  </a:lnTo>
                  <a:lnTo>
                    <a:pt x="31075" y="362493"/>
                  </a:lnTo>
                  <a:lnTo>
                    <a:pt x="50800" y="366502"/>
                  </a:lnTo>
                  <a:lnTo>
                    <a:pt x="4381767" y="366502"/>
                  </a:lnTo>
                  <a:lnTo>
                    <a:pt x="4401492" y="362493"/>
                  </a:lnTo>
                  <a:lnTo>
                    <a:pt x="4417644" y="351579"/>
                  </a:lnTo>
                  <a:lnTo>
                    <a:pt x="4428558" y="335426"/>
                  </a:lnTo>
                  <a:lnTo>
                    <a:pt x="4432567" y="31570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520311" y="2303124"/>
              <a:ext cx="0" cy="486409"/>
            </a:xfrm>
            <a:custGeom>
              <a:avLst/>
              <a:gdLst/>
              <a:ahLst/>
              <a:cxnLst/>
              <a:rect l="l" t="t" r="r" b="b"/>
              <a:pathLst>
                <a:path w="0" h="486410">
                  <a:moveTo>
                    <a:pt x="0" y="4859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520311" y="2290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520311" y="22777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520311" y="2265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125844" y="823847"/>
            <a:ext cx="4166870" cy="1964689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100">
                <a:latin typeface="Cambria"/>
                <a:cs typeface="Cambria"/>
              </a:rPr>
              <a:t>Definition</a:t>
            </a:r>
            <a:r>
              <a:rPr dirty="0" sz="1100" spc="1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(Alphabet)</a:t>
            </a:r>
            <a:endParaRPr sz="1100">
              <a:latin typeface="Cambria"/>
              <a:cs typeface="Cambria"/>
            </a:endParaRPr>
          </a:p>
          <a:p>
            <a:pPr marL="12700" marR="125095">
              <a:lnSpc>
                <a:spcPct val="102600"/>
              </a:lnSpc>
              <a:spcBef>
                <a:spcPts val="350"/>
              </a:spcBef>
            </a:pPr>
            <a:r>
              <a:rPr dirty="0" sz="1100" spc="55">
                <a:latin typeface="Cambria"/>
                <a:cs typeface="Cambria"/>
              </a:rPr>
              <a:t>An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FF0000"/>
                </a:solidFill>
                <a:latin typeface="Cambria"/>
                <a:cs typeface="Cambria"/>
              </a:rPr>
              <a:t>alphabet</a:t>
            </a:r>
            <a:r>
              <a:rPr dirty="0" sz="1100" spc="8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finite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set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symbols.</a:t>
            </a:r>
            <a:r>
              <a:rPr dirty="0" sz="1100" spc="1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Traditionally,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we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denote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an </a:t>
            </a:r>
            <a:r>
              <a:rPr dirty="0" sz="1100">
                <a:latin typeface="Cambria"/>
                <a:cs typeface="Cambria"/>
              </a:rPr>
              <a:t>alphabet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letter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 spc="45">
                <a:solidFill>
                  <a:srgbClr val="0000CC"/>
                </a:solidFill>
                <a:latin typeface="Book Antiqua"/>
                <a:cs typeface="Book Antiqua"/>
              </a:rPr>
              <a:t>Σ</a:t>
            </a:r>
            <a:r>
              <a:rPr dirty="0" sz="1100" spc="45"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Definition</a:t>
            </a:r>
            <a:r>
              <a:rPr dirty="0" sz="1100" spc="1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(String)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100" spc="130">
                <a:latin typeface="Cambria"/>
                <a:cs typeface="Cambria"/>
              </a:rPr>
              <a:t>A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FF0000"/>
                </a:solidFill>
                <a:latin typeface="Cambria"/>
                <a:cs typeface="Cambria"/>
              </a:rPr>
              <a:t>string</a:t>
            </a:r>
            <a:r>
              <a:rPr dirty="0" sz="1100" spc="9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finite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sequence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symbols.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Cambria"/>
                <a:cs typeface="Cambria"/>
              </a:rPr>
              <a:t>Definition</a:t>
            </a:r>
            <a:r>
              <a:rPr dirty="0" sz="1100" spc="1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(Empty</a:t>
            </a:r>
            <a:r>
              <a:rPr dirty="0" sz="1100" spc="1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String)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02600"/>
              </a:lnSpc>
              <a:spcBef>
                <a:spcPts val="320"/>
              </a:spcBef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FF0000"/>
                </a:solidFill>
                <a:latin typeface="Cambria"/>
                <a:cs typeface="Cambria"/>
              </a:rPr>
              <a:t>empty</a:t>
            </a:r>
            <a:r>
              <a:rPr dirty="0" sz="1100" spc="11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FF0000"/>
                </a:solidFill>
                <a:latin typeface="Cambria"/>
                <a:cs typeface="Cambria"/>
              </a:rPr>
              <a:t>string</a:t>
            </a:r>
            <a:r>
              <a:rPr dirty="0" sz="1100">
                <a:latin typeface="Cambria"/>
                <a:cs typeface="Cambria"/>
              </a:rPr>
              <a:t>,</a:t>
            </a:r>
            <a:r>
              <a:rPr dirty="0" sz="1100" spc="114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denoted</a:t>
            </a:r>
            <a:r>
              <a:rPr dirty="0" sz="1100" spc="114"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ε</a:t>
            </a:r>
            <a:r>
              <a:rPr dirty="0" sz="1100">
                <a:latin typeface="Cambria"/>
                <a:cs typeface="Cambria"/>
              </a:rPr>
              <a:t>,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14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string</a:t>
            </a:r>
            <a:r>
              <a:rPr dirty="0" sz="1100" spc="114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114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contains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no</a:t>
            </a:r>
            <a:r>
              <a:rPr dirty="0" sz="1100" spc="114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symbols.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empty</a:t>
            </a:r>
            <a:r>
              <a:rPr dirty="0" sz="1100" spc="10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string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has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length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0.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38" name="object 38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3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3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3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3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3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9" name="object 3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2103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Alphabets</a:t>
            </a:r>
            <a:r>
              <a:rPr dirty="0" sz="600" spc="204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04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Alphabets</a:t>
            </a:r>
            <a:r>
              <a:rPr dirty="0" spc="200"/>
              <a:t> </a:t>
            </a:r>
            <a:r>
              <a:rPr dirty="0" spc="55"/>
              <a:t>and</a:t>
            </a:r>
            <a:r>
              <a:rPr dirty="0" spc="204"/>
              <a:t> </a:t>
            </a:r>
            <a:r>
              <a:rPr dirty="0" spc="40"/>
              <a:t>Strings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7743" y="1059497"/>
            <a:ext cx="4483735" cy="1614170"/>
            <a:chOff x="87743" y="1059497"/>
            <a:chExt cx="4483735" cy="161417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204582"/>
              <a:ext cx="4432566" cy="5060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571508"/>
              <a:ext cx="101600" cy="101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558808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059497"/>
              <a:ext cx="50800" cy="151201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743" y="1248841"/>
              <a:ext cx="4432935" cy="1373505"/>
            </a:xfrm>
            <a:custGeom>
              <a:avLst/>
              <a:gdLst/>
              <a:ahLst/>
              <a:cxnLst/>
              <a:rect l="l" t="t" r="r" b="b"/>
              <a:pathLst>
                <a:path w="4432935" h="1373505">
                  <a:moveTo>
                    <a:pt x="4432567" y="0"/>
                  </a:moveTo>
                  <a:lnTo>
                    <a:pt x="0" y="0"/>
                  </a:lnTo>
                  <a:lnTo>
                    <a:pt x="0" y="1322666"/>
                  </a:lnTo>
                  <a:lnTo>
                    <a:pt x="4008" y="1342391"/>
                  </a:lnTo>
                  <a:lnTo>
                    <a:pt x="14922" y="1358544"/>
                  </a:lnTo>
                  <a:lnTo>
                    <a:pt x="31075" y="1369458"/>
                  </a:lnTo>
                  <a:lnTo>
                    <a:pt x="50800" y="1373467"/>
                  </a:lnTo>
                  <a:lnTo>
                    <a:pt x="4381767" y="1373467"/>
                  </a:lnTo>
                  <a:lnTo>
                    <a:pt x="4401492" y="1369458"/>
                  </a:lnTo>
                  <a:lnTo>
                    <a:pt x="4417644" y="1358544"/>
                  </a:lnTo>
                  <a:lnTo>
                    <a:pt x="4428558" y="1342391"/>
                  </a:lnTo>
                  <a:lnTo>
                    <a:pt x="4432567" y="1322666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1097597"/>
              <a:ext cx="0" cy="1493520"/>
            </a:xfrm>
            <a:custGeom>
              <a:avLst/>
              <a:gdLst/>
              <a:ahLst/>
              <a:cxnLst/>
              <a:rect l="l" t="t" r="r" b="b"/>
              <a:pathLst>
                <a:path w="0" h="1493520">
                  <a:moveTo>
                    <a:pt x="0" y="149296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10848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10721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105949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302588"/>
              <a:ext cx="65201" cy="6520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915" y="1492389"/>
              <a:ext cx="52527" cy="5252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0915" y="2272931"/>
              <a:ext cx="52527" cy="5252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0915" y="2496769"/>
              <a:ext cx="52527" cy="52527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25844" y="959266"/>
            <a:ext cx="3949700" cy="163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1888489" indent="-277495">
              <a:lnSpc>
                <a:spcPct val="127099"/>
              </a:lnSpc>
              <a:spcBef>
                <a:spcPts val="100"/>
              </a:spcBef>
            </a:pPr>
            <a:r>
              <a:rPr dirty="0" sz="1100">
                <a:latin typeface="Cambria"/>
                <a:cs typeface="Cambria"/>
              </a:rPr>
              <a:t>Example</a:t>
            </a:r>
            <a:r>
              <a:rPr dirty="0" sz="1100" spc="1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(Alphabets</a:t>
            </a:r>
            <a:r>
              <a:rPr dirty="0" sz="1100" spc="1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1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Strings) Examples:</a:t>
            </a:r>
            <a:endParaRPr sz="1100">
              <a:latin typeface="Cambria"/>
              <a:cs typeface="Cambria"/>
            </a:endParaRPr>
          </a:p>
          <a:p>
            <a:pPr marL="56642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7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traditional</a:t>
            </a:r>
            <a:r>
              <a:rPr dirty="0" sz="1000" spc="17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alphabet</a:t>
            </a:r>
            <a:r>
              <a:rPr dirty="0" sz="1000" spc="175">
                <a:latin typeface="Cambria"/>
                <a:cs typeface="Cambria"/>
              </a:rPr>
              <a:t> </a:t>
            </a:r>
            <a:r>
              <a:rPr dirty="0" sz="1000" spc="-25">
                <a:latin typeface="Cambria"/>
                <a:cs typeface="Cambria"/>
              </a:rPr>
              <a:t>is</a:t>
            </a:r>
            <a:endParaRPr sz="1000">
              <a:latin typeface="Cambria"/>
              <a:cs typeface="Cambria"/>
            </a:endParaRPr>
          </a:p>
          <a:p>
            <a:pPr marL="1870710">
              <a:lnSpc>
                <a:spcPct val="100000"/>
              </a:lnSpc>
              <a:spcBef>
                <a:spcPts val="990"/>
              </a:spcBef>
            </a:pP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Σ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170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65">
                <a:solidFill>
                  <a:srgbClr val="0000CC"/>
                </a:solidFill>
                <a:latin typeface="Cambria"/>
                <a:cs typeface="Cambria"/>
              </a:rPr>
              <a:t>{A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000" spc="-1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B</a:t>
            </a: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000" spc="-1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60">
                <a:solidFill>
                  <a:srgbClr val="0000CC"/>
                </a:solidFill>
                <a:latin typeface="Cambria"/>
                <a:cs typeface="Cambria"/>
              </a:rPr>
              <a:t>C</a:t>
            </a:r>
            <a:r>
              <a:rPr dirty="0" sz="1000" spc="60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000" spc="-12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000" spc="-1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000" spc="-1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000" spc="-1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-3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000" spc="-1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25">
                <a:solidFill>
                  <a:srgbClr val="0000CC"/>
                </a:solidFill>
                <a:latin typeface="Cambria"/>
                <a:cs typeface="Cambria"/>
              </a:rPr>
              <a:t>Z}</a:t>
            </a:r>
            <a:r>
              <a:rPr dirty="0" sz="1000" spc="2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endParaRPr sz="10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</a:pPr>
            <a:endParaRPr sz="10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00">
              <a:latin typeface="Bookman Old Style"/>
              <a:cs typeface="Bookman Old Style"/>
            </a:endParaRPr>
          </a:p>
          <a:p>
            <a:pPr marL="56642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3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binary</a:t>
            </a:r>
            <a:r>
              <a:rPr dirty="0" sz="1000" spc="13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alphabet</a:t>
            </a:r>
            <a:r>
              <a:rPr dirty="0" sz="1000" spc="13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is</a:t>
            </a:r>
            <a:r>
              <a:rPr dirty="0" sz="1000" spc="140">
                <a:latin typeface="Cambria"/>
                <a:cs typeface="Cambria"/>
              </a:rPr>
              <a:t> 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Σ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170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000" spc="4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{0</a:t>
            </a: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000" spc="-1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-25">
                <a:solidFill>
                  <a:srgbClr val="0000CC"/>
                </a:solidFill>
                <a:latin typeface="Cambria"/>
                <a:cs typeface="Cambria"/>
              </a:rPr>
              <a:t>1}</a:t>
            </a:r>
            <a:r>
              <a:rPr dirty="0" sz="1000" spc="-25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  <a:p>
            <a:pPr marL="566420">
              <a:lnSpc>
                <a:spcPct val="100000"/>
              </a:lnSpc>
              <a:spcBef>
                <a:spcPts val="560"/>
              </a:spcBef>
            </a:pPr>
            <a:r>
              <a:rPr dirty="0" sz="1000">
                <a:latin typeface="Cambria"/>
                <a:cs typeface="Cambria"/>
              </a:rPr>
              <a:t>For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 spc="150">
                <a:latin typeface="Cambria"/>
                <a:cs typeface="Cambria"/>
              </a:rPr>
              <a:t>C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programs,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alphabet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is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set</a:t>
            </a:r>
            <a:r>
              <a:rPr dirty="0" sz="1000" spc="11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of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 spc="80">
                <a:latin typeface="Cambria"/>
                <a:cs typeface="Cambria"/>
              </a:rPr>
              <a:t>ASCII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 spc="-10">
                <a:latin typeface="Cambria"/>
                <a:cs typeface="Cambria"/>
              </a:rPr>
              <a:t>characters.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1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21031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6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Alphabets</a:t>
            </a:r>
            <a:r>
              <a:rPr dirty="0" sz="600" spc="204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and</a:t>
            </a:r>
            <a:r>
              <a:rPr dirty="0" sz="600" spc="204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95567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40"/>
              <a:t>Languages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5844" y="1067040"/>
            <a:ext cx="13576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mbria"/>
                <a:cs typeface="Cambria"/>
              </a:rPr>
              <a:t>Definition</a:t>
            </a:r>
            <a:r>
              <a:rPr dirty="0" sz="1100" spc="1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(Language)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7743" y="1120519"/>
            <a:ext cx="4483735" cy="448945"/>
            <a:chOff x="87743" y="1120519"/>
            <a:chExt cx="4483735" cy="44894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265580"/>
              <a:ext cx="4432566" cy="5060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1467345"/>
              <a:ext cx="101600" cy="1016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1454645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120520"/>
              <a:ext cx="50800" cy="34682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7743" y="1309866"/>
              <a:ext cx="4432935" cy="208279"/>
            </a:xfrm>
            <a:custGeom>
              <a:avLst/>
              <a:gdLst/>
              <a:ahLst/>
              <a:cxnLst/>
              <a:rect l="l" t="t" r="r" b="b"/>
              <a:pathLst>
                <a:path w="4432935" h="208280">
                  <a:moveTo>
                    <a:pt x="4432567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4381767" y="208279"/>
                  </a:lnTo>
                  <a:lnTo>
                    <a:pt x="4401492" y="204270"/>
                  </a:lnTo>
                  <a:lnTo>
                    <a:pt x="4417644" y="193356"/>
                  </a:lnTo>
                  <a:lnTo>
                    <a:pt x="4428558" y="177203"/>
                  </a:lnTo>
                  <a:lnTo>
                    <a:pt x="4432567" y="157478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1158619"/>
              <a:ext cx="0" cy="328295"/>
            </a:xfrm>
            <a:custGeom>
              <a:avLst/>
              <a:gdLst/>
              <a:ahLst/>
              <a:cxnLst/>
              <a:rect l="l" t="t" r="r" b="b"/>
              <a:pathLst>
                <a:path w="0" h="328294">
                  <a:moveTo>
                    <a:pt x="0" y="32777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11459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1133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520311" y="1120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1749056"/>
            <a:ext cx="65201" cy="65201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1993125"/>
            <a:ext cx="65201" cy="65201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165" y="2409278"/>
            <a:ext cx="65201" cy="65201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25844" y="1287829"/>
            <a:ext cx="4346575" cy="1229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130">
                <a:latin typeface="Cambria"/>
                <a:cs typeface="Cambria"/>
              </a:rPr>
              <a:t>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FF0000"/>
                </a:solidFill>
                <a:latin typeface="Cambria"/>
                <a:cs typeface="Cambria"/>
              </a:rPr>
              <a:t>language</a:t>
            </a:r>
            <a:r>
              <a:rPr dirty="0" sz="1100" spc="7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set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(finite)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strings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over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given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alphabet.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</a:pPr>
            <a:r>
              <a:rPr dirty="0" sz="1100" spc="130">
                <a:latin typeface="Cambria"/>
                <a:cs typeface="Cambria"/>
              </a:rPr>
              <a:t>A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language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can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(and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usually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is)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infinite.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02600"/>
              </a:lnSpc>
              <a:spcBef>
                <a:spcPts val="565"/>
              </a:spcBef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set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all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even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integers</a:t>
            </a:r>
            <a:r>
              <a:rPr dirty="0" sz="1100" spc="10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over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alphabet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70">
                <a:solidFill>
                  <a:srgbClr val="0000CC"/>
                </a:solidFill>
                <a:latin typeface="Book Antiqua"/>
                <a:cs typeface="Book Antiqua"/>
              </a:rPr>
              <a:t>Σ</a:t>
            </a:r>
            <a:r>
              <a:rPr dirty="0" sz="1100" spc="1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1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{0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55">
                <a:solidFill>
                  <a:srgbClr val="0000CC"/>
                </a:solidFill>
                <a:latin typeface="Cambria"/>
                <a:cs typeface="Cambria"/>
              </a:rPr>
              <a:t>1</a:t>
            </a:r>
            <a:r>
              <a:rPr dirty="0" sz="1100" spc="-5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9}</a:t>
            </a:r>
            <a:r>
              <a:rPr dirty="0" sz="1100" spc="11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-50">
                <a:latin typeface="Cambria"/>
                <a:cs typeface="Cambria"/>
              </a:rPr>
              <a:t>a</a:t>
            </a:r>
            <a:r>
              <a:rPr dirty="0" sz="1100" spc="-10">
                <a:latin typeface="Cambria"/>
                <a:cs typeface="Cambria"/>
              </a:rPr>
              <a:t> language.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set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all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160">
                <a:latin typeface="Cambria"/>
                <a:cs typeface="Cambria"/>
              </a:rPr>
              <a:t>C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programs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1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language.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380641" y="383300"/>
            <a:ext cx="3857625" cy="49910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85" b="1">
                <a:latin typeface="Book Antiqua"/>
                <a:cs typeface="Book Antiqua"/>
              </a:rPr>
              <a:t>L</a:t>
            </a:r>
            <a:r>
              <a:rPr dirty="0" sz="1100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215" b="1">
                <a:latin typeface="Book Antiqua"/>
                <a:cs typeface="Book Antiqua"/>
              </a:rPr>
              <a:t>{</a:t>
            </a:r>
            <a:r>
              <a:rPr dirty="0" sz="1100" spc="15" b="1">
                <a:latin typeface="Book Antiqua"/>
                <a:cs typeface="Book Antiqua"/>
              </a:rPr>
              <a:t> </a:t>
            </a:r>
            <a:r>
              <a:rPr dirty="0" sz="1100" b="1">
                <a:latin typeface="Book Antiqua"/>
                <a:cs typeface="Book Antiqua"/>
              </a:rPr>
              <a:t>ww^r|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70" b="1">
                <a:latin typeface="Book Antiqua"/>
                <a:cs typeface="Book Antiqua"/>
              </a:rPr>
              <a:t>w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55" b="1">
                <a:latin typeface="Book Antiqua"/>
                <a:cs typeface="Book Antiqua"/>
              </a:rPr>
              <a:t>in</a:t>
            </a:r>
            <a:r>
              <a:rPr dirty="0" sz="1100" spc="15" b="1">
                <a:latin typeface="Book Antiqua"/>
                <a:cs typeface="Book Antiqua"/>
              </a:rPr>
              <a:t> </a:t>
            </a:r>
            <a:r>
              <a:rPr dirty="0" sz="1100" spc="55" b="1">
                <a:latin typeface="Book Antiqua"/>
                <a:cs typeface="Book Antiqua"/>
              </a:rPr>
              <a:t>Sigma^*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215" b="1">
                <a:latin typeface="Book Antiqua"/>
                <a:cs typeface="Book Antiqua"/>
              </a:rPr>
              <a:t>}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15" b="1">
                <a:latin typeface="Book Antiqua"/>
                <a:cs typeface="Book Antiqua"/>
              </a:rPr>
              <a:t> </a:t>
            </a:r>
            <a:r>
              <a:rPr dirty="0" sz="1100" spc="125" b="1">
                <a:latin typeface="Book Antiqua"/>
                <a:cs typeface="Book Antiqua"/>
              </a:rPr>
              <a:t>{0,1,00,11,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110" b="1">
                <a:latin typeface="Book Antiqua"/>
                <a:cs typeface="Book Antiqua"/>
              </a:rPr>
              <a:t>0110,</a:t>
            </a:r>
            <a:r>
              <a:rPr dirty="0" sz="1100" spc="15" b="1">
                <a:latin typeface="Book Antiqua"/>
                <a:cs typeface="Book Antiqua"/>
              </a:rPr>
              <a:t> </a:t>
            </a:r>
            <a:r>
              <a:rPr dirty="0" sz="1100" spc="114" b="1">
                <a:latin typeface="Book Antiqua"/>
                <a:cs typeface="Book Antiqua"/>
              </a:rPr>
              <a:t>1001,..}</a:t>
            </a:r>
            <a:endParaRPr sz="1100">
              <a:latin typeface="Book Antiqua"/>
              <a:cs typeface="Book Antiqua"/>
            </a:endParaRPr>
          </a:p>
          <a:p>
            <a:pPr marL="1120775">
              <a:lnSpc>
                <a:spcPct val="100000"/>
              </a:lnSpc>
              <a:spcBef>
                <a:spcPts val="1075"/>
              </a:spcBef>
            </a:pPr>
            <a:r>
              <a:rPr dirty="0" sz="1100" spc="50" b="1">
                <a:latin typeface="Book Antiqua"/>
                <a:cs typeface="Book Antiqua"/>
              </a:rPr>
              <a:t>Sigma</a:t>
            </a:r>
            <a:r>
              <a:rPr dirty="0" sz="1100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215" b="1">
                <a:latin typeface="Book Antiqua"/>
                <a:cs typeface="Book Antiqua"/>
              </a:rPr>
              <a:t>{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30" b="1">
                <a:latin typeface="Book Antiqua"/>
                <a:cs typeface="Book Antiqua"/>
              </a:rPr>
              <a:t>0,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70" b="1">
                <a:latin typeface="Book Antiqua"/>
                <a:cs typeface="Book Antiqua"/>
              </a:rPr>
              <a:t>1}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4" name="object 24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5" name="object 2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  <p:sp>
        <p:nvSpPr>
          <p:cNvPr id="22" name="object 22" descr=""/>
          <p:cNvSpPr txBox="1"/>
          <p:nvPr/>
        </p:nvSpPr>
        <p:spPr>
          <a:xfrm>
            <a:off x="1877320" y="970319"/>
            <a:ext cx="253555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55" b="1">
                <a:latin typeface="Book Antiqua"/>
                <a:cs typeface="Book Antiqua"/>
              </a:rPr>
              <a:t>Sigma^*</a:t>
            </a:r>
            <a:r>
              <a:rPr dirty="0" sz="1100" spc="-5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20" b="1">
                <a:latin typeface="Book Antiqua"/>
                <a:cs typeface="Book Antiqua"/>
              </a:rPr>
              <a:t>{e,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30" b="1">
                <a:latin typeface="Book Antiqua"/>
                <a:cs typeface="Book Antiqua"/>
              </a:rPr>
              <a:t>0,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14" b="1">
                <a:latin typeface="Book Antiqua"/>
                <a:cs typeface="Book Antiqua"/>
              </a:rPr>
              <a:t>1,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10" b="1">
                <a:latin typeface="Book Antiqua"/>
                <a:cs typeface="Book Antiqua"/>
              </a:rPr>
              <a:t>11,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45" b="1">
                <a:latin typeface="Book Antiqua"/>
                <a:cs typeface="Book Antiqua"/>
              </a:rPr>
              <a:t>00,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10" b="1">
                <a:latin typeface="Book Antiqua"/>
                <a:cs typeface="Book Antiqua"/>
              </a:rPr>
              <a:t>01,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25" b="1">
                <a:latin typeface="Book Antiqua"/>
                <a:cs typeface="Book Antiqua"/>
              </a:rPr>
              <a:t>10,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05" b="1">
                <a:latin typeface="Book Antiqua"/>
                <a:cs typeface="Book Antiqua"/>
              </a:rPr>
              <a:t>..}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191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Operations</a:t>
            </a:r>
            <a:r>
              <a:rPr dirty="0" sz="600" spc="1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on</a:t>
            </a:r>
            <a:r>
              <a:rPr dirty="0" sz="600" spc="17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866178"/>
            <a:ext cx="155257" cy="15525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834376"/>
            <a:ext cx="1176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1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Analysis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226083"/>
            <a:ext cx="155257" cy="15525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585988"/>
            <a:ext cx="155257" cy="15525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582291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EAE5EF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675" y="1194281"/>
            <a:ext cx="1757045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2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Alphabets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and</a:t>
            </a:r>
            <a:r>
              <a:rPr dirty="0" sz="1100" spc="145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>
                <a:latin typeface="Cambria"/>
                <a:cs typeface="Cambria"/>
                <a:hlinkClick r:id="rId8" action="ppaction://hlinksldjump"/>
              </a:rPr>
              <a:t>Operations</a:t>
            </a:r>
            <a:r>
              <a:rPr dirty="0" sz="1100" spc="110"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>
                <a:latin typeface="Cambria"/>
                <a:cs typeface="Cambria"/>
                <a:hlinkClick r:id="rId8" action="ppaction://hlinksldjump"/>
              </a:rPr>
              <a:t>on</a:t>
            </a:r>
            <a:r>
              <a:rPr dirty="0" sz="1100" spc="114"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 spc="-10">
                <a:latin typeface="Cambria"/>
                <a:cs typeface="Cambria"/>
                <a:hlinkClick r:id="rId8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1945894"/>
            <a:ext cx="155257" cy="15525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1914092"/>
            <a:ext cx="1417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4</a:t>
            </a:r>
            <a:r>
              <a:rPr dirty="0" baseline="3472" sz="1200" spc="735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Regular</a:t>
            </a:r>
            <a:r>
              <a:rPr dirty="0" sz="1100" spc="13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Expressions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779" y="2305799"/>
            <a:ext cx="155257" cy="15525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779" y="2665704"/>
            <a:ext cx="155257" cy="155257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24675" y="2662007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6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4675" y="2273997"/>
            <a:ext cx="2200910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5</a:t>
            </a:r>
            <a:r>
              <a:rPr dirty="0" baseline="3472" sz="1200" spc="652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Extensions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of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Regular</a:t>
            </a:r>
            <a:r>
              <a:rPr dirty="0" sz="1100" spc="105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4" action="ppaction://hlinksldjump"/>
              </a:rPr>
              <a:t>Assignment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394492" y="2935494"/>
            <a:ext cx="177800" cy="356870"/>
            <a:chOff x="4394492" y="2935494"/>
            <a:chExt cx="177800" cy="35687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4492" y="2935494"/>
              <a:ext cx="177526" cy="25919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496755" y="3238778"/>
              <a:ext cx="66040" cy="50800"/>
            </a:xfrm>
            <a:custGeom>
              <a:avLst/>
              <a:gdLst/>
              <a:ahLst/>
              <a:cxnLst/>
              <a:rect l="l" t="t" r="r" b="b"/>
              <a:pathLst>
                <a:path w="66039" h="50800">
                  <a:moveTo>
                    <a:pt x="25399" y="50800"/>
                  </a:moveTo>
                  <a:lnTo>
                    <a:pt x="15537" y="48796"/>
                  </a:lnTo>
                  <a:lnTo>
                    <a:pt x="7461" y="43339"/>
                  </a:lnTo>
                  <a:lnTo>
                    <a:pt x="2004" y="35262"/>
                  </a:lnTo>
                  <a:lnTo>
                    <a:pt x="0" y="25400"/>
                  </a:lnTo>
                  <a:lnTo>
                    <a:pt x="2004" y="15537"/>
                  </a:lnTo>
                  <a:lnTo>
                    <a:pt x="7461" y="7461"/>
                  </a:lnTo>
                  <a:lnTo>
                    <a:pt x="15537" y="2004"/>
                  </a:lnTo>
                  <a:lnTo>
                    <a:pt x="25399" y="0"/>
                  </a:lnTo>
                  <a:lnTo>
                    <a:pt x="35262" y="2004"/>
                  </a:lnTo>
                  <a:lnTo>
                    <a:pt x="43338" y="7461"/>
                  </a:lnTo>
                  <a:lnTo>
                    <a:pt x="48795" y="15537"/>
                  </a:lnTo>
                  <a:lnTo>
                    <a:pt x="50799" y="25400"/>
                  </a:lnTo>
                </a:path>
                <a:path w="66039" h="50800">
                  <a:moveTo>
                    <a:pt x="66039" y="17780"/>
                  </a:moveTo>
                  <a:lnTo>
                    <a:pt x="50799" y="30480"/>
                  </a:lnTo>
                  <a:lnTo>
                    <a:pt x="35559" y="17780"/>
                  </a:lnTo>
                </a:path>
              </a:pathLst>
            </a:custGeom>
            <a:ln w="5060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/>
          <p:nvPr/>
        </p:nvSpPr>
        <p:spPr>
          <a:xfrm>
            <a:off x="0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30911" y="-4300"/>
            <a:ext cx="1191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Operations</a:t>
            </a:r>
            <a:r>
              <a:rPr dirty="0" sz="600" spc="165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dirty="0" sz="60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on</a:t>
            </a:r>
            <a:r>
              <a:rPr dirty="0" sz="600" spc="17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3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5"/>
              <a:t>Operations</a:t>
            </a:r>
            <a:r>
              <a:rPr dirty="0" spc="229"/>
              <a:t> </a:t>
            </a:r>
            <a:r>
              <a:rPr dirty="0"/>
              <a:t>on</a:t>
            </a:r>
            <a:r>
              <a:rPr dirty="0" spc="235"/>
              <a:t> </a:t>
            </a:r>
            <a:r>
              <a:rPr dirty="0" spc="40"/>
              <a:t>Languages</a:t>
            </a:r>
          </a:p>
        </p:txBody>
      </p:sp>
      <p:grpSp>
        <p:nvGrpSpPr>
          <p:cNvPr id="9" name="object 9" descr=""/>
          <p:cNvGrpSpPr/>
          <p:nvPr/>
        </p:nvGrpSpPr>
        <p:grpSpPr>
          <a:xfrm>
            <a:off x="87743" y="627303"/>
            <a:ext cx="4483735" cy="2828925"/>
            <a:chOff x="87743" y="627303"/>
            <a:chExt cx="4483735" cy="2828925"/>
          </a:xfrm>
        </p:grpSpPr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3" y="772414"/>
              <a:ext cx="4432566" cy="5060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1" y="627303"/>
              <a:ext cx="50800" cy="2828747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7743" y="816648"/>
              <a:ext cx="4432935" cy="2639695"/>
            </a:xfrm>
            <a:custGeom>
              <a:avLst/>
              <a:gdLst/>
              <a:ahLst/>
              <a:cxnLst/>
              <a:rect l="l" t="t" r="r" b="b"/>
              <a:pathLst>
                <a:path w="4432935" h="2639695">
                  <a:moveTo>
                    <a:pt x="4432567" y="0"/>
                  </a:moveTo>
                  <a:lnTo>
                    <a:pt x="0" y="0"/>
                  </a:lnTo>
                  <a:lnTo>
                    <a:pt x="0" y="2639402"/>
                  </a:lnTo>
                  <a:lnTo>
                    <a:pt x="4432567" y="2639402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665403"/>
              <a:ext cx="0" cy="2668905"/>
            </a:xfrm>
            <a:custGeom>
              <a:avLst/>
              <a:gdLst/>
              <a:ahLst/>
              <a:cxnLst/>
              <a:rect l="l" t="t" r="r" b="b"/>
              <a:pathLst>
                <a:path w="0" h="2668904">
                  <a:moveTo>
                    <a:pt x="0" y="0"/>
                  </a:moveTo>
                  <a:lnTo>
                    <a:pt x="0" y="266846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6527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520311" y="6400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520311" y="6273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165" y="1080452"/>
              <a:ext cx="65201" cy="65201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87744" y="527123"/>
            <a:ext cx="3426460" cy="83375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59"/>
              </a:spcBef>
            </a:pPr>
            <a:r>
              <a:rPr dirty="0" sz="1100">
                <a:latin typeface="Cambria"/>
                <a:cs typeface="Cambria"/>
              </a:rPr>
              <a:t>Definition</a:t>
            </a:r>
            <a:r>
              <a:rPr dirty="0" sz="1100" spc="12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(Language)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355"/>
              </a:spcBef>
            </a:pPr>
            <a:r>
              <a:rPr dirty="0" sz="1100">
                <a:latin typeface="Cambria"/>
                <a:cs typeface="Cambria"/>
              </a:rPr>
              <a:t>Let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 spc="8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100" spc="85">
                <a:latin typeface="Cambria"/>
                <a:cs typeface="Cambria"/>
              </a:rPr>
              <a:t>,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 spc="9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35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sz="1100" spc="90">
                <a:latin typeface="Cambria"/>
                <a:cs typeface="Cambria"/>
              </a:rPr>
              <a:t>,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120">
                <a:latin typeface="Cambria"/>
                <a:cs typeface="Cambria"/>
              </a:rPr>
              <a:t> </a:t>
            </a:r>
            <a:r>
              <a:rPr dirty="0" sz="1100" spc="7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04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baseline="-10416" sz="1200" spc="337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languages.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335"/>
              </a:spcBef>
            </a:pPr>
            <a:r>
              <a:rPr dirty="0" sz="1100" spc="-10">
                <a:latin typeface="Cambria"/>
                <a:cs typeface="Cambria"/>
              </a:rPr>
              <a:t>Union:</a:t>
            </a:r>
            <a:endParaRPr sz="1100">
              <a:latin typeface="Cambria"/>
              <a:cs typeface="Cambria"/>
            </a:endParaRPr>
          </a:p>
          <a:p>
            <a:pPr marL="1334135">
              <a:lnSpc>
                <a:spcPct val="100000"/>
              </a:lnSpc>
              <a:spcBef>
                <a:spcPts val="35"/>
              </a:spcBef>
            </a:pPr>
            <a:r>
              <a:rPr dirty="0" sz="1100" spc="7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04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baseline="-10416" sz="1200" spc="112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∪ </a:t>
            </a:r>
            <a:r>
              <a:rPr dirty="0" sz="1100" spc="7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04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baseline="-10416" sz="1200" spc="225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2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65">
                <a:solidFill>
                  <a:srgbClr val="0000CC"/>
                </a:solidFill>
                <a:latin typeface="Cambria"/>
                <a:cs typeface="Cambria"/>
              </a:rPr>
              <a:t>{</a:t>
            </a:r>
            <a:r>
              <a:rPr dirty="0" sz="1100" spc="65" i="1">
                <a:solidFill>
                  <a:srgbClr val="0000CC"/>
                </a:solidFill>
                <a:latin typeface="Bookman Old Style"/>
                <a:cs typeface="Bookman Old Style"/>
              </a:rPr>
              <a:t>x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x</a:t>
            </a:r>
            <a:r>
              <a:rPr dirty="0" sz="1100" spc="-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∈</a:t>
            </a:r>
            <a:r>
              <a:rPr dirty="0" sz="1100" spc="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7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04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baseline="-10416" sz="1200" spc="307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or</a:t>
            </a:r>
            <a:r>
              <a:rPr dirty="0" sz="1100" spc="12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x</a:t>
            </a:r>
            <a:r>
              <a:rPr dirty="0" sz="1100" spc="-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∈</a:t>
            </a:r>
            <a:r>
              <a:rPr dirty="0" sz="1100" spc="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75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sz="1100" spc="50">
                <a:solidFill>
                  <a:srgbClr val="0000CC"/>
                </a:solidFill>
                <a:latin typeface="Cambria"/>
                <a:cs typeface="Cambria"/>
              </a:rPr>
              <a:t>}</a:t>
            </a: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281165" y="1750923"/>
            <a:ext cx="65405" cy="932180"/>
            <a:chOff x="281165" y="1750923"/>
            <a:chExt cx="65405" cy="932180"/>
          </a:xfrm>
        </p:grpSpPr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750923"/>
              <a:ext cx="65201" cy="6520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2617495"/>
              <a:ext cx="65201" cy="65201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402932" y="1667407"/>
            <a:ext cx="941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Cambria"/>
                <a:cs typeface="Cambria"/>
              </a:rPr>
              <a:t>Concatenation: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64832" y="1978658"/>
            <a:ext cx="3155315" cy="1058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000125">
              <a:lnSpc>
                <a:spcPct val="100000"/>
              </a:lnSpc>
              <a:spcBef>
                <a:spcPts val="90"/>
              </a:spcBef>
            </a:pPr>
            <a:r>
              <a:rPr dirty="0" sz="1100" spc="8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27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sz="1100" spc="8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27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baseline="-10416" sz="1200" spc="225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3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{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xy</a:t>
            </a:r>
            <a:r>
              <a:rPr dirty="0" sz="1100" spc="1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6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x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∈</a:t>
            </a:r>
            <a:r>
              <a:rPr dirty="0" sz="1100" spc="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7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04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baseline="-10416" sz="1200" spc="322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and</a:t>
            </a:r>
            <a:r>
              <a:rPr dirty="0" sz="1100" spc="12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140" i="1">
                <a:solidFill>
                  <a:srgbClr val="0000CC"/>
                </a:solidFill>
                <a:latin typeface="Bookman Old Style"/>
                <a:cs typeface="Bookman Old Style"/>
              </a:rPr>
              <a:t>y</a:t>
            </a:r>
            <a:r>
              <a:rPr dirty="0" sz="1100" spc="1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∈</a:t>
            </a:r>
            <a:r>
              <a:rPr dirty="0" sz="1100" spc="6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75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sz="1100" spc="50">
                <a:solidFill>
                  <a:srgbClr val="0000CC"/>
                </a:solidFill>
                <a:latin typeface="Cambria"/>
                <a:cs typeface="Cambria"/>
              </a:rPr>
              <a:t>}</a:t>
            </a: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</a:pPr>
            <a:endParaRPr sz="110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100">
              <a:latin typeface="Bookman Old Style"/>
              <a:cs typeface="Bookman Old Style"/>
            </a:endParaRPr>
          </a:p>
          <a:p>
            <a:pPr marL="508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Repeated</a:t>
            </a:r>
            <a:r>
              <a:rPr dirty="0" sz="1100" spc="12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concatenation:</a:t>
            </a:r>
            <a:endParaRPr sz="1100">
              <a:latin typeface="Cambria"/>
              <a:cs typeface="Cambria"/>
            </a:endParaRPr>
          </a:p>
          <a:p>
            <a:pPr algn="ctr" marL="1000125">
              <a:lnSpc>
                <a:spcPct val="100000"/>
              </a:lnSpc>
              <a:spcBef>
                <a:spcPts val="1130"/>
              </a:spcBef>
            </a:pPr>
            <a:r>
              <a:rPr dirty="0" sz="1100" spc="5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31250" sz="1200" spc="82" i="1">
                <a:solidFill>
                  <a:srgbClr val="0000CC"/>
                </a:solidFill>
                <a:latin typeface="Bookman Old Style"/>
                <a:cs typeface="Bookman Old Style"/>
              </a:rPr>
              <a:t>n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1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100" i="1">
                <a:solidFill>
                  <a:srgbClr val="0000CC"/>
                </a:solidFill>
                <a:latin typeface="Bookman Old Style"/>
                <a:cs typeface="Bookman Old Style"/>
              </a:rPr>
              <a:t>LLL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10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100" spc="1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n</a:t>
            </a:r>
            <a:r>
              <a:rPr dirty="0" sz="1100" spc="1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10">
                <a:solidFill>
                  <a:srgbClr val="0000CC"/>
                </a:solidFill>
                <a:latin typeface="Cambria"/>
                <a:cs typeface="Cambria"/>
              </a:rPr>
              <a:t>copies</a:t>
            </a:r>
            <a:r>
              <a:rPr dirty="0" sz="1100" spc="10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of</a:t>
            </a:r>
            <a:r>
              <a:rPr dirty="0" sz="1100" spc="10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L.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1975469" y="1624382"/>
            <a:ext cx="66357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b="1">
                <a:latin typeface="Book Antiqua"/>
                <a:cs typeface="Book Antiqua"/>
              </a:rPr>
              <a:t>4^3=</a:t>
            </a:r>
            <a:r>
              <a:rPr dirty="0" sz="1100" spc="120" b="1">
                <a:latin typeface="Book Antiqua"/>
                <a:cs typeface="Book Antiqua"/>
              </a:rPr>
              <a:t> </a:t>
            </a:r>
            <a:r>
              <a:rPr dirty="0" sz="1100" spc="150" b="1">
                <a:latin typeface="Book Antiqua"/>
                <a:cs typeface="Book Antiqua"/>
              </a:rPr>
              <a:t>444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6" name="object 2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7" name="object 27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1912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Operations</a:t>
            </a:r>
            <a:r>
              <a:rPr dirty="0" sz="600" spc="16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on</a:t>
            </a:r>
            <a:r>
              <a:rPr dirty="0" sz="600" spc="17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55"/>
              <a:t>Operations</a:t>
            </a:r>
            <a:r>
              <a:rPr dirty="0" spc="229"/>
              <a:t> </a:t>
            </a:r>
            <a:r>
              <a:rPr dirty="0"/>
              <a:t>on</a:t>
            </a:r>
            <a:r>
              <a:rPr dirty="0" spc="235"/>
              <a:t> </a:t>
            </a:r>
            <a:r>
              <a:rPr dirty="0" spc="40"/>
              <a:t>Languages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5844" y="744193"/>
            <a:ext cx="1288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mbria"/>
                <a:cs typeface="Cambria"/>
              </a:rPr>
              <a:t>Example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(Language)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7743" y="797636"/>
            <a:ext cx="4483735" cy="2268855"/>
            <a:chOff x="87743" y="797636"/>
            <a:chExt cx="4483735" cy="2268855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942733"/>
              <a:ext cx="4432566" cy="5060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964281"/>
              <a:ext cx="101600" cy="1016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951581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797636"/>
              <a:ext cx="50800" cy="216664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7743" y="986980"/>
              <a:ext cx="4432935" cy="2028189"/>
            </a:xfrm>
            <a:custGeom>
              <a:avLst/>
              <a:gdLst/>
              <a:ahLst/>
              <a:cxnLst/>
              <a:rect l="l" t="t" r="r" b="b"/>
              <a:pathLst>
                <a:path w="4432935" h="2028189">
                  <a:moveTo>
                    <a:pt x="4432567" y="0"/>
                  </a:moveTo>
                  <a:lnTo>
                    <a:pt x="0" y="0"/>
                  </a:lnTo>
                  <a:lnTo>
                    <a:pt x="0" y="1977301"/>
                  </a:lnTo>
                  <a:lnTo>
                    <a:pt x="4008" y="1997025"/>
                  </a:lnTo>
                  <a:lnTo>
                    <a:pt x="14922" y="2013178"/>
                  </a:lnTo>
                  <a:lnTo>
                    <a:pt x="31075" y="2024092"/>
                  </a:lnTo>
                  <a:lnTo>
                    <a:pt x="50800" y="2028101"/>
                  </a:lnTo>
                  <a:lnTo>
                    <a:pt x="4381767" y="2028101"/>
                  </a:lnTo>
                  <a:lnTo>
                    <a:pt x="4401492" y="2024092"/>
                  </a:lnTo>
                  <a:lnTo>
                    <a:pt x="4417644" y="2013178"/>
                  </a:lnTo>
                  <a:lnTo>
                    <a:pt x="4428558" y="1997025"/>
                  </a:lnTo>
                  <a:lnTo>
                    <a:pt x="4432567" y="197730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835736"/>
              <a:ext cx="0" cy="2148205"/>
            </a:xfrm>
            <a:custGeom>
              <a:avLst/>
              <a:gdLst/>
              <a:ahLst/>
              <a:cxnLst/>
              <a:rect l="l" t="t" r="r" b="b"/>
              <a:pathLst>
                <a:path w="0" h="2148205">
                  <a:moveTo>
                    <a:pt x="0" y="214759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8230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8103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520311" y="79763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039215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402932" y="955699"/>
            <a:ext cx="2279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Cambria"/>
                <a:cs typeface="Cambria"/>
              </a:rPr>
              <a:t>Let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869287" y="1127771"/>
            <a:ext cx="11468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7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04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baseline="-10416" sz="1200" spc="277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6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{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1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3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5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3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7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30">
                <a:solidFill>
                  <a:srgbClr val="0000CC"/>
                </a:solidFill>
                <a:latin typeface="Book Antiqua"/>
                <a:cs typeface="Book Antiqua"/>
              </a:rPr>
              <a:t>9</a:t>
            </a:r>
            <a:r>
              <a:rPr dirty="0" sz="1100" spc="30">
                <a:solidFill>
                  <a:srgbClr val="0000CC"/>
                </a:solidFill>
                <a:latin typeface="Cambria"/>
                <a:cs typeface="Cambria"/>
              </a:rPr>
              <a:t>}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02932" y="1382088"/>
            <a:ext cx="2489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Cambria"/>
                <a:cs typeface="Cambria"/>
              </a:rPr>
              <a:t>and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136063"/>
            <a:ext cx="65201" cy="65201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377532" y="2052560"/>
            <a:ext cx="11423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mbria"/>
                <a:cs typeface="Cambria"/>
              </a:rPr>
              <a:t>Describe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7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04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baseline="-10416" sz="1200" spc="89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∪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6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97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sz="1100" spc="65"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165" y="2380145"/>
            <a:ext cx="65201" cy="65201"/>
          </a:xfrm>
          <a:prstGeom prst="rect">
            <a:avLst/>
          </a:prstGeom>
        </p:spPr>
      </p:pic>
      <p:sp>
        <p:nvSpPr>
          <p:cNvPr id="23" name="object 23" descr=""/>
          <p:cNvSpPr txBox="1"/>
          <p:nvPr/>
        </p:nvSpPr>
        <p:spPr>
          <a:xfrm>
            <a:off x="377532" y="2296628"/>
            <a:ext cx="9886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mbria"/>
                <a:cs typeface="Cambria"/>
              </a:rPr>
              <a:t>Describe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8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20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sz="1100" spc="8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20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sz="1100" spc="80"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81165" y="2624213"/>
            <a:ext cx="65405" cy="309880"/>
            <a:chOff x="281165" y="2624213"/>
            <a:chExt cx="65405" cy="309880"/>
          </a:xfrm>
        </p:grpSpPr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165" y="2624213"/>
              <a:ext cx="65201" cy="6520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165" y="2868295"/>
              <a:ext cx="65201" cy="65201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377532" y="2462870"/>
            <a:ext cx="146494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45600"/>
              </a:lnSpc>
              <a:spcBef>
                <a:spcPts val="100"/>
              </a:spcBef>
            </a:pPr>
            <a:r>
              <a:rPr dirty="0" sz="1100">
                <a:latin typeface="Cambria"/>
                <a:cs typeface="Cambria"/>
              </a:rPr>
              <a:t>Describe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6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100" spc="6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97">
                <a:solidFill>
                  <a:srgbClr val="0000CC"/>
                </a:solidFill>
                <a:latin typeface="Garamond"/>
                <a:cs typeface="Garamond"/>
              </a:rPr>
              <a:t>1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∪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6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97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sz="1100" spc="6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baseline="27777" sz="1200" spc="97">
                <a:solidFill>
                  <a:srgbClr val="0000CC"/>
                </a:solidFill>
                <a:latin typeface="Garamond"/>
                <a:cs typeface="Garamond"/>
              </a:rPr>
              <a:t>3</a:t>
            </a:r>
            <a:r>
              <a:rPr dirty="0" sz="1100" spc="65">
                <a:latin typeface="Cambria"/>
                <a:cs typeface="Cambria"/>
              </a:rPr>
              <a:t>. </a:t>
            </a:r>
            <a:r>
              <a:rPr dirty="0" sz="1100">
                <a:latin typeface="Cambria"/>
                <a:cs typeface="Cambria"/>
              </a:rPr>
              <a:t>Describe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6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100" spc="6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97">
                <a:solidFill>
                  <a:srgbClr val="0000CC"/>
                </a:solidFill>
                <a:latin typeface="Garamond"/>
                <a:cs typeface="Garamond"/>
              </a:rPr>
              <a:t>1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∪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7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12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sz="1100" spc="7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baseline="27777" sz="1200" spc="112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r>
              <a:rPr dirty="0" sz="1100" spc="7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12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sz="1100" spc="75"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248631" y="1789252"/>
            <a:ext cx="692150" cy="0"/>
          </a:xfrm>
          <a:custGeom>
            <a:avLst/>
            <a:gdLst/>
            <a:ahLst/>
            <a:cxnLst/>
            <a:rect l="l" t="t" r="r" b="b"/>
            <a:pathLst>
              <a:path w="692150" h="0">
                <a:moveTo>
                  <a:pt x="0" y="0"/>
                </a:moveTo>
                <a:lnTo>
                  <a:pt x="0" y="0"/>
                </a:lnTo>
                <a:lnTo>
                  <a:pt x="642271" y="0"/>
                </a:lnTo>
                <a:lnTo>
                  <a:pt x="691676" y="0"/>
                </a:lnTo>
              </a:path>
            </a:pathLst>
          </a:custGeom>
          <a:ln w="18397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1850047" y="1531820"/>
            <a:ext cx="1184910" cy="38989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dirty="0" sz="1100" spc="7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baseline="-10416" sz="1200" spc="104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baseline="-10416" sz="1200" spc="277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6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{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0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2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4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6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8</a:t>
            </a:r>
            <a:r>
              <a:rPr dirty="0" sz="1100" spc="-25">
                <a:solidFill>
                  <a:srgbClr val="0000CC"/>
                </a:solidFill>
                <a:latin typeface="Cambria"/>
                <a:cs typeface="Cambria"/>
              </a:rPr>
              <a:t>}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  <a:p>
            <a:pPr algn="ctr" marR="20320">
              <a:lnSpc>
                <a:spcPct val="100000"/>
              </a:lnSpc>
              <a:spcBef>
                <a:spcPts val="175"/>
              </a:spcBef>
            </a:pPr>
            <a:r>
              <a:rPr dirty="0" sz="1000" spc="-20">
                <a:solidFill>
                  <a:srgbClr val="0433FF"/>
                </a:solidFill>
                <a:latin typeface="Georgia"/>
                <a:cs typeface="Georgia"/>
              </a:rPr>
              <a:t>Text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35" name="object 35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2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6" name="object 3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  <p:sp>
        <p:nvSpPr>
          <p:cNvPr id="31" name="object 31" descr=""/>
          <p:cNvSpPr txBox="1"/>
          <p:nvPr/>
        </p:nvSpPr>
        <p:spPr>
          <a:xfrm>
            <a:off x="1487188" y="796375"/>
            <a:ext cx="1182370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 spc="-10">
                <a:solidFill>
                  <a:srgbClr val="0433FF"/>
                </a:solidFill>
                <a:latin typeface="Georgia"/>
                <a:cs typeface="Georgia"/>
              </a:rPr>
              <a:t>L1^3={111,333,135,}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459035" y="2322412"/>
            <a:ext cx="242887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114" b="1">
                <a:latin typeface="Book Antiqua"/>
                <a:cs typeface="Book Antiqua"/>
              </a:rPr>
              <a:t>={10,12,14,16,18,30,32,34,36,…</a:t>
            </a:r>
            <a:r>
              <a:rPr dirty="0" sz="1100" spc="90" b="1">
                <a:latin typeface="Book Antiqua"/>
                <a:cs typeface="Book Antiqua"/>
              </a:rPr>
              <a:t> </a:t>
            </a:r>
            <a:r>
              <a:rPr dirty="0" sz="1100" spc="165" b="1">
                <a:latin typeface="Book Antiqua"/>
                <a:cs typeface="Book Antiqua"/>
              </a:rPr>
              <a:t>}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047242" y="2032306"/>
            <a:ext cx="19113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70" b="1">
                <a:latin typeface="Book Antiqua"/>
                <a:cs typeface="Book Antiqua"/>
              </a:rPr>
              <a:t>01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866178"/>
            <a:ext cx="155257" cy="15525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834376"/>
            <a:ext cx="1176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1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Analysis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226083"/>
            <a:ext cx="155257" cy="15525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585988"/>
            <a:ext cx="155257" cy="15525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582291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675" y="1194281"/>
            <a:ext cx="1757045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2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Alphabets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and</a:t>
            </a:r>
            <a:r>
              <a:rPr dirty="0" sz="1100" spc="145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Operations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on</a:t>
            </a:r>
            <a:r>
              <a:rPr dirty="0" sz="1100" spc="114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1945894"/>
            <a:ext cx="155257" cy="15525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1914092"/>
            <a:ext cx="1417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EAE5EF"/>
                </a:solidFill>
                <a:latin typeface="Comic Sans MS"/>
                <a:cs typeface="Comic Sans MS"/>
              </a:rPr>
              <a:t>4</a:t>
            </a:r>
            <a:r>
              <a:rPr dirty="0" baseline="3472" sz="1200" spc="735" b="1">
                <a:solidFill>
                  <a:srgbClr val="EAE5EF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latin typeface="Cambria"/>
                <a:cs typeface="Cambria"/>
                <a:hlinkClick r:id="rId10" action="ppaction://hlinksldjump"/>
              </a:rPr>
              <a:t>Regular</a:t>
            </a:r>
            <a:r>
              <a:rPr dirty="0" sz="1100" spc="130">
                <a:latin typeface="Cambria"/>
                <a:cs typeface="Cambria"/>
                <a:hlinkClick r:id="rId10" action="ppaction://hlinksldjump"/>
              </a:rPr>
              <a:t> </a:t>
            </a:r>
            <a:r>
              <a:rPr dirty="0" sz="1100" spc="-10">
                <a:latin typeface="Cambria"/>
                <a:cs typeface="Cambria"/>
                <a:hlinkClick r:id="rId10" action="ppaction://hlinksldjump"/>
              </a:rPr>
              <a:t>Expressions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779" y="2305799"/>
            <a:ext cx="155257" cy="15525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779" y="2665704"/>
            <a:ext cx="155257" cy="155257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24675" y="2662007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6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4675" y="2273997"/>
            <a:ext cx="2200910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5</a:t>
            </a:r>
            <a:r>
              <a:rPr dirty="0" baseline="3472" sz="1200" spc="652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Extensions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of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Regular</a:t>
            </a:r>
            <a:r>
              <a:rPr dirty="0" sz="1100" spc="105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4" action="ppaction://hlinksldjump"/>
              </a:rPr>
              <a:t>Assignment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Regular</a:t>
            </a:r>
            <a:r>
              <a:rPr dirty="0" spc="215"/>
              <a:t> </a:t>
            </a:r>
            <a:r>
              <a:rPr dirty="0" spc="45"/>
              <a:t>Expressions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408557"/>
            <a:ext cx="65201" cy="652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632381"/>
            <a:ext cx="65201" cy="6520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822196"/>
            <a:ext cx="52527" cy="5252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2046020"/>
            <a:ext cx="52527" cy="5252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02932" y="1267470"/>
            <a:ext cx="3463290" cy="871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3500"/>
              </a:lnSpc>
              <a:spcBef>
                <a:spcPts val="100"/>
              </a:spcBef>
            </a:pPr>
            <a:r>
              <a:rPr dirty="0" sz="1100" spc="130">
                <a:latin typeface="Cambria"/>
                <a:cs typeface="Cambria"/>
              </a:rPr>
              <a:t>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FF0000"/>
                </a:solidFill>
                <a:latin typeface="Cambria"/>
                <a:cs typeface="Cambria"/>
              </a:rPr>
              <a:t>regular</a:t>
            </a:r>
            <a:r>
              <a:rPr dirty="0" sz="1100" spc="7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FF0000"/>
                </a:solidFill>
                <a:latin typeface="Cambria"/>
                <a:cs typeface="Cambria"/>
              </a:rPr>
              <a:t>expression</a:t>
            </a:r>
            <a:r>
              <a:rPr dirty="0" sz="1100" spc="6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used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describe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language. </a:t>
            </a:r>
            <a:r>
              <a:rPr dirty="0" sz="1100">
                <a:latin typeface="Cambria"/>
                <a:cs typeface="Cambria"/>
              </a:rPr>
              <a:t>Regular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expressions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may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defined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two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parts.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4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basic</a:t>
            </a:r>
            <a:r>
              <a:rPr dirty="0" sz="1000" spc="145">
                <a:latin typeface="Cambria"/>
                <a:cs typeface="Cambria"/>
              </a:rPr>
              <a:t> </a:t>
            </a:r>
            <a:r>
              <a:rPr dirty="0" sz="1000" spc="-10">
                <a:latin typeface="Cambria"/>
                <a:cs typeface="Cambria"/>
              </a:rPr>
              <a:t>part.</a:t>
            </a:r>
            <a:endParaRPr sz="10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565"/>
              </a:spcBef>
            </a:pP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05">
                <a:latin typeface="Cambria"/>
                <a:cs typeface="Cambria"/>
              </a:rPr>
              <a:t> </a:t>
            </a:r>
            <a:r>
              <a:rPr dirty="0" sz="1000" spc="-10">
                <a:latin typeface="Cambria"/>
                <a:cs typeface="Cambria"/>
              </a:rPr>
              <a:t>recursive</a:t>
            </a:r>
            <a:r>
              <a:rPr dirty="0" sz="1000" spc="110">
                <a:latin typeface="Cambria"/>
                <a:cs typeface="Cambria"/>
              </a:rPr>
              <a:t> </a:t>
            </a:r>
            <a:r>
              <a:rPr dirty="0" sz="1000" spc="-10">
                <a:latin typeface="Cambria"/>
                <a:cs typeface="Cambria"/>
              </a:rPr>
              <a:t>part.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Regular</a:t>
            </a:r>
            <a:r>
              <a:rPr dirty="0" spc="215"/>
              <a:t> </a:t>
            </a:r>
            <a:r>
              <a:rPr dirty="0" spc="45"/>
              <a:t>Expressions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93571"/>
            <a:ext cx="65201" cy="652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915" y="1583385"/>
            <a:ext cx="52527" cy="5252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807210"/>
            <a:ext cx="52527" cy="5252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2031047"/>
            <a:ext cx="52527" cy="5252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02932" y="1284999"/>
            <a:ext cx="3007360" cy="839469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basic</a:t>
            </a:r>
            <a:r>
              <a:rPr dirty="0" sz="1100" spc="13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part: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175"/>
              </a:spcBef>
            </a:pP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ε</a:t>
            </a:r>
            <a:r>
              <a:rPr dirty="0" sz="1000" spc="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latin typeface="Cambria"/>
                <a:cs typeface="Cambria"/>
              </a:rPr>
              <a:t>represents</a:t>
            </a:r>
            <a:r>
              <a:rPr dirty="0" sz="1000" spc="9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9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language</a:t>
            </a:r>
            <a:r>
              <a:rPr dirty="0" sz="1000" spc="90">
                <a:latin typeface="Cambria"/>
                <a:cs typeface="Cambria"/>
              </a:rPr>
              <a:t> </a:t>
            </a:r>
            <a:r>
              <a:rPr dirty="0" sz="1000" spc="45">
                <a:solidFill>
                  <a:srgbClr val="0000CC"/>
                </a:solidFill>
                <a:latin typeface="Cambria"/>
                <a:cs typeface="Cambria"/>
              </a:rPr>
              <a:t>{</a:t>
            </a:r>
            <a:r>
              <a:rPr dirty="0" sz="1000" spc="45" i="1">
                <a:solidFill>
                  <a:srgbClr val="0000CC"/>
                </a:solidFill>
                <a:latin typeface="Bookman Old Style"/>
                <a:cs typeface="Bookman Old Style"/>
              </a:rPr>
              <a:t>ε</a:t>
            </a:r>
            <a:r>
              <a:rPr dirty="0" sz="1000" spc="45">
                <a:solidFill>
                  <a:srgbClr val="0000CC"/>
                </a:solidFill>
                <a:latin typeface="Cambria"/>
                <a:cs typeface="Cambria"/>
              </a:rPr>
              <a:t>}</a:t>
            </a:r>
            <a:r>
              <a:rPr dirty="0" sz="1000" spc="45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  <a:p>
            <a:pPr marL="289560" marR="5080">
              <a:lnSpc>
                <a:spcPct val="146900"/>
              </a:lnSpc>
            </a:pPr>
            <a:r>
              <a:rPr dirty="0" sz="1000">
                <a:solidFill>
                  <a:srgbClr val="0000CC"/>
                </a:solidFill>
                <a:latin typeface="Segoe UI Symbol"/>
                <a:cs typeface="Segoe UI Symbol"/>
              </a:rPr>
              <a:t>a</a:t>
            </a:r>
            <a:r>
              <a:rPr dirty="0" sz="1000" spc="45">
                <a:solidFill>
                  <a:srgbClr val="0000CC"/>
                </a:solidFill>
                <a:latin typeface="Segoe UI Symbol"/>
                <a:cs typeface="Segoe UI Symbol"/>
              </a:rPr>
              <a:t> </a:t>
            </a:r>
            <a:r>
              <a:rPr dirty="0" sz="1000" spc="-20">
                <a:latin typeface="Cambria"/>
                <a:cs typeface="Cambria"/>
              </a:rPr>
              <a:t>represents</a:t>
            </a:r>
            <a:r>
              <a:rPr dirty="0" sz="1000" spc="114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11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language</a:t>
            </a:r>
            <a:r>
              <a:rPr dirty="0" sz="1000" spc="110">
                <a:latin typeface="Cambria"/>
                <a:cs typeface="Cambria"/>
              </a:rPr>
              <a:t> 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{</a:t>
            </a: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}</a:t>
            </a:r>
            <a:r>
              <a:rPr dirty="0" sz="1000" spc="114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for</a:t>
            </a:r>
            <a:r>
              <a:rPr dirty="0" sz="1000" spc="11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every</a:t>
            </a:r>
            <a:r>
              <a:rPr dirty="0" sz="1000" spc="110">
                <a:latin typeface="Cambria"/>
                <a:cs typeface="Cambria"/>
              </a:rPr>
              <a:t> </a:t>
            </a:r>
            <a:r>
              <a:rPr dirty="0" sz="1000" spc="-100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sz="1000" spc="-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∈</a:t>
            </a:r>
            <a:r>
              <a:rPr dirty="0" sz="1000" spc="5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000" spc="45">
                <a:solidFill>
                  <a:srgbClr val="0000CC"/>
                </a:solidFill>
                <a:latin typeface="Book Antiqua"/>
                <a:cs typeface="Book Antiqua"/>
              </a:rPr>
              <a:t>Σ</a:t>
            </a:r>
            <a:r>
              <a:rPr dirty="0" sz="1000" spc="45">
                <a:latin typeface="Cambria"/>
                <a:cs typeface="Cambria"/>
              </a:rPr>
              <a:t>. </a:t>
            </a:r>
            <a:r>
              <a:rPr dirty="0" sz="1000">
                <a:latin typeface="Cambria"/>
                <a:cs typeface="Cambria"/>
              </a:rPr>
              <a:t>Call</a:t>
            </a:r>
            <a:r>
              <a:rPr dirty="0" sz="1000" spc="14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these</a:t>
            </a:r>
            <a:r>
              <a:rPr dirty="0" sz="1000" spc="14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languages</a:t>
            </a:r>
            <a:r>
              <a:rPr dirty="0" sz="1000" spc="145"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ε</a:t>
            </a:r>
            <a:r>
              <a:rPr dirty="0" sz="100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10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>
                <a:latin typeface="Cambria"/>
                <a:cs typeface="Cambria"/>
              </a:rPr>
              <a:t>and</a:t>
            </a:r>
            <a:r>
              <a:rPr dirty="0" sz="1000" spc="145">
                <a:latin typeface="Cambria"/>
                <a:cs typeface="Cambria"/>
              </a:rPr>
              <a:t> </a:t>
            </a:r>
            <a:r>
              <a:rPr dirty="0" sz="1000" spc="6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6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60">
                <a:solidFill>
                  <a:srgbClr val="0000CC"/>
                </a:solidFill>
                <a:latin typeface="Segoe UI Symbol"/>
                <a:cs typeface="Segoe UI Symbol"/>
              </a:rPr>
              <a:t>a</a:t>
            </a:r>
            <a:r>
              <a:rPr dirty="0" sz="1000" spc="6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60">
                <a:latin typeface="Cambria"/>
                <a:cs typeface="Cambria"/>
              </a:rPr>
              <a:t>,</a:t>
            </a:r>
            <a:r>
              <a:rPr dirty="0" sz="1000" spc="145">
                <a:latin typeface="Cambria"/>
                <a:cs typeface="Cambria"/>
              </a:rPr>
              <a:t> </a:t>
            </a:r>
            <a:r>
              <a:rPr dirty="0" sz="1000" spc="-10">
                <a:latin typeface="Cambria"/>
                <a:cs typeface="Cambria"/>
              </a:rPr>
              <a:t>respectively.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Regular</a:t>
            </a:r>
            <a:r>
              <a:rPr dirty="0" spc="215"/>
              <a:t> </a:t>
            </a:r>
            <a:r>
              <a:rPr dirty="0" spc="45"/>
              <a:t>Expressions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04048"/>
            <a:ext cx="65201" cy="652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915" y="1493850"/>
            <a:ext cx="52527" cy="5252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17687"/>
            <a:ext cx="52527" cy="5252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941512"/>
            <a:ext cx="52527" cy="5252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915" y="2165337"/>
            <a:ext cx="52527" cy="5252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64832" y="712517"/>
            <a:ext cx="3692525" cy="1546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283845">
              <a:lnSpc>
                <a:spcPct val="100000"/>
              </a:lnSpc>
              <a:spcBef>
                <a:spcPts val="110"/>
              </a:spcBef>
            </a:pPr>
            <a:r>
              <a:rPr dirty="0" sz="1000">
                <a:solidFill>
                  <a:srgbClr val="0433FF"/>
                </a:solidFill>
                <a:latin typeface="Georgia"/>
                <a:cs typeface="Georgia"/>
              </a:rPr>
              <a:t>L(r)</a:t>
            </a:r>
            <a:r>
              <a:rPr dirty="0" sz="1000" spc="15">
                <a:solidFill>
                  <a:srgbClr val="0433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433FF"/>
                </a:solidFill>
                <a:latin typeface="Georgia"/>
                <a:cs typeface="Georgia"/>
              </a:rPr>
              <a:t>L(s)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00">
              <a:latin typeface="Georgia"/>
              <a:cs typeface="Georgia"/>
            </a:endParaRPr>
          </a:p>
          <a:p>
            <a:pPr marL="508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10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recursive</a:t>
            </a:r>
            <a:r>
              <a:rPr dirty="0" sz="1100" spc="10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part:</a:t>
            </a:r>
            <a:r>
              <a:rPr dirty="0" sz="1100" spc="21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Let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 spc="4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100" spc="1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10">
                <a:latin typeface="Cambria"/>
                <a:cs typeface="Cambria"/>
              </a:rPr>
              <a:t>denote</a:t>
            </a:r>
            <a:r>
              <a:rPr dirty="0" sz="1100" spc="10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regular</a:t>
            </a:r>
            <a:r>
              <a:rPr dirty="0" sz="1100" spc="10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expressions.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175"/>
              </a:spcBef>
            </a:pP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-2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000" spc="3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000" spc="1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latin typeface="Cambria"/>
                <a:cs typeface="Cambria"/>
              </a:rPr>
              <a:t>represents</a:t>
            </a:r>
            <a:r>
              <a:rPr dirty="0" sz="1000" spc="90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language</a:t>
            </a:r>
            <a:r>
              <a:rPr dirty="0" sz="1000" spc="90">
                <a:latin typeface="Cambria"/>
                <a:cs typeface="Cambria"/>
              </a:rPr>
              <a:t> 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-4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∪</a:t>
            </a:r>
            <a:r>
              <a:rPr dirty="0" sz="1000" spc="-1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000" spc="-2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-2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-20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000" spc="-2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-20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  <a:p>
            <a:pPr marL="327660" marR="1329055">
              <a:lnSpc>
                <a:spcPct val="146900"/>
              </a:lnSpc>
            </a:pP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rs</a:t>
            </a:r>
            <a:r>
              <a:rPr dirty="0" sz="1000" spc="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 spc="-20">
                <a:latin typeface="Cambria"/>
                <a:cs typeface="Cambria"/>
              </a:rPr>
              <a:t>represents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language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 spc="4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4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4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40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40">
                <a:latin typeface="Cambria"/>
                <a:cs typeface="Cambria"/>
              </a:rPr>
              <a:t>. </a:t>
            </a:r>
            <a:r>
              <a:rPr dirty="0" sz="1000" spc="7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baseline="27777" sz="1050" spc="104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r>
              <a:rPr dirty="0" baseline="27777" sz="1050" spc="292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000" spc="-20">
                <a:latin typeface="Cambria"/>
                <a:cs typeface="Cambria"/>
              </a:rPr>
              <a:t>represents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language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baseline="27777" sz="1050" spc="97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r>
              <a:rPr dirty="0" sz="1000" spc="65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565"/>
              </a:spcBef>
            </a:pPr>
            <a:r>
              <a:rPr dirty="0" sz="1000" spc="5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5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5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6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-20">
                <a:latin typeface="Cambria"/>
                <a:cs typeface="Cambria"/>
              </a:rPr>
              <a:t>represents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the</a:t>
            </a:r>
            <a:r>
              <a:rPr dirty="0" sz="1000" spc="95">
                <a:latin typeface="Cambria"/>
                <a:cs typeface="Cambria"/>
              </a:rPr>
              <a:t> </a:t>
            </a:r>
            <a:r>
              <a:rPr dirty="0" sz="1000">
                <a:latin typeface="Cambria"/>
                <a:cs typeface="Cambria"/>
              </a:rPr>
              <a:t>language</a:t>
            </a:r>
            <a:r>
              <a:rPr dirty="0" sz="1000" spc="90">
                <a:latin typeface="Cambria"/>
                <a:cs typeface="Cambria"/>
              </a:rPr>
              <a:t> </a:t>
            </a:r>
            <a:r>
              <a:rPr dirty="0" sz="1000" spc="4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4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4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4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45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Regular</a:t>
            </a:r>
            <a:r>
              <a:rPr dirty="0" spc="215"/>
              <a:t> </a:t>
            </a:r>
            <a:r>
              <a:rPr dirty="0" spc="45"/>
              <a:t>Expressions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304048"/>
            <a:ext cx="65201" cy="6520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915" y="1493850"/>
            <a:ext cx="52527" cy="5252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717687"/>
            <a:ext cx="52527" cy="5252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915" y="1941512"/>
            <a:ext cx="52527" cy="52527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915" y="2165337"/>
            <a:ext cx="52527" cy="5252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377532" y="1195464"/>
            <a:ext cx="1597025" cy="106299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85"/>
              </a:spcBef>
            </a:pP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other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words</a:t>
            </a:r>
            <a:endParaRPr sz="1100">
              <a:latin typeface="Cambria"/>
              <a:cs typeface="Cambria"/>
            </a:endParaRPr>
          </a:p>
          <a:p>
            <a:pPr marL="314960">
              <a:lnSpc>
                <a:spcPct val="100000"/>
              </a:lnSpc>
              <a:spcBef>
                <a:spcPts val="175"/>
              </a:spcBef>
            </a:pPr>
            <a:r>
              <a:rPr dirty="0" sz="1000" spc="6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6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6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-1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0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00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1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170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000" spc="1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-3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>
                <a:solidFill>
                  <a:srgbClr val="0000CC"/>
                </a:solidFill>
                <a:latin typeface="Cambria"/>
                <a:cs typeface="Cambria"/>
              </a:rPr>
              <a:t>∪</a:t>
            </a:r>
            <a:r>
              <a:rPr dirty="0" sz="1000" spc="-1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000" spc="-2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-2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-20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000" spc="-2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-20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  <a:p>
            <a:pPr marL="314960">
              <a:lnSpc>
                <a:spcPct val="100000"/>
              </a:lnSpc>
              <a:spcBef>
                <a:spcPts val="565"/>
              </a:spcBef>
            </a:pP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i="1">
                <a:solidFill>
                  <a:srgbClr val="0000CC"/>
                </a:solidFill>
                <a:latin typeface="Bookman Old Style"/>
                <a:cs typeface="Bookman Old Style"/>
              </a:rPr>
              <a:t>rs</a:t>
            </a:r>
            <a:r>
              <a:rPr dirty="0" sz="100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12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170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000" spc="12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4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4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4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40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000" spc="4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40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  <a:p>
            <a:pPr marL="314960">
              <a:lnSpc>
                <a:spcPct val="100000"/>
              </a:lnSpc>
              <a:spcBef>
                <a:spcPts val="560"/>
              </a:spcBef>
            </a:pPr>
            <a:r>
              <a:rPr dirty="0" sz="1000" spc="7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7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7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baseline="27777" sz="1050" spc="112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r>
              <a:rPr dirty="0" sz="1000" spc="7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3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170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000" spc="3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6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6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baseline="27777" sz="1050" spc="97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r>
              <a:rPr dirty="0" sz="1000" spc="65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  <a:p>
            <a:pPr marL="314960">
              <a:lnSpc>
                <a:spcPct val="100000"/>
              </a:lnSpc>
              <a:spcBef>
                <a:spcPts val="565"/>
              </a:spcBef>
            </a:pPr>
            <a:r>
              <a:rPr dirty="0" sz="1000" spc="60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60">
                <a:solidFill>
                  <a:srgbClr val="0000CC"/>
                </a:solidFill>
                <a:latin typeface="Book Antiqua"/>
                <a:cs typeface="Book Antiqua"/>
              </a:rPr>
              <a:t>((</a:t>
            </a:r>
            <a:r>
              <a:rPr dirty="0" sz="1000" spc="6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60">
                <a:solidFill>
                  <a:srgbClr val="0000CC"/>
                </a:solidFill>
                <a:latin typeface="Book Antiqua"/>
                <a:cs typeface="Book Antiqua"/>
              </a:rPr>
              <a:t>))</a:t>
            </a:r>
            <a:r>
              <a:rPr dirty="0" sz="1000" spc="2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170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000" spc="2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000" spc="55" i="1">
                <a:solidFill>
                  <a:srgbClr val="0000CC"/>
                </a:solidFill>
                <a:latin typeface="Bookman Old Style"/>
                <a:cs typeface="Bookman Old Style"/>
              </a:rPr>
              <a:t>L</a:t>
            </a:r>
            <a:r>
              <a:rPr dirty="0" sz="1000" spc="55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000" spc="5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000" spc="5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sz="1000" spc="55">
                <a:latin typeface="Cambria"/>
                <a:cs typeface="Cambria"/>
              </a:rPr>
              <a:t>.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78699" y="1466343"/>
            <a:ext cx="133350" cy="1049655"/>
          </a:xfrm>
          <a:custGeom>
            <a:avLst/>
            <a:gdLst/>
            <a:ahLst/>
            <a:cxnLst/>
            <a:rect l="l" t="t" r="r" b="b"/>
            <a:pathLst>
              <a:path w="133350" h="1049655">
                <a:moveTo>
                  <a:pt x="133328" y="2"/>
                </a:moveTo>
                <a:lnTo>
                  <a:pt x="114694" y="71234"/>
                </a:lnTo>
                <a:lnTo>
                  <a:pt x="97463" y="140342"/>
                </a:lnTo>
                <a:lnTo>
                  <a:pt x="81632" y="207325"/>
                </a:lnTo>
                <a:lnTo>
                  <a:pt x="67204" y="272182"/>
                </a:lnTo>
                <a:lnTo>
                  <a:pt x="54176" y="334915"/>
                </a:lnTo>
                <a:lnTo>
                  <a:pt x="42551" y="395522"/>
                </a:lnTo>
                <a:lnTo>
                  <a:pt x="32327" y="454004"/>
                </a:lnTo>
                <a:lnTo>
                  <a:pt x="23504" y="510361"/>
                </a:lnTo>
                <a:lnTo>
                  <a:pt x="16083" y="564593"/>
                </a:lnTo>
                <a:lnTo>
                  <a:pt x="10063" y="616699"/>
                </a:lnTo>
                <a:lnTo>
                  <a:pt x="5445" y="666681"/>
                </a:lnTo>
                <a:lnTo>
                  <a:pt x="2228" y="714537"/>
                </a:lnTo>
                <a:lnTo>
                  <a:pt x="413" y="760268"/>
                </a:lnTo>
                <a:lnTo>
                  <a:pt x="0" y="803874"/>
                </a:lnTo>
                <a:lnTo>
                  <a:pt x="988" y="845355"/>
                </a:lnTo>
                <a:lnTo>
                  <a:pt x="3377" y="884711"/>
                </a:lnTo>
                <a:lnTo>
                  <a:pt x="12361" y="957047"/>
                </a:lnTo>
                <a:lnTo>
                  <a:pt x="26950" y="1020882"/>
                </a:lnTo>
                <a:lnTo>
                  <a:pt x="36347" y="1049612"/>
                </a:lnTo>
              </a:path>
            </a:pathLst>
          </a:custGeom>
          <a:ln w="1839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5"/>
              <a:t>Example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7743" y="1040879"/>
            <a:ext cx="4483735" cy="1660525"/>
            <a:chOff x="87743" y="1040879"/>
            <a:chExt cx="4483735" cy="166052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18595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599448"/>
              <a:ext cx="101600" cy="101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586748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040879"/>
              <a:ext cx="50800" cy="155856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743" y="1230223"/>
              <a:ext cx="4432935" cy="1420495"/>
            </a:xfrm>
            <a:custGeom>
              <a:avLst/>
              <a:gdLst/>
              <a:ahLst/>
              <a:cxnLst/>
              <a:rect l="l" t="t" r="r" b="b"/>
              <a:pathLst>
                <a:path w="4432935" h="1420495">
                  <a:moveTo>
                    <a:pt x="4432567" y="0"/>
                  </a:moveTo>
                  <a:lnTo>
                    <a:pt x="0" y="0"/>
                  </a:lnTo>
                  <a:lnTo>
                    <a:pt x="0" y="1369225"/>
                  </a:lnTo>
                  <a:lnTo>
                    <a:pt x="4008" y="1388949"/>
                  </a:lnTo>
                  <a:lnTo>
                    <a:pt x="14922" y="1405102"/>
                  </a:lnTo>
                  <a:lnTo>
                    <a:pt x="31075" y="1416016"/>
                  </a:lnTo>
                  <a:lnTo>
                    <a:pt x="50800" y="1420025"/>
                  </a:lnTo>
                  <a:lnTo>
                    <a:pt x="4381767" y="1420025"/>
                  </a:lnTo>
                  <a:lnTo>
                    <a:pt x="4401492" y="1416016"/>
                  </a:lnTo>
                  <a:lnTo>
                    <a:pt x="4417644" y="1405102"/>
                  </a:lnTo>
                  <a:lnTo>
                    <a:pt x="4428558" y="1388949"/>
                  </a:lnTo>
                  <a:lnTo>
                    <a:pt x="4432567" y="136922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1078979"/>
              <a:ext cx="0" cy="1539875"/>
            </a:xfrm>
            <a:custGeom>
              <a:avLst/>
              <a:gdLst/>
              <a:ahLst/>
              <a:cxnLst/>
              <a:rect l="l" t="t" r="r" b="b"/>
              <a:pathLst>
                <a:path w="0" h="1539875">
                  <a:moveTo>
                    <a:pt x="0" y="15395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10662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10535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10408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285481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113144" y="536436"/>
            <a:ext cx="4142104" cy="15887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250190">
              <a:lnSpc>
                <a:spcPct val="100000"/>
              </a:lnSpc>
              <a:spcBef>
                <a:spcPts val="110"/>
              </a:spcBef>
            </a:pPr>
            <a:r>
              <a:rPr dirty="0" sz="1100" spc="85" b="1">
                <a:latin typeface="Book Antiqua"/>
                <a:cs typeface="Book Antiqua"/>
              </a:rPr>
              <a:t>{A}|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100" b="1">
                <a:latin typeface="Book Antiqua"/>
                <a:cs typeface="Book Antiqua"/>
              </a:rPr>
              <a:t>{B}|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b="1">
                <a:latin typeface="Book Antiqua"/>
                <a:cs typeface="Book Antiqua"/>
              </a:rPr>
              <a:t>…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70" b="1">
                <a:latin typeface="Book Antiqua"/>
                <a:cs typeface="Book Antiqua"/>
              </a:rPr>
              <a:t>{a,b,..,z,A,B,…Z}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100">
              <a:latin typeface="Book Antiqua"/>
              <a:cs typeface="Book Antiqua"/>
            </a:endParaRPr>
          </a:p>
          <a:p>
            <a:pPr marL="254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Example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(Identifiers)</a:t>
            </a:r>
            <a:endParaRPr sz="1100">
              <a:latin typeface="Cambria"/>
              <a:cs typeface="Cambria"/>
            </a:endParaRPr>
          </a:p>
          <a:p>
            <a:pPr algn="ctr" marL="251460">
              <a:lnSpc>
                <a:spcPct val="100000"/>
              </a:lnSpc>
              <a:spcBef>
                <a:spcPts val="370"/>
              </a:spcBef>
            </a:pPr>
            <a:r>
              <a:rPr dirty="0" sz="1100" spc="-10">
                <a:latin typeface="Cambria"/>
                <a:cs typeface="Cambria"/>
              </a:rPr>
              <a:t>Identifiers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204">
                <a:latin typeface="Cambria"/>
                <a:cs typeface="Cambria"/>
              </a:rPr>
              <a:t>C++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can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represented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regular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expression.</a:t>
            </a:r>
            <a:endParaRPr sz="1100">
              <a:latin typeface="Cambria"/>
              <a:cs typeface="Cambria"/>
            </a:endParaRPr>
          </a:p>
          <a:p>
            <a:pPr marL="1419860">
              <a:lnSpc>
                <a:spcPct val="100000"/>
              </a:lnSpc>
              <a:spcBef>
                <a:spcPts val="1130"/>
              </a:spcBef>
            </a:pP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 spc="-8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-3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-285">
                <a:solidFill>
                  <a:srgbClr val="0000CC"/>
                </a:solidFill>
                <a:latin typeface="Palatino Linotype"/>
                <a:cs typeface="Palatino Linotype"/>
              </a:rPr>
              <a:t>A</a:t>
            </a:r>
            <a:r>
              <a:rPr dirty="0" sz="1100" spc="2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110">
                <a:solidFill>
                  <a:srgbClr val="0000CC"/>
                </a:solidFill>
                <a:latin typeface="Palatino Linotype"/>
                <a:cs typeface="Palatino Linotype"/>
              </a:rPr>
              <a:t>B</a:t>
            </a:r>
            <a:r>
              <a:rPr dirty="0" sz="1100" spc="2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175">
                <a:solidFill>
                  <a:srgbClr val="0000CC"/>
                </a:solidFill>
                <a:latin typeface="Palatino Linotype"/>
                <a:cs typeface="Palatino Linotype"/>
              </a:rPr>
              <a:t>Z</a:t>
            </a:r>
            <a:r>
              <a:rPr dirty="0" sz="1100" spc="2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a</a:t>
            </a:r>
            <a:r>
              <a:rPr dirty="0" sz="1100" spc="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b</a:t>
            </a:r>
            <a:r>
              <a:rPr dirty="0" sz="1100" spc="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50">
                <a:solidFill>
                  <a:srgbClr val="0000CC"/>
                </a:solidFill>
                <a:latin typeface="Palatino Linotype"/>
                <a:cs typeface="Palatino Linotype"/>
              </a:rPr>
              <a:t>z</a:t>
            </a:r>
            <a:endParaRPr sz="1100">
              <a:latin typeface="Palatino Linotype"/>
              <a:cs typeface="Palatino Linotype"/>
            </a:endParaRPr>
          </a:p>
          <a:p>
            <a:pPr marL="1421130">
              <a:lnSpc>
                <a:spcPct val="100000"/>
              </a:lnSpc>
              <a:spcBef>
                <a:spcPts val="334"/>
              </a:spcBef>
            </a:pPr>
            <a:r>
              <a:rPr dirty="0" sz="1100" spc="-90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100" spc="-3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0</a:t>
            </a:r>
            <a:r>
              <a:rPr dirty="0" sz="1100" spc="20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5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1</a:t>
            </a:r>
            <a:r>
              <a:rPr dirty="0" sz="1100" spc="20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5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5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5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9</a:t>
            </a:r>
            <a:r>
              <a:rPr dirty="0" sz="1100" spc="420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baseline="-12626" sz="1650" spc="135" b="1">
                <a:latin typeface="Book Antiqua"/>
                <a:cs typeface="Book Antiqua"/>
              </a:rPr>
              <a:t>={0,1,…9}</a:t>
            </a:r>
            <a:endParaRPr baseline="-12626" sz="1650">
              <a:latin typeface="Book Antiqua"/>
              <a:cs typeface="Book Antiqua"/>
            </a:endParaRPr>
          </a:p>
          <a:p>
            <a:pPr marL="1435735">
              <a:lnSpc>
                <a:spcPct val="100000"/>
              </a:lnSpc>
              <a:spcBef>
                <a:spcPts val="330"/>
              </a:spcBef>
            </a:pP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t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2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6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 spc="6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100" spc="6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 spc="-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s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baseline="31250" sz="1200" spc="-37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endParaRPr baseline="31250" sz="1200">
              <a:latin typeface="Cambria"/>
              <a:cs typeface="Cambri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271113" y="2199532"/>
            <a:ext cx="197167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80" b="1">
                <a:latin typeface="Book Antiqua"/>
                <a:cs typeface="Book Antiqua"/>
              </a:rPr>
              <a:t>t={a,b,c,..,A0,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65" b="1">
                <a:latin typeface="Book Antiqua"/>
                <a:cs typeface="Book Antiqua"/>
              </a:rPr>
              <a:t>AA,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90" b="1">
                <a:latin typeface="Book Antiqua"/>
                <a:cs typeface="Book Antiqua"/>
              </a:rPr>
              <a:t>A0ab1..}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  <p:sp>
        <p:nvSpPr>
          <p:cNvPr id="19" name="object 19" descr=""/>
          <p:cNvSpPr txBox="1"/>
          <p:nvPr/>
        </p:nvSpPr>
        <p:spPr>
          <a:xfrm>
            <a:off x="3367779" y="2121244"/>
            <a:ext cx="43624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85" b="1">
                <a:latin typeface="Book Antiqua"/>
                <a:cs typeface="Book Antiqua"/>
              </a:rPr>
              <a:t>1A0A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Regular</a:t>
            </a:r>
            <a:r>
              <a:rPr dirty="0" spc="215"/>
              <a:t> </a:t>
            </a:r>
            <a:r>
              <a:rPr dirty="0" spc="45"/>
              <a:t>Expressions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7743" y="908786"/>
            <a:ext cx="4483735" cy="1990725"/>
            <a:chOff x="87743" y="908786"/>
            <a:chExt cx="4483735" cy="199072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05387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797581"/>
              <a:ext cx="101600" cy="101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784881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908786"/>
              <a:ext cx="50800" cy="188879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743" y="1098130"/>
              <a:ext cx="4432935" cy="1750695"/>
            </a:xfrm>
            <a:custGeom>
              <a:avLst/>
              <a:gdLst/>
              <a:ahLst/>
              <a:cxnLst/>
              <a:rect l="l" t="t" r="r" b="b"/>
              <a:pathLst>
                <a:path w="4432935" h="1750695">
                  <a:moveTo>
                    <a:pt x="4432567" y="0"/>
                  </a:moveTo>
                  <a:lnTo>
                    <a:pt x="0" y="0"/>
                  </a:lnTo>
                  <a:lnTo>
                    <a:pt x="0" y="1699450"/>
                  </a:lnTo>
                  <a:lnTo>
                    <a:pt x="4008" y="1719175"/>
                  </a:lnTo>
                  <a:lnTo>
                    <a:pt x="14922" y="1735328"/>
                  </a:lnTo>
                  <a:lnTo>
                    <a:pt x="31075" y="1746242"/>
                  </a:lnTo>
                  <a:lnTo>
                    <a:pt x="50800" y="1750250"/>
                  </a:lnTo>
                  <a:lnTo>
                    <a:pt x="4381767" y="1750250"/>
                  </a:lnTo>
                  <a:lnTo>
                    <a:pt x="4401492" y="1746242"/>
                  </a:lnTo>
                  <a:lnTo>
                    <a:pt x="4417644" y="1735328"/>
                  </a:lnTo>
                  <a:lnTo>
                    <a:pt x="4428558" y="1719175"/>
                  </a:lnTo>
                  <a:lnTo>
                    <a:pt x="4432567" y="1699450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946886"/>
              <a:ext cx="0" cy="1870075"/>
            </a:xfrm>
            <a:custGeom>
              <a:avLst/>
              <a:gdLst/>
              <a:ahLst/>
              <a:cxnLst/>
              <a:rect l="l" t="t" r="r" b="b"/>
              <a:pathLst>
                <a:path w="0" h="1870075">
                  <a:moveTo>
                    <a:pt x="0" y="18697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934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9214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9087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5044" y="805508"/>
            <a:ext cx="4413885" cy="979169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480"/>
              </a:spcBef>
            </a:pPr>
            <a:r>
              <a:rPr dirty="0" sz="1100">
                <a:latin typeface="Cambria"/>
                <a:cs typeface="Cambria"/>
              </a:rPr>
              <a:t>Definition</a:t>
            </a:r>
            <a:r>
              <a:rPr dirty="0" sz="1100" spc="1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(Regular</a:t>
            </a:r>
            <a:r>
              <a:rPr dirty="0" sz="1100" spc="14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definition)</a:t>
            </a:r>
            <a:endParaRPr sz="1100">
              <a:latin typeface="Cambria"/>
              <a:cs typeface="Cambria"/>
            </a:endParaRPr>
          </a:p>
          <a:p>
            <a:pPr marL="63500">
              <a:lnSpc>
                <a:spcPct val="100000"/>
              </a:lnSpc>
              <a:spcBef>
                <a:spcPts val="384"/>
              </a:spcBef>
            </a:pPr>
            <a:r>
              <a:rPr dirty="0" sz="1100" spc="130">
                <a:latin typeface="Cambria"/>
                <a:cs typeface="Cambria"/>
              </a:rPr>
              <a:t>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FF0000"/>
                </a:solidFill>
                <a:latin typeface="Cambria"/>
                <a:cs typeface="Cambria"/>
              </a:rPr>
              <a:t>regular</a:t>
            </a:r>
            <a:r>
              <a:rPr dirty="0" sz="1100" spc="7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FF0000"/>
                </a:solidFill>
                <a:latin typeface="Cambria"/>
                <a:cs typeface="Cambria"/>
              </a:rPr>
              <a:t>definition</a:t>
            </a:r>
            <a:r>
              <a:rPr dirty="0" sz="1100" spc="75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regular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expression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“grammar”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form</a:t>
            </a:r>
            <a:endParaRPr sz="1100">
              <a:latin typeface="Cambria"/>
              <a:cs typeface="Cambria"/>
            </a:endParaRPr>
          </a:p>
          <a:p>
            <a:pPr algn="ctr" marL="1975485" marR="1947545">
              <a:lnSpc>
                <a:spcPct val="125299"/>
              </a:lnSpc>
              <a:spcBef>
                <a:spcPts val="795"/>
              </a:spcBef>
            </a:pPr>
            <a:r>
              <a:rPr dirty="0" u="heavy" sz="1100" spc="-200" i="1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/>
                <a:cs typeface="Bookman Old Style"/>
              </a:rPr>
              <a:t> </a:t>
            </a:r>
            <a:r>
              <a:rPr dirty="0" u="heavy" sz="1100" i="1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/>
                <a:cs typeface="Bookman Old Style"/>
              </a:rPr>
              <a:t>d</a:t>
            </a:r>
            <a:r>
              <a:rPr dirty="0" u="heavy" baseline="-10416" sz="120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Garamond"/>
                <a:cs typeface="Garamond"/>
              </a:rPr>
              <a:t>1</a:t>
            </a:r>
            <a:r>
              <a:rPr dirty="0" u="heavy" baseline="-10416" sz="1200" spc="142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Garamond"/>
                <a:cs typeface="Garamond"/>
              </a:rPr>
              <a:t> </a:t>
            </a:r>
            <a:r>
              <a:rPr dirty="0" u="heavy" sz="1100" spc="155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Cambria"/>
                <a:cs typeface="Cambria"/>
              </a:rPr>
              <a:t>→</a:t>
            </a:r>
            <a:r>
              <a:rPr dirty="0" u="heavy" sz="1100" spc="30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Cambria"/>
                <a:cs typeface="Cambria"/>
              </a:rPr>
              <a:t> </a:t>
            </a:r>
            <a:r>
              <a:rPr dirty="0" u="heavy" sz="1100" spc="-25" i="1">
                <a:solidFill>
                  <a:srgbClr val="0000CC"/>
                </a:solidFill>
                <a:uFill>
                  <a:solidFill>
                    <a:srgbClr val="FF2600"/>
                  </a:solidFill>
                </a:uFill>
                <a:latin typeface="Bookman Old Style"/>
                <a:cs typeface="Bookman Old Style"/>
              </a:rPr>
              <a:t>r</a:t>
            </a:r>
            <a:r>
              <a:rPr dirty="0" baseline="-10416" sz="1200" spc="-37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baseline="-10416" sz="1200" spc="750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d</a:t>
            </a:r>
            <a:r>
              <a:rPr dirty="0" baseline="-10416" sz="1200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baseline="-10416" sz="1200" spc="150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spc="155">
                <a:solidFill>
                  <a:srgbClr val="0000CC"/>
                </a:solidFill>
                <a:latin typeface="Cambria"/>
                <a:cs typeface="Cambria"/>
              </a:rPr>
              <a:t>→</a:t>
            </a:r>
            <a:r>
              <a:rPr dirty="0" sz="1100" spc="2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baseline="-10416" sz="1200" spc="-37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endParaRPr baseline="-10416" sz="1200">
              <a:latin typeface="Garamond"/>
              <a:cs typeface="Garamond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279789" y="1836139"/>
            <a:ext cx="641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25">
                <a:solidFill>
                  <a:srgbClr val="0000CC"/>
                </a:solidFill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019249" y="1842971"/>
            <a:ext cx="563245" cy="4457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ctr" marL="21590">
              <a:lnSpc>
                <a:spcPct val="100000"/>
              </a:lnSpc>
              <a:spcBef>
                <a:spcPts val="434"/>
              </a:spcBef>
            </a:pPr>
            <a:r>
              <a:rPr dirty="0" sz="1100" spc="25">
                <a:solidFill>
                  <a:srgbClr val="0000CC"/>
                </a:solidFill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34"/>
              </a:spcBef>
            </a:pPr>
            <a:r>
              <a:rPr dirty="0" sz="1100" spc="-10" i="1">
                <a:solidFill>
                  <a:srgbClr val="0000CC"/>
                </a:solidFill>
                <a:latin typeface="Bookman Old Style"/>
                <a:cs typeface="Bookman Old Style"/>
              </a:rPr>
              <a:t>d</a:t>
            </a:r>
            <a:r>
              <a:rPr dirty="0" baseline="-10416" sz="1200" spc="-15" i="1">
                <a:solidFill>
                  <a:srgbClr val="0000CC"/>
                </a:solidFill>
                <a:latin typeface="Bookman Old Style"/>
                <a:cs typeface="Bookman Old Style"/>
              </a:rPr>
              <a:t>n</a:t>
            </a:r>
            <a:r>
              <a:rPr dirty="0" baseline="-10416" sz="1200" spc="82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55">
                <a:solidFill>
                  <a:srgbClr val="0000CC"/>
                </a:solidFill>
                <a:latin typeface="Cambria"/>
                <a:cs typeface="Cambria"/>
              </a:rPr>
              <a:t>→</a:t>
            </a:r>
            <a:r>
              <a:rPr dirty="0" sz="1100" spc="1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baseline="-10416" sz="1200" spc="-37" i="1">
                <a:solidFill>
                  <a:srgbClr val="0000CC"/>
                </a:solidFill>
                <a:latin typeface="Bookman Old Style"/>
                <a:cs typeface="Bookman Old Style"/>
              </a:rPr>
              <a:t>n</a:t>
            </a:r>
            <a:endParaRPr baseline="-10416" sz="1200">
              <a:latin typeface="Bookman Old Style"/>
              <a:cs typeface="Bookman Old Styl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0444" y="2618065"/>
            <a:ext cx="3947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Cambria"/>
                <a:cs typeface="Cambria"/>
              </a:rPr>
              <a:t>where</a:t>
            </a:r>
            <a:r>
              <a:rPr dirty="0" sz="1100" spc="-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each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5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baseline="-10416" sz="1200" spc="82" i="1">
                <a:solidFill>
                  <a:srgbClr val="0000CC"/>
                </a:solidFill>
                <a:latin typeface="Bookman Old Style"/>
                <a:cs typeface="Bookman Old Style"/>
              </a:rPr>
              <a:t>i</a:t>
            </a:r>
            <a:r>
              <a:rPr dirty="0" baseline="-10416" sz="1200" spc="19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latin typeface="Cambria"/>
                <a:cs typeface="Cambria"/>
              </a:rPr>
              <a:t>is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regular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expression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over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70">
                <a:solidFill>
                  <a:srgbClr val="0000CC"/>
                </a:solidFill>
                <a:latin typeface="Book Antiqua"/>
                <a:cs typeface="Book Antiqua"/>
              </a:rPr>
              <a:t>Σ</a:t>
            </a:r>
            <a:r>
              <a:rPr dirty="0" sz="1100" spc="-5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∪</a:t>
            </a:r>
            <a:r>
              <a:rPr dirty="0" sz="1100" spc="-2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{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d</a:t>
            </a:r>
            <a:r>
              <a:rPr dirty="0" baseline="-10416" sz="1200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0" i="1">
                <a:solidFill>
                  <a:srgbClr val="0000CC"/>
                </a:solidFill>
                <a:latin typeface="Bookman Old Style"/>
                <a:cs typeface="Bookman Old Style"/>
              </a:rPr>
              <a:t>d</a:t>
            </a:r>
            <a:r>
              <a:rPr dirty="0" baseline="-10416" sz="1200" spc="-44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sz="1100" spc="-30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,</a:t>
            </a:r>
            <a:r>
              <a:rPr dirty="0" sz="1100" spc="-15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60" i="1">
                <a:solidFill>
                  <a:srgbClr val="0000CC"/>
                </a:solidFill>
                <a:latin typeface="Bookman Old Style"/>
                <a:cs typeface="Bookman Old Style"/>
              </a:rPr>
              <a:t>d</a:t>
            </a:r>
            <a:r>
              <a:rPr dirty="0" baseline="-10416" sz="1200" spc="89" i="1">
                <a:solidFill>
                  <a:srgbClr val="0000CC"/>
                </a:solidFill>
                <a:latin typeface="Bookman Old Style"/>
                <a:cs typeface="Bookman Old Style"/>
              </a:rPr>
              <a:t>i</a:t>
            </a:r>
            <a:r>
              <a:rPr dirty="0" baseline="-10416" sz="1200" spc="89">
                <a:solidFill>
                  <a:srgbClr val="0000CC"/>
                </a:solidFill>
                <a:latin typeface="Cambria"/>
                <a:cs typeface="Cambria"/>
              </a:rPr>
              <a:t>−</a:t>
            </a:r>
            <a:r>
              <a:rPr dirty="0" baseline="-10416" sz="1200" spc="89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sz="1100" spc="60">
                <a:solidFill>
                  <a:srgbClr val="0000CC"/>
                </a:solidFill>
                <a:latin typeface="Cambria"/>
                <a:cs typeface="Cambria"/>
              </a:rPr>
              <a:t>}</a:t>
            </a:r>
            <a:r>
              <a:rPr dirty="0" sz="1100" spc="60"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341191" y="1287364"/>
            <a:ext cx="971550" cy="120014"/>
          </a:xfrm>
          <a:custGeom>
            <a:avLst/>
            <a:gdLst/>
            <a:ahLst/>
            <a:cxnLst/>
            <a:rect l="l" t="t" r="r" b="b"/>
            <a:pathLst>
              <a:path w="971550" h="120015">
                <a:moveTo>
                  <a:pt x="0" y="1"/>
                </a:moveTo>
                <a:lnTo>
                  <a:pt x="46243" y="21753"/>
                </a:lnTo>
                <a:lnTo>
                  <a:pt x="92486" y="41330"/>
                </a:lnTo>
                <a:lnTo>
                  <a:pt x="138729" y="58732"/>
                </a:lnTo>
                <a:lnTo>
                  <a:pt x="184972" y="73959"/>
                </a:lnTo>
                <a:lnTo>
                  <a:pt x="231215" y="87010"/>
                </a:lnTo>
                <a:lnTo>
                  <a:pt x="277459" y="97887"/>
                </a:lnTo>
                <a:lnTo>
                  <a:pt x="323702" y="106588"/>
                </a:lnTo>
                <a:lnTo>
                  <a:pt x="369945" y="113113"/>
                </a:lnTo>
                <a:lnTo>
                  <a:pt x="416188" y="117464"/>
                </a:lnTo>
                <a:lnTo>
                  <a:pt x="462431" y="119639"/>
                </a:lnTo>
                <a:lnTo>
                  <a:pt x="508675" y="119639"/>
                </a:lnTo>
                <a:lnTo>
                  <a:pt x="554918" y="117464"/>
                </a:lnTo>
                <a:lnTo>
                  <a:pt x="601161" y="113113"/>
                </a:lnTo>
                <a:lnTo>
                  <a:pt x="647404" y="106588"/>
                </a:lnTo>
                <a:lnTo>
                  <a:pt x="693647" y="97887"/>
                </a:lnTo>
                <a:lnTo>
                  <a:pt x="739891" y="87010"/>
                </a:lnTo>
                <a:lnTo>
                  <a:pt x="786134" y="73959"/>
                </a:lnTo>
                <a:lnTo>
                  <a:pt x="832377" y="58732"/>
                </a:lnTo>
                <a:lnTo>
                  <a:pt x="878620" y="41330"/>
                </a:lnTo>
                <a:lnTo>
                  <a:pt x="924864" y="21753"/>
                </a:lnTo>
                <a:lnTo>
                  <a:pt x="971107" y="1"/>
                </a:lnTo>
              </a:path>
            </a:pathLst>
          </a:custGeom>
          <a:ln w="18394">
            <a:solidFill>
              <a:srgbClr val="FF2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7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80327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75"/>
              <a:t>Example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7743" y="1040879"/>
            <a:ext cx="4483735" cy="1660525"/>
            <a:chOff x="87743" y="1040879"/>
            <a:chExt cx="4483735" cy="166052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18595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599448"/>
              <a:ext cx="101600" cy="101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586748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040879"/>
              <a:ext cx="50800" cy="155856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743" y="1230223"/>
              <a:ext cx="4432935" cy="1420495"/>
            </a:xfrm>
            <a:custGeom>
              <a:avLst/>
              <a:gdLst/>
              <a:ahLst/>
              <a:cxnLst/>
              <a:rect l="l" t="t" r="r" b="b"/>
              <a:pathLst>
                <a:path w="4432935" h="1420495">
                  <a:moveTo>
                    <a:pt x="4432567" y="0"/>
                  </a:moveTo>
                  <a:lnTo>
                    <a:pt x="0" y="0"/>
                  </a:lnTo>
                  <a:lnTo>
                    <a:pt x="0" y="1369225"/>
                  </a:lnTo>
                  <a:lnTo>
                    <a:pt x="4008" y="1388949"/>
                  </a:lnTo>
                  <a:lnTo>
                    <a:pt x="14922" y="1405102"/>
                  </a:lnTo>
                  <a:lnTo>
                    <a:pt x="31075" y="1416016"/>
                  </a:lnTo>
                  <a:lnTo>
                    <a:pt x="50800" y="1420025"/>
                  </a:lnTo>
                  <a:lnTo>
                    <a:pt x="4381767" y="1420025"/>
                  </a:lnTo>
                  <a:lnTo>
                    <a:pt x="4401492" y="1416016"/>
                  </a:lnTo>
                  <a:lnTo>
                    <a:pt x="4417644" y="1405102"/>
                  </a:lnTo>
                  <a:lnTo>
                    <a:pt x="4428558" y="1388949"/>
                  </a:lnTo>
                  <a:lnTo>
                    <a:pt x="4432567" y="1369225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1078979"/>
              <a:ext cx="0" cy="1539875"/>
            </a:xfrm>
            <a:custGeom>
              <a:avLst/>
              <a:gdLst/>
              <a:ahLst/>
              <a:cxnLst/>
              <a:rect l="l" t="t" r="r" b="b"/>
              <a:pathLst>
                <a:path w="0" h="1539875">
                  <a:moveTo>
                    <a:pt x="0" y="153951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10662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10535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104087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285481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113144" y="939124"/>
            <a:ext cx="3441700" cy="118618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470"/>
              </a:spcBef>
            </a:pPr>
            <a:r>
              <a:rPr dirty="0" sz="1100">
                <a:latin typeface="Cambria"/>
                <a:cs typeface="Cambria"/>
              </a:rPr>
              <a:t>Example</a:t>
            </a:r>
            <a:r>
              <a:rPr dirty="0" sz="1100" spc="20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(Identifiers)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70"/>
              </a:spcBef>
            </a:pP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may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now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describe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204">
                <a:latin typeface="Cambria"/>
                <a:cs typeface="Cambria"/>
              </a:rPr>
              <a:t>C++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identifiers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follows.</a:t>
            </a:r>
            <a:endParaRPr sz="1100">
              <a:latin typeface="Cambria"/>
              <a:cs typeface="Cambria"/>
            </a:endParaRPr>
          </a:p>
          <a:p>
            <a:pPr marL="1267460">
              <a:lnSpc>
                <a:spcPct val="100000"/>
              </a:lnSpc>
              <a:spcBef>
                <a:spcPts val="1130"/>
              </a:spcBef>
            </a:pP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letter</a:t>
            </a:r>
            <a:r>
              <a:rPr dirty="0" sz="1100" spc="-8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55">
                <a:solidFill>
                  <a:srgbClr val="0000CC"/>
                </a:solidFill>
                <a:latin typeface="Cambria"/>
                <a:cs typeface="Cambria"/>
              </a:rPr>
              <a:t>→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85">
                <a:solidFill>
                  <a:srgbClr val="0000CC"/>
                </a:solidFill>
                <a:latin typeface="Palatino Linotype"/>
                <a:cs typeface="Palatino Linotype"/>
              </a:rPr>
              <a:t>A</a:t>
            </a:r>
            <a:r>
              <a:rPr dirty="0" sz="1100" spc="2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110">
                <a:solidFill>
                  <a:srgbClr val="0000CC"/>
                </a:solidFill>
                <a:latin typeface="Palatino Linotype"/>
                <a:cs typeface="Palatino Linotype"/>
              </a:rPr>
              <a:t>B</a:t>
            </a:r>
            <a:r>
              <a:rPr dirty="0" sz="1100" spc="2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3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175">
                <a:solidFill>
                  <a:srgbClr val="0000CC"/>
                </a:solidFill>
                <a:latin typeface="Palatino Linotype"/>
                <a:cs typeface="Palatino Linotype"/>
              </a:rPr>
              <a:t>Z</a:t>
            </a:r>
            <a:r>
              <a:rPr dirty="0" sz="1100" spc="2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3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a</a:t>
            </a:r>
            <a:r>
              <a:rPr dirty="0" sz="1100" spc="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b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3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50">
                <a:solidFill>
                  <a:srgbClr val="0000CC"/>
                </a:solidFill>
                <a:latin typeface="Palatino Linotype"/>
                <a:cs typeface="Palatino Linotype"/>
              </a:rPr>
              <a:t>z</a:t>
            </a:r>
            <a:endParaRPr sz="1100">
              <a:latin typeface="Palatino Linotype"/>
              <a:cs typeface="Palatino Linotype"/>
            </a:endParaRPr>
          </a:p>
          <a:p>
            <a:pPr marL="1318260">
              <a:lnSpc>
                <a:spcPct val="100000"/>
              </a:lnSpc>
              <a:spcBef>
                <a:spcPts val="335"/>
              </a:spcBef>
            </a:pPr>
            <a:r>
              <a:rPr dirty="0" sz="1100" spc="-10" i="1">
                <a:solidFill>
                  <a:srgbClr val="0000CC"/>
                </a:solidFill>
                <a:latin typeface="Bookman Old Style"/>
                <a:cs typeface="Bookman Old Style"/>
              </a:rPr>
              <a:t>digit</a:t>
            </a:r>
            <a:r>
              <a:rPr dirty="0" sz="1100" spc="-6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55">
                <a:solidFill>
                  <a:srgbClr val="0000CC"/>
                </a:solidFill>
                <a:latin typeface="Cambria"/>
                <a:cs typeface="Cambria"/>
              </a:rPr>
              <a:t>→</a:t>
            </a:r>
            <a:r>
              <a:rPr dirty="0" sz="11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0</a:t>
            </a:r>
            <a:r>
              <a:rPr dirty="0" sz="1100" spc="1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1</a:t>
            </a:r>
            <a:r>
              <a:rPr dirty="0" sz="1100" spc="15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5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50">
                <a:solidFill>
                  <a:srgbClr val="0000CC"/>
                </a:solidFill>
                <a:latin typeface="Palatino Linotype"/>
                <a:cs typeface="Palatino Linotype"/>
              </a:rPr>
              <a:t>9</a:t>
            </a:r>
            <a:endParaRPr sz="1100">
              <a:latin typeface="Palatino Linotype"/>
              <a:cs typeface="Palatino Linotype"/>
            </a:endParaRPr>
          </a:p>
          <a:p>
            <a:pPr marL="1487170">
              <a:lnSpc>
                <a:spcPct val="100000"/>
              </a:lnSpc>
              <a:spcBef>
                <a:spcPts val="334"/>
              </a:spcBef>
            </a:pPr>
            <a:r>
              <a:rPr dirty="0" sz="1100" spc="-20" i="1">
                <a:solidFill>
                  <a:srgbClr val="0000CC"/>
                </a:solidFill>
                <a:latin typeface="Bookman Old Style"/>
                <a:cs typeface="Bookman Old Style"/>
              </a:rPr>
              <a:t>id</a:t>
            </a:r>
            <a:r>
              <a:rPr dirty="0" sz="1100" spc="-6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55">
                <a:solidFill>
                  <a:srgbClr val="0000CC"/>
                </a:solidFill>
                <a:latin typeface="Cambria"/>
                <a:cs typeface="Cambria"/>
              </a:rPr>
              <a:t>→</a:t>
            </a:r>
            <a:r>
              <a:rPr dirty="0" sz="1100" spc="3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letter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letter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3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10" i="1">
                <a:solidFill>
                  <a:srgbClr val="0000CC"/>
                </a:solidFill>
                <a:latin typeface="Bookman Old Style"/>
                <a:cs typeface="Bookman Old Style"/>
              </a:rPr>
              <a:t>digit</a:t>
            </a:r>
            <a:r>
              <a:rPr dirty="0" sz="1100" spc="-1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baseline="31250" sz="1200" spc="-15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endParaRPr baseline="31250" sz="1200">
              <a:latin typeface="Cambria"/>
              <a:cs typeface="Cambri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009254" y="727363"/>
            <a:ext cx="601345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>
                <a:solidFill>
                  <a:srgbClr val="0433FF"/>
                </a:solidFill>
                <a:latin typeface="Georgia"/>
                <a:cs typeface="Georgia"/>
              </a:rPr>
              <a:t>102,</a:t>
            </a:r>
            <a:r>
              <a:rPr dirty="0" sz="1000" spc="15">
                <a:solidFill>
                  <a:srgbClr val="0433FF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0433FF"/>
                </a:solidFill>
                <a:latin typeface="Georgia"/>
                <a:cs typeface="Georgia"/>
              </a:rPr>
              <a:t>8889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  <p:sp>
        <p:nvSpPr>
          <p:cNvPr id="19" name="object 19" descr=""/>
          <p:cNvSpPr txBox="1"/>
          <p:nvPr/>
        </p:nvSpPr>
        <p:spPr>
          <a:xfrm>
            <a:off x="1660797" y="359698"/>
            <a:ext cx="781685" cy="1803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000">
                <a:solidFill>
                  <a:srgbClr val="0433FF"/>
                </a:solidFill>
                <a:latin typeface="Georgia"/>
                <a:cs typeface="Georgia"/>
              </a:rPr>
              <a:t>int</a:t>
            </a:r>
            <a:r>
              <a:rPr dirty="0" sz="1000" spc="15">
                <a:solidFill>
                  <a:srgbClr val="0433FF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0433FF"/>
                </a:solidFill>
                <a:latin typeface="Georgia"/>
                <a:cs typeface="Georgia"/>
              </a:rPr>
              <a:t>—&gt;</a:t>
            </a:r>
            <a:r>
              <a:rPr dirty="0" sz="1000" spc="15">
                <a:solidFill>
                  <a:srgbClr val="0433FF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0433FF"/>
                </a:solidFill>
                <a:latin typeface="Georgia"/>
                <a:cs typeface="Georgia"/>
              </a:rPr>
              <a:t>digit+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686631" y="786755"/>
            <a:ext cx="708025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b="1">
                <a:latin typeface="Book Antiqua"/>
                <a:cs typeface="Book Antiqua"/>
              </a:rPr>
              <a:t>digit</a:t>
            </a:r>
            <a:r>
              <a:rPr dirty="0" sz="1100" spc="125" b="1">
                <a:latin typeface="Book Antiqua"/>
                <a:cs typeface="Book Antiqua"/>
              </a:rPr>
              <a:t> </a:t>
            </a:r>
            <a:r>
              <a:rPr dirty="0" sz="1100" spc="-195" b="1">
                <a:latin typeface="Book Antiqua"/>
                <a:cs typeface="Book Antiqua"/>
              </a:rPr>
              <a:t>—</a:t>
            </a:r>
            <a:r>
              <a:rPr dirty="0" sz="1100" spc="-120" b="1">
                <a:latin typeface="Book Antiqua"/>
                <a:cs typeface="Book Antiqua"/>
              </a:rPr>
              <a:t>&gt;</a:t>
            </a:r>
            <a:r>
              <a:rPr dirty="0" sz="1100" spc="125" b="1">
                <a:latin typeface="Book Antiqua"/>
                <a:cs typeface="Book Antiqua"/>
              </a:rPr>
              <a:t> 1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9626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Expressions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0"/>
              <a:t>Regular</a:t>
            </a:r>
            <a:r>
              <a:rPr dirty="0" spc="215"/>
              <a:t> </a:t>
            </a:r>
            <a:r>
              <a:rPr dirty="0" spc="45"/>
              <a:t>Expressions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490472"/>
            <a:ext cx="65201" cy="65201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77532" y="1329129"/>
            <a:ext cx="4105910" cy="6858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dirty="0" sz="1100">
                <a:latin typeface="Cambria"/>
                <a:cs typeface="Cambria"/>
              </a:rPr>
              <a:t>Note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this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definition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does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not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allow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recursively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defined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tokens.</a:t>
            </a:r>
            <a:endParaRPr sz="1100">
              <a:latin typeface="Cambria"/>
              <a:cs typeface="Cambria"/>
            </a:endParaRPr>
          </a:p>
          <a:p>
            <a:pPr marL="38100" marR="386080">
              <a:lnSpc>
                <a:spcPct val="102600"/>
              </a:lnSpc>
              <a:spcBef>
                <a:spcPts val="570"/>
              </a:spcBef>
            </a:pP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other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words,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d</a:t>
            </a:r>
            <a:r>
              <a:rPr dirty="0" baseline="-10416" sz="1200" i="1">
                <a:solidFill>
                  <a:srgbClr val="0000CC"/>
                </a:solidFill>
                <a:latin typeface="Bookman Old Style"/>
                <a:cs typeface="Bookman Old Style"/>
              </a:rPr>
              <a:t>i</a:t>
            </a:r>
            <a:r>
              <a:rPr dirty="0" baseline="-10416" sz="1200" spc="187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latin typeface="Cambria"/>
                <a:cs typeface="Cambria"/>
              </a:rPr>
              <a:t>cannot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defined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terms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d</a:t>
            </a:r>
            <a:r>
              <a:rPr dirty="0" baseline="-10416" sz="1200" i="1">
                <a:solidFill>
                  <a:srgbClr val="0000CC"/>
                </a:solidFill>
                <a:latin typeface="Bookman Old Style"/>
                <a:cs typeface="Bookman Old Style"/>
              </a:rPr>
              <a:t>i</a:t>
            </a:r>
            <a:r>
              <a:rPr dirty="0" sz="1100">
                <a:latin typeface="Cambria"/>
                <a:cs typeface="Cambria"/>
              </a:rPr>
              <a:t>,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not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even </a:t>
            </a:r>
            <a:r>
              <a:rPr dirty="0" sz="1100" spc="-10">
                <a:latin typeface="Cambria"/>
                <a:cs typeface="Cambria"/>
              </a:rPr>
              <a:t>indirectly.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734540"/>
            <a:ext cx="65201" cy="65201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0" y="3333864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92" y="0"/>
                </a:moveTo>
                <a:lnTo>
                  <a:pt x="2303996" y="0"/>
                </a:lnTo>
                <a:lnTo>
                  <a:pt x="0" y="0"/>
                </a:lnTo>
                <a:lnTo>
                  <a:pt x="0" y="122186"/>
                </a:lnTo>
                <a:lnTo>
                  <a:pt x="2303996" y="122186"/>
                </a:lnTo>
                <a:lnTo>
                  <a:pt x="4607992" y="122186"/>
                </a:lnTo>
                <a:lnTo>
                  <a:pt x="4607992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552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Extensions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of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866178"/>
            <a:ext cx="155257" cy="15525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834376"/>
            <a:ext cx="1176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1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Analysis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226083"/>
            <a:ext cx="155257" cy="15525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585988"/>
            <a:ext cx="155257" cy="15525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582291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675" y="1194281"/>
            <a:ext cx="1757045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2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Alphabets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and</a:t>
            </a:r>
            <a:r>
              <a:rPr dirty="0" sz="1100" spc="145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Operations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on</a:t>
            </a:r>
            <a:r>
              <a:rPr dirty="0" sz="1100" spc="114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1945894"/>
            <a:ext cx="155257" cy="15525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1914092"/>
            <a:ext cx="1417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4</a:t>
            </a:r>
            <a:r>
              <a:rPr dirty="0" baseline="3472" sz="1200" spc="735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Regular</a:t>
            </a:r>
            <a:r>
              <a:rPr dirty="0" sz="1100" spc="13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Expressions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779" y="2305799"/>
            <a:ext cx="155257" cy="15525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779" y="2665704"/>
            <a:ext cx="155257" cy="155257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24675" y="2662007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6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4675" y="2273997"/>
            <a:ext cx="2200910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EAE5EF"/>
                </a:solidFill>
                <a:latin typeface="Comic Sans MS"/>
                <a:cs typeface="Comic Sans MS"/>
              </a:rPr>
              <a:t>5</a:t>
            </a:r>
            <a:r>
              <a:rPr dirty="0" baseline="3472" sz="1200" spc="652" b="1">
                <a:solidFill>
                  <a:srgbClr val="EAE5EF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latin typeface="Cambria"/>
                <a:cs typeface="Cambria"/>
                <a:hlinkClick r:id="rId13" action="ppaction://hlinksldjump"/>
              </a:rPr>
              <a:t>Extensions</a:t>
            </a:r>
            <a:r>
              <a:rPr dirty="0" sz="1100" spc="110"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latin typeface="Cambria"/>
                <a:cs typeface="Cambria"/>
                <a:hlinkClick r:id="rId13" action="ppaction://hlinksldjump"/>
              </a:rPr>
              <a:t>of</a:t>
            </a:r>
            <a:r>
              <a:rPr dirty="0" sz="1100" spc="110"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latin typeface="Cambria"/>
                <a:cs typeface="Cambria"/>
                <a:hlinkClick r:id="rId13" action="ppaction://hlinksldjump"/>
              </a:rPr>
              <a:t>Regular</a:t>
            </a:r>
            <a:r>
              <a:rPr dirty="0" sz="1100" spc="105"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 spc="-10">
                <a:latin typeface="Cambria"/>
                <a:cs typeface="Cambria"/>
                <a:hlinkClick r:id="rId13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4" action="ppaction://hlinksldjump"/>
              </a:rPr>
              <a:t>Assignment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552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Extensions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of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Extensions</a:t>
            </a:r>
            <a:r>
              <a:rPr dirty="0" spc="200"/>
              <a:t> </a:t>
            </a:r>
            <a:r>
              <a:rPr dirty="0"/>
              <a:t>of</a:t>
            </a:r>
            <a:r>
              <a:rPr dirty="0" spc="200"/>
              <a:t> </a:t>
            </a:r>
            <a:r>
              <a:rPr dirty="0" spc="60"/>
              <a:t>Regular</a:t>
            </a:r>
            <a:r>
              <a:rPr dirty="0" spc="200"/>
              <a:t> </a:t>
            </a:r>
            <a:r>
              <a:rPr dirty="0" spc="40"/>
              <a:t>Languages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7743" y="1257554"/>
            <a:ext cx="4483735" cy="1118870"/>
            <a:chOff x="87743" y="1257554"/>
            <a:chExt cx="4483735" cy="111887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380731"/>
              <a:ext cx="4432566" cy="5060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274443"/>
              <a:ext cx="101600" cy="101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261742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257554"/>
              <a:ext cx="50800" cy="101688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743" y="1425009"/>
              <a:ext cx="4432935" cy="900430"/>
            </a:xfrm>
            <a:custGeom>
              <a:avLst/>
              <a:gdLst/>
              <a:ahLst/>
              <a:cxnLst/>
              <a:rect l="l" t="t" r="r" b="b"/>
              <a:pathLst>
                <a:path w="4432935" h="900430">
                  <a:moveTo>
                    <a:pt x="4432567" y="0"/>
                  </a:moveTo>
                  <a:lnTo>
                    <a:pt x="0" y="0"/>
                  </a:lnTo>
                  <a:lnTo>
                    <a:pt x="0" y="849433"/>
                  </a:lnTo>
                  <a:lnTo>
                    <a:pt x="4008" y="869157"/>
                  </a:lnTo>
                  <a:lnTo>
                    <a:pt x="14922" y="885310"/>
                  </a:lnTo>
                  <a:lnTo>
                    <a:pt x="31075" y="896225"/>
                  </a:lnTo>
                  <a:lnTo>
                    <a:pt x="50800" y="900233"/>
                  </a:lnTo>
                  <a:lnTo>
                    <a:pt x="4381767" y="900233"/>
                  </a:lnTo>
                  <a:lnTo>
                    <a:pt x="4401492" y="896225"/>
                  </a:lnTo>
                  <a:lnTo>
                    <a:pt x="4417644" y="885310"/>
                  </a:lnTo>
                  <a:lnTo>
                    <a:pt x="4428558" y="869157"/>
                  </a:lnTo>
                  <a:lnTo>
                    <a:pt x="4432567" y="849433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1295655"/>
              <a:ext cx="0" cy="998219"/>
            </a:xfrm>
            <a:custGeom>
              <a:avLst/>
              <a:gdLst/>
              <a:ahLst/>
              <a:cxnLst/>
              <a:rect l="l" t="t" r="r" b="b"/>
              <a:pathLst>
                <a:path w="0" h="998219">
                  <a:moveTo>
                    <a:pt x="0" y="99783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12829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12702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125755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690293"/>
              <a:ext cx="65201" cy="6520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1934375"/>
              <a:ext cx="65201" cy="65201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165" y="2178443"/>
              <a:ext cx="65201" cy="65201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75044" y="470884"/>
            <a:ext cx="3589020" cy="1816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4825" marR="303530" indent="151765">
              <a:lnSpc>
                <a:spcPct val="106100"/>
              </a:lnSpc>
              <a:spcBef>
                <a:spcPts val="95"/>
              </a:spcBef>
            </a:pPr>
            <a:r>
              <a:rPr dirty="0" sz="1100" spc="185" b="1">
                <a:latin typeface="Book Antiqua"/>
                <a:cs typeface="Book Antiqua"/>
              </a:rPr>
              <a:t>r*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60" b="1">
                <a:latin typeface="Book Antiqua"/>
                <a:cs typeface="Book Antiqua"/>
              </a:rPr>
              <a:t>zero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70" b="1">
                <a:latin typeface="Book Antiqua"/>
                <a:cs typeface="Book Antiqua"/>
              </a:rPr>
              <a:t>or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55" b="1">
                <a:latin typeface="Book Antiqua"/>
                <a:cs typeface="Book Antiqua"/>
              </a:rPr>
              <a:t>more</a:t>
            </a:r>
            <a:r>
              <a:rPr dirty="0" sz="1100" spc="500" b="1">
                <a:latin typeface="Book Antiqua"/>
                <a:cs typeface="Book Antiqua"/>
              </a:rPr>
              <a:t> </a:t>
            </a:r>
            <a:r>
              <a:rPr dirty="0" sz="1100" b="1">
                <a:latin typeface="Book Antiqua"/>
                <a:cs typeface="Book Antiqua"/>
              </a:rPr>
              <a:t>r+</a:t>
            </a:r>
            <a:r>
              <a:rPr dirty="0" sz="1100" spc="30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30" b="1">
                <a:latin typeface="Book Antiqua"/>
                <a:cs typeface="Book Antiqua"/>
              </a:rPr>
              <a:t> </a:t>
            </a:r>
            <a:r>
              <a:rPr dirty="0" sz="1100" b="1">
                <a:latin typeface="Book Antiqua"/>
                <a:cs typeface="Book Antiqua"/>
              </a:rPr>
              <a:t>one</a:t>
            </a:r>
            <a:r>
              <a:rPr dirty="0" sz="1100" spc="30" b="1">
                <a:latin typeface="Book Antiqua"/>
                <a:cs typeface="Book Antiqua"/>
              </a:rPr>
              <a:t> </a:t>
            </a:r>
            <a:r>
              <a:rPr dirty="0" sz="1100" spc="70" b="1">
                <a:latin typeface="Book Antiqua"/>
                <a:cs typeface="Book Antiqua"/>
              </a:rPr>
              <a:t>or</a:t>
            </a:r>
            <a:r>
              <a:rPr dirty="0" sz="1100" spc="35" b="1">
                <a:latin typeface="Book Antiqua"/>
                <a:cs typeface="Book Antiqua"/>
              </a:rPr>
              <a:t> </a:t>
            </a:r>
            <a:r>
              <a:rPr dirty="0" sz="1100" spc="75" b="1">
                <a:latin typeface="Book Antiqua"/>
                <a:cs typeface="Book Antiqua"/>
              </a:rPr>
              <a:t>more</a:t>
            </a:r>
            <a:r>
              <a:rPr dirty="0" sz="1100" spc="30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30" b="1">
                <a:latin typeface="Book Antiqua"/>
                <a:cs typeface="Book Antiqua"/>
              </a:rPr>
              <a:t> </a:t>
            </a:r>
            <a:r>
              <a:rPr dirty="0" sz="1100" spc="150" b="1">
                <a:latin typeface="Book Antiqua"/>
                <a:cs typeface="Book Antiqua"/>
              </a:rPr>
              <a:t>rr*</a:t>
            </a:r>
            <a:endParaRPr sz="1100">
              <a:latin typeface="Book Antiqua"/>
              <a:cs typeface="Book Antiqua"/>
            </a:endParaRPr>
          </a:p>
          <a:p>
            <a:pPr algn="ctr" marL="1463040">
              <a:lnSpc>
                <a:spcPct val="100000"/>
              </a:lnSpc>
              <a:spcBef>
                <a:spcPts val="80"/>
              </a:spcBef>
            </a:pPr>
            <a:r>
              <a:rPr dirty="0" sz="1100" spc="165" b="1">
                <a:latin typeface="Book Antiqua"/>
                <a:cs typeface="Book Antiqua"/>
              </a:rPr>
              <a:t>r?</a:t>
            </a:r>
            <a:r>
              <a:rPr dirty="0" sz="1100" spc="-40" b="1">
                <a:latin typeface="Book Antiqua"/>
                <a:cs typeface="Book Antiqua"/>
              </a:rPr>
              <a:t> </a:t>
            </a:r>
            <a:r>
              <a:rPr dirty="0" sz="1100" b="1">
                <a:latin typeface="Book Antiqua"/>
                <a:cs typeface="Book Antiqua"/>
              </a:rPr>
              <a:t>=</a:t>
            </a:r>
            <a:r>
              <a:rPr dirty="0" sz="1100" spc="240" b="1">
                <a:latin typeface="Book Antiqua"/>
                <a:cs typeface="Book Antiqua"/>
              </a:rPr>
              <a:t> </a:t>
            </a:r>
            <a:r>
              <a:rPr dirty="0" sz="1100" spc="140" b="1">
                <a:latin typeface="Book Antiqua"/>
                <a:cs typeface="Book Antiqua"/>
              </a:rPr>
              <a:t>r</a:t>
            </a:r>
            <a:r>
              <a:rPr dirty="0" sz="1100" spc="-20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|</a:t>
            </a:r>
            <a:r>
              <a:rPr dirty="0" sz="1100" b="1">
                <a:latin typeface="Book Antiqua"/>
                <a:cs typeface="Book Antiqua"/>
              </a:rPr>
              <a:t> </a:t>
            </a:r>
            <a:r>
              <a:rPr dirty="0" sz="1100" spc="5" b="1">
                <a:latin typeface="Book Antiqua"/>
                <a:cs typeface="Book Antiqua"/>
              </a:rPr>
              <a:t>e</a:t>
            </a:r>
            <a:endParaRPr sz="1100">
              <a:latin typeface="Book Antiqua"/>
              <a:cs typeface="Book Antiqua"/>
            </a:endParaRPr>
          </a:p>
          <a:p>
            <a:pPr algn="ctr" marL="1463040">
              <a:lnSpc>
                <a:spcPct val="100000"/>
              </a:lnSpc>
              <a:spcBef>
                <a:spcPts val="80"/>
              </a:spcBef>
            </a:pPr>
            <a:r>
              <a:rPr dirty="0" sz="1100" spc="160" b="1">
                <a:latin typeface="Book Antiqua"/>
                <a:cs typeface="Book Antiqua"/>
              </a:rPr>
              <a:t>[a-</a:t>
            </a:r>
            <a:r>
              <a:rPr dirty="0" sz="1100" spc="170" b="1">
                <a:latin typeface="Book Antiqua"/>
                <a:cs typeface="Book Antiqua"/>
              </a:rPr>
              <a:t>z]</a:t>
            </a:r>
            <a:r>
              <a:rPr dirty="0" sz="1100" spc="5" b="1">
                <a:latin typeface="Book Antiqua"/>
                <a:cs typeface="Book Antiqua"/>
              </a:rPr>
              <a:t> </a:t>
            </a:r>
            <a:r>
              <a:rPr dirty="0" sz="1100" spc="-120" b="1">
                <a:latin typeface="Book Antiqua"/>
                <a:cs typeface="Book Antiqua"/>
              </a:rPr>
              <a:t>=</a:t>
            </a:r>
            <a:r>
              <a:rPr dirty="0" sz="1100" spc="10" b="1">
                <a:latin typeface="Book Antiqua"/>
                <a:cs typeface="Book Antiqua"/>
              </a:rPr>
              <a:t> </a:t>
            </a:r>
            <a:r>
              <a:rPr dirty="0" sz="1100" spc="-10" b="1">
                <a:latin typeface="Book Antiqua"/>
                <a:cs typeface="Book Antiqua"/>
              </a:rPr>
              <a:t>a|b|c|…|z</a:t>
            </a:r>
            <a:endParaRPr sz="1100">
              <a:latin typeface="Book Antiqua"/>
              <a:cs typeface="Book Antiqua"/>
            </a:endParaRPr>
          </a:p>
          <a:p>
            <a:pPr algn="ctr" marR="518795">
              <a:lnSpc>
                <a:spcPct val="100000"/>
              </a:lnSpc>
              <a:spcBef>
                <a:spcPts val="120"/>
              </a:spcBef>
              <a:tabLst>
                <a:tab pos="1990089" algn="l"/>
              </a:tabLst>
            </a:pPr>
            <a:r>
              <a:rPr dirty="0" sz="1100" spc="-10">
                <a:latin typeface="Cambria"/>
                <a:cs typeface="Cambria"/>
              </a:rPr>
              <a:t>Definition</a:t>
            </a:r>
            <a:r>
              <a:rPr dirty="0" sz="1100">
                <a:latin typeface="Cambria"/>
                <a:cs typeface="Cambria"/>
              </a:rPr>
              <a:t>	</a:t>
            </a:r>
            <a:r>
              <a:rPr dirty="0" baseline="2525" sz="1650" spc="262" b="1">
                <a:latin typeface="Book Antiqua"/>
                <a:cs typeface="Book Antiqua"/>
              </a:rPr>
              <a:t>[abc]</a:t>
            </a:r>
            <a:r>
              <a:rPr dirty="0" baseline="2525" sz="1650" b="1">
                <a:latin typeface="Book Antiqua"/>
                <a:cs typeface="Book Antiqua"/>
              </a:rPr>
              <a:t> </a:t>
            </a:r>
            <a:r>
              <a:rPr dirty="0" baseline="2525" sz="1650" spc="-179" b="1">
                <a:latin typeface="Book Antiqua"/>
                <a:cs typeface="Book Antiqua"/>
              </a:rPr>
              <a:t>=</a:t>
            </a:r>
            <a:r>
              <a:rPr dirty="0" baseline="2525" sz="1650" spc="7" b="1">
                <a:latin typeface="Book Antiqua"/>
                <a:cs typeface="Book Antiqua"/>
              </a:rPr>
              <a:t> </a:t>
            </a:r>
            <a:r>
              <a:rPr dirty="0" baseline="2525" sz="1650" spc="-15" b="1">
                <a:latin typeface="Book Antiqua"/>
                <a:cs typeface="Book Antiqua"/>
              </a:rPr>
              <a:t>a|b|c</a:t>
            </a:r>
            <a:endParaRPr baseline="2525" sz="1650">
              <a:latin typeface="Book Antiqua"/>
              <a:cs typeface="Book Antiqua"/>
            </a:endParaRPr>
          </a:p>
          <a:p>
            <a:pPr marL="63500">
              <a:lnSpc>
                <a:spcPct val="100000"/>
              </a:lnSpc>
              <a:spcBef>
                <a:spcPts val="245"/>
              </a:spcBef>
            </a:pP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add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following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symbols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our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regular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expressions.</a:t>
            </a:r>
            <a:endParaRPr sz="1100">
              <a:latin typeface="Cambria"/>
              <a:cs typeface="Cambria"/>
            </a:endParaRPr>
          </a:p>
          <a:p>
            <a:pPr marL="340360">
              <a:lnSpc>
                <a:spcPct val="100000"/>
              </a:lnSpc>
              <a:spcBef>
                <a:spcPts val="334"/>
              </a:spcBef>
            </a:pPr>
            <a:r>
              <a:rPr dirty="0" sz="1100">
                <a:latin typeface="Cambria"/>
                <a:cs typeface="Cambria"/>
              </a:rPr>
              <a:t>One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more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instances:</a:t>
            </a:r>
            <a:r>
              <a:rPr dirty="0" sz="1100" spc="190">
                <a:latin typeface="Cambria"/>
                <a:cs typeface="Cambria"/>
              </a:rPr>
              <a:t> </a:t>
            </a:r>
            <a:r>
              <a:rPr dirty="0" sz="1100" spc="10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baseline="27777" sz="1200" spc="150">
                <a:solidFill>
                  <a:srgbClr val="0000CC"/>
                </a:solidFill>
                <a:latin typeface="Garamond"/>
                <a:cs typeface="Garamond"/>
              </a:rPr>
              <a:t>+</a:t>
            </a:r>
            <a:r>
              <a:rPr dirty="0" baseline="27777" sz="1200" spc="179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55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baseline="27777" sz="1200" spc="82">
                <a:solidFill>
                  <a:srgbClr val="0000CC"/>
                </a:solidFill>
                <a:latin typeface="Cambria"/>
                <a:cs typeface="Cambria"/>
              </a:rPr>
              <a:t>∗</a:t>
            </a:r>
            <a:r>
              <a:rPr dirty="0" sz="1100" spc="55"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  <a:p>
            <a:pPr marL="340360">
              <a:lnSpc>
                <a:spcPct val="100000"/>
              </a:lnSpc>
              <a:spcBef>
                <a:spcPts val="600"/>
              </a:spcBef>
            </a:pPr>
            <a:r>
              <a:rPr dirty="0" sz="1100">
                <a:latin typeface="Cambria"/>
                <a:cs typeface="Cambria"/>
              </a:rPr>
              <a:t>Zero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one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instance:</a:t>
            </a:r>
            <a:r>
              <a:rPr dirty="0" sz="1100" spc="180">
                <a:latin typeface="Cambria"/>
                <a:cs typeface="Cambria"/>
              </a:rPr>
              <a:t> </a:t>
            </a: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 spc="50">
                <a:solidFill>
                  <a:srgbClr val="0000CC"/>
                </a:solidFill>
                <a:latin typeface="Book Antiqua"/>
                <a:cs typeface="Book Antiqua"/>
              </a:rPr>
              <a:t>?</a:t>
            </a:r>
            <a:r>
              <a:rPr dirty="0" sz="1100" spc="-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 spc="-1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50" i="1">
                <a:solidFill>
                  <a:srgbClr val="0000CC"/>
                </a:solidFill>
                <a:latin typeface="Bookman Old Style"/>
                <a:cs typeface="Bookman Old Style"/>
              </a:rPr>
              <a:t>r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3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ε</a:t>
            </a:r>
            <a:r>
              <a:rPr dirty="0" sz="1100" spc="-25"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  <a:p>
            <a:pPr marL="340360">
              <a:lnSpc>
                <a:spcPct val="100000"/>
              </a:lnSpc>
              <a:spcBef>
                <a:spcPts val="600"/>
              </a:spcBef>
            </a:pPr>
            <a:r>
              <a:rPr dirty="0" sz="1100">
                <a:latin typeface="Cambria"/>
                <a:cs typeface="Cambria"/>
              </a:rPr>
              <a:t>Character</a:t>
            </a:r>
            <a:r>
              <a:rPr dirty="0" sz="1100" spc="2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class:</a:t>
            </a:r>
            <a:r>
              <a:rPr dirty="0" sz="1100" spc="195">
                <a:latin typeface="Cambria"/>
                <a:cs typeface="Cambria"/>
              </a:rPr>
              <a:t> 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[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baseline="-10416" sz="1200" spc="-37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baseline="-10416" sz="1200" spc="-37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baseline="-10416" sz="1200" spc="15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baseline="-10416" sz="1200" spc="-30" i="1">
                <a:solidFill>
                  <a:srgbClr val="0000CC"/>
                </a:solidFill>
                <a:latin typeface="Bookman Old Style"/>
                <a:cs typeface="Bookman Old Style"/>
              </a:rPr>
              <a:t>n</a:t>
            </a:r>
            <a:r>
              <a:rPr dirty="0" sz="1100" spc="-20">
                <a:solidFill>
                  <a:srgbClr val="0000CC"/>
                </a:solidFill>
                <a:latin typeface="Book Antiqua"/>
                <a:cs typeface="Book Antiqua"/>
              </a:rPr>
              <a:t>]</a:t>
            </a:r>
            <a:r>
              <a:rPr dirty="0" sz="1100" spc="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175">
                <a:solidFill>
                  <a:srgbClr val="0000CC"/>
                </a:solidFill>
                <a:latin typeface="Book Antiqua"/>
                <a:cs typeface="Book Antiqua"/>
              </a:rPr>
              <a:t>=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baseline="-10416" sz="1200">
                <a:solidFill>
                  <a:srgbClr val="0000CC"/>
                </a:solidFill>
                <a:latin typeface="Garamond"/>
                <a:cs typeface="Garamond"/>
              </a:rPr>
              <a:t>1</a:t>
            </a:r>
            <a:r>
              <a:rPr dirty="0" baseline="-10416" sz="1200" spc="187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3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baseline="-10416" sz="1200">
                <a:solidFill>
                  <a:srgbClr val="0000CC"/>
                </a:solidFill>
                <a:latin typeface="Garamond"/>
                <a:cs typeface="Garamond"/>
              </a:rPr>
              <a:t>2</a:t>
            </a:r>
            <a:r>
              <a:rPr dirty="0" baseline="-10416" sz="1200" spc="187">
                <a:solidFill>
                  <a:srgbClr val="0000CC"/>
                </a:solidFill>
                <a:latin typeface="Garamond"/>
                <a:cs typeface="Garamond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3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-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·</a:t>
            </a:r>
            <a:r>
              <a:rPr dirty="0" sz="1100" spc="4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Cambria"/>
                <a:cs typeface="Cambria"/>
              </a:rPr>
              <a:t>|</a:t>
            </a:r>
            <a:r>
              <a:rPr dirty="0" sz="1100" spc="3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a</a:t>
            </a:r>
            <a:r>
              <a:rPr dirty="0" baseline="-10416" sz="1200" spc="-37" i="1">
                <a:solidFill>
                  <a:srgbClr val="0000CC"/>
                </a:solidFill>
                <a:latin typeface="Bookman Old Style"/>
                <a:cs typeface="Bookman Old Style"/>
              </a:rPr>
              <a:t>n</a:t>
            </a:r>
            <a:r>
              <a:rPr dirty="0" sz="1100" spc="-25">
                <a:latin typeface="Cambria"/>
                <a:cs typeface="Cambria"/>
              </a:rPr>
              <a:t>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0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552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Extensions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of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Extensions</a:t>
            </a:r>
            <a:r>
              <a:rPr dirty="0" spc="200"/>
              <a:t> </a:t>
            </a:r>
            <a:r>
              <a:rPr dirty="0"/>
              <a:t>of</a:t>
            </a:r>
            <a:r>
              <a:rPr dirty="0" spc="200"/>
              <a:t> </a:t>
            </a:r>
            <a:r>
              <a:rPr dirty="0" spc="60"/>
              <a:t>Regular</a:t>
            </a:r>
            <a:r>
              <a:rPr dirty="0" spc="200"/>
              <a:t> </a:t>
            </a:r>
            <a:r>
              <a:rPr dirty="0" spc="40"/>
              <a:t>Languages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87743" y="1124889"/>
            <a:ext cx="4483735" cy="1450340"/>
            <a:chOff x="87743" y="1124889"/>
            <a:chExt cx="4483735" cy="145034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269974"/>
              <a:ext cx="4432566" cy="5060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47342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460726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124889"/>
              <a:ext cx="50800" cy="134853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743" y="1314235"/>
              <a:ext cx="4432935" cy="1210310"/>
            </a:xfrm>
            <a:custGeom>
              <a:avLst/>
              <a:gdLst/>
              <a:ahLst/>
              <a:cxnLst/>
              <a:rect l="l" t="t" r="r" b="b"/>
              <a:pathLst>
                <a:path w="4432935" h="1210310">
                  <a:moveTo>
                    <a:pt x="4432567" y="0"/>
                  </a:moveTo>
                  <a:lnTo>
                    <a:pt x="0" y="0"/>
                  </a:lnTo>
                  <a:lnTo>
                    <a:pt x="0" y="1159191"/>
                  </a:lnTo>
                  <a:lnTo>
                    <a:pt x="4008" y="1178915"/>
                  </a:lnTo>
                  <a:lnTo>
                    <a:pt x="14922" y="1195068"/>
                  </a:lnTo>
                  <a:lnTo>
                    <a:pt x="31075" y="1205983"/>
                  </a:lnTo>
                  <a:lnTo>
                    <a:pt x="50800" y="1209991"/>
                  </a:lnTo>
                  <a:lnTo>
                    <a:pt x="4381767" y="1209991"/>
                  </a:lnTo>
                  <a:lnTo>
                    <a:pt x="4401492" y="1205983"/>
                  </a:lnTo>
                  <a:lnTo>
                    <a:pt x="4417644" y="1195068"/>
                  </a:lnTo>
                  <a:lnTo>
                    <a:pt x="4428558" y="1178915"/>
                  </a:lnTo>
                  <a:lnTo>
                    <a:pt x="4432567" y="115919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1162989"/>
              <a:ext cx="0" cy="1329690"/>
            </a:xfrm>
            <a:custGeom>
              <a:avLst/>
              <a:gdLst/>
              <a:ahLst/>
              <a:cxnLst/>
              <a:rect l="l" t="t" r="r" b="b"/>
              <a:pathLst>
                <a:path w="0" h="1329689">
                  <a:moveTo>
                    <a:pt x="0" y="132948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11502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11375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11248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369504"/>
              <a:ext cx="65201" cy="65201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355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/>
              <a:t>Example</a:t>
            </a:r>
            <a:r>
              <a:rPr dirty="0" spc="200"/>
              <a:t> </a:t>
            </a:r>
            <a:r>
              <a:rPr dirty="0" spc="-10"/>
              <a:t>(Identifiers)</a:t>
            </a:r>
          </a:p>
          <a:p>
            <a:pPr marL="289560">
              <a:lnSpc>
                <a:spcPct val="100000"/>
              </a:lnSpc>
              <a:spcBef>
                <a:spcPts val="370"/>
              </a:spcBef>
            </a:pPr>
            <a:r>
              <a:rPr dirty="0" spc="-10"/>
              <a:t>Identifiers</a:t>
            </a:r>
            <a:r>
              <a:rPr dirty="0" spc="65"/>
              <a:t> </a:t>
            </a:r>
            <a:r>
              <a:rPr dirty="0"/>
              <a:t>can</a:t>
            </a:r>
            <a:r>
              <a:rPr dirty="0" spc="70"/>
              <a:t> </a:t>
            </a:r>
            <a:r>
              <a:rPr dirty="0"/>
              <a:t>be</a:t>
            </a:r>
            <a:r>
              <a:rPr dirty="0" spc="70"/>
              <a:t> </a:t>
            </a:r>
            <a:r>
              <a:rPr dirty="0" spc="-10"/>
              <a:t>described</a:t>
            </a:r>
            <a:r>
              <a:rPr dirty="0" spc="70"/>
              <a:t> </a:t>
            </a:r>
            <a:r>
              <a:rPr dirty="0" spc="-25"/>
              <a:t>as</a:t>
            </a:r>
          </a:p>
          <a:p>
            <a:pPr marL="1394460">
              <a:lnSpc>
                <a:spcPct val="100000"/>
              </a:lnSpc>
              <a:spcBef>
                <a:spcPts val="1130"/>
              </a:spcBef>
            </a:pPr>
            <a:r>
              <a:rPr dirty="0" i="1">
                <a:solidFill>
                  <a:srgbClr val="0000CC"/>
                </a:solidFill>
                <a:latin typeface="Bookman Old Style"/>
                <a:cs typeface="Bookman Old Style"/>
              </a:rPr>
              <a:t>letter</a:t>
            </a:r>
            <a:r>
              <a:rPr dirty="0" spc="-1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pc="155">
                <a:solidFill>
                  <a:srgbClr val="0000CC"/>
                </a:solidFill>
              </a:rPr>
              <a:t>→</a:t>
            </a:r>
            <a:r>
              <a:rPr dirty="0" spc="45">
                <a:solidFill>
                  <a:srgbClr val="0000CC"/>
                </a:solidFill>
              </a:rPr>
              <a:t> </a:t>
            </a:r>
            <a:r>
              <a:rPr dirty="0" spc="-30">
                <a:solidFill>
                  <a:srgbClr val="0000CC"/>
                </a:solidFill>
                <a:latin typeface="Book Antiqua"/>
                <a:cs typeface="Book Antiqua"/>
              </a:rPr>
              <a:t>[</a:t>
            </a:r>
            <a:r>
              <a:rPr dirty="0" spc="-30">
                <a:solidFill>
                  <a:srgbClr val="0000CC"/>
                </a:solidFill>
                <a:latin typeface="Palatino Linotype"/>
                <a:cs typeface="Palatino Linotype"/>
              </a:rPr>
              <a:t>A-</a:t>
            </a:r>
            <a:r>
              <a:rPr dirty="0">
                <a:solidFill>
                  <a:srgbClr val="0000CC"/>
                </a:solidFill>
                <a:latin typeface="Palatino Linotype"/>
                <a:cs typeface="Palatino Linotype"/>
              </a:rPr>
              <a:t>Za-</a:t>
            </a:r>
            <a:r>
              <a:rPr dirty="0" spc="-25">
                <a:solidFill>
                  <a:srgbClr val="0000CC"/>
                </a:solidFill>
                <a:latin typeface="Palatino Linotype"/>
                <a:cs typeface="Palatino Linotype"/>
              </a:rPr>
              <a:t>z</a:t>
            </a:r>
            <a:r>
              <a:rPr dirty="0" spc="-25">
                <a:solidFill>
                  <a:srgbClr val="0000CC"/>
                </a:solidFill>
                <a:latin typeface="Book Antiqua"/>
                <a:cs typeface="Book Antiqua"/>
              </a:rPr>
              <a:t>]</a:t>
            </a:r>
          </a:p>
          <a:p>
            <a:pPr marL="1445260">
              <a:lnSpc>
                <a:spcPct val="100000"/>
              </a:lnSpc>
              <a:spcBef>
                <a:spcPts val="335"/>
              </a:spcBef>
            </a:pPr>
            <a:r>
              <a:rPr dirty="0" spc="-10" i="1">
                <a:solidFill>
                  <a:srgbClr val="0000CC"/>
                </a:solidFill>
                <a:latin typeface="Bookman Old Style"/>
                <a:cs typeface="Bookman Old Style"/>
              </a:rPr>
              <a:t>digit</a:t>
            </a:r>
            <a:r>
              <a:rPr dirty="0" spc="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pc="155">
                <a:solidFill>
                  <a:srgbClr val="0000CC"/>
                </a:solidFill>
              </a:rPr>
              <a:t>→</a:t>
            </a:r>
            <a:r>
              <a:rPr dirty="0" spc="100">
                <a:solidFill>
                  <a:srgbClr val="0000CC"/>
                </a:solidFill>
              </a:rPr>
              <a:t> </a:t>
            </a:r>
            <a:r>
              <a:rPr dirty="0">
                <a:solidFill>
                  <a:srgbClr val="0000CC"/>
                </a:solidFill>
                <a:latin typeface="Book Antiqua"/>
                <a:cs typeface="Book Antiqua"/>
              </a:rPr>
              <a:t>[</a:t>
            </a:r>
            <a:r>
              <a:rPr dirty="0">
                <a:solidFill>
                  <a:srgbClr val="0000CC"/>
                </a:solidFill>
                <a:latin typeface="Palatino Linotype"/>
                <a:cs typeface="Palatino Linotype"/>
              </a:rPr>
              <a:t>0-</a:t>
            </a:r>
            <a:r>
              <a:rPr dirty="0" spc="-25">
                <a:solidFill>
                  <a:srgbClr val="0000CC"/>
                </a:solidFill>
                <a:latin typeface="Palatino Linotype"/>
                <a:cs typeface="Palatino Linotype"/>
              </a:rPr>
              <a:t>9</a:t>
            </a:r>
            <a:r>
              <a:rPr dirty="0" spc="-25">
                <a:solidFill>
                  <a:srgbClr val="0000CC"/>
                </a:solidFill>
                <a:latin typeface="Book Antiqua"/>
                <a:cs typeface="Book Antiqua"/>
              </a:rPr>
              <a:t>]</a:t>
            </a:r>
          </a:p>
          <a:p>
            <a:pPr marL="1613535">
              <a:lnSpc>
                <a:spcPct val="100000"/>
              </a:lnSpc>
              <a:spcBef>
                <a:spcPts val="334"/>
              </a:spcBef>
            </a:pPr>
            <a:r>
              <a:rPr dirty="0" spc="-20" i="1">
                <a:solidFill>
                  <a:srgbClr val="0000CC"/>
                </a:solidFill>
                <a:latin typeface="Bookman Old Style"/>
                <a:cs typeface="Bookman Old Style"/>
              </a:rPr>
              <a:t>id</a:t>
            </a:r>
            <a:r>
              <a:rPr dirty="0" spc="-6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pc="155">
                <a:solidFill>
                  <a:srgbClr val="0000CC"/>
                </a:solidFill>
              </a:rPr>
              <a:t>→</a:t>
            </a:r>
            <a:r>
              <a:rPr dirty="0" spc="30">
                <a:solidFill>
                  <a:srgbClr val="0000CC"/>
                </a:solidFill>
              </a:rPr>
              <a:t> </a:t>
            </a:r>
            <a:r>
              <a:rPr dirty="0" i="1">
                <a:solidFill>
                  <a:srgbClr val="0000CC"/>
                </a:solidFill>
                <a:latin typeface="Bookman Old Style"/>
                <a:cs typeface="Bookman Old Style"/>
              </a:rPr>
              <a:t>letter</a:t>
            </a:r>
            <a:r>
              <a:rPr dirty="0" spc="-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i="1">
                <a:solidFill>
                  <a:srgbClr val="0000CC"/>
                </a:solidFill>
                <a:latin typeface="Bookman Old Style"/>
                <a:cs typeface="Bookman Old Style"/>
              </a:rPr>
              <a:t>letter</a:t>
            </a:r>
            <a:r>
              <a:rPr dirty="0" spc="-2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>
                <a:solidFill>
                  <a:srgbClr val="0000CC"/>
                </a:solidFill>
              </a:rPr>
              <a:t>|</a:t>
            </a:r>
            <a:r>
              <a:rPr dirty="0" spc="30">
                <a:solidFill>
                  <a:srgbClr val="0000CC"/>
                </a:solidFill>
              </a:rPr>
              <a:t> </a:t>
            </a:r>
            <a:r>
              <a:rPr dirty="0" spc="-10" i="1">
                <a:solidFill>
                  <a:srgbClr val="0000CC"/>
                </a:solidFill>
                <a:latin typeface="Bookman Old Style"/>
                <a:cs typeface="Bookman Old Style"/>
              </a:rPr>
              <a:t>digit</a:t>
            </a:r>
            <a:r>
              <a:rPr dirty="0" spc="-10">
                <a:solidFill>
                  <a:srgbClr val="0000CC"/>
                </a:solidFill>
                <a:latin typeface="Book Antiqua"/>
                <a:cs typeface="Book Antiqua"/>
              </a:rPr>
              <a:t>)</a:t>
            </a:r>
            <a:r>
              <a:rPr dirty="0" baseline="31250" sz="1200" spc="-15">
                <a:solidFill>
                  <a:srgbClr val="0000CC"/>
                </a:solidFill>
              </a:rPr>
              <a:t>∗</a:t>
            </a:r>
            <a:endParaRPr baseline="31250" sz="120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15525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Extensions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of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55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Regular</a:t>
            </a:r>
            <a:r>
              <a:rPr dirty="0" sz="600" spc="18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Languages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91"/>
            <a:ext cx="299402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65"/>
              <a:t>Extensions</a:t>
            </a:r>
            <a:r>
              <a:rPr dirty="0" spc="200"/>
              <a:t> </a:t>
            </a:r>
            <a:r>
              <a:rPr dirty="0"/>
              <a:t>of</a:t>
            </a:r>
            <a:r>
              <a:rPr dirty="0" spc="200"/>
              <a:t> </a:t>
            </a:r>
            <a:r>
              <a:rPr dirty="0" spc="60"/>
              <a:t>Regular</a:t>
            </a:r>
            <a:r>
              <a:rPr dirty="0" spc="200"/>
              <a:t> </a:t>
            </a:r>
            <a:r>
              <a:rPr dirty="0" spc="40"/>
              <a:t>Languages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125844" y="1072043"/>
            <a:ext cx="21666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mbria"/>
                <a:cs typeface="Cambria"/>
              </a:rPr>
              <a:t>Example</a:t>
            </a:r>
            <a:r>
              <a:rPr dirty="0" sz="1100" spc="21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(Floating-point</a:t>
            </a:r>
            <a:r>
              <a:rPr dirty="0" sz="1100" spc="21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Numbers)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7743" y="1125499"/>
            <a:ext cx="4483735" cy="1449070"/>
            <a:chOff x="87743" y="1125499"/>
            <a:chExt cx="4483735" cy="144907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270584"/>
              <a:ext cx="4432566" cy="5060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2472512"/>
              <a:ext cx="101600" cy="1016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2459812"/>
              <a:ext cx="4381767" cy="11430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125499"/>
              <a:ext cx="50800" cy="1347012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7743" y="1314845"/>
              <a:ext cx="4432935" cy="1209040"/>
            </a:xfrm>
            <a:custGeom>
              <a:avLst/>
              <a:gdLst/>
              <a:ahLst/>
              <a:cxnLst/>
              <a:rect l="l" t="t" r="r" b="b"/>
              <a:pathLst>
                <a:path w="4432935" h="1209039">
                  <a:moveTo>
                    <a:pt x="4432567" y="0"/>
                  </a:moveTo>
                  <a:lnTo>
                    <a:pt x="0" y="0"/>
                  </a:lnTo>
                  <a:lnTo>
                    <a:pt x="0" y="1157667"/>
                  </a:lnTo>
                  <a:lnTo>
                    <a:pt x="4008" y="1177391"/>
                  </a:lnTo>
                  <a:lnTo>
                    <a:pt x="14922" y="1193544"/>
                  </a:lnTo>
                  <a:lnTo>
                    <a:pt x="31075" y="1204459"/>
                  </a:lnTo>
                  <a:lnTo>
                    <a:pt x="50800" y="1208467"/>
                  </a:lnTo>
                  <a:lnTo>
                    <a:pt x="4381767" y="1208467"/>
                  </a:lnTo>
                  <a:lnTo>
                    <a:pt x="4401492" y="1204459"/>
                  </a:lnTo>
                  <a:lnTo>
                    <a:pt x="4417644" y="1193544"/>
                  </a:lnTo>
                  <a:lnTo>
                    <a:pt x="4428558" y="1177391"/>
                  </a:lnTo>
                  <a:lnTo>
                    <a:pt x="4432567" y="115766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1163599"/>
              <a:ext cx="0" cy="1328420"/>
            </a:xfrm>
            <a:custGeom>
              <a:avLst/>
              <a:gdLst/>
              <a:ahLst/>
              <a:cxnLst/>
              <a:rect l="l" t="t" r="r" b="b"/>
              <a:pathLst>
                <a:path w="0" h="1328420">
                  <a:moveTo>
                    <a:pt x="0" y="132796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11508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11381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520311" y="11254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368590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364832" y="1285073"/>
            <a:ext cx="3447415" cy="923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mbria"/>
                <a:cs typeface="Cambria"/>
              </a:rPr>
              <a:t>Floating-point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numbers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can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described</a:t>
            </a:r>
            <a:r>
              <a:rPr dirty="0" sz="1100" spc="9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as</a:t>
            </a:r>
            <a:endParaRPr sz="1100">
              <a:latin typeface="Cambria"/>
              <a:cs typeface="Cambria"/>
            </a:endParaRPr>
          </a:p>
          <a:p>
            <a:pPr marL="918844">
              <a:lnSpc>
                <a:spcPct val="100000"/>
              </a:lnSpc>
              <a:spcBef>
                <a:spcPts val="1130"/>
              </a:spcBef>
            </a:pPr>
            <a:r>
              <a:rPr dirty="0" sz="1100" spc="-10" i="1">
                <a:solidFill>
                  <a:srgbClr val="0000CC"/>
                </a:solidFill>
                <a:latin typeface="Bookman Old Style"/>
                <a:cs typeface="Bookman Old Style"/>
              </a:rPr>
              <a:t>digit</a:t>
            </a:r>
            <a:r>
              <a:rPr dirty="0" sz="1100" spc="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55">
                <a:solidFill>
                  <a:srgbClr val="0000CC"/>
                </a:solidFill>
                <a:latin typeface="Cambria"/>
                <a:cs typeface="Cambria"/>
              </a:rPr>
              <a:t>→</a:t>
            </a:r>
            <a:r>
              <a:rPr dirty="0" sz="1100" spc="10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[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0-</a:t>
            </a:r>
            <a:r>
              <a:rPr dirty="0" sz="1100" spc="-25">
                <a:solidFill>
                  <a:srgbClr val="0000CC"/>
                </a:solidFill>
                <a:latin typeface="Palatino Linotype"/>
                <a:cs typeface="Palatino Linotype"/>
              </a:rPr>
              <a:t>9</a:t>
            </a:r>
            <a:r>
              <a:rPr dirty="0" sz="1100" spc="-25">
                <a:solidFill>
                  <a:srgbClr val="0000CC"/>
                </a:solidFill>
                <a:latin typeface="Book Antiqua"/>
                <a:cs typeface="Book Antiqua"/>
              </a:rPr>
              <a:t>]</a:t>
            </a:r>
            <a:endParaRPr sz="1100">
              <a:latin typeface="Book Antiqua"/>
              <a:cs typeface="Book Antiqua"/>
            </a:endParaRPr>
          </a:p>
          <a:p>
            <a:pPr marL="854075">
              <a:lnSpc>
                <a:spcPct val="100000"/>
              </a:lnSpc>
              <a:spcBef>
                <a:spcPts val="335"/>
              </a:spcBef>
            </a:pP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digits</a:t>
            </a:r>
            <a:r>
              <a:rPr dirty="0" sz="1100" spc="-3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55">
                <a:solidFill>
                  <a:srgbClr val="0000CC"/>
                </a:solidFill>
                <a:latin typeface="Cambria"/>
                <a:cs typeface="Cambria"/>
              </a:rPr>
              <a:t>→</a:t>
            </a:r>
            <a:r>
              <a:rPr dirty="0" sz="1100" spc="60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10" i="1">
                <a:solidFill>
                  <a:srgbClr val="0000CC"/>
                </a:solidFill>
                <a:latin typeface="Bookman Old Style"/>
                <a:cs typeface="Bookman Old Style"/>
              </a:rPr>
              <a:t>digit</a:t>
            </a:r>
            <a:r>
              <a:rPr dirty="0" baseline="31250" sz="1200" spc="-15">
                <a:solidFill>
                  <a:srgbClr val="0000CC"/>
                </a:solidFill>
                <a:latin typeface="Garamond"/>
                <a:cs typeface="Garamond"/>
              </a:rPr>
              <a:t>+</a:t>
            </a:r>
            <a:endParaRPr baseline="31250" sz="1200">
              <a:latin typeface="Garamond"/>
              <a:cs typeface="Garamond"/>
            </a:endParaRPr>
          </a:p>
          <a:p>
            <a:pPr marL="732790">
              <a:lnSpc>
                <a:spcPct val="100000"/>
              </a:lnSpc>
              <a:spcBef>
                <a:spcPts val="334"/>
              </a:spcBef>
            </a:pPr>
            <a:r>
              <a:rPr dirty="0" sz="1100" spc="-65" i="1">
                <a:solidFill>
                  <a:srgbClr val="0000CC"/>
                </a:solidFill>
                <a:latin typeface="Bookman Old Style"/>
                <a:cs typeface="Bookman Old Style"/>
              </a:rPr>
              <a:t>number</a:t>
            </a:r>
            <a:r>
              <a:rPr dirty="0" sz="1100" spc="-1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spc="155">
                <a:solidFill>
                  <a:srgbClr val="0000CC"/>
                </a:solidFill>
                <a:latin typeface="Cambria"/>
                <a:cs typeface="Cambria"/>
              </a:rPr>
              <a:t>→</a:t>
            </a:r>
            <a:r>
              <a:rPr dirty="0" sz="1100" spc="45">
                <a:solidFill>
                  <a:srgbClr val="0000CC"/>
                </a:solidFill>
                <a:latin typeface="Cambria"/>
                <a:cs typeface="Cambria"/>
              </a:rPr>
              <a:t> </a:t>
            </a:r>
            <a:r>
              <a:rPr dirty="0" sz="1100" spc="-25" i="1">
                <a:solidFill>
                  <a:srgbClr val="0000CC"/>
                </a:solidFill>
                <a:latin typeface="Bookman Old Style"/>
                <a:cs typeface="Bookman Old Style"/>
              </a:rPr>
              <a:t>digits</a:t>
            </a:r>
            <a:r>
              <a:rPr dirty="0" sz="1100" spc="-40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.</a:t>
            </a:r>
            <a:r>
              <a:rPr dirty="0" sz="1100" spc="-45" i="1">
                <a:solidFill>
                  <a:srgbClr val="0000CC"/>
                </a:solidFill>
                <a:latin typeface="Bookman Old Style"/>
                <a:cs typeface="Bookman Old Style"/>
              </a:rPr>
              <a:t> </a:t>
            </a:r>
            <a:r>
              <a:rPr dirty="0" sz="1100" i="1">
                <a:solidFill>
                  <a:srgbClr val="0000CC"/>
                </a:solidFill>
                <a:latin typeface="Bookman Old Style"/>
                <a:cs typeface="Bookman Old Style"/>
              </a:rPr>
              <a:t>digits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)?</a:t>
            </a:r>
            <a:r>
              <a:rPr dirty="0" sz="1100" spc="1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(</a:t>
            </a:r>
            <a:r>
              <a:rPr dirty="0" sz="1100">
                <a:solidFill>
                  <a:srgbClr val="0000CC"/>
                </a:solidFill>
                <a:latin typeface="Palatino Linotype"/>
                <a:cs typeface="Palatino Linotype"/>
              </a:rPr>
              <a:t>E</a:t>
            </a:r>
            <a:r>
              <a:rPr dirty="0" sz="1100" spc="10">
                <a:solidFill>
                  <a:srgbClr val="0000CC"/>
                </a:solidFill>
                <a:latin typeface="Palatino Linotype"/>
                <a:cs typeface="Palatino Linotype"/>
              </a:rPr>
              <a:t> </a:t>
            </a:r>
            <a:r>
              <a:rPr dirty="0" sz="1100" spc="50">
                <a:solidFill>
                  <a:srgbClr val="0000CC"/>
                </a:solidFill>
                <a:latin typeface="Book Antiqua"/>
                <a:cs typeface="Book Antiqua"/>
              </a:rPr>
              <a:t>[</a:t>
            </a:r>
            <a:r>
              <a:rPr dirty="0" sz="1100" spc="50">
                <a:solidFill>
                  <a:srgbClr val="0000CC"/>
                </a:solidFill>
                <a:latin typeface="Palatino Linotype"/>
                <a:cs typeface="Palatino Linotype"/>
              </a:rPr>
              <a:t>+-</a:t>
            </a:r>
            <a:r>
              <a:rPr dirty="0" sz="1100">
                <a:solidFill>
                  <a:srgbClr val="0000CC"/>
                </a:solidFill>
                <a:latin typeface="Book Antiqua"/>
                <a:cs typeface="Book Antiqua"/>
              </a:rPr>
              <a:t>]?</a:t>
            </a:r>
            <a:r>
              <a:rPr dirty="0" sz="1100" spc="15">
                <a:solidFill>
                  <a:srgbClr val="0000CC"/>
                </a:solidFill>
                <a:latin typeface="Book Antiqua"/>
                <a:cs typeface="Book Antiqua"/>
              </a:rPr>
              <a:t> </a:t>
            </a:r>
            <a:r>
              <a:rPr dirty="0" sz="1100" spc="-10" i="1">
                <a:solidFill>
                  <a:srgbClr val="0000CC"/>
                </a:solidFill>
                <a:latin typeface="Bookman Old Style"/>
                <a:cs typeface="Bookman Old Style"/>
              </a:rPr>
              <a:t>digits</a:t>
            </a:r>
            <a:r>
              <a:rPr dirty="0" sz="1100" spc="-10">
                <a:solidFill>
                  <a:srgbClr val="0000CC"/>
                </a:solidFill>
                <a:latin typeface="Book Antiqua"/>
                <a:cs typeface="Book Antiqua"/>
              </a:rPr>
              <a:t>)?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087932" y="239820"/>
            <a:ext cx="1026794" cy="91440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1100" spc="140" b="1">
                <a:latin typeface="Book Antiqua"/>
                <a:cs typeface="Book Antiqua"/>
              </a:rPr>
              <a:t>100.899</a:t>
            </a:r>
            <a:endParaRPr sz="11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100" spc="140" b="1">
                <a:latin typeface="Book Antiqua"/>
                <a:cs typeface="Book Antiqua"/>
              </a:rPr>
              <a:t>123.34EE10</a:t>
            </a:r>
            <a:endParaRPr sz="11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80"/>
              </a:spcBef>
            </a:pPr>
            <a:r>
              <a:rPr dirty="0" sz="1100" spc="130" b="1">
                <a:latin typeface="Book Antiqua"/>
                <a:cs typeface="Book Antiqua"/>
              </a:rPr>
              <a:t>0.123</a:t>
            </a:r>
            <a:endParaRPr sz="1100">
              <a:latin typeface="Book Antiqua"/>
              <a:cs typeface="Book Antiqua"/>
            </a:endParaRPr>
          </a:p>
          <a:p>
            <a:pPr algn="ctr" marL="12700" marR="5080">
              <a:lnSpc>
                <a:spcPct val="106100"/>
              </a:lnSpc>
            </a:pPr>
            <a:r>
              <a:rPr dirty="0" sz="1100" b="1">
                <a:latin typeface="Book Antiqua"/>
                <a:cs typeface="Book Antiqua"/>
              </a:rPr>
              <a:t>digit</a:t>
            </a:r>
            <a:r>
              <a:rPr dirty="0" sz="1100" spc="130" b="1">
                <a:latin typeface="Book Antiqua"/>
                <a:cs typeface="Book Antiqua"/>
              </a:rPr>
              <a:t> </a:t>
            </a:r>
            <a:r>
              <a:rPr dirty="0" sz="1100" spc="-195" b="1">
                <a:latin typeface="Book Antiqua"/>
                <a:cs typeface="Book Antiqua"/>
              </a:rPr>
              <a:t>—</a:t>
            </a:r>
            <a:r>
              <a:rPr dirty="0" sz="1100" spc="-120" b="1">
                <a:latin typeface="Book Antiqua"/>
                <a:cs typeface="Book Antiqua"/>
              </a:rPr>
              <a:t>&gt;</a:t>
            </a:r>
            <a:r>
              <a:rPr dirty="0" sz="1100" spc="135" b="1">
                <a:latin typeface="Book Antiqua"/>
                <a:cs typeface="Book Antiqua"/>
              </a:rPr>
              <a:t> </a:t>
            </a:r>
            <a:r>
              <a:rPr dirty="0" sz="1100" spc="195" b="1">
                <a:latin typeface="Book Antiqua"/>
                <a:cs typeface="Book Antiqua"/>
              </a:rPr>
              <a:t>[0-</a:t>
            </a:r>
            <a:r>
              <a:rPr dirty="0" sz="1100" spc="185" b="1">
                <a:latin typeface="Book Antiqua"/>
                <a:cs typeface="Book Antiqua"/>
              </a:rPr>
              <a:t>9] </a:t>
            </a:r>
            <a:r>
              <a:rPr dirty="0" sz="1100" spc="70" b="1">
                <a:latin typeface="Book Antiqua"/>
                <a:cs typeface="Book Antiqua"/>
              </a:rPr>
              <a:t>int</a:t>
            </a:r>
            <a:r>
              <a:rPr dirty="0" sz="1100" spc="20" b="1">
                <a:latin typeface="Book Antiqua"/>
                <a:cs typeface="Book Antiqua"/>
              </a:rPr>
              <a:t> </a:t>
            </a:r>
            <a:r>
              <a:rPr dirty="0" sz="1100" spc="-50" b="1">
                <a:latin typeface="Book Antiqua"/>
                <a:cs typeface="Book Antiqua"/>
              </a:rPr>
              <a:t>—</a:t>
            </a:r>
            <a:r>
              <a:rPr dirty="0" sz="1100" spc="-10" b="1">
                <a:latin typeface="Book Antiqua"/>
                <a:cs typeface="Book Antiqua"/>
              </a:rPr>
              <a:t>&gt;digit+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2" name="object 22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8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3" name="object 2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  <p:sp>
        <p:nvSpPr>
          <p:cNvPr id="20" name="object 20" descr=""/>
          <p:cNvSpPr txBox="1"/>
          <p:nvPr/>
        </p:nvSpPr>
        <p:spPr>
          <a:xfrm>
            <a:off x="2681705" y="1137386"/>
            <a:ext cx="1838960" cy="194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b="1">
                <a:latin typeface="Book Antiqua"/>
                <a:cs typeface="Book Antiqua"/>
              </a:rPr>
              <a:t>float</a:t>
            </a:r>
            <a:r>
              <a:rPr dirty="0" sz="1100" spc="110" b="1">
                <a:latin typeface="Book Antiqua"/>
                <a:cs typeface="Book Antiqua"/>
              </a:rPr>
              <a:t> </a:t>
            </a:r>
            <a:r>
              <a:rPr dirty="0" sz="1100" spc="-195" b="1">
                <a:latin typeface="Book Antiqua"/>
                <a:cs typeface="Book Antiqua"/>
              </a:rPr>
              <a:t>—</a:t>
            </a:r>
            <a:r>
              <a:rPr dirty="0" sz="1100" spc="-120" b="1">
                <a:latin typeface="Book Antiqua"/>
                <a:cs typeface="Book Antiqua"/>
              </a:rPr>
              <a:t>&gt;</a:t>
            </a:r>
            <a:r>
              <a:rPr dirty="0" sz="1100" spc="110" b="1">
                <a:latin typeface="Book Antiqua"/>
                <a:cs typeface="Book Antiqua"/>
              </a:rPr>
              <a:t> (digit*).(digit+)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Assignment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Outline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779" y="866178"/>
            <a:ext cx="155257" cy="155257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4675" y="834376"/>
            <a:ext cx="11760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1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Lexical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4" action="ppaction://hlinksldjump"/>
              </a:rPr>
              <a:t>Analysis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779" y="1226083"/>
            <a:ext cx="155257" cy="155257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779" y="1585988"/>
            <a:ext cx="155257" cy="15525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4675" y="1582291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FAF9FB"/>
                </a:solidFill>
                <a:latin typeface="Comic Sans MS"/>
                <a:cs typeface="Comic Sans MS"/>
              </a:rPr>
              <a:t>3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675" y="1194281"/>
            <a:ext cx="1757045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2</a:t>
            </a:r>
            <a:r>
              <a:rPr dirty="0" baseline="3472" sz="1200" spc="120" b="1">
                <a:solidFill>
                  <a:srgbClr val="FAF9FB"/>
                </a:solidFill>
                <a:latin typeface="Comic Sans MS"/>
                <a:cs typeface="Comic Sans MS"/>
              </a:rPr>
              <a:t> 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Alphabets</a:t>
            </a:r>
            <a:r>
              <a:rPr dirty="0" sz="1100" spc="14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and</a:t>
            </a:r>
            <a:r>
              <a:rPr dirty="0" sz="1100" spc="145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7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Operations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on</a:t>
            </a:r>
            <a:r>
              <a:rPr dirty="0" sz="1100" spc="114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8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79" y="1945894"/>
            <a:ext cx="155257" cy="15525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24675" y="1914092"/>
            <a:ext cx="14179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4</a:t>
            </a:r>
            <a:r>
              <a:rPr dirty="0" baseline="3472" sz="1200" spc="735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Regular</a:t>
            </a:r>
            <a:r>
              <a:rPr dirty="0" sz="1100" spc="13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0" action="ppaction://hlinksldjump"/>
              </a:rPr>
              <a:t>Expressions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779" y="2305799"/>
            <a:ext cx="155257" cy="15525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779" y="2665704"/>
            <a:ext cx="155257" cy="155257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24675" y="2662007"/>
            <a:ext cx="87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solidFill>
                  <a:srgbClr val="EAE5EF"/>
                </a:solidFill>
                <a:latin typeface="Comic Sans MS"/>
                <a:cs typeface="Comic Sans MS"/>
              </a:rPr>
              <a:t>6</a:t>
            </a:r>
            <a:endParaRPr sz="800">
              <a:latin typeface="Comic Sans MS"/>
              <a:cs typeface="Comic Sans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4675" y="2273997"/>
            <a:ext cx="2200910" cy="551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3472" sz="1200" b="1">
                <a:solidFill>
                  <a:srgbClr val="FAF9FB"/>
                </a:solidFill>
                <a:latin typeface="Comic Sans MS"/>
                <a:cs typeface="Comic Sans MS"/>
              </a:rPr>
              <a:t>5</a:t>
            </a:r>
            <a:r>
              <a:rPr dirty="0" baseline="3472" sz="1200" spc="652" b="1">
                <a:solidFill>
                  <a:srgbClr val="FAF9FB"/>
                </a:solidFill>
                <a:latin typeface="Comic Sans MS"/>
                <a:cs typeface="Comic Sans MS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Extensions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of</a:t>
            </a:r>
            <a:r>
              <a:rPr dirty="0" sz="1100" spc="1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Regular</a:t>
            </a:r>
            <a:r>
              <a:rPr dirty="0" sz="1100" spc="105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Cambria"/>
                <a:cs typeface="Cambria"/>
                <a:hlinkClick r:id="rId13" action="ppaction://hlinksldjump"/>
              </a:rPr>
              <a:t>Languages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Cambria"/>
              <a:cs typeface="Cambria"/>
            </a:endParaRPr>
          </a:p>
          <a:p>
            <a:pPr marL="177800">
              <a:lnSpc>
                <a:spcPct val="100000"/>
              </a:lnSpc>
            </a:pPr>
            <a:r>
              <a:rPr dirty="0" sz="1100" spc="-10">
                <a:latin typeface="Cambria"/>
                <a:cs typeface="Cambria"/>
                <a:hlinkClick r:id="rId14" action="ppaction://hlinksldjump"/>
              </a:rPr>
              <a:t>Assignment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15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0911" y="-4300"/>
            <a:ext cx="56007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40" b="1">
                <a:solidFill>
                  <a:srgbClr val="FFFFFF"/>
                </a:solidFill>
                <a:latin typeface="Georgia"/>
                <a:cs typeface="Georgia"/>
                <a:hlinkClick r:id="rId2" action="ppaction://hlinksldjump"/>
              </a:rPr>
              <a:t>Assignment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303995" y="50"/>
            <a:ext cx="2304415" cy="122555"/>
          </a:xfrm>
          <a:custGeom>
            <a:avLst/>
            <a:gdLst/>
            <a:ahLst/>
            <a:cxnLst/>
            <a:rect l="l" t="t" r="r" b="b"/>
            <a:pathLst>
              <a:path w="2304415" h="122555">
                <a:moveTo>
                  <a:pt x="2303995" y="0"/>
                </a:moveTo>
                <a:lnTo>
                  <a:pt x="0" y="0"/>
                </a:lnTo>
                <a:lnTo>
                  <a:pt x="0" y="122186"/>
                </a:lnTo>
                <a:lnTo>
                  <a:pt x="2303995" y="122186"/>
                </a:lnTo>
                <a:lnTo>
                  <a:pt x="2303995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5300" y="182191"/>
            <a:ext cx="10687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 b="1">
                <a:solidFill>
                  <a:srgbClr val="330066"/>
                </a:solidFill>
                <a:latin typeface="Palatino Linotype"/>
                <a:cs typeface="Palatino Linotype"/>
              </a:rPr>
              <a:t>Assignment</a:t>
            </a:r>
            <a:endParaRPr sz="1400">
              <a:latin typeface="Palatino Linotype"/>
              <a:cs typeface="Palatino Linotype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7743" y="1447393"/>
            <a:ext cx="4483735" cy="643890"/>
            <a:chOff x="87743" y="1447393"/>
            <a:chExt cx="4483735" cy="64389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43" y="1581658"/>
              <a:ext cx="4432566" cy="5060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1989670"/>
              <a:ext cx="101600" cy="10160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1976970"/>
              <a:ext cx="4381767" cy="11430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1" y="1447393"/>
              <a:ext cx="50800" cy="54227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7743" y="1625939"/>
              <a:ext cx="4432935" cy="414655"/>
            </a:xfrm>
            <a:custGeom>
              <a:avLst/>
              <a:gdLst/>
              <a:ahLst/>
              <a:cxnLst/>
              <a:rect l="l" t="t" r="r" b="b"/>
              <a:pathLst>
                <a:path w="4432935" h="414655">
                  <a:moveTo>
                    <a:pt x="4432567" y="0"/>
                  </a:moveTo>
                  <a:lnTo>
                    <a:pt x="0" y="0"/>
                  </a:lnTo>
                  <a:lnTo>
                    <a:pt x="0" y="363731"/>
                  </a:lnTo>
                  <a:lnTo>
                    <a:pt x="4008" y="383456"/>
                  </a:lnTo>
                  <a:lnTo>
                    <a:pt x="14922" y="399609"/>
                  </a:lnTo>
                  <a:lnTo>
                    <a:pt x="31075" y="410523"/>
                  </a:lnTo>
                  <a:lnTo>
                    <a:pt x="50800" y="414532"/>
                  </a:lnTo>
                  <a:lnTo>
                    <a:pt x="4381767" y="414532"/>
                  </a:lnTo>
                  <a:lnTo>
                    <a:pt x="4401492" y="410523"/>
                  </a:lnTo>
                  <a:lnTo>
                    <a:pt x="4417644" y="399609"/>
                  </a:lnTo>
                  <a:lnTo>
                    <a:pt x="4428558" y="383456"/>
                  </a:lnTo>
                  <a:lnTo>
                    <a:pt x="4432567" y="363731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520311" y="1485498"/>
              <a:ext cx="0" cy="523240"/>
            </a:xfrm>
            <a:custGeom>
              <a:avLst/>
              <a:gdLst/>
              <a:ahLst/>
              <a:cxnLst/>
              <a:rect l="l" t="t" r="r" b="b"/>
              <a:pathLst>
                <a:path w="0" h="523239">
                  <a:moveTo>
                    <a:pt x="0" y="52322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520311" y="14727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20311" y="14600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520311" y="14473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w="0"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165" y="1681200"/>
              <a:ext cx="65201" cy="6520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165" y="1925269"/>
              <a:ext cx="65201" cy="65201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25844" y="1347023"/>
            <a:ext cx="1358900" cy="6864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1100" spc="-10">
                <a:latin typeface="Cambria"/>
                <a:cs typeface="Cambria"/>
              </a:rPr>
              <a:t>Assignment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25"/>
              </a:spcBef>
            </a:pPr>
            <a:r>
              <a:rPr dirty="0" sz="1100">
                <a:latin typeface="Cambria"/>
                <a:cs typeface="Cambria"/>
              </a:rPr>
              <a:t>Read</a:t>
            </a:r>
            <a:r>
              <a:rPr dirty="0" sz="1100" spc="1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Section</a:t>
            </a:r>
            <a:r>
              <a:rPr dirty="0" sz="1100" spc="1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3.3.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600"/>
              </a:spcBef>
            </a:pPr>
            <a:r>
              <a:rPr dirty="0" sz="1100">
                <a:latin typeface="Cambria"/>
                <a:cs typeface="Cambria"/>
              </a:rPr>
              <a:t>Exercises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3.4.1-</a:t>
            </a:r>
            <a:r>
              <a:rPr dirty="0" sz="1100" spc="-50">
                <a:latin typeface="Cambria"/>
                <a:cs typeface="Cambria"/>
              </a:rPr>
              <a:t>3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0" y="3333877"/>
            <a:ext cx="4608195" cy="122555"/>
          </a:xfrm>
          <a:custGeom>
            <a:avLst/>
            <a:gdLst/>
            <a:ahLst/>
            <a:cxnLst/>
            <a:rect l="l" t="t" r="r" b="b"/>
            <a:pathLst>
              <a:path w="4608195" h="122554">
                <a:moveTo>
                  <a:pt x="4607979" y="0"/>
                </a:moveTo>
                <a:lnTo>
                  <a:pt x="2303983" y="0"/>
                </a:lnTo>
                <a:lnTo>
                  <a:pt x="0" y="0"/>
                </a:lnTo>
                <a:lnTo>
                  <a:pt x="0" y="122174"/>
                </a:lnTo>
                <a:lnTo>
                  <a:pt x="2303983" y="122174"/>
                </a:lnTo>
                <a:lnTo>
                  <a:pt x="4607979" y="122174"/>
                </a:lnTo>
                <a:lnTo>
                  <a:pt x="4607979" y="0"/>
                </a:lnTo>
                <a:close/>
              </a:path>
            </a:pathLst>
          </a:custGeom>
          <a:solidFill>
            <a:srgbClr val="33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/>
              <a:t>R</a:t>
            </a:r>
            <a:r>
              <a:rPr dirty="0" cap="small"/>
              <a:t>okan</a:t>
            </a:r>
            <a:r>
              <a:rPr dirty="0" spc="60"/>
              <a:t> </a:t>
            </a:r>
            <a:r>
              <a:rPr dirty="0"/>
              <a:t>U</a:t>
            </a:r>
            <a:r>
              <a:rPr dirty="0" cap="small"/>
              <a:t>ddin</a:t>
            </a:r>
            <a:r>
              <a:rPr dirty="0" spc="65"/>
              <a:t> </a:t>
            </a:r>
            <a:r>
              <a:rPr dirty="0"/>
              <a:t>F</a:t>
            </a:r>
            <a:r>
              <a:rPr dirty="0" cap="small"/>
              <a:t>aruqui</a:t>
            </a:r>
            <a:r>
              <a:rPr dirty="0" spc="220"/>
              <a:t>  </a:t>
            </a:r>
            <a:r>
              <a:rPr dirty="0" spc="90" b="1">
                <a:latin typeface="Georgia"/>
                <a:cs typeface="Georgia"/>
              </a:rPr>
              <a:t>CSE,</a:t>
            </a:r>
            <a:r>
              <a:rPr dirty="0" spc="114" b="1">
                <a:latin typeface="Georgia"/>
                <a:cs typeface="Georgia"/>
              </a:rPr>
              <a:t> </a:t>
            </a:r>
            <a:r>
              <a:rPr dirty="0" spc="30" b="1">
                <a:latin typeface="Georgia"/>
                <a:cs typeface="Georgia"/>
              </a:rPr>
              <a:t>CU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2399296" y="3318429"/>
            <a:ext cx="1085215" cy="13652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Specification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dirty="0" sz="600" spc="3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of</a:t>
            </a:r>
            <a:r>
              <a:rPr dirty="0" sz="600" spc="19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Georgia"/>
                <a:cs typeface="Georgia"/>
                <a:hlinkClick r:id="rId9" action="ppaction://hlinksldjump"/>
              </a:rPr>
              <a:t>Tokens</a:t>
            </a:r>
            <a:endParaRPr sz="600">
              <a:latin typeface="Georgia"/>
              <a:cs typeface="Georgia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34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 spc="55"/>
              <a:t>15</a:t>
            </a:fld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Rokan Uddin Faruqui </dc:creator>
  <dc:title>Specification of Tokens - Lecture 2 Section 3.3</dc:title>
  <dcterms:created xsi:type="dcterms:W3CDTF">2025-11-25T13:53:10Z</dcterms:created>
  <dcterms:modified xsi:type="dcterms:W3CDTF">2025-11-25T13:53:10Z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2020-01-15T00:00:00Z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2025-11-25T00:00:00Z</vt:filetime>
  </property>
  <property fmtid="{D5CDD505-2E9C-101B-9397-08002B2CF9AE}" pid="5" name="Producer">
    <vt:lpwstr>3-Heights(TM) PDF Security Shell 4.8.25.2 (http://www.pdf-tools.com)</vt:lpwstr>
  </property>
</Properties>
</file>