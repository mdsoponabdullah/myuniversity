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9" r:id="rId4"/>
    <p:sldId id="318" r:id="rId5"/>
    <p:sldId id="317" r:id="rId6"/>
    <p:sldId id="316" r:id="rId7"/>
    <p:sldId id="315" r:id="rId8"/>
    <p:sldId id="321" r:id="rId9"/>
    <p:sldId id="320" r:id="rId10"/>
    <p:sldId id="325" r:id="rId11"/>
    <p:sldId id="322" r:id="rId12"/>
    <p:sldId id="323" r:id="rId13"/>
    <p:sldId id="324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326" r:id="rId33"/>
    <p:sldId id="327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328" r:id="rId55"/>
    <p:sldId id="330" r:id="rId56"/>
    <p:sldId id="329" r:id="rId57"/>
    <p:sldId id="331" r:id="rId58"/>
    <p:sldId id="333" r:id="rId59"/>
    <p:sldId id="332" r:id="rId60"/>
    <p:sldId id="295" r:id="rId61"/>
    <p:sldId id="296" r:id="rId62"/>
    <p:sldId id="297" r:id="rId63"/>
    <p:sldId id="298" r:id="rId64"/>
    <p:sldId id="299" r:id="rId65"/>
    <p:sldId id="300" r:id="rId66"/>
    <p:sldId id="301" r:id="rId67"/>
    <p:sldId id="302" r:id="rId68"/>
    <p:sldId id="303" r:id="rId69"/>
    <p:sldId id="304" r:id="rId70"/>
    <p:sldId id="305" r:id="rId71"/>
    <p:sldId id="306" r:id="rId72"/>
    <p:sldId id="307" r:id="rId73"/>
    <p:sldId id="308" r:id="rId74"/>
    <p:sldId id="309" r:id="rId75"/>
    <p:sldId id="310" r:id="rId76"/>
    <p:sldId id="311" r:id="rId77"/>
    <p:sldId id="312" r:id="rId78"/>
    <p:sldId id="313" r:id="rId79"/>
    <p:sldId id="314" r:id="rId8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82191"/>
            <a:ext cx="43192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42221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104" y="585544"/>
            <a:ext cx="3614420" cy="2125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6531" y="3318429"/>
            <a:ext cx="19431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mailto:rokan@cu.ac.bd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71.xml"/><Relationship Id="rId7" Type="http://schemas.openxmlformats.org/officeDocument/2006/relationships/slide" Target="slide68.xml"/><Relationship Id="rId6" Type="http://schemas.openxmlformats.org/officeDocument/2006/relationships/slide" Target="slide3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slide" Target="slide18.xml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71.xml"/><Relationship Id="rId7" Type="http://schemas.openxmlformats.org/officeDocument/2006/relationships/slide" Target="slide68.xml"/><Relationship Id="rId6" Type="http://schemas.openxmlformats.org/officeDocument/2006/relationships/slide" Target="slide3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" Target="slide18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" Target="slide18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" Target="slide18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" Target="slide18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" Target="slide18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" Target="slide18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" Target="slid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" Target="slide1.xml"/><Relationship Id="rId1" Type="http://schemas.openxmlformats.org/officeDocument/2006/relationships/slide" Target="slide18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" Target="slide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slide" Target="slide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1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71.xml"/><Relationship Id="rId7" Type="http://schemas.openxmlformats.org/officeDocument/2006/relationships/slide" Target="slide6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Relationship Id="rId3" Type="http://schemas.openxmlformats.org/officeDocument/2006/relationships/slide" Target="slide18.xml"/><Relationship Id="rId2" Type="http://schemas.openxmlformats.org/officeDocument/2006/relationships/image" Target="../media/image37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" Target="slide30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2.png"/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" Target="slide30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" Target="slide30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0" Type="http://schemas.openxmlformats.org/officeDocument/2006/relationships/slideLayout" Target="../slideLayouts/slideLayout3.xml"/><Relationship Id="rId1" Type="http://schemas.openxmlformats.org/officeDocument/2006/relationships/slide" Target="slide30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52.png"/><Relationship Id="rId1" Type="http://schemas.openxmlformats.org/officeDocument/2006/relationships/slide" Target="slide30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slide" Target="slide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" Target="slide30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slide" Target="slide30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slide" Target="slide30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64.png"/><Relationship Id="rId7" Type="http://schemas.openxmlformats.org/officeDocument/2006/relationships/image" Target="../media/image71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72.png"/><Relationship Id="rId7" Type="http://schemas.openxmlformats.org/officeDocument/2006/relationships/image" Target="../media/image71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slide" Target="slide30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" Target="slide30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jpeg"/><Relationship Id="rId1" Type="http://schemas.openxmlformats.org/officeDocument/2006/relationships/slide" Target="slide30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" Target="slide30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" Target="slide30.xml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92.png"/><Relationship Id="rId3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" Target="slide3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5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103.png"/><Relationship Id="rId2" Type="http://schemas.openxmlformats.org/officeDocument/2006/relationships/image" Target="../media/image96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96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96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96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2.png"/><Relationship Id="rId7" Type="http://schemas.openxmlformats.org/officeDocument/2006/relationships/image" Target="../media/image107.png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96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8.png"/><Relationship Id="rId7" Type="http://schemas.openxmlformats.org/officeDocument/2006/relationships/image" Target="../media/image107.png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96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" Target="slide30.xml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11.png"/><Relationship Id="rId3" Type="http://schemas.openxmlformats.org/officeDocument/2006/relationships/image" Target="../media/image112.png"/><Relationship Id="rId2" Type="http://schemas.openxmlformats.org/officeDocument/2006/relationships/image" Target="../media/image109.png"/><Relationship Id="rId1" Type="http://schemas.openxmlformats.org/officeDocument/2006/relationships/slide" Target="slide30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71.xml"/><Relationship Id="rId7" Type="http://schemas.openxmlformats.org/officeDocument/2006/relationships/image" Target="../media/image24.png"/><Relationship Id="rId6" Type="http://schemas.openxmlformats.org/officeDocument/2006/relationships/image" Target="../media/image20.png"/><Relationship Id="rId5" Type="http://schemas.openxmlformats.org/officeDocument/2006/relationships/slide" Target="slide30.xml"/><Relationship Id="rId4" Type="http://schemas.openxmlformats.org/officeDocument/2006/relationships/image" Target="../media/image22.png"/><Relationship Id="rId3" Type="http://schemas.openxmlformats.org/officeDocument/2006/relationships/slide" Target="slide18.xml"/><Relationship Id="rId2" Type="http://schemas.openxmlformats.org/officeDocument/2006/relationships/image" Target="../media/image37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68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117.png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" Type="http://schemas.openxmlformats.org/officeDocument/2006/relationships/slide" Target="slide68.xml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" Target="slide68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21.png"/><Relationship Id="rId7" Type="http://schemas.openxmlformats.org/officeDocument/2006/relationships/slide" Target="slide68.xml"/><Relationship Id="rId6" Type="http://schemas.openxmlformats.org/officeDocument/2006/relationships/slide" Target="slide3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slide" Target="slide18.xml"/><Relationship Id="rId2" Type="http://schemas.openxmlformats.org/officeDocument/2006/relationships/image" Target="../media/image37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slide" Target="slide71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png"/><Relationship Id="rId8" Type="http://schemas.openxmlformats.org/officeDocument/2006/relationships/image" Target="../media/image126.png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slide" Target="slide71.xml"/><Relationship Id="rId3" Type="http://schemas.openxmlformats.org/officeDocument/2006/relationships/image" Target="../media/image1.png"/><Relationship Id="rId2" Type="http://schemas.openxmlformats.org/officeDocument/2006/relationships/image" Target="../media/image122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image" Target="../media/image12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Relationship Id="rId3" Type="http://schemas.openxmlformats.org/officeDocument/2006/relationships/slide" Target="slide71.xml"/><Relationship Id="rId2" Type="http://schemas.openxmlformats.org/officeDocument/2006/relationships/image" Target="../media/image1.png"/><Relationship Id="rId1" Type="http://schemas.openxmlformats.org/officeDocument/2006/relationships/image" Target="../media/image128.png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31.png"/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" Target="slide71.xml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31.png"/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" Target="slide71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slide" Target="slide71.xml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" Target="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5100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595426"/>
            <a:ext cx="4483735" cy="840740"/>
            <a:chOff x="87743" y="595426"/>
            <a:chExt cx="4483735" cy="8407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333995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321295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601560"/>
              <a:ext cx="50800" cy="7324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95426"/>
              <a:ext cx="4432935" cy="789940"/>
            </a:xfrm>
            <a:custGeom>
              <a:avLst/>
              <a:gdLst/>
              <a:ahLst/>
              <a:cxnLst/>
              <a:rect l="l" t="t" r="r" b="b"/>
              <a:pathLst>
                <a:path w="4432935" h="789940">
                  <a:moveTo>
                    <a:pt x="4432567" y="0"/>
                  </a:moveTo>
                  <a:lnTo>
                    <a:pt x="0" y="0"/>
                  </a:lnTo>
                  <a:lnTo>
                    <a:pt x="0" y="738568"/>
                  </a:lnTo>
                  <a:lnTo>
                    <a:pt x="4008" y="758293"/>
                  </a:lnTo>
                  <a:lnTo>
                    <a:pt x="14922" y="774446"/>
                  </a:lnTo>
                  <a:lnTo>
                    <a:pt x="31075" y="785360"/>
                  </a:lnTo>
                  <a:lnTo>
                    <a:pt x="50800" y="789368"/>
                  </a:lnTo>
                  <a:lnTo>
                    <a:pt x="4381767" y="789368"/>
                  </a:lnTo>
                  <a:lnTo>
                    <a:pt x="4401492" y="785360"/>
                  </a:lnTo>
                  <a:lnTo>
                    <a:pt x="4417644" y="774446"/>
                  </a:lnTo>
                  <a:lnTo>
                    <a:pt x="4428558" y="758293"/>
                  </a:lnTo>
                  <a:lnTo>
                    <a:pt x="4432567" y="73856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0068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1" y="639663"/>
              <a:ext cx="0" cy="713740"/>
            </a:xfrm>
            <a:custGeom>
              <a:avLst/>
              <a:gdLst/>
              <a:ahLst/>
              <a:cxnLst/>
              <a:rect l="l" t="t" r="r" b="b"/>
              <a:pathLst>
                <a:path h="713740">
                  <a:moveTo>
                    <a:pt x="0" y="7133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1" y="6269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1" y="6142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015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31011" y="651507"/>
            <a:ext cx="2146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7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b="0" cap="small" spc="7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untime</a:t>
            </a:r>
            <a:r>
              <a:rPr b="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E</a:t>
            </a:r>
            <a:r>
              <a:rPr b="0" cap="small" spc="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nvironments</a:t>
            </a:r>
            <a:endParaRPr b="0" cap="small" spc="25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8830" y="912773"/>
            <a:ext cx="117094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ecture</a:t>
            </a:r>
            <a:r>
              <a:rPr sz="1100" spc="41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19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ection</a:t>
            </a:r>
            <a:r>
              <a:rPr sz="1100" spc="204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7.1</a:t>
            </a:r>
            <a:r>
              <a:rPr sz="1100" spc="204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-</a:t>
            </a:r>
            <a:r>
              <a:rPr sz="1100" spc="2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7.4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447" y="1593289"/>
            <a:ext cx="2065655" cy="852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1100" cap="small" spc="-10" dirty="0">
                <a:latin typeface="Palatino Linotype" panose="02040502050505030304"/>
                <a:cs typeface="Palatino Linotype" panose="02040502050505030304"/>
              </a:rPr>
              <a:t>aruqui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Associate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Professor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Dept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Engineering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University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Chittaong,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Bangladesh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Email: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i="1" spc="40" dirty="0">
                <a:latin typeface="Palatino Linotype" panose="02040502050505030304"/>
                <a:cs typeface="Palatino Linotype" panose="02040502050505030304"/>
                <a:hlinkClick r:id="rId4"/>
              </a:rPr>
              <a:t>rokan@cu.ac.bd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9" name="object 19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6" name="object 26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1" name="object 31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2) Run Time Environment _ Compiler Design - 0-0-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9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3) Run Time Environment _ Compiler Design - 0-15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8382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3) Run Time Environment _ Compiler Design - 0-15-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60" y="22098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3) Run Time Environment _ Compiler Design - 0-15-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24955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3) Activation Record in Compiler Design - 0-1-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" y="13779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3) Activation Record in Compiler Design - 0-1-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5111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(1504) Activation Record in Compiler Design - 0-4-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" y="52832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4) Activation Record in Compiler Design - 0-7-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11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4) Activation Record in Compiler Design - 0-11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41973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Runtime</a:t>
            </a:r>
            <a:r>
              <a:rPr spc="215" dirty="0"/>
              <a:t> </a:t>
            </a:r>
            <a:r>
              <a:rPr spc="50" dirty="0"/>
              <a:t>Environment</a:t>
            </a:r>
            <a:endParaRPr spc="50" dirty="0"/>
          </a:p>
        </p:txBody>
      </p:sp>
      <p:sp>
        <p:nvSpPr>
          <p:cNvPr id="4" name="object 4"/>
          <p:cNvSpPr txBox="1"/>
          <p:nvPr/>
        </p:nvSpPr>
        <p:spPr>
          <a:xfrm>
            <a:off x="125844" y="910791"/>
            <a:ext cx="3980179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376555">
              <a:lnSpc>
                <a:spcPct val="103000"/>
              </a:lnSpc>
              <a:spcBef>
                <a:spcPts val="5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Imagine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environment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where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being executed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3070" y="1910397"/>
            <a:ext cx="63296" cy="632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2154466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2398547"/>
            <a:ext cx="63296" cy="632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1571165"/>
            <a:ext cx="3016885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494155" indent="-277495">
              <a:lnSpc>
                <a:spcPct val="125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Issues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dealt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here: allocation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storage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variables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5080">
              <a:lnSpc>
                <a:spcPct val="103000"/>
              </a:lnSpc>
              <a:spcBef>
                <a:spcPts val="570"/>
              </a:spcBef>
            </a:pP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management:</a:t>
            </a:r>
            <a:r>
              <a:rPr sz="1100" spc="10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allocation,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heap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management,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(and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garbage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collection)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4611" y="332951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Runtime</a:t>
            </a:r>
            <a:r>
              <a:rPr spc="215" dirty="0"/>
              <a:t> </a:t>
            </a:r>
            <a:r>
              <a:rPr spc="50" dirty="0"/>
              <a:t>Environment</a:t>
            </a:r>
            <a:endParaRPr spc="5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3070" y="1910397"/>
            <a:ext cx="63296" cy="632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2154466"/>
            <a:ext cx="63296" cy="632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2398547"/>
            <a:ext cx="63296" cy="632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910791"/>
            <a:ext cx="3980179" cy="17665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376555">
              <a:lnSpc>
                <a:spcPct val="103000"/>
              </a:lnSpc>
              <a:spcBef>
                <a:spcPts val="5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Imagine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environment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where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being executed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2456815" indent="-277495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Issues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dealt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here: allocation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storage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variables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967740">
              <a:lnSpc>
                <a:spcPct val="103000"/>
              </a:lnSpc>
              <a:spcBef>
                <a:spcPts val="565"/>
              </a:spcBef>
            </a:pP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management:</a:t>
            </a:r>
            <a:r>
              <a:rPr sz="1100" spc="10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allocation,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heap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management,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(and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garbage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collection)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34611" y="332951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Runtime</a:t>
            </a:r>
            <a:r>
              <a:rPr spc="215" dirty="0"/>
              <a:t> </a:t>
            </a:r>
            <a:r>
              <a:rPr spc="50" dirty="0"/>
              <a:t>Environment</a:t>
            </a:r>
            <a:endParaRPr spc="5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3070" y="1910397"/>
            <a:ext cx="63296" cy="632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2154466"/>
            <a:ext cx="63296" cy="632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2398547"/>
            <a:ext cx="63296" cy="632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910791"/>
            <a:ext cx="3980179" cy="17665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376555">
              <a:lnSpc>
                <a:spcPct val="103000"/>
              </a:lnSpc>
              <a:spcBef>
                <a:spcPts val="5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Imagine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environment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where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being executed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2456815" indent="-277495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Issues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dealt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here: allocation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storage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variables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967740">
              <a:lnSpc>
                <a:spcPct val="103000"/>
              </a:lnSpc>
              <a:spcBef>
                <a:spcPts val="565"/>
              </a:spcBef>
            </a:pP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management: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allocation,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heap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management,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(and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garbage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collection)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615566" y="489756"/>
            <a:ext cx="1377315" cy="194945"/>
            <a:chOff x="1615566" y="489756"/>
            <a:chExt cx="1377315" cy="194945"/>
          </a:xfrm>
        </p:grpSpPr>
        <p:sp>
          <p:nvSpPr>
            <p:cNvPr id="4" name="object 4"/>
            <p:cNvSpPr/>
            <p:nvPr/>
          </p:nvSpPr>
          <p:spPr>
            <a:xfrm>
              <a:off x="1618096" y="492286"/>
              <a:ext cx="1372235" cy="189865"/>
            </a:xfrm>
            <a:custGeom>
              <a:avLst/>
              <a:gdLst/>
              <a:ahLst/>
              <a:cxnLst/>
              <a:rect l="l" t="t" r="r" b="b"/>
              <a:pathLst>
                <a:path w="1372235" h="189865">
                  <a:moveTo>
                    <a:pt x="132118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7" y="158757"/>
                  </a:lnTo>
                  <a:lnTo>
                    <a:pt x="14823" y="174844"/>
                  </a:lnTo>
                  <a:lnTo>
                    <a:pt x="30910" y="185690"/>
                  </a:lnTo>
                  <a:lnTo>
                    <a:pt x="50610" y="189668"/>
                  </a:lnTo>
                  <a:lnTo>
                    <a:pt x="1321187" y="189668"/>
                  </a:lnTo>
                  <a:lnTo>
                    <a:pt x="1340887" y="185690"/>
                  </a:lnTo>
                  <a:lnTo>
                    <a:pt x="1356974" y="174844"/>
                  </a:lnTo>
                  <a:lnTo>
                    <a:pt x="1367821" y="158757"/>
                  </a:lnTo>
                  <a:lnTo>
                    <a:pt x="1371798" y="139057"/>
                  </a:lnTo>
                  <a:lnTo>
                    <a:pt x="1371798" y="50610"/>
                  </a:lnTo>
                  <a:lnTo>
                    <a:pt x="1367821" y="30910"/>
                  </a:lnTo>
                  <a:lnTo>
                    <a:pt x="1356974" y="14823"/>
                  </a:lnTo>
                  <a:lnTo>
                    <a:pt x="1340887" y="3977"/>
                  </a:lnTo>
                  <a:lnTo>
                    <a:pt x="132118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8096" y="492286"/>
              <a:ext cx="1372235" cy="189865"/>
            </a:xfrm>
            <a:custGeom>
              <a:avLst/>
              <a:gdLst/>
              <a:ahLst/>
              <a:cxnLst/>
              <a:rect l="l" t="t" r="r" b="b"/>
              <a:pathLst>
                <a:path w="1372235" h="189865">
                  <a:moveTo>
                    <a:pt x="132118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7" y="158757"/>
                  </a:lnTo>
                  <a:lnTo>
                    <a:pt x="14823" y="174844"/>
                  </a:lnTo>
                  <a:lnTo>
                    <a:pt x="30910" y="185690"/>
                  </a:lnTo>
                  <a:lnTo>
                    <a:pt x="50610" y="189668"/>
                  </a:lnTo>
                  <a:lnTo>
                    <a:pt x="1321187" y="189668"/>
                  </a:lnTo>
                  <a:lnTo>
                    <a:pt x="1340887" y="185690"/>
                  </a:lnTo>
                  <a:lnTo>
                    <a:pt x="1356974" y="174844"/>
                  </a:lnTo>
                  <a:lnTo>
                    <a:pt x="1367821" y="158757"/>
                  </a:lnTo>
                  <a:lnTo>
                    <a:pt x="1371798" y="139057"/>
                  </a:lnTo>
                  <a:lnTo>
                    <a:pt x="1371798" y="50610"/>
                  </a:lnTo>
                  <a:lnTo>
                    <a:pt x="1367821" y="30910"/>
                  </a:lnTo>
                  <a:lnTo>
                    <a:pt x="1356974" y="14823"/>
                  </a:lnTo>
                  <a:lnTo>
                    <a:pt x="1340887" y="3977"/>
                  </a:lnTo>
                  <a:lnTo>
                    <a:pt x="132118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43354" y="489071"/>
            <a:ext cx="13214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Scanner</a:t>
            </a:r>
            <a:r>
              <a:rPr sz="900" b="0" spc="105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b="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(lexical</a:t>
            </a:r>
            <a:r>
              <a:rPr sz="900" b="0" spc="11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b="0" spc="-1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analysis)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71136" y="849760"/>
            <a:ext cx="1266190" cy="194945"/>
            <a:chOff x="1671136" y="849760"/>
            <a:chExt cx="1266190" cy="194945"/>
          </a:xfrm>
        </p:grpSpPr>
        <p:sp>
          <p:nvSpPr>
            <p:cNvPr id="8" name="object 8"/>
            <p:cNvSpPr/>
            <p:nvPr/>
          </p:nvSpPr>
          <p:spPr>
            <a:xfrm>
              <a:off x="1673667" y="852290"/>
              <a:ext cx="1261110" cy="189865"/>
            </a:xfrm>
            <a:custGeom>
              <a:avLst/>
              <a:gdLst/>
              <a:ahLst/>
              <a:cxnLst/>
              <a:rect l="l" t="t" r="r" b="b"/>
              <a:pathLst>
                <a:path w="1261110" h="189865">
                  <a:moveTo>
                    <a:pt x="121004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8"/>
                  </a:lnTo>
                  <a:lnTo>
                    <a:pt x="3977" y="158758"/>
                  </a:lnTo>
                  <a:lnTo>
                    <a:pt x="14823" y="174845"/>
                  </a:lnTo>
                  <a:lnTo>
                    <a:pt x="30910" y="185692"/>
                  </a:lnTo>
                  <a:lnTo>
                    <a:pt x="50610" y="189669"/>
                  </a:lnTo>
                  <a:lnTo>
                    <a:pt x="1210047" y="189669"/>
                  </a:lnTo>
                  <a:lnTo>
                    <a:pt x="1229747" y="185692"/>
                  </a:lnTo>
                  <a:lnTo>
                    <a:pt x="1245834" y="174845"/>
                  </a:lnTo>
                  <a:lnTo>
                    <a:pt x="1256680" y="158758"/>
                  </a:lnTo>
                  <a:lnTo>
                    <a:pt x="1260657" y="139058"/>
                  </a:lnTo>
                  <a:lnTo>
                    <a:pt x="1260657" y="50610"/>
                  </a:lnTo>
                  <a:lnTo>
                    <a:pt x="1256680" y="30910"/>
                  </a:lnTo>
                  <a:lnTo>
                    <a:pt x="1245834" y="14823"/>
                  </a:lnTo>
                  <a:lnTo>
                    <a:pt x="1229747" y="3977"/>
                  </a:lnTo>
                  <a:lnTo>
                    <a:pt x="121004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73667" y="852290"/>
              <a:ext cx="1261110" cy="189865"/>
            </a:xfrm>
            <a:custGeom>
              <a:avLst/>
              <a:gdLst/>
              <a:ahLst/>
              <a:cxnLst/>
              <a:rect l="l" t="t" r="r" b="b"/>
              <a:pathLst>
                <a:path w="1261110" h="189865">
                  <a:moveTo>
                    <a:pt x="121004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8"/>
                  </a:lnTo>
                  <a:lnTo>
                    <a:pt x="3977" y="158758"/>
                  </a:lnTo>
                  <a:lnTo>
                    <a:pt x="14823" y="174845"/>
                  </a:lnTo>
                  <a:lnTo>
                    <a:pt x="30910" y="185692"/>
                  </a:lnTo>
                  <a:lnTo>
                    <a:pt x="50610" y="189669"/>
                  </a:lnTo>
                  <a:lnTo>
                    <a:pt x="1210047" y="189669"/>
                  </a:lnTo>
                  <a:lnTo>
                    <a:pt x="1229747" y="185692"/>
                  </a:lnTo>
                  <a:lnTo>
                    <a:pt x="1245834" y="174845"/>
                  </a:lnTo>
                  <a:lnTo>
                    <a:pt x="1256680" y="158758"/>
                  </a:lnTo>
                  <a:lnTo>
                    <a:pt x="1260657" y="139058"/>
                  </a:lnTo>
                  <a:lnTo>
                    <a:pt x="1260657" y="50610"/>
                  </a:lnTo>
                  <a:lnTo>
                    <a:pt x="1256680" y="30910"/>
                  </a:lnTo>
                  <a:lnTo>
                    <a:pt x="1245834" y="14823"/>
                  </a:lnTo>
                  <a:lnTo>
                    <a:pt x="1229747" y="3977"/>
                  </a:lnTo>
                  <a:lnTo>
                    <a:pt x="121004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935796" y="1214776"/>
            <a:ext cx="2736850" cy="184785"/>
            <a:chOff x="935796" y="1214776"/>
            <a:chExt cx="2736850" cy="184785"/>
          </a:xfrm>
        </p:grpSpPr>
        <p:sp>
          <p:nvSpPr>
            <p:cNvPr id="11" name="object 11"/>
            <p:cNvSpPr/>
            <p:nvPr/>
          </p:nvSpPr>
          <p:spPr>
            <a:xfrm>
              <a:off x="938326" y="1217306"/>
              <a:ext cx="2731770" cy="179705"/>
            </a:xfrm>
            <a:custGeom>
              <a:avLst/>
              <a:gdLst/>
              <a:ahLst/>
              <a:cxnLst/>
              <a:rect l="l" t="t" r="r" b="b"/>
              <a:pathLst>
                <a:path w="2731770" h="179705">
                  <a:moveTo>
                    <a:pt x="2680728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129035"/>
                  </a:lnTo>
                  <a:lnTo>
                    <a:pt x="3976" y="148736"/>
                  </a:lnTo>
                  <a:lnTo>
                    <a:pt x="14822" y="164823"/>
                  </a:lnTo>
                  <a:lnTo>
                    <a:pt x="30909" y="175669"/>
                  </a:lnTo>
                  <a:lnTo>
                    <a:pt x="50609" y="179646"/>
                  </a:lnTo>
                  <a:lnTo>
                    <a:pt x="2680728" y="179646"/>
                  </a:lnTo>
                  <a:lnTo>
                    <a:pt x="2700428" y="175669"/>
                  </a:lnTo>
                  <a:lnTo>
                    <a:pt x="2716515" y="164823"/>
                  </a:lnTo>
                  <a:lnTo>
                    <a:pt x="2727361" y="148736"/>
                  </a:lnTo>
                  <a:lnTo>
                    <a:pt x="2731338" y="129035"/>
                  </a:lnTo>
                  <a:lnTo>
                    <a:pt x="2731338" y="50610"/>
                  </a:lnTo>
                  <a:lnTo>
                    <a:pt x="2727361" y="30910"/>
                  </a:lnTo>
                  <a:lnTo>
                    <a:pt x="2716515" y="14823"/>
                  </a:lnTo>
                  <a:lnTo>
                    <a:pt x="2700428" y="3977"/>
                  </a:lnTo>
                  <a:lnTo>
                    <a:pt x="2680728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8326" y="1217306"/>
              <a:ext cx="2731770" cy="179705"/>
            </a:xfrm>
            <a:custGeom>
              <a:avLst/>
              <a:gdLst/>
              <a:ahLst/>
              <a:cxnLst/>
              <a:rect l="l" t="t" r="r" b="b"/>
              <a:pathLst>
                <a:path w="2731770" h="179705">
                  <a:moveTo>
                    <a:pt x="2680728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129035"/>
                  </a:lnTo>
                  <a:lnTo>
                    <a:pt x="3976" y="148736"/>
                  </a:lnTo>
                  <a:lnTo>
                    <a:pt x="14822" y="164823"/>
                  </a:lnTo>
                  <a:lnTo>
                    <a:pt x="30909" y="175669"/>
                  </a:lnTo>
                  <a:lnTo>
                    <a:pt x="50609" y="179646"/>
                  </a:lnTo>
                  <a:lnTo>
                    <a:pt x="2680728" y="179646"/>
                  </a:lnTo>
                  <a:lnTo>
                    <a:pt x="2700428" y="175669"/>
                  </a:lnTo>
                  <a:lnTo>
                    <a:pt x="2716515" y="164823"/>
                  </a:lnTo>
                  <a:lnTo>
                    <a:pt x="2727361" y="148736"/>
                  </a:lnTo>
                  <a:lnTo>
                    <a:pt x="2731338" y="129035"/>
                  </a:lnTo>
                  <a:lnTo>
                    <a:pt x="2731338" y="50610"/>
                  </a:lnTo>
                  <a:lnTo>
                    <a:pt x="2727361" y="30910"/>
                  </a:lnTo>
                  <a:lnTo>
                    <a:pt x="2716515" y="14823"/>
                  </a:lnTo>
                  <a:lnTo>
                    <a:pt x="2700428" y="3977"/>
                  </a:lnTo>
                  <a:lnTo>
                    <a:pt x="268072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957767" y="1569770"/>
            <a:ext cx="2693035" cy="194945"/>
            <a:chOff x="957767" y="1569770"/>
            <a:chExt cx="2693035" cy="194945"/>
          </a:xfrm>
        </p:grpSpPr>
        <p:sp>
          <p:nvSpPr>
            <p:cNvPr id="14" name="object 14"/>
            <p:cNvSpPr/>
            <p:nvPr/>
          </p:nvSpPr>
          <p:spPr>
            <a:xfrm>
              <a:off x="960297" y="1572300"/>
              <a:ext cx="2687955" cy="189865"/>
            </a:xfrm>
            <a:custGeom>
              <a:avLst/>
              <a:gdLst/>
              <a:ahLst/>
              <a:cxnLst/>
              <a:rect l="l" t="t" r="r" b="b"/>
              <a:pathLst>
                <a:path w="2687954" h="189864">
                  <a:moveTo>
                    <a:pt x="2636786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6" y="158757"/>
                  </a:lnTo>
                  <a:lnTo>
                    <a:pt x="14822" y="174844"/>
                  </a:lnTo>
                  <a:lnTo>
                    <a:pt x="30909" y="185690"/>
                  </a:lnTo>
                  <a:lnTo>
                    <a:pt x="50609" y="189668"/>
                  </a:lnTo>
                  <a:lnTo>
                    <a:pt x="2636786" y="189668"/>
                  </a:lnTo>
                  <a:lnTo>
                    <a:pt x="2656486" y="185690"/>
                  </a:lnTo>
                  <a:lnTo>
                    <a:pt x="2672573" y="174844"/>
                  </a:lnTo>
                  <a:lnTo>
                    <a:pt x="2683419" y="158757"/>
                  </a:lnTo>
                  <a:lnTo>
                    <a:pt x="2687396" y="139057"/>
                  </a:lnTo>
                  <a:lnTo>
                    <a:pt x="2687396" y="50610"/>
                  </a:lnTo>
                  <a:lnTo>
                    <a:pt x="2683419" y="30910"/>
                  </a:lnTo>
                  <a:lnTo>
                    <a:pt x="2672573" y="14823"/>
                  </a:lnTo>
                  <a:lnTo>
                    <a:pt x="2656486" y="3977"/>
                  </a:lnTo>
                  <a:lnTo>
                    <a:pt x="263678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60297" y="1572300"/>
              <a:ext cx="2687955" cy="189865"/>
            </a:xfrm>
            <a:custGeom>
              <a:avLst/>
              <a:gdLst/>
              <a:ahLst/>
              <a:cxnLst/>
              <a:rect l="l" t="t" r="r" b="b"/>
              <a:pathLst>
                <a:path w="2687954" h="189864">
                  <a:moveTo>
                    <a:pt x="2636786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6" y="158757"/>
                  </a:lnTo>
                  <a:lnTo>
                    <a:pt x="14822" y="174844"/>
                  </a:lnTo>
                  <a:lnTo>
                    <a:pt x="30909" y="185690"/>
                  </a:lnTo>
                  <a:lnTo>
                    <a:pt x="50609" y="189668"/>
                  </a:lnTo>
                  <a:lnTo>
                    <a:pt x="2636786" y="189668"/>
                  </a:lnTo>
                  <a:lnTo>
                    <a:pt x="2656486" y="185690"/>
                  </a:lnTo>
                  <a:lnTo>
                    <a:pt x="2672573" y="174844"/>
                  </a:lnTo>
                  <a:lnTo>
                    <a:pt x="2683419" y="158757"/>
                  </a:lnTo>
                  <a:lnTo>
                    <a:pt x="2687396" y="139057"/>
                  </a:lnTo>
                  <a:lnTo>
                    <a:pt x="2687396" y="50610"/>
                  </a:lnTo>
                  <a:lnTo>
                    <a:pt x="2683419" y="30910"/>
                  </a:lnTo>
                  <a:lnTo>
                    <a:pt x="2672573" y="14823"/>
                  </a:lnTo>
                  <a:lnTo>
                    <a:pt x="2656486" y="3977"/>
                  </a:lnTo>
                  <a:lnTo>
                    <a:pt x="2636786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1674609" y="1935413"/>
            <a:ext cx="1259205" cy="183515"/>
            <a:chOff x="1674609" y="1935413"/>
            <a:chExt cx="1259205" cy="183515"/>
          </a:xfrm>
        </p:grpSpPr>
        <p:sp>
          <p:nvSpPr>
            <p:cNvPr id="17" name="object 17"/>
            <p:cNvSpPr/>
            <p:nvPr/>
          </p:nvSpPr>
          <p:spPr>
            <a:xfrm>
              <a:off x="1677140" y="1937943"/>
              <a:ext cx="1254125" cy="178435"/>
            </a:xfrm>
            <a:custGeom>
              <a:avLst/>
              <a:gdLst/>
              <a:ahLst/>
              <a:cxnLst/>
              <a:rect l="l" t="t" r="r" b="b"/>
              <a:pathLst>
                <a:path w="1254125" h="178435">
                  <a:moveTo>
                    <a:pt x="1203100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7"/>
                  </a:lnTo>
                  <a:lnTo>
                    <a:pt x="3977" y="147482"/>
                  </a:lnTo>
                  <a:lnTo>
                    <a:pt x="14823" y="163569"/>
                  </a:lnTo>
                  <a:lnTo>
                    <a:pt x="30910" y="174418"/>
                  </a:lnTo>
                  <a:lnTo>
                    <a:pt x="50610" y="178396"/>
                  </a:lnTo>
                  <a:lnTo>
                    <a:pt x="1203100" y="178396"/>
                  </a:lnTo>
                  <a:lnTo>
                    <a:pt x="1222800" y="174418"/>
                  </a:lnTo>
                  <a:lnTo>
                    <a:pt x="1238887" y="163569"/>
                  </a:lnTo>
                  <a:lnTo>
                    <a:pt x="1249733" y="147482"/>
                  </a:lnTo>
                  <a:lnTo>
                    <a:pt x="1253710" y="127787"/>
                  </a:lnTo>
                  <a:lnTo>
                    <a:pt x="1253710" y="50609"/>
                  </a:lnTo>
                  <a:lnTo>
                    <a:pt x="1249733" y="30909"/>
                  </a:lnTo>
                  <a:lnTo>
                    <a:pt x="1238887" y="14822"/>
                  </a:lnTo>
                  <a:lnTo>
                    <a:pt x="1222800" y="3976"/>
                  </a:lnTo>
                  <a:lnTo>
                    <a:pt x="12031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77140" y="1937943"/>
              <a:ext cx="1254125" cy="178435"/>
            </a:xfrm>
            <a:custGeom>
              <a:avLst/>
              <a:gdLst/>
              <a:ahLst/>
              <a:cxnLst/>
              <a:rect l="l" t="t" r="r" b="b"/>
              <a:pathLst>
                <a:path w="1254125" h="178435">
                  <a:moveTo>
                    <a:pt x="1203100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7"/>
                  </a:lnTo>
                  <a:lnTo>
                    <a:pt x="3977" y="147482"/>
                  </a:lnTo>
                  <a:lnTo>
                    <a:pt x="14823" y="163569"/>
                  </a:lnTo>
                  <a:lnTo>
                    <a:pt x="30910" y="174418"/>
                  </a:lnTo>
                  <a:lnTo>
                    <a:pt x="50610" y="178396"/>
                  </a:lnTo>
                  <a:lnTo>
                    <a:pt x="1203100" y="178396"/>
                  </a:lnTo>
                  <a:lnTo>
                    <a:pt x="1222800" y="174418"/>
                  </a:lnTo>
                  <a:lnTo>
                    <a:pt x="1238887" y="163569"/>
                  </a:lnTo>
                  <a:lnTo>
                    <a:pt x="1249733" y="147482"/>
                  </a:lnTo>
                  <a:lnTo>
                    <a:pt x="1253710" y="127787"/>
                  </a:lnTo>
                  <a:lnTo>
                    <a:pt x="1253710" y="50609"/>
                  </a:lnTo>
                  <a:lnTo>
                    <a:pt x="1249733" y="30909"/>
                  </a:lnTo>
                  <a:lnTo>
                    <a:pt x="1238887" y="14822"/>
                  </a:lnTo>
                  <a:lnTo>
                    <a:pt x="1222800" y="3976"/>
                  </a:lnTo>
                  <a:lnTo>
                    <a:pt x="120310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1085878" y="2289781"/>
            <a:ext cx="2436495" cy="194945"/>
            <a:chOff x="1085878" y="2289781"/>
            <a:chExt cx="2436495" cy="194945"/>
          </a:xfrm>
        </p:grpSpPr>
        <p:sp>
          <p:nvSpPr>
            <p:cNvPr id="20" name="object 20"/>
            <p:cNvSpPr/>
            <p:nvPr/>
          </p:nvSpPr>
          <p:spPr>
            <a:xfrm>
              <a:off x="1088409" y="2292312"/>
              <a:ext cx="2431415" cy="189865"/>
            </a:xfrm>
            <a:custGeom>
              <a:avLst/>
              <a:gdLst/>
              <a:ahLst/>
              <a:cxnLst/>
              <a:rect l="l" t="t" r="r" b="b"/>
              <a:pathLst>
                <a:path w="2431415" h="189864">
                  <a:moveTo>
                    <a:pt x="238056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52"/>
                  </a:lnTo>
                  <a:lnTo>
                    <a:pt x="3977" y="158752"/>
                  </a:lnTo>
                  <a:lnTo>
                    <a:pt x="14823" y="174839"/>
                  </a:lnTo>
                  <a:lnTo>
                    <a:pt x="30910" y="185684"/>
                  </a:lnTo>
                  <a:lnTo>
                    <a:pt x="50610" y="189661"/>
                  </a:lnTo>
                  <a:lnTo>
                    <a:pt x="2380562" y="189661"/>
                  </a:lnTo>
                  <a:lnTo>
                    <a:pt x="2400262" y="185684"/>
                  </a:lnTo>
                  <a:lnTo>
                    <a:pt x="2416350" y="174839"/>
                  </a:lnTo>
                  <a:lnTo>
                    <a:pt x="2427196" y="158752"/>
                  </a:lnTo>
                  <a:lnTo>
                    <a:pt x="2431173" y="139052"/>
                  </a:lnTo>
                  <a:lnTo>
                    <a:pt x="2431173" y="50609"/>
                  </a:lnTo>
                  <a:lnTo>
                    <a:pt x="2427196" y="30909"/>
                  </a:lnTo>
                  <a:lnTo>
                    <a:pt x="2416350" y="14822"/>
                  </a:lnTo>
                  <a:lnTo>
                    <a:pt x="2400262" y="3976"/>
                  </a:lnTo>
                  <a:lnTo>
                    <a:pt x="238056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88409" y="2292312"/>
              <a:ext cx="2431415" cy="189865"/>
            </a:xfrm>
            <a:custGeom>
              <a:avLst/>
              <a:gdLst/>
              <a:ahLst/>
              <a:cxnLst/>
              <a:rect l="l" t="t" r="r" b="b"/>
              <a:pathLst>
                <a:path w="2431415" h="189864">
                  <a:moveTo>
                    <a:pt x="238056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52"/>
                  </a:lnTo>
                  <a:lnTo>
                    <a:pt x="3977" y="158752"/>
                  </a:lnTo>
                  <a:lnTo>
                    <a:pt x="14823" y="174839"/>
                  </a:lnTo>
                  <a:lnTo>
                    <a:pt x="30910" y="185684"/>
                  </a:lnTo>
                  <a:lnTo>
                    <a:pt x="50610" y="189661"/>
                  </a:lnTo>
                  <a:lnTo>
                    <a:pt x="2380562" y="189661"/>
                  </a:lnTo>
                  <a:lnTo>
                    <a:pt x="2400262" y="185684"/>
                  </a:lnTo>
                  <a:lnTo>
                    <a:pt x="2416350" y="174839"/>
                  </a:lnTo>
                  <a:lnTo>
                    <a:pt x="2427196" y="158752"/>
                  </a:lnTo>
                  <a:lnTo>
                    <a:pt x="2431173" y="139052"/>
                  </a:lnTo>
                  <a:lnTo>
                    <a:pt x="2431173" y="50609"/>
                  </a:lnTo>
                  <a:lnTo>
                    <a:pt x="2427196" y="30909"/>
                  </a:lnTo>
                  <a:lnTo>
                    <a:pt x="2416350" y="14822"/>
                  </a:lnTo>
                  <a:lnTo>
                    <a:pt x="2400262" y="3976"/>
                  </a:lnTo>
                  <a:lnTo>
                    <a:pt x="238056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63574" y="849078"/>
            <a:ext cx="2680970" cy="19011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900" spc="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(syntax</a:t>
            </a:r>
            <a:r>
              <a:rPr sz="900" spc="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analysis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ct val="262000"/>
              </a:lnSpc>
            </a:pPr>
            <a:r>
              <a:rPr sz="900" dirty="0">
                <a:latin typeface="Palatino Linotype" panose="02040502050505030304"/>
                <a:cs typeface="Palatino Linotype" panose="02040502050505030304"/>
              </a:rPr>
              <a:t>Semantic</a:t>
            </a:r>
            <a:r>
              <a:rPr sz="9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analysis</a:t>
            </a:r>
            <a:r>
              <a:rPr sz="9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9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intermediate</a:t>
            </a:r>
            <a:r>
              <a:rPr sz="9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generation </a:t>
            </a: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Machine-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independent</a:t>
            </a:r>
            <a:r>
              <a:rPr sz="9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improvement</a:t>
            </a:r>
            <a:r>
              <a:rPr sz="9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(optional)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9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generation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</a:pP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Machine-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specific</a:t>
            </a:r>
            <a:r>
              <a:rPr sz="9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improvement</a:t>
            </a:r>
            <a:r>
              <a:rPr sz="9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(optional)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1155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Figure:</a:t>
            </a:r>
            <a:r>
              <a:rPr sz="10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Phases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0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compilation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82191"/>
            <a:ext cx="694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Outline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779" y="1058138"/>
            <a:ext cx="155257" cy="1552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675" y="105515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055" y="1026323"/>
            <a:ext cx="1273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Storage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 organization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514017"/>
            <a:ext cx="155257" cy="1552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969897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242577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482203"/>
            <a:ext cx="1741805" cy="1103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E5EFF3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Stack</a:t>
            </a:r>
            <a:r>
              <a:rPr sz="1100" spc="3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Allocation</a:t>
            </a:r>
            <a:r>
              <a:rPr sz="1100" spc="35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of</a:t>
            </a:r>
            <a:r>
              <a:rPr sz="1100" spc="35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Space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E5EFF3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5EFF3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6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Non-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local</a:t>
            </a:r>
            <a:r>
              <a:rPr sz="1100" spc="3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E5EFF3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5EFF3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3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Heap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Management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138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105515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55" y="1026323"/>
            <a:ext cx="1273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Storage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organization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514017"/>
            <a:ext cx="155257" cy="1552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969897"/>
            <a:ext cx="155257" cy="15525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2425776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1482203"/>
            <a:ext cx="1741805" cy="1103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9FBFC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Stack</a:t>
            </a:r>
            <a:r>
              <a:rPr sz="1100" spc="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Allocation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of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Space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F9FBFC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F9FBFC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6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Non-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local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F9FBFC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F9FBFC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Heap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Management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Static</a:t>
            </a:r>
            <a:r>
              <a:rPr spc="220" dirty="0"/>
              <a:t> </a:t>
            </a:r>
            <a:r>
              <a:rPr dirty="0"/>
              <a:t>vs</a:t>
            </a:r>
            <a:r>
              <a:rPr spc="225" dirty="0"/>
              <a:t> </a:t>
            </a:r>
            <a:r>
              <a:rPr spc="55" dirty="0"/>
              <a:t>Dynamic</a:t>
            </a:r>
            <a:r>
              <a:rPr spc="225" dirty="0"/>
              <a:t> </a:t>
            </a:r>
            <a:r>
              <a:rPr spc="65" dirty="0"/>
              <a:t>Storage</a:t>
            </a:r>
            <a:r>
              <a:rPr spc="225" dirty="0"/>
              <a:t> </a:t>
            </a:r>
            <a:r>
              <a:rPr spc="40" dirty="0"/>
              <a:t>Allocation</a:t>
            </a:r>
            <a:endParaRPr spc="4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37" y="1683677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37" y="1927745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337" y="2360472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337" y="2604541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R="623570" algn="r">
              <a:lnSpc>
                <a:spcPct val="100000"/>
              </a:lnSpc>
              <a:spcBef>
                <a:spcPts val="685"/>
              </a:spcBef>
            </a:pPr>
            <a:r>
              <a:rPr sz="1500" spc="5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int</a:t>
            </a:r>
            <a:r>
              <a:rPr sz="1500" spc="1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500" spc="-3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a;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12700" marR="1482725" indent="186055">
              <a:lnSpc>
                <a:spcPct val="125000"/>
              </a:lnSpc>
              <a:spcBef>
                <a:spcPts val="85"/>
              </a:spcBef>
            </a:pPr>
            <a:r>
              <a:rPr dirty="0">
                <a:solidFill>
                  <a:srgbClr val="00688A"/>
                </a:solidFill>
              </a:rPr>
              <a:t>Static</a:t>
            </a:r>
            <a:r>
              <a:rPr spc="254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80" dirty="0"/>
              <a:t> </a:t>
            </a:r>
            <a:r>
              <a:rPr dirty="0"/>
              <a:t>“at</a:t>
            </a:r>
            <a:r>
              <a:rPr spc="80" dirty="0"/>
              <a:t> </a:t>
            </a:r>
            <a:r>
              <a:rPr spc="-30" dirty="0"/>
              <a:t>compile</a:t>
            </a:r>
            <a:r>
              <a:rPr spc="75" dirty="0"/>
              <a:t> </a:t>
            </a:r>
            <a:r>
              <a:rPr spc="-25" dirty="0"/>
              <a:t>time“ </a:t>
            </a:r>
            <a:r>
              <a:rPr spc="-10" dirty="0">
                <a:solidFill>
                  <a:srgbClr val="00688A"/>
                </a:solidFill>
              </a:rPr>
              <a:t>Dynamic</a:t>
            </a:r>
            <a:r>
              <a:rPr spc="170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20" dirty="0"/>
              <a:t> </a:t>
            </a:r>
            <a:r>
              <a:rPr dirty="0"/>
              <a:t>“at</a:t>
            </a:r>
            <a:r>
              <a:rPr spc="20" dirty="0"/>
              <a:t> </a:t>
            </a:r>
            <a:r>
              <a:rPr spc="-10" dirty="0"/>
              <a:t>runtime“</a:t>
            </a:r>
            <a:endParaRPr spc="-10" dirty="0"/>
          </a:p>
          <a:p>
            <a:pPr marL="22225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D8E8ED"/>
                </a:solidFill>
              </a:rPr>
              <a:t>Stack</a:t>
            </a:r>
            <a:r>
              <a:rPr spc="195" dirty="0">
                <a:solidFill>
                  <a:srgbClr val="D8E8ED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has</a:t>
            </a:r>
            <a:r>
              <a:rPr spc="4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data</a:t>
            </a:r>
            <a:r>
              <a:rPr spc="4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local</a:t>
            </a:r>
            <a:r>
              <a:rPr spc="4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4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(procedure)</a:t>
            </a:r>
            <a:r>
              <a:rPr spc="4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call.</a:t>
            </a:r>
            <a:endParaRPr spc="-10" dirty="0">
              <a:solidFill>
                <a:srgbClr val="D8D8D8"/>
              </a:solidFill>
            </a:endParaRPr>
          </a:p>
          <a:p>
            <a:pPr marL="899795">
              <a:lnSpc>
                <a:spcPct val="100000"/>
              </a:lnSpc>
              <a:spcBef>
                <a:spcPts val="530"/>
              </a:spcBef>
            </a:pPr>
            <a:r>
              <a:rPr spc="-10" dirty="0">
                <a:solidFill>
                  <a:srgbClr val="F9F9F9"/>
                </a:solidFill>
              </a:rPr>
              <a:t>Layout</a:t>
            </a:r>
            <a:r>
              <a:rPr spc="-5" dirty="0">
                <a:solidFill>
                  <a:srgbClr val="F9F9F9"/>
                </a:solidFill>
              </a:rPr>
              <a:t> </a:t>
            </a:r>
            <a:r>
              <a:rPr spc="-50" dirty="0">
                <a:solidFill>
                  <a:srgbClr val="F9F9F9"/>
                </a:solidFill>
              </a:rPr>
              <a:t>known</a:t>
            </a:r>
            <a:r>
              <a:rPr spc="-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statically</a:t>
            </a:r>
            <a:endParaRPr spc="-10" dirty="0">
              <a:solidFill>
                <a:srgbClr val="F9F9F9"/>
              </a:solidFill>
            </a:endParaRPr>
          </a:p>
          <a:p>
            <a:pPr marL="241300" marR="5080" indent="657860">
              <a:lnSpc>
                <a:spcPct val="140000"/>
              </a:lnSpc>
              <a:spcBef>
                <a:spcPts val="7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automatically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20" dirty="0">
                <a:solidFill>
                  <a:srgbClr val="F9F9F9"/>
                </a:solidFill>
              </a:rPr>
              <a:t> </a:t>
            </a:r>
            <a:r>
              <a:rPr spc="-20" dirty="0">
                <a:solidFill>
                  <a:srgbClr val="F9F9F9"/>
                </a:solidFill>
              </a:rPr>
              <a:t>generated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20" dirty="0">
                <a:solidFill>
                  <a:srgbClr val="F9F9F9"/>
                </a:solidFill>
              </a:rPr>
              <a:t>code </a:t>
            </a:r>
            <a:r>
              <a:rPr spc="-10" dirty="0">
                <a:solidFill>
                  <a:srgbClr val="D8E8ED"/>
                </a:solidFill>
              </a:rPr>
              <a:t>Heap</a:t>
            </a:r>
            <a:r>
              <a:rPr spc="185" dirty="0">
                <a:solidFill>
                  <a:srgbClr val="D8E8ED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has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data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that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spc="-35" dirty="0">
                <a:solidFill>
                  <a:srgbClr val="D8D8D8"/>
                </a:solidFill>
              </a:rPr>
              <a:t>survives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spc="-30" dirty="0">
                <a:solidFill>
                  <a:srgbClr val="D8D8D8"/>
                </a:solidFill>
              </a:rPr>
              <a:t>between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(procedure)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calls.</a:t>
            </a:r>
            <a:endParaRPr spc="-10" dirty="0">
              <a:solidFill>
                <a:srgbClr val="D8D8D8"/>
              </a:solidFill>
            </a:endParaRPr>
          </a:p>
          <a:p>
            <a:pPr marL="899795">
              <a:lnSpc>
                <a:spcPct val="100000"/>
              </a:lnSpc>
              <a:spcBef>
                <a:spcPts val="235"/>
              </a:spcBef>
            </a:pPr>
            <a:r>
              <a:rPr spc="-10" dirty="0">
                <a:solidFill>
                  <a:srgbClr val="F9F9F9"/>
                </a:solidFill>
              </a:rPr>
              <a:t>Layout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not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50" dirty="0">
                <a:solidFill>
                  <a:srgbClr val="F9F9F9"/>
                </a:solidFill>
              </a:rPr>
              <a:t>known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statically</a:t>
            </a:r>
            <a:endParaRPr spc="-10" dirty="0">
              <a:solidFill>
                <a:srgbClr val="F9F9F9"/>
              </a:solidFill>
            </a:endParaRPr>
          </a:p>
          <a:p>
            <a:pPr marL="899795">
              <a:lnSpc>
                <a:spcPct val="100000"/>
              </a:lnSpc>
              <a:spcBef>
                <a:spcPts val="60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30" dirty="0">
                <a:solidFill>
                  <a:srgbClr val="F9F9F9"/>
                </a:solidFill>
              </a:rPr>
              <a:t>dynamically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30" dirty="0">
                <a:solidFill>
                  <a:srgbClr val="F9F9F9"/>
                </a:solidFill>
              </a:rPr>
              <a:t> </a:t>
            </a:r>
            <a:r>
              <a:rPr spc="-25" dirty="0">
                <a:solidFill>
                  <a:srgbClr val="F9F9F9"/>
                </a:solidFill>
              </a:rPr>
              <a:t>garbage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collector</a:t>
            </a:r>
            <a:endParaRPr spc="-10" dirty="0">
              <a:solidFill>
                <a:srgbClr val="F9F9F9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Static</a:t>
            </a:r>
            <a:r>
              <a:rPr spc="220" dirty="0"/>
              <a:t> </a:t>
            </a:r>
            <a:r>
              <a:rPr dirty="0"/>
              <a:t>vs</a:t>
            </a:r>
            <a:r>
              <a:rPr spc="225" dirty="0"/>
              <a:t> </a:t>
            </a:r>
            <a:r>
              <a:rPr spc="55" dirty="0"/>
              <a:t>Dynamic</a:t>
            </a:r>
            <a:r>
              <a:rPr spc="225" dirty="0"/>
              <a:t> </a:t>
            </a:r>
            <a:r>
              <a:rPr spc="65" dirty="0"/>
              <a:t>Storage</a:t>
            </a:r>
            <a:r>
              <a:rPr spc="225" dirty="0"/>
              <a:t> </a:t>
            </a:r>
            <a:r>
              <a:rPr spc="40" dirty="0"/>
              <a:t>Allocation</a:t>
            </a:r>
            <a:endParaRPr spc="4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37" y="1683677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37" y="1927745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337" y="2360472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337" y="2604541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04800" y="585470"/>
            <a:ext cx="3846830" cy="2291080"/>
          </a:xfrm>
          <a:prstGeom prst="rect">
            <a:avLst/>
          </a:prstGeom>
        </p:spPr>
        <p:txBody>
          <a:bodyPr vert="horz" wrap="square" lIns="0" tIns="326237" rIns="0" bIns="0" rtlCol="0">
            <a:noAutofit/>
          </a:bodyPr>
          <a:lstStyle/>
          <a:p>
            <a:pPr marL="12700" marR="1482725" indent="186055">
              <a:lnSpc>
                <a:spcPct val="125000"/>
              </a:lnSpc>
              <a:spcBef>
                <a:spcPts val="100"/>
              </a:spcBef>
            </a:pPr>
            <a:r>
              <a:rPr dirty="0">
                <a:solidFill>
                  <a:srgbClr val="00688A"/>
                </a:solidFill>
              </a:rPr>
              <a:t>Static</a:t>
            </a:r>
            <a:r>
              <a:rPr spc="254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80" dirty="0"/>
              <a:t> </a:t>
            </a:r>
            <a:r>
              <a:rPr dirty="0"/>
              <a:t>“at</a:t>
            </a:r>
            <a:r>
              <a:rPr spc="80" dirty="0"/>
              <a:t> </a:t>
            </a:r>
            <a:r>
              <a:rPr spc="-30" dirty="0"/>
              <a:t>compile</a:t>
            </a:r>
            <a:r>
              <a:rPr spc="75" dirty="0"/>
              <a:t> </a:t>
            </a:r>
            <a:r>
              <a:rPr spc="-25" dirty="0"/>
              <a:t>time“ </a:t>
            </a:r>
            <a:r>
              <a:rPr spc="-10" dirty="0">
                <a:solidFill>
                  <a:srgbClr val="00688A"/>
                </a:solidFill>
              </a:rPr>
              <a:t>Dynamic</a:t>
            </a:r>
            <a:r>
              <a:rPr spc="170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20" dirty="0"/>
              <a:t> </a:t>
            </a:r>
            <a:r>
              <a:rPr dirty="0"/>
              <a:t>“at</a:t>
            </a:r>
            <a:r>
              <a:rPr spc="20" dirty="0"/>
              <a:t> </a:t>
            </a:r>
            <a:r>
              <a:rPr spc="-10" dirty="0"/>
              <a:t>runtime“</a:t>
            </a:r>
            <a:endParaRPr spc="-10" dirty="0"/>
          </a:p>
          <a:p>
            <a:pPr marL="22225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688A"/>
                </a:solidFill>
              </a:rPr>
              <a:t>Stack</a:t>
            </a:r>
            <a:r>
              <a:rPr spc="19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40" dirty="0"/>
              <a:t> </a:t>
            </a:r>
            <a:r>
              <a:rPr dirty="0"/>
              <a:t>data</a:t>
            </a:r>
            <a:r>
              <a:rPr spc="40" dirty="0"/>
              <a:t> </a:t>
            </a:r>
            <a:r>
              <a:rPr dirty="0"/>
              <a:t>local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10" dirty="0"/>
              <a:t>(procedure)</a:t>
            </a:r>
            <a:r>
              <a:rPr spc="40" dirty="0"/>
              <a:t> </a:t>
            </a:r>
            <a:r>
              <a:rPr spc="-10" dirty="0"/>
              <a:t>call.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530"/>
              </a:spcBef>
            </a:pPr>
            <a:r>
              <a:rPr spc="-10" dirty="0"/>
              <a:t>Layout</a:t>
            </a:r>
            <a:r>
              <a:rPr spc="-5" dirty="0"/>
              <a:t> </a:t>
            </a:r>
            <a:r>
              <a:rPr spc="-50" dirty="0"/>
              <a:t>known</a:t>
            </a:r>
            <a:r>
              <a:rPr spc="-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241300" marR="5080" indent="657860">
              <a:lnSpc>
                <a:spcPct val="140000"/>
              </a:lnSpc>
              <a:spcBef>
                <a:spcPts val="7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automatically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20" dirty="0">
                <a:solidFill>
                  <a:srgbClr val="F9F9F9"/>
                </a:solidFill>
              </a:rPr>
              <a:t> </a:t>
            </a:r>
            <a:r>
              <a:rPr spc="-20" dirty="0">
                <a:solidFill>
                  <a:srgbClr val="F9F9F9"/>
                </a:solidFill>
              </a:rPr>
              <a:t>generated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20" dirty="0">
                <a:solidFill>
                  <a:srgbClr val="F9F9F9"/>
                </a:solidFill>
              </a:rPr>
              <a:t>code </a:t>
            </a:r>
            <a:r>
              <a:rPr spc="-10" dirty="0">
                <a:solidFill>
                  <a:srgbClr val="D8E8ED"/>
                </a:solidFill>
              </a:rPr>
              <a:t>Heap</a:t>
            </a:r>
            <a:r>
              <a:rPr spc="185" dirty="0">
                <a:solidFill>
                  <a:srgbClr val="D8E8ED"/>
                </a:solidFill>
              </a:rPr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spc="-35" dirty="0"/>
              <a:t>survives</a:t>
            </a:r>
            <a:r>
              <a:rPr spc="30" dirty="0"/>
              <a:t> </a:t>
            </a:r>
            <a:r>
              <a:rPr spc="-30" dirty="0"/>
              <a:t>between</a:t>
            </a:r>
            <a:r>
              <a:rPr spc="30" dirty="0"/>
              <a:t> </a:t>
            </a:r>
            <a:r>
              <a:rPr spc="-10" dirty="0"/>
              <a:t>(procedure)</a:t>
            </a:r>
            <a:r>
              <a:rPr spc="30" dirty="0"/>
              <a:t> </a:t>
            </a:r>
            <a:r>
              <a:rPr spc="-10" dirty="0"/>
              <a:t>calls.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235"/>
              </a:spcBef>
            </a:pPr>
            <a:r>
              <a:rPr spc="-10" dirty="0">
                <a:solidFill>
                  <a:srgbClr val="F9F9F9"/>
                </a:solidFill>
              </a:rPr>
              <a:t>Layout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not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50" dirty="0">
                <a:solidFill>
                  <a:srgbClr val="F9F9F9"/>
                </a:solidFill>
              </a:rPr>
              <a:t>known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statically</a:t>
            </a:r>
            <a:endParaRPr spc="-10" dirty="0">
              <a:solidFill>
                <a:srgbClr val="F9F9F9"/>
              </a:solidFill>
            </a:endParaRPr>
          </a:p>
          <a:p>
            <a:pPr marL="899795">
              <a:lnSpc>
                <a:spcPct val="100000"/>
              </a:lnSpc>
              <a:spcBef>
                <a:spcPts val="60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30" dirty="0">
                <a:solidFill>
                  <a:srgbClr val="F9F9F9"/>
                </a:solidFill>
              </a:rPr>
              <a:t>dynamically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30" dirty="0">
                <a:solidFill>
                  <a:srgbClr val="F9F9F9"/>
                </a:solidFill>
              </a:rPr>
              <a:t> </a:t>
            </a:r>
            <a:r>
              <a:rPr spc="-25" dirty="0">
                <a:solidFill>
                  <a:srgbClr val="F9F9F9"/>
                </a:solidFill>
              </a:rPr>
              <a:t>garbage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collector</a:t>
            </a:r>
            <a:endParaRPr spc="-10" dirty="0">
              <a:solidFill>
                <a:srgbClr val="F9F9F9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4611" y="332951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9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Static</a:t>
            </a:r>
            <a:r>
              <a:rPr spc="220" dirty="0"/>
              <a:t> </a:t>
            </a:r>
            <a:r>
              <a:rPr dirty="0"/>
              <a:t>vs</a:t>
            </a:r>
            <a:r>
              <a:rPr spc="225" dirty="0"/>
              <a:t> </a:t>
            </a:r>
            <a:r>
              <a:rPr spc="55" dirty="0"/>
              <a:t>Dynamic</a:t>
            </a:r>
            <a:r>
              <a:rPr spc="225" dirty="0"/>
              <a:t> </a:t>
            </a:r>
            <a:r>
              <a:rPr spc="65" dirty="0"/>
              <a:t>Storage</a:t>
            </a:r>
            <a:r>
              <a:rPr spc="225" dirty="0"/>
              <a:t> </a:t>
            </a:r>
            <a:r>
              <a:rPr spc="40" dirty="0"/>
              <a:t>Allocation</a:t>
            </a:r>
            <a:endParaRPr spc="4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37" y="1683677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37" y="1927745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337" y="2360472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337" y="2604541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04800" y="585470"/>
            <a:ext cx="3811270" cy="2364105"/>
          </a:xfrm>
          <a:prstGeom prst="rect">
            <a:avLst/>
          </a:prstGeom>
        </p:spPr>
        <p:txBody>
          <a:bodyPr vert="horz" wrap="square" lIns="0" tIns="326237" rIns="0" bIns="0" rtlCol="0">
            <a:noAutofit/>
          </a:bodyPr>
          <a:lstStyle/>
          <a:p>
            <a:pPr marL="12700" marR="1482725" indent="186055">
              <a:lnSpc>
                <a:spcPct val="125000"/>
              </a:lnSpc>
              <a:spcBef>
                <a:spcPts val="100"/>
              </a:spcBef>
            </a:pPr>
            <a:r>
              <a:rPr dirty="0">
                <a:solidFill>
                  <a:srgbClr val="00688A"/>
                </a:solidFill>
              </a:rPr>
              <a:t>Static</a:t>
            </a:r>
            <a:r>
              <a:rPr spc="254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80" dirty="0"/>
              <a:t> </a:t>
            </a:r>
            <a:r>
              <a:rPr dirty="0"/>
              <a:t>“at</a:t>
            </a:r>
            <a:r>
              <a:rPr spc="80" dirty="0"/>
              <a:t> </a:t>
            </a:r>
            <a:r>
              <a:rPr spc="-30" dirty="0"/>
              <a:t>compile</a:t>
            </a:r>
            <a:r>
              <a:rPr spc="75" dirty="0"/>
              <a:t> </a:t>
            </a:r>
            <a:r>
              <a:rPr spc="-25" dirty="0"/>
              <a:t>time“ </a:t>
            </a:r>
            <a:r>
              <a:rPr spc="-10" dirty="0">
                <a:solidFill>
                  <a:srgbClr val="00688A"/>
                </a:solidFill>
              </a:rPr>
              <a:t>Dynamic</a:t>
            </a:r>
            <a:r>
              <a:rPr spc="170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20" dirty="0"/>
              <a:t> </a:t>
            </a:r>
            <a:r>
              <a:rPr dirty="0"/>
              <a:t>“at</a:t>
            </a:r>
            <a:r>
              <a:rPr spc="20" dirty="0"/>
              <a:t> </a:t>
            </a:r>
            <a:r>
              <a:rPr spc="-10" dirty="0"/>
              <a:t>runtime“</a:t>
            </a:r>
            <a:endParaRPr spc="-10" dirty="0"/>
          </a:p>
          <a:p>
            <a:pPr marL="22225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688A"/>
                </a:solidFill>
              </a:rPr>
              <a:t>Stack</a:t>
            </a:r>
            <a:r>
              <a:rPr spc="19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40" dirty="0"/>
              <a:t> </a:t>
            </a:r>
            <a:r>
              <a:rPr dirty="0"/>
              <a:t>data</a:t>
            </a:r>
            <a:r>
              <a:rPr spc="40" dirty="0"/>
              <a:t> </a:t>
            </a:r>
            <a:r>
              <a:rPr dirty="0"/>
              <a:t>local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10" dirty="0"/>
              <a:t>(procedure)</a:t>
            </a:r>
            <a:r>
              <a:rPr spc="40" dirty="0"/>
              <a:t> </a:t>
            </a:r>
            <a:r>
              <a:rPr spc="-10" dirty="0"/>
              <a:t>call.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530"/>
              </a:spcBef>
            </a:pPr>
            <a:r>
              <a:rPr spc="-10" dirty="0"/>
              <a:t>Layout</a:t>
            </a:r>
            <a:r>
              <a:rPr spc="-5" dirty="0"/>
              <a:t> </a:t>
            </a:r>
            <a:r>
              <a:rPr spc="-50" dirty="0"/>
              <a:t>known</a:t>
            </a:r>
            <a:r>
              <a:rPr spc="-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241300" marR="5080" indent="657860">
              <a:lnSpc>
                <a:spcPct val="140000"/>
              </a:lnSpc>
              <a:spcBef>
                <a:spcPts val="7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automatically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20" dirty="0">
                <a:solidFill>
                  <a:srgbClr val="F9F9F9"/>
                </a:solidFill>
              </a:rPr>
              <a:t> </a:t>
            </a:r>
            <a:r>
              <a:rPr spc="-20" dirty="0">
                <a:solidFill>
                  <a:srgbClr val="F9F9F9"/>
                </a:solidFill>
              </a:rPr>
              <a:t>generated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20" dirty="0">
                <a:solidFill>
                  <a:srgbClr val="F9F9F9"/>
                </a:solidFill>
              </a:rPr>
              <a:t>code </a:t>
            </a:r>
            <a:r>
              <a:rPr spc="-10" dirty="0">
                <a:solidFill>
                  <a:srgbClr val="D8E8ED"/>
                </a:solidFill>
              </a:rPr>
              <a:t>Heap</a:t>
            </a:r>
            <a:r>
              <a:rPr spc="185" dirty="0">
                <a:solidFill>
                  <a:srgbClr val="D8E8ED"/>
                </a:solidFill>
              </a:rPr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spc="-35" dirty="0"/>
              <a:t>survives</a:t>
            </a:r>
            <a:r>
              <a:rPr spc="30" dirty="0"/>
              <a:t> </a:t>
            </a:r>
            <a:r>
              <a:rPr spc="-30" dirty="0"/>
              <a:t>between</a:t>
            </a:r>
            <a:r>
              <a:rPr spc="30" dirty="0"/>
              <a:t> </a:t>
            </a:r>
            <a:r>
              <a:rPr spc="-10" dirty="0"/>
              <a:t>(procedure)</a:t>
            </a:r>
            <a:r>
              <a:rPr spc="30" dirty="0"/>
              <a:t> </a:t>
            </a:r>
            <a:r>
              <a:rPr spc="-10" dirty="0"/>
              <a:t>calls.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235"/>
              </a:spcBef>
            </a:pPr>
            <a:r>
              <a:rPr spc="-10" dirty="0">
                <a:solidFill>
                  <a:srgbClr val="F9F9F9"/>
                </a:solidFill>
              </a:rPr>
              <a:t>Layout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not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50" dirty="0">
                <a:solidFill>
                  <a:srgbClr val="F9F9F9"/>
                </a:solidFill>
              </a:rPr>
              <a:t>known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statically</a:t>
            </a:r>
            <a:endParaRPr spc="-10" dirty="0">
              <a:solidFill>
                <a:srgbClr val="F9F9F9"/>
              </a:solidFill>
            </a:endParaRPr>
          </a:p>
          <a:p>
            <a:pPr marL="899795">
              <a:lnSpc>
                <a:spcPct val="100000"/>
              </a:lnSpc>
              <a:spcBef>
                <a:spcPts val="60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30" dirty="0">
                <a:solidFill>
                  <a:srgbClr val="F9F9F9"/>
                </a:solidFill>
              </a:rPr>
              <a:t>dynamically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30" dirty="0">
                <a:solidFill>
                  <a:srgbClr val="F9F9F9"/>
                </a:solidFill>
              </a:rPr>
              <a:t> </a:t>
            </a:r>
            <a:r>
              <a:rPr spc="-25" dirty="0">
                <a:solidFill>
                  <a:srgbClr val="F9F9F9"/>
                </a:solidFill>
              </a:rPr>
              <a:t>garbage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collector</a:t>
            </a:r>
            <a:endParaRPr spc="-10" dirty="0">
              <a:solidFill>
                <a:srgbClr val="F9F9F9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10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Static</a:t>
            </a:r>
            <a:r>
              <a:rPr spc="220" dirty="0"/>
              <a:t> </a:t>
            </a:r>
            <a:r>
              <a:rPr dirty="0"/>
              <a:t>vs</a:t>
            </a:r>
            <a:r>
              <a:rPr spc="225" dirty="0"/>
              <a:t> </a:t>
            </a:r>
            <a:r>
              <a:rPr spc="55" dirty="0"/>
              <a:t>Dynamic</a:t>
            </a:r>
            <a:r>
              <a:rPr spc="225" dirty="0"/>
              <a:t> </a:t>
            </a:r>
            <a:r>
              <a:rPr spc="65" dirty="0"/>
              <a:t>Storage</a:t>
            </a:r>
            <a:r>
              <a:rPr spc="225" dirty="0"/>
              <a:t> </a:t>
            </a:r>
            <a:r>
              <a:rPr spc="40" dirty="0"/>
              <a:t>Allocation</a:t>
            </a:r>
            <a:endParaRPr spc="4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37" y="1683677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37" y="1927745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337" y="2360472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337" y="2604541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04800" y="585470"/>
            <a:ext cx="3894455" cy="2437765"/>
          </a:xfrm>
          <a:prstGeom prst="rect">
            <a:avLst/>
          </a:prstGeom>
        </p:spPr>
        <p:txBody>
          <a:bodyPr vert="horz" wrap="square" lIns="0" tIns="326237" rIns="0" bIns="0" rtlCol="0">
            <a:noAutofit/>
          </a:bodyPr>
          <a:lstStyle/>
          <a:p>
            <a:pPr marL="12700" marR="1482725" indent="186055">
              <a:lnSpc>
                <a:spcPct val="125000"/>
              </a:lnSpc>
              <a:spcBef>
                <a:spcPts val="100"/>
              </a:spcBef>
            </a:pPr>
            <a:r>
              <a:rPr dirty="0">
                <a:solidFill>
                  <a:srgbClr val="00688A"/>
                </a:solidFill>
              </a:rPr>
              <a:t>Static</a:t>
            </a:r>
            <a:r>
              <a:rPr spc="254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80" dirty="0"/>
              <a:t> </a:t>
            </a:r>
            <a:r>
              <a:rPr dirty="0"/>
              <a:t>“at</a:t>
            </a:r>
            <a:r>
              <a:rPr spc="80" dirty="0"/>
              <a:t> </a:t>
            </a:r>
            <a:r>
              <a:rPr spc="-30" dirty="0"/>
              <a:t>compile</a:t>
            </a:r>
            <a:r>
              <a:rPr spc="75" dirty="0"/>
              <a:t> </a:t>
            </a:r>
            <a:r>
              <a:rPr spc="-25" dirty="0"/>
              <a:t>time“ </a:t>
            </a:r>
            <a:r>
              <a:rPr spc="-10" dirty="0">
                <a:solidFill>
                  <a:srgbClr val="00688A"/>
                </a:solidFill>
              </a:rPr>
              <a:t>Dynamic</a:t>
            </a:r>
            <a:r>
              <a:rPr spc="170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20" dirty="0"/>
              <a:t> </a:t>
            </a:r>
            <a:r>
              <a:rPr dirty="0"/>
              <a:t>“at</a:t>
            </a:r>
            <a:r>
              <a:rPr spc="20" dirty="0"/>
              <a:t> </a:t>
            </a:r>
            <a:r>
              <a:rPr spc="-10" dirty="0"/>
              <a:t>runtime“</a:t>
            </a:r>
            <a:endParaRPr spc="-10" dirty="0"/>
          </a:p>
          <a:p>
            <a:pPr marL="22225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688A"/>
                </a:solidFill>
              </a:rPr>
              <a:t>Stack</a:t>
            </a:r>
            <a:r>
              <a:rPr spc="19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40" dirty="0"/>
              <a:t> </a:t>
            </a:r>
            <a:r>
              <a:rPr dirty="0"/>
              <a:t>data</a:t>
            </a:r>
            <a:r>
              <a:rPr spc="40" dirty="0"/>
              <a:t> </a:t>
            </a:r>
            <a:r>
              <a:rPr dirty="0"/>
              <a:t>local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10" dirty="0"/>
              <a:t>(procedure)</a:t>
            </a:r>
            <a:r>
              <a:rPr spc="40" dirty="0"/>
              <a:t> </a:t>
            </a:r>
            <a:r>
              <a:rPr spc="-10" dirty="0"/>
              <a:t>call.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530"/>
              </a:spcBef>
            </a:pPr>
            <a:r>
              <a:rPr spc="-10" dirty="0"/>
              <a:t>Layout</a:t>
            </a:r>
            <a:r>
              <a:rPr spc="-5" dirty="0"/>
              <a:t> </a:t>
            </a:r>
            <a:r>
              <a:rPr spc="-50" dirty="0"/>
              <a:t>known</a:t>
            </a:r>
            <a:r>
              <a:rPr spc="-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241300" marR="5080" indent="657860">
              <a:lnSpc>
                <a:spcPct val="140000"/>
              </a:lnSpc>
              <a:spcBef>
                <a:spcPts val="70"/>
              </a:spcBef>
            </a:pPr>
            <a:r>
              <a:rPr spc="-30" dirty="0"/>
              <a:t>Managed</a:t>
            </a:r>
            <a:r>
              <a:rPr spc="15" dirty="0"/>
              <a:t> </a:t>
            </a:r>
            <a:r>
              <a:rPr spc="-10" dirty="0"/>
              <a:t>automatically</a:t>
            </a:r>
            <a:r>
              <a:rPr spc="15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spc="-20" dirty="0"/>
              <a:t>generated</a:t>
            </a:r>
            <a:r>
              <a:rPr spc="15" dirty="0"/>
              <a:t> </a:t>
            </a:r>
            <a:r>
              <a:rPr spc="-20" dirty="0"/>
              <a:t>code </a:t>
            </a:r>
            <a:r>
              <a:rPr spc="-10" dirty="0">
                <a:solidFill>
                  <a:srgbClr val="D8E8ED"/>
                </a:solidFill>
              </a:rPr>
              <a:t>Heap</a:t>
            </a:r>
            <a:r>
              <a:rPr spc="185" dirty="0">
                <a:solidFill>
                  <a:srgbClr val="D8E8ED"/>
                </a:solidFill>
              </a:rPr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spc="-35" dirty="0"/>
              <a:t>survives</a:t>
            </a:r>
            <a:r>
              <a:rPr spc="30" dirty="0"/>
              <a:t> </a:t>
            </a:r>
            <a:r>
              <a:rPr spc="-30" dirty="0"/>
              <a:t>between</a:t>
            </a:r>
            <a:r>
              <a:rPr spc="30" dirty="0"/>
              <a:t> </a:t>
            </a:r>
            <a:r>
              <a:rPr spc="-10" dirty="0"/>
              <a:t>(procedure)</a:t>
            </a:r>
            <a:r>
              <a:rPr spc="30" dirty="0"/>
              <a:t> </a:t>
            </a:r>
            <a:r>
              <a:rPr spc="-10" dirty="0"/>
              <a:t>calls.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235"/>
              </a:spcBef>
            </a:pPr>
            <a:r>
              <a:rPr spc="-10" dirty="0">
                <a:solidFill>
                  <a:srgbClr val="F9F9F9"/>
                </a:solidFill>
              </a:rPr>
              <a:t>Layout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not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50" dirty="0">
                <a:solidFill>
                  <a:srgbClr val="F9F9F9"/>
                </a:solidFill>
              </a:rPr>
              <a:t>known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statically</a:t>
            </a:r>
            <a:endParaRPr spc="-10" dirty="0">
              <a:solidFill>
                <a:srgbClr val="F9F9F9"/>
              </a:solidFill>
            </a:endParaRPr>
          </a:p>
          <a:p>
            <a:pPr marL="899795">
              <a:lnSpc>
                <a:spcPct val="100000"/>
              </a:lnSpc>
              <a:spcBef>
                <a:spcPts val="60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30" dirty="0">
                <a:solidFill>
                  <a:srgbClr val="F9F9F9"/>
                </a:solidFill>
              </a:rPr>
              <a:t>dynamically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30" dirty="0">
                <a:solidFill>
                  <a:srgbClr val="F9F9F9"/>
                </a:solidFill>
              </a:rPr>
              <a:t> </a:t>
            </a:r>
            <a:r>
              <a:rPr spc="-25" dirty="0">
                <a:solidFill>
                  <a:srgbClr val="F9F9F9"/>
                </a:solidFill>
              </a:rPr>
              <a:t>garbage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collector</a:t>
            </a:r>
            <a:endParaRPr spc="-10" dirty="0">
              <a:solidFill>
                <a:srgbClr val="F9F9F9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Static</a:t>
            </a:r>
            <a:r>
              <a:rPr spc="220" dirty="0"/>
              <a:t> </a:t>
            </a:r>
            <a:r>
              <a:rPr dirty="0"/>
              <a:t>vs</a:t>
            </a:r>
            <a:r>
              <a:rPr spc="225" dirty="0"/>
              <a:t> </a:t>
            </a:r>
            <a:r>
              <a:rPr spc="55" dirty="0"/>
              <a:t>Dynamic</a:t>
            </a:r>
            <a:r>
              <a:rPr spc="225" dirty="0"/>
              <a:t> </a:t>
            </a:r>
            <a:r>
              <a:rPr spc="65" dirty="0"/>
              <a:t>Storage</a:t>
            </a:r>
            <a:r>
              <a:rPr spc="225" dirty="0"/>
              <a:t> </a:t>
            </a:r>
            <a:r>
              <a:rPr spc="40" dirty="0"/>
              <a:t>Allocation</a:t>
            </a:r>
            <a:endParaRPr spc="4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37" y="1683677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37" y="1927745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337" y="2360472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337" y="2604541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04800" y="585470"/>
            <a:ext cx="3836670" cy="2279015"/>
          </a:xfrm>
          <a:prstGeom prst="rect">
            <a:avLst/>
          </a:prstGeom>
        </p:spPr>
        <p:txBody>
          <a:bodyPr vert="horz" wrap="square" lIns="0" tIns="326237" rIns="0" bIns="0" rtlCol="0">
            <a:noAutofit/>
          </a:bodyPr>
          <a:lstStyle/>
          <a:p>
            <a:pPr marL="12700" marR="1482725" indent="186055">
              <a:lnSpc>
                <a:spcPct val="125000"/>
              </a:lnSpc>
              <a:spcBef>
                <a:spcPts val="100"/>
              </a:spcBef>
            </a:pPr>
            <a:r>
              <a:rPr dirty="0">
                <a:solidFill>
                  <a:srgbClr val="00688A"/>
                </a:solidFill>
              </a:rPr>
              <a:t>Static</a:t>
            </a:r>
            <a:r>
              <a:rPr spc="254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80" dirty="0"/>
              <a:t> </a:t>
            </a:r>
            <a:r>
              <a:rPr dirty="0"/>
              <a:t>“at</a:t>
            </a:r>
            <a:r>
              <a:rPr spc="80" dirty="0"/>
              <a:t> </a:t>
            </a:r>
            <a:r>
              <a:rPr spc="-30" dirty="0"/>
              <a:t>compile</a:t>
            </a:r>
            <a:r>
              <a:rPr spc="75" dirty="0"/>
              <a:t> </a:t>
            </a:r>
            <a:r>
              <a:rPr spc="-25" dirty="0"/>
              <a:t>time“ </a:t>
            </a:r>
            <a:r>
              <a:rPr spc="-10" dirty="0">
                <a:solidFill>
                  <a:srgbClr val="00688A"/>
                </a:solidFill>
              </a:rPr>
              <a:t>Dynamic</a:t>
            </a:r>
            <a:r>
              <a:rPr spc="170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20" dirty="0"/>
              <a:t> </a:t>
            </a:r>
            <a:r>
              <a:rPr dirty="0"/>
              <a:t>“at</a:t>
            </a:r>
            <a:r>
              <a:rPr spc="20" dirty="0"/>
              <a:t> </a:t>
            </a:r>
            <a:r>
              <a:rPr spc="-10" dirty="0"/>
              <a:t>runtime“</a:t>
            </a:r>
            <a:endParaRPr spc="-10" dirty="0"/>
          </a:p>
          <a:p>
            <a:pPr marL="22225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688A"/>
                </a:solidFill>
              </a:rPr>
              <a:t>Stack</a:t>
            </a:r>
            <a:r>
              <a:rPr spc="19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40" dirty="0"/>
              <a:t> </a:t>
            </a:r>
            <a:r>
              <a:rPr dirty="0"/>
              <a:t>data</a:t>
            </a:r>
            <a:r>
              <a:rPr spc="40" dirty="0"/>
              <a:t> </a:t>
            </a:r>
            <a:r>
              <a:rPr dirty="0"/>
              <a:t>local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10" dirty="0"/>
              <a:t>(procedure)</a:t>
            </a:r>
            <a:r>
              <a:rPr spc="40" dirty="0"/>
              <a:t> </a:t>
            </a:r>
            <a:r>
              <a:rPr spc="-10" dirty="0"/>
              <a:t>call.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530"/>
              </a:spcBef>
            </a:pPr>
            <a:r>
              <a:rPr spc="-10" dirty="0"/>
              <a:t>Layout</a:t>
            </a:r>
            <a:r>
              <a:rPr spc="-5" dirty="0"/>
              <a:t> </a:t>
            </a:r>
            <a:r>
              <a:rPr spc="-50" dirty="0"/>
              <a:t>known</a:t>
            </a:r>
            <a:r>
              <a:rPr spc="-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241300" marR="5080" indent="657860">
              <a:lnSpc>
                <a:spcPct val="140000"/>
              </a:lnSpc>
              <a:spcBef>
                <a:spcPts val="70"/>
              </a:spcBef>
            </a:pPr>
            <a:r>
              <a:rPr spc="-30" dirty="0"/>
              <a:t>Managed</a:t>
            </a:r>
            <a:r>
              <a:rPr spc="15" dirty="0"/>
              <a:t> </a:t>
            </a:r>
            <a:r>
              <a:rPr spc="-10" dirty="0"/>
              <a:t>automatically</a:t>
            </a:r>
            <a:r>
              <a:rPr spc="15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spc="-20" dirty="0"/>
              <a:t>generated</a:t>
            </a:r>
            <a:r>
              <a:rPr spc="15" dirty="0"/>
              <a:t> </a:t>
            </a:r>
            <a:r>
              <a:rPr spc="-20" dirty="0"/>
              <a:t>code </a:t>
            </a:r>
            <a:r>
              <a:rPr spc="-10" dirty="0">
                <a:solidFill>
                  <a:srgbClr val="D8E8ED"/>
                </a:solidFill>
              </a:rPr>
              <a:t>Heap</a:t>
            </a:r>
            <a:r>
              <a:rPr spc="185" dirty="0">
                <a:solidFill>
                  <a:srgbClr val="D8E8ED"/>
                </a:solidFill>
              </a:rPr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spc="-35" dirty="0"/>
              <a:t>survives</a:t>
            </a:r>
            <a:r>
              <a:rPr spc="30" dirty="0"/>
              <a:t> </a:t>
            </a:r>
            <a:r>
              <a:rPr spc="-30" dirty="0"/>
              <a:t>between</a:t>
            </a:r>
            <a:r>
              <a:rPr spc="30" dirty="0"/>
              <a:t> </a:t>
            </a:r>
            <a:r>
              <a:rPr spc="-10" dirty="0"/>
              <a:t>(procedure)</a:t>
            </a:r>
            <a:r>
              <a:rPr spc="30" dirty="0"/>
              <a:t> </a:t>
            </a:r>
            <a:r>
              <a:rPr spc="-10" dirty="0"/>
              <a:t>calls.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235"/>
              </a:spcBef>
            </a:pPr>
            <a:r>
              <a:rPr spc="-10" dirty="0">
                <a:solidFill>
                  <a:srgbClr val="F9F9F9"/>
                </a:solidFill>
              </a:rPr>
              <a:t>Layout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not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50" dirty="0">
                <a:solidFill>
                  <a:srgbClr val="F9F9F9"/>
                </a:solidFill>
              </a:rPr>
              <a:t>known</a:t>
            </a:r>
            <a:r>
              <a:rPr spc="1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statically</a:t>
            </a:r>
            <a:endParaRPr spc="-10" dirty="0">
              <a:solidFill>
                <a:srgbClr val="F9F9F9"/>
              </a:solidFill>
            </a:endParaRPr>
          </a:p>
          <a:p>
            <a:pPr marL="899795">
              <a:lnSpc>
                <a:spcPct val="100000"/>
              </a:lnSpc>
              <a:spcBef>
                <a:spcPts val="600"/>
              </a:spcBef>
            </a:pPr>
            <a:r>
              <a:rPr spc="-30" dirty="0">
                <a:solidFill>
                  <a:srgbClr val="F9F9F9"/>
                </a:solidFill>
              </a:rPr>
              <a:t>Managed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30" dirty="0">
                <a:solidFill>
                  <a:srgbClr val="F9F9F9"/>
                </a:solidFill>
              </a:rPr>
              <a:t>dynamically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dirty="0">
                <a:solidFill>
                  <a:srgbClr val="F9F9F9"/>
                </a:solidFill>
              </a:rPr>
              <a:t>by</a:t>
            </a:r>
            <a:r>
              <a:rPr spc="30" dirty="0">
                <a:solidFill>
                  <a:srgbClr val="F9F9F9"/>
                </a:solidFill>
              </a:rPr>
              <a:t> </a:t>
            </a:r>
            <a:r>
              <a:rPr spc="-25" dirty="0">
                <a:solidFill>
                  <a:srgbClr val="F9F9F9"/>
                </a:solidFill>
              </a:rPr>
              <a:t>garbage</a:t>
            </a:r>
            <a:r>
              <a:rPr spc="25" dirty="0">
                <a:solidFill>
                  <a:srgbClr val="F9F9F9"/>
                </a:solidFill>
              </a:rPr>
              <a:t> </a:t>
            </a:r>
            <a:r>
              <a:rPr spc="-10" dirty="0">
                <a:solidFill>
                  <a:srgbClr val="F9F9F9"/>
                </a:solidFill>
              </a:rPr>
              <a:t>collector</a:t>
            </a:r>
            <a:endParaRPr spc="-10" dirty="0">
              <a:solidFill>
                <a:srgbClr val="F9F9F9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Static</a:t>
            </a:r>
            <a:r>
              <a:rPr spc="220" dirty="0"/>
              <a:t> </a:t>
            </a:r>
            <a:r>
              <a:rPr dirty="0"/>
              <a:t>vs</a:t>
            </a:r>
            <a:r>
              <a:rPr spc="225" dirty="0"/>
              <a:t> </a:t>
            </a:r>
            <a:r>
              <a:rPr spc="55" dirty="0"/>
              <a:t>Dynamic</a:t>
            </a:r>
            <a:r>
              <a:rPr spc="225" dirty="0"/>
              <a:t> </a:t>
            </a:r>
            <a:r>
              <a:rPr spc="65" dirty="0"/>
              <a:t>Storage</a:t>
            </a:r>
            <a:r>
              <a:rPr spc="225" dirty="0"/>
              <a:t> </a:t>
            </a:r>
            <a:r>
              <a:rPr spc="40" dirty="0"/>
              <a:t>Allocation</a:t>
            </a:r>
            <a:endParaRPr spc="4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37" y="1683677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37" y="1927745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337" y="2360472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337" y="2604541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04800" y="585470"/>
            <a:ext cx="3897630" cy="2367915"/>
          </a:xfrm>
          <a:prstGeom prst="rect">
            <a:avLst/>
          </a:prstGeom>
        </p:spPr>
        <p:txBody>
          <a:bodyPr vert="horz" wrap="square" lIns="0" tIns="326237" rIns="0" bIns="0" rtlCol="0">
            <a:noAutofit/>
          </a:bodyPr>
          <a:lstStyle/>
          <a:p>
            <a:pPr marL="12700" marR="1482725" indent="186055">
              <a:lnSpc>
                <a:spcPct val="125000"/>
              </a:lnSpc>
              <a:spcBef>
                <a:spcPts val="100"/>
              </a:spcBef>
            </a:pPr>
            <a:r>
              <a:rPr dirty="0">
                <a:solidFill>
                  <a:srgbClr val="00688A"/>
                </a:solidFill>
              </a:rPr>
              <a:t>Static</a:t>
            </a:r>
            <a:r>
              <a:rPr spc="254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80" dirty="0"/>
              <a:t> </a:t>
            </a:r>
            <a:r>
              <a:rPr dirty="0"/>
              <a:t>“at</a:t>
            </a:r>
            <a:r>
              <a:rPr spc="80" dirty="0"/>
              <a:t> </a:t>
            </a:r>
            <a:r>
              <a:rPr spc="-30" dirty="0"/>
              <a:t>compile</a:t>
            </a:r>
            <a:r>
              <a:rPr spc="75" dirty="0"/>
              <a:t> </a:t>
            </a:r>
            <a:r>
              <a:rPr spc="-25" dirty="0"/>
              <a:t>time“ </a:t>
            </a:r>
            <a:r>
              <a:rPr spc="-10" dirty="0">
                <a:solidFill>
                  <a:srgbClr val="00688A"/>
                </a:solidFill>
              </a:rPr>
              <a:t>Dynamic</a:t>
            </a:r>
            <a:r>
              <a:rPr spc="170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20" dirty="0"/>
              <a:t> </a:t>
            </a:r>
            <a:r>
              <a:rPr dirty="0"/>
              <a:t>“at</a:t>
            </a:r>
            <a:r>
              <a:rPr spc="20" dirty="0"/>
              <a:t> </a:t>
            </a:r>
            <a:r>
              <a:rPr spc="-10" dirty="0"/>
              <a:t>runtime“</a:t>
            </a:r>
            <a:endParaRPr spc="-10" dirty="0"/>
          </a:p>
          <a:p>
            <a:pPr marL="22225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688A"/>
                </a:solidFill>
              </a:rPr>
              <a:t>Stack</a:t>
            </a:r>
            <a:r>
              <a:rPr spc="19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40" dirty="0"/>
              <a:t> </a:t>
            </a:r>
            <a:r>
              <a:rPr dirty="0"/>
              <a:t>data</a:t>
            </a:r>
            <a:r>
              <a:rPr spc="40" dirty="0"/>
              <a:t> </a:t>
            </a:r>
            <a:r>
              <a:rPr dirty="0"/>
              <a:t>local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10" dirty="0"/>
              <a:t>(procedure)</a:t>
            </a:r>
            <a:r>
              <a:rPr spc="40" dirty="0"/>
              <a:t> </a:t>
            </a:r>
            <a:r>
              <a:rPr spc="-10" dirty="0"/>
              <a:t>call.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530"/>
              </a:spcBef>
            </a:pPr>
            <a:r>
              <a:rPr spc="-10" dirty="0"/>
              <a:t>Layout</a:t>
            </a:r>
            <a:r>
              <a:rPr spc="-5" dirty="0"/>
              <a:t> </a:t>
            </a:r>
            <a:r>
              <a:rPr spc="-50" dirty="0"/>
              <a:t>known</a:t>
            </a:r>
            <a:r>
              <a:rPr spc="-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241300" marR="5080" indent="657860">
              <a:lnSpc>
                <a:spcPct val="140000"/>
              </a:lnSpc>
              <a:spcBef>
                <a:spcPts val="70"/>
              </a:spcBef>
            </a:pPr>
            <a:r>
              <a:rPr spc="-30" dirty="0"/>
              <a:t>Managed</a:t>
            </a:r>
            <a:r>
              <a:rPr spc="15" dirty="0"/>
              <a:t> </a:t>
            </a:r>
            <a:r>
              <a:rPr spc="-10" dirty="0"/>
              <a:t>automatically</a:t>
            </a:r>
            <a:r>
              <a:rPr spc="15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spc="-20" dirty="0"/>
              <a:t>generated</a:t>
            </a:r>
            <a:r>
              <a:rPr spc="15" dirty="0"/>
              <a:t> </a:t>
            </a:r>
            <a:r>
              <a:rPr spc="-20" dirty="0"/>
              <a:t>code </a:t>
            </a:r>
            <a:r>
              <a:rPr spc="-10" dirty="0">
                <a:solidFill>
                  <a:srgbClr val="00688A"/>
                </a:solidFill>
              </a:rPr>
              <a:t>Heap</a:t>
            </a:r>
            <a:r>
              <a:rPr spc="18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spc="-35" dirty="0"/>
              <a:t>survives</a:t>
            </a:r>
            <a:r>
              <a:rPr spc="30" dirty="0"/>
              <a:t> </a:t>
            </a:r>
            <a:r>
              <a:rPr spc="-30" dirty="0"/>
              <a:t>between</a:t>
            </a:r>
            <a:r>
              <a:rPr spc="30" dirty="0"/>
              <a:t> </a:t>
            </a:r>
            <a:r>
              <a:rPr spc="-10" dirty="0"/>
              <a:t>(procedure)</a:t>
            </a:r>
            <a:r>
              <a:rPr spc="30" dirty="0"/>
              <a:t> </a:t>
            </a:r>
            <a:r>
              <a:rPr spc="-10" dirty="0"/>
              <a:t>calls.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235"/>
              </a:spcBef>
            </a:pPr>
            <a:r>
              <a:rPr spc="-10" dirty="0"/>
              <a:t>Layout</a:t>
            </a:r>
            <a:r>
              <a:rPr spc="15" dirty="0"/>
              <a:t> </a:t>
            </a:r>
            <a:r>
              <a:rPr dirty="0"/>
              <a:t>not</a:t>
            </a:r>
            <a:r>
              <a:rPr spc="15" dirty="0"/>
              <a:t> </a:t>
            </a:r>
            <a:r>
              <a:rPr spc="-50" dirty="0"/>
              <a:t>known</a:t>
            </a:r>
            <a:r>
              <a:rPr spc="1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600"/>
              </a:spcBef>
            </a:pPr>
            <a:r>
              <a:rPr spc="-30" dirty="0">
                <a:solidFill>
                  <a:srgbClr val="D8D8D8"/>
                </a:solidFill>
              </a:rPr>
              <a:t>Managed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spc="-30" dirty="0">
                <a:solidFill>
                  <a:srgbClr val="D8D8D8"/>
                </a:solidFill>
              </a:rPr>
              <a:t>dynamically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by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garbage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collector</a:t>
            </a:r>
            <a:endParaRPr spc="-10" dirty="0">
              <a:solidFill>
                <a:srgbClr val="D8D8D8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Static</a:t>
            </a:r>
            <a:r>
              <a:rPr spc="220" dirty="0"/>
              <a:t> </a:t>
            </a:r>
            <a:r>
              <a:rPr dirty="0"/>
              <a:t>vs</a:t>
            </a:r>
            <a:r>
              <a:rPr spc="225" dirty="0"/>
              <a:t> </a:t>
            </a:r>
            <a:r>
              <a:rPr spc="55" dirty="0"/>
              <a:t>Dynamic</a:t>
            </a:r>
            <a:r>
              <a:rPr spc="225" dirty="0"/>
              <a:t> </a:t>
            </a:r>
            <a:r>
              <a:rPr spc="65" dirty="0"/>
              <a:t>Storage</a:t>
            </a:r>
            <a:r>
              <a:rPr spc="225" dirty="0"/>
              <a:t> </a:t>
            </a:r>
            <a:r>
              <a:rPr spc="40" dirty="0"/>
              <a:t>Allocation</a:t>
            </a:r>
            <a:endParaRPr spc="4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37" y="1683677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37" y="1927745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337" y="2360472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337" y="2604541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04800" y="585470"/>
            <a:ext cx="4074795" cy="2369185"/>
          </a:xfrm>
          <a:prstGeom prst="rect">
            <a:avLst/>
          </a:prstGeom>
        </p:spPr>
        <p:txBody>
          <a:bodyPr vert="horz" wrap="square" lIns="0" tIns="326237" rIns="0" bIns="0" rtlCol="0">
            <a:noAutofit/>
          </a:bodyPr>
          <a:lstStyle/>
          <a:p>
            <a:pPr marL="12700" marR="1482725" indent="186055">
              <a:lnSpc>
                <a:spcPct val="125000"/>
              </a:lnSpc>
              <a:spcBef>
                <a:spcPts val="100"/>
              </a:spcBef>
            </a:pPr>
            <a:r>
              <a:rPr dirty="0">
                <a:solidFill>
                  <a:srgbClr val="00688A"/>
                </a:solidFill>
              </a:rPr>
              <a:t>Static</a:t>
            </a:r>
            <a:r>
              <a:rPr spc="254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80" dirty="0"/>
              <a:t> </a:t>
            </a:r>
            <a:r>
              <a:rPr dirty="0"/>
              <a:t>“at</a:t>
            </a:r>
            <a:r>
              <a:rPr spc="80" dirty="0"/>
              <a:t> </a:t>
            </a:r>
            <a:r>
              <a:rPr spc="-30" dirty="0"/>
              <a:t>compile</a:t>
            </a:r>
            <a:r>
              <a:rPr spc="75" dirty="0"/>
              <a:t> </a:t>
            </a:r>
            <a:r>
              <a:rPr spc="-25" dirty="0"/>
              <a:t>time“ </a:t>
            </a:r>
            <a:r>
              <a:rPr spc="-10" dirty="0">
                <a:solidFill>
                  <a:srgbClr val="00688A"/>
                </a:solidFill>
              </a:rPr>
              <a:t>Dynamic</a:t>
            </a:r>
            <a:r>
              <a:rPr spc="170" dirty="0">
                <a:solidFill>
                  <a:srgbClr val="00688A"/>
                </a:solidFill>
              </a:rPr>
              <a:t> </a:t>
            </a:r>
            <a:r>
              <a:rPr spc="-20" dirty="0"/>
              <a:t>means</a:t>
            </a:r>
            <a:r>
              <a:rPr spc="20" dirty="0"/>
              <a:t> </a:t>
            </a:r>
            <a:r>
              <a:rPr dirty="0"/>
              <a:t>“at</a:t>
            </a:r>
            <a:r>
              <a:rPr spc="20" dirty="0"/>
              <a:t> </a:t>
            </a:r>
            <a:r>
              <a:rPr spc="-10" dirty="0"/>
              <a:t>runtime“</a:t>
            </a:r>
            <a:endParaRPr spc="-10" dirty="0"/>
          </a:p>
          <a:p>
            <a:pPr marL="22225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688A"/>
                </a:solidFill>
              </a:rPr>
              <a:t>Stack</a:t>
            </a:r>
            <a:r>
              <a:rPr spc="19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40" dirty="0"/>
              <a:t> </a:t>
            </a:r>
            <a:r>
              <a:rPr dirty="0"/>
              <a:t>data</a:t>
            </a:r>
            <a:r>
              <a:rPr spc="40" dirty="0"/>
              <a:t> </a:t>
            </a:r>
            <a:r>
              <a:rPr dirty="0"/>
              <a:t>local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spc="-10" dirty="0"/>
              <a:t>(procedure)</a:t>
            </a:r>
            <a:r>
              <a:rPr spc="40" dirty="0"/>
              <a:t> </a:t>
            </a:r>
            <a:r>
              <a:rPr spc="-10" dirty="0"/>
              <a:t>call.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530"/>
              </a:spcBef>
            </a:pPr>
            <a:r>
              <a:rPr spc="-10" dirty="0"/>
              <a:t>Layout</a:t>
            </a:r>
            <a:r>
              <a:rPr spc="-5" dirty="0"/>
              <a:t> </a:t>
            </a:r>
            <a:r>
              <a:rPr spc="-50" dirty="0"/>
              <a:t>known</a:t>
            </a:r>
            <a:r>
              <a:rPr spc="-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241300" marR="5080" indent="657860">
              <a:lnSpc>
                <a:spcPct val="140000"/>
              </a:lnSpc>
              <a:spcBef>
                <a:spcPts val="70"/>
              </a:spcBef>
            </a:pPr>
            <a:r>
              <a:rPr spc="-30" dirty="0"/>
              <a:t>Managed</a:t>
            </a:r>
            <a:r>
              <a:rPr spc="15" dirty="0"/>
              <a:t> </a:t>
            </a:r>
            <a:r>
              <a:rPr spc="-10" dirty="0"/>
              <a:t>automatically</a:t>
            </a:r>
            <a:r>
              <a:rPr spc="15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spc="-20" dirty="0"/>
              <a:t>generated</a:t>
            </a:r>
            <a:r>
              <a:rPr spc="15" dirty="0"/>
              <a:t> </a:t>
            </a:r>
            <a:r>
              <a:rPr spc="-20" dirty="0"/>
              <a:t>code </a:t>
            </a:r>
            <a:r>
              <a:rPr spc="-10" dirty="0">
                <a:solidFill>
                  <a:srgbClr val="00688A"/>
                </a:solidFill>
              </a:rPr>
              <a:t>Heap</a:t>
            </a:r>
            <a:r>
              <a:rPr spc="185" dirty="0">
                <a:solidFill>
                  <a:srgbClr val="00688A"/>
                </a:solidFill>
              </a:rPr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spc="-35" dirty="0"/>
              <a:t>survives</a:t>
            </a:r>
            <a:r>
              <a:rPr spc="30" dirty="0"/>
              <a:t> </a:t>
            </a:r>
            <a:r>
              <a:rPr spc="-30" dirty="0"/>
              <a:t>between</a:t>
            </a:r>
            <a:r>
              <a:rPr spc="30" dirty="0"/>
              <a:t> </a:t>
            </a:r>
            <a:r>
              <a:rPr spc="-10" dirty="0"/>
              <a:t>(procedure)</a:t>
            </a:r>
            <a:r>
              <a:rPr spc="30" dirty="0"/>
              <a:t> </a:t>
            </a:r>
            <a:r>
              <a:rPr spc="-10" dirty="0"/>
              <a:t>calls.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235"/>
              </a:spcBef>
            </a:pPr>
            <a:r>
              <a:rPr spc="-10" dirty="0"/>
              <a:t>Layout</a:t>
            </a:r>
            <a:r>
              <a:rPr spc="15" dirty="0"/>
              <a:t> </a:t>
            </a:r>
            <a:r>
              <a:rPr dirty="0"/>
              <a:t>not</a:t>
            </a:r>
            <a:r>
              <a:rPr spc="15" dirty="0"/>
              <a:t> </a:t>
            </a:r>
            <a:r>
              <a:rPr spc="-50" dirty="0"/>
              <a:t>known</a:t>
            </a:r>
            <a:r>
              <a:rPr spc="15" dirty="0"/>
              <a:t> </a:t>
            </a:r>
            <a:r>
              <a:rPr spc="-10" dirty="0"/>
              <a:t>statically</a:t>
            </a:r>
            <a:endParaRPr spc="-10" dirty="0"/>
          </a:p>
          <a:p>
            <a:pPr marL="899795">
              <a:lnSpc>
                <a:spcPct val="100000"/>
              </a:lnSpc>
              <a:spcBef>
                <a:spcPts val="600"/>
              </a:spcBef>
            </a:pPr>
            <a:r>
              <a:rPr spc="-30" dirty="0"/>
              <a:t>Managed</a:t>
            </a:r>
            <a:r>
              <a:rPr spc="25" dirty="0"/>
              <a:t> </a:t>
            </a:r>
            <a:r>
              <a:rPr spc="-30" dirty="0"/>
              <a:t>dynamically</a:t>
            </a:r>
            <a:r>
              <a:rPr spc="25" dirty="0"/>
              <a:t> </a:t>
            </a:r>
            <a:r>
              <a:rPr dirty="0"/>
              <a:t>by</a:t>
            </a:r>
            <a:r>
              <a:rPr spc="30" dirty="0"/>
              <a:t> </a:t>
            </a:r>
            <a:r>
              <a:rPr spc="-25" dirty="0"/>
              <a:t>garbage</a:t>
            </a:r>
            <a:r>
              <a:rPr spc="25" dirty="0"/>
              <a:t> </a:t>
            </a:r>
            <a:r>
              <a:rPr spc="-10" dirty="0"/>
              <a:t>collector</a:t>
            </a:r>
            <a:endParaRPr spc="-10" dirty="0"/>
          </a:p>
        </p:txBody>
      </p:sp>
      <p:sp>
        <p:nvSpPr>
          <p:cNvPr id="11" name="object 1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Garbage</a:t>
            </a:r>
            <a:r>
              <a:rPr spc="215" dirty="0"/>
              <a:t> </a:t>
            </a:r>
            <a:r>
              <a:rPr spc="50" dirty="0"/>
              <a:t>Collector</a:t>
            </a:r>
            <a:endParaRPr spc="50" dirty="0"/>
          </a:p>
        </p:txBody>
      </p:sp>
      <p:sp>
        <p:nvSpPr>
          <p:cNvPr id="5" name="object 5"/>
          <p:cNvSpPr txBox="1"/>
          <p:nvPr/>
        </p:nvSpPr>
        <p:spPr>
          <a:xfrm>
            <a:off x="315353" y="1435708"/>
            <a:ext cx="389636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12140" marR="5080" indent="-600075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Purpose:</a:t>
            </a:r>
            <a:r>
              <a:rPr sz="1100" spc="17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Enables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runtime</a:t>
            </a:r>
            <a:r>
              <a:rPr sz="1100" spc="2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system</a:t>
            </a:r>
            <a:r>
              <a:rPr sz="1100" spc="2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detect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useless</a:t>
            </a:r>
            <a:r>
              <a:rPr sz="1100" spc="2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data elements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reuse</a:t>
            </a:r>
            <a:r>
              <a:rPr sz="1100" spc="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their</a:t>
            </a:r>
            <a:r>
              <a:rPr sz="1100" spc="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storage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.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Automated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most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modern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languages.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Storage</a:t>
            </a:r>
            <a:r>
              <a:rPr spc="210" dirty="0"/>
              <a:t> </a:t>
            </a:r>
            <a:r>
              <a:rPr spc="-10" dirty="0"/>
              <a:t>Organization</a:t>
            </a:r>
            <a:endParaRPr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87743" y="1144524"/>
            <a:ext cx="4483735" cy="247015"/>
            <a:chOff x="87743" y="1144524"/>
            <a:chExt cx="4483735" cy="2470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896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769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1150658"/>
              <a:ext cx="50800" cy="13901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44524"/>
              <a:ext cx="4432935" cy="196215"/>
            </a:xfrm>
            <a:custGeom>
              <a:avLst/>
              <a:gdLst/>
              <a:ahLst/>
              <a:cxnLst/>
              <a:rect l="l" t="t" r="r" b="b"/>
              <a:pathLst>
                <a:path w="4432935" h="196215">
                  <a:moveTo>
                    <a:pt x="4432567" y="0"/>
                  </a:moveTo>
                  <a:lnTo>
                    <a:pt x="0" y="0"/>
                  </a:lnTo>
                  <a:lnTo>
                    <a:pt x="0" y="145148"/>
                  </a:lnTo>
                  <a:lnTo>
                    <a:pt x="4008" y="164873"/>
                  </a:lnTo>
                  <a:lnTo>
                    <a:pt x="14922" y="181025"/>
                  </a:lnTo>
                  <a:lnTo>
                    <a:pt x="31075" y="191940"/>
                  </a:lnTo>
                  <a:lnTo>
                    <a:pt x="50800" y="195948"/>
                  </a:lnTo>
                  <a:lnTo>
                    <a:pt x="4381767" y="195948"/>
                  </a:lnTo>
                  <a:lnTo>
                    <a:pt x="4401492" y="191940"/>
                  </a:lnTo>
                  <a:lnTo>
                    <a:pt x="4417644" y="181025"/>
                  </a:lnTo>
                  <a:lnTo>
                    <a:pt x="4428558" y="164873"/>
                  </a:lnTo>
                  <a:lnTo>
                    <a:pt x="4432567" y="14514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188761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1199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1760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1633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1506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53123" y="1116252"/>
            <a:ext cx="3614420" cy="1365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“Runtime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representation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object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program”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0800" marR="1017270" indent="41910">
              <a:lnSpc>
                <a:spcPct val="125000"/>
              </a:lnSpc>
              <a:spcBef>
                <a:spcPts val="1270"/>
              </a:spcBef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1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area</a:t>
            </a:r>
            <a:r>
              <a:rPr sz="1100" spc="1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instructions,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address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pointers.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Static</a:t>
            </a:r>
            <a:r>
              <a:rPr sz="1100" spc="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area</a:t>
            </a:r>
            <a:r>
              <a:rPr sz="1100" spc="24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constants.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74015" marR="335280" indent="19050">
              <a:lnSpc>
                <a:spcPct val="125000"/>
              </a:lnSpc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Heap</a:t>
            </a:r>
            <a:r>
              <a:rPr sz="1100" spc="14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objects,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records,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arrays,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variable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strings.</a:t>
            </a:r>
            <a:r>
              <a:rPr sz="1200" spc="-15" baseline="28000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1200" spc="750" baseline="280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18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records/stack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frames;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774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objects,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records,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arrays,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variable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strings.</a:t>
            </a:r>
            <a:r>
              <a:rPr sz="1200" spc="-15" baseline="28000" dirty="0">
                <a:latin typeface="Palatino Linotype" panose="02040502050505030304"/>
                <a:cs typeface="Palatino Linotype" panose="02040502050505030304"/>
              </a:rPr>
              <a:t>2</a:t>
            </a:r>
            <a:endParaRPr sz="1200" baseline="28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19246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Storage</a:t>
            </a:r>
            <a:r>
              <a:rPr sz="1400" b="1" spc="2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Organization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78048" y="925750"/>
          <a:ext cx="1268095" cy="1823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060"/>
                <a:gridCol w="959485"/>
              </a:tblGrid>
              <a:tr h="260350">
                <a:tc row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Static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Code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350">
                <a:tc vMerge="1"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Static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350">
                <a:tc rowSpan="3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Dynamic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Heap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1685">
                <a:tc vMerge="1"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↓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Free</a:t>
                      </a:r>
                      <a:r>
                        <a:rPr sz="1100" spc="-15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Memory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↑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350">
                <a:tc vMerge="1"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Stack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432723" y="983524"/>
            <a:ext cx="8807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 panose="02040502050505030304"/>
                <a:cs typeface="Palatino Linotype" panose="02040502050505030304"/>
              </a:rPr>
              <a:t>lowest</a:t>
            </a:r>
            <a:r>
              <a:rPr sz="1100" i="1" spc="1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10" dirty="0">
                <a:latin typeface="Palatino Linotype" panose="02040502050505030304"/>
                <a:cs typeface="Palatino Linotype" panose="02040502050505030304"/>
              </a:rPr>
              <a:t>address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2723" y="2547377"/>
            <a:ext cx="930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 panose="02040502050505030304"/>
                <a:cs typeface="Palatino Linotype" panose="02040502050505030304"/>
              </a:rPr>
              <a:t>highest</a:t>
            </a:r>
            <a:r>
              <a:rPr sz="1100" i="1" spc="20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10" dirty="0">
                <a:latin typeface="Palatino Linotype" panose="02040502050505030304"/>
                <a:cs typeface="Palatino Linotype" panose="02040502050505030304"/>
              </a:rPr>
              <a:t>address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977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torage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organization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Storage</a:t>
            </a:r>
            <a:r>
              <a:rPr spc="210" dirty="0"/>
              <a:t> </a:t>
            </a:r>
            <a:r>
              <a:rPr spc="-10" dirty="0"/>
              <a:t>Organization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91223" y="1277541"/>
            <a:ext cx="4113529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435"/>
              </a:spcBef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area</a:t>
            </a:r>
            <a:r>
              <a:rPr sz="1100" spc="18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executable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code,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statically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determined.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Static</a:t>
            </a:r>
            <a:r>
              <a:rPr sz="1100" spc="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area</a:t>
            </a:r>
            <a:r>
              <a:rPr sz="1100" spc="229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generated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compiler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known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compile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time.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35915" marR="1474470" indent="19050">
              <a:lnSpc>
                <a:spcPct val="125000"/>
              </a:lnSpc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Heap</a:t>
            </a:r>
            <a:r>
              <a:rPr sz="1100" spc="13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grows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towards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higher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addresses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18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grows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towards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lower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addresses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138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105515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55" y="1026323"/>
            <a:ext cx="1273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Storage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organization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514017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482203"/>
            <a:ext cx="1741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600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Stack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Allocation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of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Space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969897"/>
            <a:ext cx="155257" cy="1552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2425776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1938082"/>
            <a:ext cx="1326515" cy="647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9FBFC"/>
              </a:buClr>
              <a:buSzPct val="73000"/>
              <a:buFont typeface="Comic Sans MS" panose="030F0702030302020204"/>
              <a:buAutoNum type="arabicPlain" startAt="3"/>
              <a:tabLst>
                <a:tab pos="177800" algn="l"/>
              </a:tabLst>
            </a:pPr>
            <a:r>
              <a:rPr sz="1100" spc="-6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Non-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local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F9FBFC"/>
              </a:buClr>
              <a:buFont typeface="Comic Sans MS" panose="030F0702030302020204"/>
              <a:buAutoNum type="arabicPlain" startAt="3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F9FBFC"/>
              </a:buClr>
              <a:buSzPct val="73000"/>
              <a:buFont typeface="Comic Sans MS" panose="030F0702030302020204"/>
              <a:buAutoNum type="arabicPlain" startAt="3"/>
              <a:tabLst>
                <a:tab pos="177800" algn="l"/>
              </a:tabLst>
            </a:pP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Heap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Management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6) Activation Tree Concepts _ Runtime Environment In Compiler Design - 0-2-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" y="29781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7) Activation tree of Quicksort, Mergesort, Fibonacci, Factorial II Compiler Design - 0-7-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6954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Activation</a:t>
            </a:r>
            <a:r>
              <a:rPr spc="220" dirty="0"/>
              <a:t> </a:t>
            </a:r>
            <a:r>
              <a:rPr spc="30" dirty="0"/>
              <a:t>Tree</a:t>
            </a:r>
            <a:endParaRPr spc="3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1463522"/>
            <a:ext cx="63296" cy="632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300274"/>
            <a:ext cx="2672080" cy="7581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Shows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runtime.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46000"/>
              </a:lnSpc>
            </a:pP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child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node.</a:t>
            </a:r>
            <a:r>
              <a:rPr sz="1100" spc="5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Children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order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right.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1707591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70" y="1951672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Activation</a:t>
            </a:r>
            <a:r>
              <a:rPr spc="220" dirty="0"/>
              <a:t> </a:t>
            </a:r>
            <a:r>
              <a:rPr spc="30" dirty="0"/>
              <a:t>Tree</a:t>
            </a:r>
            <a:endParaRPr spc="3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1463522"/>
            <a:ext cx="63296" cy="632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300274"/>
            <a:ext cx="2672080" cy="7581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Shows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runtime.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46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child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node.</a:t>
            </a:r>
            <a:r>
              <a:rPr sz="11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Children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order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right.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1707591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70" y="1951672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Activation</a:t>
            </a:r>
            <a:r>
              <a:rPr spc="220" dirty="0"/>
              <a:t> </a:t>
            </a:r>
            <a:r>
              <a:rPr spc="30" dirty="0"/>
              <a:t>Tree</a:t>
            </a:r>
            <a:endParaRPr spc="3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1463522"/>
            <a:ext cx="63296" cy="632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300274"/>
            <a:ext cx="2672080" cy="7581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Shows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runtime.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46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child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node.</a:t>
            </a:r>
            <a:r>
              <a:rPr sz="11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Children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order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right.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1707591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70" y="1951672"/>
            <a:ext cx="63296" cy="6329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Activation</a:t>
            </a:r>
            <a:r>
              <a:rPr spc="200" dirty="0"/>
              <a:t> </a:t>
            </a:r>
            <a:r>
              <a:rPr spc="50" dirty="0"/>
              <a:t>Tree</a:t>
            </a:r>
            <a:r>
              <a:rPr spc="200" dirty="0"/>
              <a:t> </a:t>
            </a:r>
            <a:r>
              <a:rPr spc="85" dirty="0"/>
              <a:t>Example</a:t>
            </a:r>
            <a:r>
              <a:rPr spc="204" dirty="0"/>
              <a:t> </a:t>
            </a:r>
            <a:r>
              <a:rPr spc="70" dirty="0"/>
              <a:t>-</a:t>
            </a:r>
            <a:r>
              <a:rPr spc="200" dirty="0"/>
              <a:t> </a:t>
            </a:r>
            <a:r>
              <a:rPr spc="40" dirty="0"/>
              <a:t>QuickSort</a:t>
            </a:r>
            <a:endParaRPr spc="40" dirty="0"/>
          </a:p>
        </p:txBody>
      </p:sp>
      <p:sp>
        <p:nvSpPr>
          <p:cNvPr id="5" name="object 5"/>
          <p:cNvSpPr txBox="1"/>
          <p:nvPr/>
        </p:nvSpPr>
        <p:spPr>
          <a:xfrm>
            <a:off x="-26352" y="1204574"/>
            <a:ext cx="1355725" cy="135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600" spc="4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b="1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3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-10" dirty="0">
                <a:latin typeface="Palatino Linotype" panose="02040502050505030304"/>
                <a:cs typeface="Palatino Linotype" panose="02040502050505030304"/>
              </a:rPr>
              <a:t>a[11];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ts val="695"/>
              </a:lnSpc>
            </a:pPr>
            <a:r>
              <a:rPr sz="600" spc="10" dirty="0">
                <a:latin typeface="Palatino Linotype" panose="02040502050505030304"/>
                <a:cs typeface="Palatino Linotype" panose="02040502050505030304"/>
              </a:rPr>
              <a:t>2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695"/>
              </a:lnSpc>
              <a:buFont typeface="Palatino Linotype" panose="02040502050505030304"/>
              <a:buAutoNum type="arabicPlain" startAt="3"/>
              <a:tabLst>
                <a:tab pos="121920" algn="l"/>
              </a:tabLst>
            </a:pPr>
            <a:r>
              <a:rPr sz="600" b="1" dirty="0">
                <a:latin typeface="Georgia" panose="02040502050405020303"/>
                <a:cs typeface="Georgia" panose="02040502050405020303"/>
              </a:rPr>
              <a:t>void</a:t>
            </a:r>
            <a:r>
              <a:rPr sz="600" b="1" spc="180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55" dirty="0">
                <a:latin typeface="Palatino Linotype" panose="02040502050505030304"/>
                <a:cs typeface="Palatino Linotype" panose="02040502050505030304"/>
              </a:rPr>
              <a:t>readArray()</a:t>
            </a:r>
            <a:r>
              <a:rPr sz="600" spc="1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99695" indent="-86995">
              <a:lnSpc>
                <a:spcPts val="695"/>
              </a:lnSpc>
              <a:buFont typeface="Palatino Linotype" panose="02040502050505030304"/>
              <a:buAutoNum type="arabicPlain" startAt="3"/>
              <a:tabLst>
                <a:tab pos="99695" algn="l"/>
              </a:tabLst>
            </a:pPr>
            <a:r>
              <a:rPr sz="600" b="1" u="heavy" spc="70" dirty="0">
                <a:uFill>
                  <a:solidFill>
                    <a:srgbClr val="FF2600"/>
                  </a:solidFill>
                </a:uFill>
                <a:latin typeface="Georgia" panose="02040502050405020303"/>
                <a:cs typeface="Georgia" panose="02040502050405020303"/>
              </a:rPr>
              <a:t> </a:t>
            </a:r>
            <a:r>
              <a:rPr sz="600" b="1" u="heavy" dirty="0">
                <a:uFill>
                  <a:solidFill>
                    <a:srgbClr val="FF2600"/>
                  </a:solidFill>
                </a:uFill>
                <a:latin typeface="Georgia" panose="02040502050405020303"/>
                <a:cs typeface="Georgia" panose="02040502050405020303"/>
              </a:rPr>
              <a:t>int</a:t>
            </a:r>
            <a:r>
              <a:rPr sz="600" b="1" u="heavy" spc="165" dirty="0">
                <a:uFill>
                  <a:solidFill>
                    <a:srgbClr val="FF2600"/>
                  </a:solidFill>
                </a:uFill>
                <a:latin typeface="Georgia" panose="02040502050405020303"/>
                <a:cs typeface="Georgia" panose="02040502050405020303"/>
              </a:rPr>
              <a:t> </a:t>
            </a:r>
            <a:r>
              <a:rPr sz="600" u="heavy" spc="-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i;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695"/>
              </a:lnSpc>
              <a:buAutoNum type="arabicPlain" startAt="3"/>
              <a:tabLst>
                <a:tab pos="121920" algn="l"/>
              </a:tabLst>
            </a:pP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700" marR="52705" indent="109220">
              <a:lnSpc>
                <a:spcPts val="700"/>
              </a:lnSpc>
              <a:spcBef>
                <a:spcPts val="30"/>
              </a:spcBef>
              <a:buFont typeface="Palatino Linotype" panose="02040502050505030304"/>
              <a:buAutoNum type="arabicPlain" startAt="3"/>
              <a:tabLst>
                <a:tab pos="121920" algn="l"/>
              </a:tabLst>
            </a:pPr>
            <a:r>
              <a:rPr sz="600" b="1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5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50" dirty="0">
                <a:latin typeface="Palatino Linotype" panose="02040502050505030304"/>
                <a:cs typeface="Palatino Linotype" panose="02040502050505030304"/>
              </a:rPr>
              <a:t>partition(</a:t>
            </a:r>
            <a:r>
              <a:rPr sz="600" b="1" spc="50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5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m,</a:t>
            </a:r>
            <a:r>
              <a:rPr sz="600" spc="1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b="1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5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65" dirty="0">
                <a:latin typeface="Palatino Linotype" panose="02040502050505030304"/>
                <a:cs typeface="Palatino Linotype" panose="02040502050505030304"/>
              </a:rPr>
              <a:t>n)</a:t>
            </a:r>
            <a:r>
              <a:rPr sz="600" spc="1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{ </a:t>
            </a:r>
            <a:r>
              <a:rPr sz="600" spc="10" dirty="0">
                <a:latin typeface="Palatino Linotype" panose="02040502050505030304"/>
                <a:cs typeface="Palatino Linotype" panose="02040502050505030304"/>
              </a:rPr>
              <a:t>7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ts val="665"/>
              </a:lnSpc>
            </a:pP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8</a:t>
            </a:r>
            <a:r>
              <a:rPr sz="600" spc="3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ts val="695"/>
              </a:lnSpc>
            </a:pP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600" spc="4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b="1" dirty="0">
                <a:latin typeface="Georgia" panose="02040502050405020303"/>
                <a:cs typeface="Georgia" panose="02040502050405020303"/>
              </a:rPr>
              <a:t>void</a:t>
            </a:r>
            <a:r>
              <a:rPr sz="600" b="1" spc="150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45" dirty="0">
                <a:latin typeface="Palatino Linotype" panose="02040502050505030304"/>
                <a:cs typeface="Palatino Linotype" panose="02040502050505030304"/>
              </a:rPr>
              <a:t>quicksort(</a:t>
            </a:r>
            <a:r>
              <a:rPr sz="600" b="1" spc="45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50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m,</a:t>
            </a:r>
            <a:r>
              <a:rPr sz="600" spc="1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b="1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50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80" dirty="0">
                <a:latin typeface="Palatino Linotype" panose="02040502050505030304"/>
                <a:cs typeface="Palatino Linotype" panose="02040502050505030304"/>
              </a:rPr>
              <a:t>n){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695"/>
              </a:lnSpc>
              <a:buFont typeface="Palatino Linotype" panose="02040502050505030304"/>
              <a:buAutoNum type="arabicPlain"/>
              <a:tabLst>
                <a:tab pos="121920" algn="l"/>
              </a:tabLst>
            </a:pPr>
            <a:r>
              <a:rPr sz="600" b="1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21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-25" dirty="0">
                <a:latin typeface="Palatino Linotype" panose="02040502050505030304"/>
                <a:cs typeface="Palatino Linotype" panose="02040502050505030304"/>
              </a:rPr>
              <a:t>i;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695"/>
              </a:lnSpc>
              <a:buFont typeface="Palatino Linotype" panose="02040502050505030304"/>
              <a:buAutoNum type="arabicPlain"/>
              <a:tabLst>
                <a:tab pos="121920" algn="l"/>
              </a:tabLst>
            </a:pPr>
            <a:r>
              <a:rPr sz="600" b="1" dirty="0">
                <a:latin typeface="Georgia" panose="02040502050405020303"/>
                <a:cs typeface="Georgia" panose="02040502050405020303"/>
              </a:rPr>
              <a:t>if</a:t>
            </a:r>
            <a:r>
              <a:rPr sz="600" b="1" spc="10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65" dirty="0">
                <a:latin typeface="Palatino Linotype" panose="02040502050505030304"/>
                <a:cs typeface="Palatino Linotype" panose="02040502050505030304"/>
              </a:rPr>
              <a:t>(n</a:t>
            </a:r>
            <a:r>
              <a:rPr sz="6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270" dirty="0">
                <a:latin typeface="Palatino Linotype" panose="02040502050505030304"/>
                <a:cs typeface="Palatino Linotype" panose="02040502050505030304"/>
              </a:rPr>
              <a:t>&gt;</a:t>
            </a:r>
            <a:r>
              <a:rPr sz="600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85" dirty="0">
                <a:latin typeface="Palatino Linotype" panose="02040502050505030304"/>
                <a:cs typeface="Palatino Linotype" panose="02040502050505030304"/>
              </a:rPr>
              <a:t>m){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695"/>
              </a:lnSpc>
              <a:buAutoNum type="arabicPlain"/>
              <a:tabLst>
                <a:tab pos="121920" algn="l"/>
              </a:tabLst>
            </a:pPr>
            <a:r>
              <a:rPr sz="60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6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254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600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u="heavy" spc="4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partition(m,n</a:t>
            </a:r>
            <a:r>
              <a:rPr sz="600" spc="45" dirty="0">
                <a:latin typeface="Palatino Linotype" panose="02040502050505030304"/>
                <a:cs typeface="Palatino Linotype" panose="02040502050505030304"/>
              </a:rPr>
              <a:t>);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695"/>
              </a:lnSpc>
              <a:buAutoNum type="arabicPlain"/>
              <a:tabLst>
                <a:tab pos="121920" algn="l"/>
              </a:tabLst>
            </a:pPr>
            <a:r>
              <a:rPr sz="600" spc="50" dirty="0">
                <a:latin typeface="Palatino Linotype" panose="02040502050505030304"/>
                <a:cs typeface="Palatino Linotype" panose="02040502050505030304"/>
              </a:rPr>
              <a:t>quicksort(m,</a:t>
            </a:r>
            <a:r>
              <a:rPr sz="6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600" i="1" spc="6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−</a:t>
            </a: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1);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695"/>
              </a:lnSpc>
              <a:buAutoNum type="arabicPlain"/>
              <a:tabLst>
                <a:tab pos="121920" algn="l"/>
              </a:tabLst>
            </a:pPr>
            <a:r>
              <a:rPr sz="600" spc="65" dirty="0">
                <a:latin typeface="Palatino Linotype" panose="02040502050505030304"/>
                <a:cs typeface="Palatino Linotype" panose="02040502050505030304"/>
              </a:rPr>
              <a:t>quicksort(i+1,</a:t>
            </a:r>
            <a:r>
              <a:rPr sz="6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40" dirty="0">
                <a:latin typeface="Palatino Linotype" panose="02040502050505030304"/>
                <a:cs typeface="Palatino Linotype" panose="02040502050505030304"/>
              </a:rPr>
              <a:t>n);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1920" indent="-109220">
              <a:lnSpc>
                <a:spcPts val="710"/>
              </a:lnSpc>
              <a:buAutoNum type="arabicPlain"/>
              <a:tabLst>
                <a:tab pos="121920" algn="l"/>
              </a:tabLst>
            </a:pP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3269" y="673156"/>
            <a:ext cx="1433830" cy="2419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latin typeface="Georgia" panose="02040502050405020303"/>
                <a:cs typeface="Georgia" panose="02040502050405020303"/>
              </a:rPr>
              <a:t>void</a:t>
            </a:r>
            <a:r>
              <a:rPr sz="600" b="1" spc="160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45" dirty="0">
                <a:latin typeface="Palatino Linotype" panose="02040502050505030304"/>
                <a:cs typeface="Palatino Linotype" panose="02040502050505030304"/>
              </a:rPr>
              <a:t>quicksort(</a:t>
            </a:r>
            <a:r>
              <a:rPr sz="600" b="1" spc="45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6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m,</a:t>
            </a:r>
            <a:r>
              <a:rPr sz="600" spc="1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b="1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16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65" dirty="0">
                <a:latin typeface="Palatino Linotype" panose="02040502050505030304"/>
                <a:cs typeface="Palatino Linotype" panose="02040502050505030304"/>
              </a:rPr>
              <a:t>n)</a:t>
            </a:r>
            <a:r>
              <a:rPr sz="600" spc="1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b="1" dirty="0">
                <a:latin typeface="Georgia" panose="02040502050405020303"/>
                <a:cs typeface="Georgia" panose="02040502050405020303"/>
              </a:rPr>
              <a:t>int</a:t>
            </a:r>
            <a:r>
              <a:rPr sz="600" b="1" spc="215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-25" dirty="0">
                <a:latin typeface="Palatino Linotype" panose="02040502050505030304"/>
                <a:cs typeface="Palatino Linotype" panose="02040502050505030304"/>
              </a:rPr>
              <a:t>i;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b="1" dirty="0">
                <a:latin typeface="Georgia" panose="02040502050405020303"/>
                <a:cs typeface="Georgia" panose="02040502050405020303"/>
              </a:rPr>
              <a:t>if</a:t>
            </a:r>
            <a:r>
              <a:rPr sz="600" b="1" spc="100" dirty="0">
                <a:latin typeface="Georgia" panose="02040502050405020303"/>
                <a:cs typeface="Georgia" panose="02040502050405020303"/>
              </a:rPr>
              <a:t> </a:t>
            </a:r>
            <a:r>
              <a:rPr sz="600" spc="65" dirty="0">
                <a:latin typeface="Palatino Linotype" panose="02040502050505030304"/>
                <a:cs typeface="Palatino Linotype" panose="02040502050505030304"/>
              </a:rPr>
              <a:t>(n</a:t>
            </a:r>
            <a:r>
              <a:rPr sz="600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270" dirty="0">
                <a:latin typeface="Palatino Linotype" panose="02040502050505030304"/>
                <a:cs typeface="Palatino Linotype" panose="02040502050505030304"/>
              </a:rPr>
              <a:t>&gt;</a:t>
            </a:r>
            <a:r>
              <a:rPr sz="6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75" dirty="0">
                <a:latin typeface="Palatino Linotype" panose="02040502050505030304"/>
                <a:cs typeface="Palatino Linotype" panose="02040502050505030304"/>
              </a:rPr>
              <a:t>m)</a:t>
            </a:r>
            <a:r>
              <a:rPr sz="6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6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254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6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55" dirty="0">
                <a:latin typeface="Palatino Linotype" panose="02040502050505030304"/>
                <a:cs typeface="Palatino Linotype" panose="02040502050505030304"/>
              </a:rPr>
              <a:t>partition(m,</a:t>
            </a:r>
            <a:r>
              <a:rPr sz="6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40" dirty="0">
                <a:latin typeface="Palatino Linotype" panose="02040502050505030304"/>
                <a:cs typeface="Palatino Linotype" panose="02040502050505030304"/>
              </a:rPr>
              <a:t>n);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 marR="505460" indent="-109855">
              <a:lnSpc>
                <a:spcPct val="194000"/>
              </a:lnSpc>
            </a:pP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600" spc="3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50" dirty="0">
                <a:latin typeface="Palatino Linotype" panose="02040502050505030304"/>
                <a:cs typeface="Palatino Linotype" panose="02040502050505030304"/>
              </a:rPr>
              <a:t>quicksort(m,</a:t>
            </a:r>
            <a:r>
              <a:rPr sz="6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600" i="1" spc="6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−</a:t>
            </a: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1); </a:t>
            </a:r>
            <a:r>
              <a:rPr sz="600" spc="65" dirty="0">
                <a:latin typeface="Palatino Linotype" panose="02040502050505030304"/>
                <a:cs typeface="Palatino Linotype" panose="02040502050505030304"/>
              </a:rPr>
              <a:t>quicksort(i+1,</a:t>
            </a:r>
            <a:r>
              <a:rPr sz="6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40" dirty="0">
                <a:latin typeface="Palatino Linotype" panose="02040502050505030304"/>
                <a:cs typeface="Palatino Linotype" panose="02040502050505030304"/>
              </a:rPr>
              <a:t>n);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ts val="710"/>
              </a:lnSpc>
              <a:spcBef>
                <a:spcPts val="675"/>
              </a:spcBef>
            </a:pPr>
            <a:r>
              <a:rPr sz="600" spc="65" dirty="0">
                <a:latin typeface="Palatino Linotype" panose="02040502050505030304"/>
                <a:cs typeface="Palatino Linotype" panose="02040502050505030304"/>
              </a:rPr>
              <a:t>main()</a:t>
            </a:r>
            <a:r>
              <a:rPr sz="6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ts val="695"/>
              </a:lnSpc>
            </a:pPr>
            <a:r>
              <a:rPr sz="600" spc="35" dirty="0">
                <a:latin typeface="Palatino Linotype" panose="02040502050505030304"/>
                <a:cs typeface="Palatino Linotype" panose="02040502050505030304"/>
              </a:rPr>
              <a:t>18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ts val="710"/>
              </a:lnSpc>
            </a:pPr>
            <a:r>
              <a:rPr sz="600" spc="45" dirty="0">
                <a:latin typeface="Palatino Linotype" panose="02040502050505030304"/>
                <a:cs typeface="Palatino Linotype" panose="02040502050505030304"/>
              </a:rPr>
              <a:t>readArray();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dirty="0">
                <a:latin typeface="Palatino Linotype" panose="02040502050505030304"/>
                <a:cs typeface="Palatino Linotype" panose="02040502050505030304"/>
              </a:rPr>
              <a:t>a[0]</a:t>
            </a:r>
            <a:r>
              <a:rPr sz="600" spc="1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254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600" spc="1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i="1" spc="7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−</a:t>
            </a:r>
            <a:r>
              <a:rPr sz="600" spc="70" dirty="0">
                <a:latin typeface="Palatino Linotype" panose="02040502050505030304"/>
                <a:cs typeface="Palatino Linotype" panose="02040502050505030304"/>
              </a:rPr>
              <a:t>9999;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dirty="0">
                <a:latin typeface="Palatino Linotype" panose="02040502050505030304"/>
                <a:cs typeface="Palatino Linotype" panose="02040502050505030304"/>
              </a:rPr>
              <a:t>a[10]</a:t>
            </a:r>
            <a:r>
              <a:rPr sz="600" spc="2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254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600" spc="2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50" dirty="0">
                <a:latin typeface="Palatino Linotype" panose="02040502050505030304"/>
                <a:cs typeface="Palatino Linotype" panose="02040502050505030304"/>
              </a:rPr>
              <a:t>9999;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68275">
              <a:lnSpc>
                <a:spcPct val="100000"/>
              </a:lnSpc>
              <a:spcBef>
                <a:spcPts val="675"/>
              </a:spcBef>
            </a:pPr>
            <a:r>
              <a:rPr sz="600" spc="45" dirty="0">
                <a:latin typeface="Palatino Linotype" panose="02040502050505030304"/>
                <a:cs typeface="Palatino Linotype" panose="02040502050505030304"/>
              </a:rPr>
              <a:t>quicksort(1,9);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600" spc="60" dirty="0">
                <a:latin typeface="Palatino Linotype" panose="02040502050505030304"/>
                <a:cs typeface="Palatino Linotype" panose="02040502050505030304"/>
              </a:rPr>
              <a:t>27</a:t>
            </a:r>
            <a:r>
              <a:rPr sz="600" spc="3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spc="13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2279666" y="790261"/>
            <a:ext cx="1241425" cy="937894"/>
            <a:chOff x="2279666" y="790261"/>
            <a:chExt cx="1241425" cy="937894"/>
          </a:xfrm>
        </p:grpSpPr>
        <p:sp>
          <p:nvSpPr>
            <p:cNvPr id="9" name="object 9"/>
            <p:cNvSpPr/>
            <p:nvPr/>
          </p:nvSpPr>
          <p:spPr>
            <a:xfrm>
              <a:off x="2295803" y="969444"/>
              <a:ext cx="565785" cy="742950"/>
            </a:xfrm>
            <a:custGeom>
              <a:avLst/>
              <a:gdLst/>
              <a:ahLst/>
              <a:cxnLst/>
              <a:rect l="l" t="t" r="r" b="b"/>
              <a:pathLst>
                <a:path w="565785" h="742950">
                  <a:moveTo>
                    <a:pt x="-1" y="-4"/>
                  </a:moveTo>
                  <a:lnTo>
                    <a:pt x="31412" y="41249"/>
                  </a:lnTo>
                  <a:lnTo>
                    <a:pt x="62826" y="82503"/>
                  </a:lnTo>
                  <a:lnTo>
                    <a:pt x="94240" y="123757"/>
                  </a:lnTo>
                  <a:lnTo>
                    <a:pt x="125653" y="165011"/>
                  </a:lnTo>
                  <a:lnTo>
                    <a:pt x="157067" y="206265"/>
                  </a:lnTo>
                  <a:lnTo>
                    <a:pt x="188481" y="247519"/>
                  </a:lnTo>
                  <a:lnTo>
                    <a:pt x="219895" y="288773"/>
                  </a:lnTo>
                  <a:lnTo>
                    <a:pt x="251308" y="330027"/>
                  </a:lnTo>
                  <a:lnTo>
                    <a:pt x="282722" y="371281"/>
                  </a:lnTo>
                  <a:lnTo>
                    <a:pt x="314136" y="412535"/>
                  </a:lnTo>
                  <a:lnTo>
                    <a:pt x="345550" y="453789"/>
                  </a:lnTo>
                  <a:lnTo>
                    <a:pt x="376963" y="495043"/>
                  </a:lnTo>
                  <a:lnTo>
                    <a:pt x="408377" y="536297"/>
                  </a:lnTo>
                  <a:lnTo>
                    <a:pt x="439791" y="577551"/>
                  </a:lnTo>
                  <a:lnTo>
                    <a:pt x="471204" y="618806"/>
                  </a:lnTo>
                  <a:lnTo>
                    <a:pt x="502618" y="660060"/>
                  </a:lnTo>
                  <a:lnTo>
                    <a:pt x="534032" y="701314"/>
                  </a:lnTo>
                  <a:lnTo>
                    <a:pt x="565445" y="742568"/>
                  </a:lnTo>
                </a:path>
              </a:pathLst>
            </a:custGeom>
            <a:ln w="322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23895" y="806397"/>
              <a:ext cx="1181100" cy="833119"/>
            </a:xfrm>
            <a:custGeom>
              <a:avLst/>
              <a:gdLst/>
              <a:ahLst/>
              <a:cxnLst/>
              <a:rect l="l" t="t" r="r" b="b"/>
              <a:pathLst>
                <a:path w="1181100" h="833119">
                  <a:moveTo>
                    <a:pt x="-1" y="832615"/>
                  </a:moveTo>
                  <a:lnTo>
                    <a:pt x="42161" y="802879"/>
                  </a:lnTo>
                  <a:lnTo>
                    <a:pt x="84324" y="773142"/>
                  </a:lnTo>
                  <a:lnTo>
                    <a:pt x="126487" y="743406"/>
                  </a:lnTo>
                  <a:lnTo>
                    <a:pt x="168650" y="713670"/>
                  </a:lnTo>
                  <a:lnTo>
                    <a:pt x="210813" y="683934"/>
                  </a:lnTo>
                  <a:lnTo>
                    <a:pt x="252976" y="654197"/>
                  </a:lnTo>
                  <a:lnTo>
                    <a:pt x="295139" y="624461"/>
                  </a:lnTo>
                  <a:lnTo>
                    <a:pt x="337302" y="594725"/>
                  </a:lnTo>
                  <a:lnTo>
                    <a:pt x="379464" y="564989"/>
                  </a:lnTo>
                  <a:lnTo>
                    <a:pt x="421627" y="535252"/>
                  </a:lnTo>
                  <a:lnTo>
                    <a:pt x="463790" y="505516"/>
                  </a:lnTo>
                  <a:lnTo>
                    <a:pt x="505953" y="475780"/>
                  </a:lnTo>
                  <a:lnTo>
                    <a:pt x="548116" y="446044"/>
                  </a:lnTo>
                  <a:lnTo>
                    <a:pt x="590279" y="416307"/>
                  </a:lnTo>
                  <a:lnTo>
                    <a:pt x="632442" y="386571"/>
                  </a:lnTo>
                  <a:lnTo>
                    <a:pt x="674604" y="356835"/>
                  </a:lnTo>
                  <a:lnTo>
                    <a:pt x="716767" y="327099"/>
                  </a:lnTo>
                  <a:lnTo>
                    <a:pt x="758930" y="297362"/>
                  </a:lnTo>
                  <a:lnTo>
                    <a:pt x="801093" y="267626"/>
                  </a:lnTo>
                  <a:lnTo>
                    <a:pt x="843256" y="237890"/>
                  </a:lnTo>
                  <a:lnTo>
                    <a:pt x="885419" y="208154"/>
                  </a:lnTo>
                  <a:lnTo>
                    <a:pt x="927581" y="178417"/>
                  </a:lnTo>
                  <a:lnTo>
                    <a:pt x="969744" y="148681"/>
                  </a:lnTo>
                  <a:lnTo>
                    <a:pt x="1011907" y="118945"/>
                  </a:lnTo>
                  <a:lnTo>
                    <a:pt x="1054070" y="89209"/>
                  </a:lnTo>
                  <a:lnTo>
                    <a:pt x="1096233" y="59472"/>
                  </a:lnTo>
                  <a:lnTo>
                    <a:pt x="1138396" y="29736"/>
                  </a:lnTo>
                  <a:lnTo>
                    <a:pt x="1180558" y="0"/>
                  </a:lnTo>
                </a:path>
              </a:pathLst>
            </a:custGeom>
            <a:ln w="322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795634" y="2064740"/>
            <a:ext cx="1059180" cy="1082675"/>
            <a:chOff x="1795634" y="2064740"/>
            <a:chExt cx="1059180" cy="1082675"/>
          </a:xfrm>
        </p:grpSpPr>
        <p:sp>
          <p:nvSpPr>
            <p:cNvPr id="12" name="object 12"/>
            <p:cNvSpPr/>
            <p:nvPr/>
          </p:nvSpPr>
          <p:spPr>
            <a:xfrm>
              <a:off x="2268524" y="2064740"/>
              <a:ext cx="365125" cy="342265"/>
            </a:xfrm>
            <a:custGeom>
              <a:avLst/>
              <a:gdLst/>
              <a:ahLst/>
              <a:cxnLst/>
              <a:rect l="l" t="t" r="r" b="b"/>
              <a:pathLst>
                <a:path w="365125" h="342264">
                  <a:moveTo>
                    <a:pt x="283387" y="9715"/>
                  </a:moveTo>
                  <a:lnTo>
                    <a:pt x="273685" y="12"/>
                  </a:lnTo>
                  <a:lnTo>
                    <a:pt x="271780" y="0"/>
                  </a:lnTo>
                  <a:lnTo>
                    <a:pt x="262940" y="3695"/>
                  </a:lnTo>
                  <a:lnTo>
                    <a:pt x="243268" y="13919"/>
                  </a:lnTo>
                  <a:lnTo>
                    <a:pt x="220764" y="30149"/>
                  </a:lnTo>
                  <a:lnTo>
                    <a:pt x="192125" y="55079"/>
                  </a:lnTo>
                  <a:lnTo>
                    <a:pt x="136779" y="107797"/>
                  </a:lnTo>
                  <a:lnTo>
                    <a:pt x="123825" y="119087"/>
                  </a:lnTo>
                  <a:lnTo>
                    <a:pt x="113804" y="126301"/>
                  </a:lnTo>
                  <a:lnTo>
                    <a:pt x="105359" y="130568"/>
                  </a:lnTo>
                  <a:lnTo>
                    <a:pt x="93916" y="132943"/>
                  </a:lnTo>
                  <a:lnTo>
                    <a:pt x="80213" y="132346"/>
                  </a:lnTo>
                  <a:lnTo>
                    <a:pt x="40678" y="117373"/>
                  </a:lnTo>
                  <a:lnTo>
                    <a:pt x="15875" y="85928"/>
                  </a:lnTo>
                  <a:lnTo>
                    <a:pt x="11925" y="82080"/>
                  </a:lnTo>
                  <a:lnTo>
                    <a:pt x="7861" y="81445"/>
                  </a:lnTo>
                  <a:lnTo>
                    <a:pt x="3352" y="83807"/>
                  </a:lnTo>
                  <a:lnTo>
                    <a:pt x="533" y="87325"/>
                  </a:lnTo>
                  <a:lnTo>
                    <a:pt x="0" y="91922"/>
                  </a:lnTo>
                  <a:lnTo>
                    <a:pt x="1803" y="97980"/>
                  </a:lnTo>
                  <a:lnTo>
                    <a:pt x="30645" y="133007"/>
                  </a:lnTo>
                  <a:lnTo>
                    <a:pt x="76936" y="150495"/>
                  </a:lnTo>
                  <a:lnTo>
                    <a:pt x="93535" y="151523"/>
                  </a:lnTo>
                  <a:lnTo>
                    <a:pt x="107734" y="149136"/>
                  </a:lnTo>
                  <a:lnTo>
                    <a:pt x="205689" y="67589"/>
                  </a:lnTo>
                  <a:lnTo>
                    <a:pt x="232968" y="44030"/>
                  </a:lnTo>
                  <a:lnTo>
                    <a:pt x="253949" y="28854"/>
                  </a:lnTo>
                  <a:lnTo>
                    <a:pt x="270865" y="20218"/>
                  </a:lnTo>
                  <a:lnTo>
                    <a:pt x="280657" y="16497"/>
                  </a:lnTo>
                  <a:lnTo>
                    <a:pt x="283387" y="9715"/>
                  </a:lnTo>
                  <a:close/>
                </a:path>
                <a:path w="365125" h="342264">
                  <a:moveTo>
                    <a:pt x="364667" y="157175"/>
                  </a:moveTo>
                  <a:lnTo>
                    <a:pt x="361746" y="152222"/>
                  </a:lnTo>
                  <a:lnTo>
                    <a:pt x="358228" y="148704"/>
                  </a:lnTo>
                  <a:lnTo>
                    <a:pt x="354711" y="148488"/>
                  </a:lnTo>
                  <a:lnTo>
                    <a:pt x="345338" y="151231"/>
                  </a:lnTo>
                  <a:lnTo>
                    <a:pt x="290360" y="175234"/>
                  </a:lnTo>
                  <a:lnTo>
                    <a:pt x="252933" y="197116"/>
                  </a:lnTo>
                  <a:lnTo>
                    <a:pt x="205092" y="227660"/>
                  </a:lnTo>
                  <a:lnTo>
                    <a:pt x="168732" y="252717"/>
                  </a:lnTo>
                  <a:lnTo>
                    <a:pt x="108331" y="298881"/>
                  </a:lnTo>
                  <a:lnTo>
                    <a:pt x="89281" y="312889"/>
                  </a:lnTo>
                  <a:lnTo>
                    <a:pt x="77127" y="320459"/>
                  </a:lnTo>
                  <a:lnTo>
                    <a:pt x="70218" y="322707"/>
                  </a:lnTo>
                  <a:lnTo>
                    <a:pt x="65709" y="322668"/>
                  </a:lnTo>
                  <a:lnTo>
                    <a:pt x="64262" y="321233"/>
                  </a:lnTo>
                  <a:lnTo>
                    <a:pt x="44513" y="293154"/>
                  </a:lnTo>
                  <a:lnTo>
                    <a:pt x="35941" y="293154"/>
                  </a:lnTo>
                  <a:lnTo>
                    <a:pt x="34366" y="293890"/>
                  </a:lnTo>
                  <a:lnTo>
                    <a:pt x="32346" y="296583"/>
                  </a:lnTo>
                  <a:lnTo>
                    <a:pt x="30683" y="300253"/>
                  </a:lnTo>
                  <a:lnTo>
                    <a:pt x="31432" y="304825"/>
                  </a:lnTo>
                  <a:lnTo>
                    <a:pt x="63728" y="341490"/>
                  </a:lnTo>
                  <a:lnTo>
                    <a:pt x="65087" y="341731"/>
                  </a:lnTo>
                  <a:lnTo>
                    <a:pt x="76555" y="340410"/>
                  </a:lnTo>
                  <a:lnTo>
                    <a:pt x="122351" y="311251"/>
                  </a:lnTo>
                  <a:lnTo>
                    <a:pt x="158737" y="282803"/>
                  </a:lnTo>
                  <a:lnTo>
                    <a:pt x="180581" y="266776"/>
                  </a:lnTo>
                  <a:lnTo>
                    <a:pt x="223951" y="237147"/>
                  </a:lnTo>
                  <a:lnTo>
                    <a:pt x="269938" y="208254"/>
                  </a:lnTo>
                  <a:lnTo>
                    <a:pt x="303352" y="188874"/>
                  </a:lnTo>
                  <a:lnTo>
                    <a:pt x="349808" y="169354"/>
                  </a:lnTo>
                  <a:lnTo>
                    <a:pt x="358521" y="165989"/>
                  </a:lnTo>
                  <a:lnTo>
                    <a:pt x="363524" y="161848"/>
                  </a:lnTo>
                  <a:lnTo>
                    <a:pt x="364667" y="157175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1496" y="2813873"/>
              <a:ext cx="227584" cy="1154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0564" y="2433273"/>
              <a:ext cx="184924" cy="1304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7923" y="2080297"/>
              <a:ext cx="198646" cy="14614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5627" y="2128431"/>
              <a:ext cx="1059180" cy="1018540"/>
            </a:xfrm>
            <a:custGeom>
              <a:avLst/>
              <a:gdLst/>
              <a:ahLst/>
              <a:cxnLst/>
              <a:rect l="l" t="t" r="r" b="b"/>
              <a:pathLst>
                <a:path w="1059180" h="1018539">
                  <a:moveTo>
                    <a:pt x="268401" y="930821"/>
                  </a:moveTo>
                  <a:lnTo>
                    <a:pt x="266585" y="924077"/>
                  </a:lnTo>
                  <a:lnTo>
                    <a:pt x="258241" y="920902"/>
                  </a:lnTo>
                  <a:lnTo>
                    <a:pt x="254622" y="921232"/>
                  </a:lnTo>
                  <a:lnTo>
                    <a:pt x="240830" y="924331"/>
                  </a:lnTo>
                  <a:lnTo>
                    <a:pt x="215696" y="928890"/>
                  </a:lnTo>
                  <a:lnTo>
                    <a:pt x="200025" y="931532"/>
                  </a:lnTo>
                  <a:lnTo>
                    <a:pt x="183261" y="934694"/>
                  </a:lnTo>
                  <a:lnTo>
                    <a:pt x="113182" y="949185"/>
                  </a:lnTo>
                  <a:lnTo>
                    <a:pt x="68046" y="958227"/>
                  </a:lnTo>
                  <a:lnTo>
                    <a:pt x="41986" y="961885"/>
                  </a:lnTo>
                  <a:lnTo>
                    <a:pt x="29108" y="960488"/>
                  </a:lnTo>
                  <a:lnTo>
                    <a:pt x="23545" y="954392"/>
                  </a:lnTo>
                  <a:lnTo>
                    <a:pt x="19710" y="878497"/>
                  </a:lnTo>
                  <a:lnTo>
                    <a:pt x="19164" y="823112"/>
                  </a:lnTo>
                  <a:lnTo>
                    <a:pt x="18973" y="751636"/>
                  </a:lnTo>
                  <a:lnTo>
                    <a:pt x="19469" y="579005"/>
                  </a:lnTo>
                  <a:lnTo>
                    <a:pt x="20053" y="515086"/>
                  </a:lnTo>
                  <a:lnTo>
                    <a:pt x="21132" y="465721"/>
                  </a:lnTo>
                  <a:lnTo>
                    <a:pt x="22987" y="424929"/>
                  </a:lnTo>
                  <a:lnTo>
                    <a:pt x="25895" y="386740"/>
                  </a:lnTo>
                  <a:lnTo>
                    <a:pt x="30111" y="345173"/>
                  </a:lnTo>
                  <a:lnTo>
                    <a:pt x="35941" y="294246"/>
                  </a:lnTo>
                  <a:lnTo>
                    <a:pt x="46964" y="217462"/>
                  </a:lnTo>
                  <a:lnTo>
                    <a:pt x="56121" y="165709"/>
                  </a:lnTo>
                  <a:lnTo>
                    <a:pt x="69202" y="96126"/>
                  </a:lnTo>
                  <a:lnTo>
                    <a:pt x="74752" y="64935"/>
                  </a:lnTo>
                  <a:lnTo>
                    <a:pt x="78625" y="38773"/>
                  </a:lnTo>
                  <a:lnTo>
                    <a:pt x="80556" y="19583"/>
                  </a:lnTo>
                  <a:lnTo>
                    <a:pt x="80302" y="9321"/>
                  </a:lnTo>
                  <a:lnTo>
                    <a:pt x="78333" y="2171"/>
                  </a:lnTo>
                  <a:lnTo>
                    <a:pt x="70548" y="0"/>
                  </a:lnTo>
                  <a:lnTo>
                    <a:pt x="65735" y="5245"/>
                  </a:lnTo>
                  <a:lnTo>
                    <a:pt x="63779" y="7391"/>
                  </a:lnTo>
                  <a:lnTo>
                    <a:pt x="62941" y="10515"/>
                  </a:lnTo>
                  <a:lnTo>
                    <a:pt x="60706" y="34251"/>
                  </a:lnTo>
                  <a:lnTo>
                    <a:pt x="58458" y="51231"/>
                  </a:lnTo>
                  <a:lnTo>
                    <a:pt x="55435" y="69900"/>
                  </a:lnTo>
                  <a:lnTo>
                    <a:pt x="27063" y="223977"/>
                  </a:lnTo>
                  <a:lnTo>
                    <a:pt x="23533" y="246456"/>
                  </a:lnTo>
                  <a:lnTo>
                    <a:pt x="15798" y="308711"/>
                  </a:lnTo>
                  <a:lnTo>
                    <a:pt x="10096" y="360819"/>
                  </a:lnTo>
                  <a:lnTo>
                    <a:pt x="6286" y="404380"/>
                  </a:lnTo>
                  <a:lnTo>
                    <a:pt x="3594" y="449948"/>
                  </a:lnTo>
                  <a:lnTo>
                    <a:pt x="1244" y="508088"/>
                  </a:lnTo>
                  <a:lnTo>
                    <a:pt x="215" y="591997"/>
                  </a:lnTo>
                  <a:lnTo>
                    <a:pt x="0" y="724560"/>
                  </a:lnTo>
                  <a:lnTo>
                    <a:pt x="609" y="847877"/>
                  </a:lnTo>
                  <a:lnTo>
                    <a:pt x="1219" y="887984"/>
                  </a:lnTo>
                  <a:lnTo>
                    <a:pt x="2336" y="927531"/>
                  </a:lnTo>
                  <a:lnTo>
                    <a:pt x="9994" y="967663"/>
                  </a:lnTo>
                  <a:lnTo>
                    <a:pt x="32372" y="981367"/>
                  </a:lnTo>
                  <a:lnTo>
                    <a:pt x="43764" y="980668"/>
                  </a:lnTo>
                  <a:lnTo>
                    <a:pt x="50126" y="980033"/>
                  </a:lnTo>
                  <a:lnTo>
                    <a:pt x="67678" y="977303"/>
                  </a:lnTo>
                  <a:lnTo>
                    <a:pt x="170180" y="956106"/>
                  </a:lnTo>
                  <a:lnTo>
                    <a:pt x="197764" y="950734"/>
                  </a:lnTo>
                  <a:lnTo>
                    <a:pt x="242125" y="942822"/>
                  </a:lnTo>
                  <a:lnTo>
                    <a:pt x="254685" y="940168"/>
                  </a:lnTo>
                  <a:lnTo>
                    <a:pt x="261353" y="938009"/>
                  </a:lnTo>
                  <a:lnTo>
                    <a:pt x="264414" y="935736"/>
                  </a:lnTo>
                  <a:lnTo>
                    <a:pt x="268401" y="930821"/>
                  </a:lnTo>
                  <a:close/>
                </a:path>
                <a:path w="1059180" h="1018539">
                  <a:moveTo>
                    <a:pt x="660374" y="892530"/>
                  </a:moveTo>
                  <a:lnTo>
                    <a:pt x="655980" y="887984"/>
                  </a:lnTo>
                  <a:lnTo>
                    <a:pt x="648830" y="887984"/>
                  </a:lnTo>
                  <a:lnTo>
                    <a:pt x="645833" y="886053"/>
                  </a:lnTo>
                  <a:lnTo>
                    <a:pt x="638302" y="878408"/>
                  </a:lnTo>
                  <a:lnTo>
                    <a:pt x="638302" y="907161"/>
                  </a:lnTo>
                  <a:lnTo>
                    <a:pt x="638238" y="916914"/>
                  </a:lnTo>
                  <a:lnTo>
                    <a:pt x="612571" y="959523"/>
                  </a:lnTo>
                  <a:lnTo>
                    <a:pt x="572643" y="980681"/>
                  </a:lnTo>
                  <a:lnTo>
                    <a:pt x="528281" y="996378"/>
                  </a:lnTo>
                  <a:lnTo>
                    <a:pt x="474497" y="1000429"/>
                  </a:lnTo>
                  <a:lnTo>
                    <a:pt x="450202" y="1000429"/>
                  </a:lnTo>
                  <a:lnTo>
                    <a:pt x="404063" y="997724"/>
                  </a:lnTo>
                  <a:lnTo>
                    <a:pt x="371703" y="968400"/>
                  </a:lnTo>
                  <a:lnTo>
                    <a:pt x="368846" y="923010"/>
                  </a:lnTo>
                  <a:lnTo>
                    <a:pt x="369252" y="908583"/>
                  </a:lnTo>
                  <a:lnTo>
                    <a:pt x="369290" y="907161"/>
                  </a:lnTo>
                  <a:lnTo>
                    <a:pt x="405104" y="869543"/>
                  </a:lnTo>
                  <a:lnTo>
                    <a:pt x="441223" y="853503"/>
                  </a:lnTo>
                  <a:lnTo>
                    <a:pt x="439547" y="853503"/>
                  </a:lnTo>
                  <a:lnTo>
                    <a:pt x="455574" y="852627"/>
                  </a:lnTo>
                  <a:lnTo>
                    <a:pt x="473113" y="853668"/>
                  </a:lnTo>
                  <a:lnTo>
                    <a:pt x="502119" y="857580"/>
                  </a:lnTo>
                  <a:lnTo>
                    <a:pt x="511708" y="858634"/>
                  </a:lnTo>
                  <a:lnTo>
                    <a:pt x="521893" y="859548"/>
                  </a:lnTo>
                  <a:lnTo>
                    <a:pt x="547319" y="861364"/>
                  </a:lnTo>
                  <a:lnTo>
                    <a:pt x="559257" y="863968"/>
                  </a:lnTo>
                  <a:lnTo>
                    <a:pt x="572528" y="869759"/>
                  </a:lnTo>
                  <a:lnTo>
                    <a:pt x="602627" y="886053"/>
                  </a:lnTo>
                  <a:lnTo>
                    <a:pt x="620128" y="895451"/>
                  </a:lnTo>
                  <a:lnTo>
                    <a:pt x="625309" y="898105"/>
                  </a:lnTo>
                  <a:lnTo>
                    <a:pt x="635520" y="903135"/>
                  </a:lnTo>
                  <a:lnTo>
                    <a:pt x="638302" y="907161"/>
                  </a:lnTo>
                  <a:lnTo>
                    <a:pt x="638302" y="878408"/>
                  </a:lnTo>
                  <a:lnTo>
                    <a:pt x="638187" y="878281"/>
                  </a:lnTo>
                  <a:lnTo>
                    <a:pt x="638454" y="878281"/>
                  </a:lnTo>
                  <a:lnTo>
                    <a:pt x="637095" y="877671"/>
                  </a:lnTo>
                  <a:lnTo>
                    <a:pt x="632536" y="878281"/>
                  </a:lnTo>
                  <a:lnTo>
                    <a:pt x="629272" y="878281"/>
                  </a:lnTo>
                  <a:lnTo>
                    <a:pt x="624916" y="876896"/>
                  </a:lnTo>
                  <a:lnTo>
                    <a:pt x="617715" y="873379"/>
                  </a:lnTo>
                  <a:lnTo>
                    <a:pt x="581025" y="853503"/>
                  </a:lnTo>
                  <a:lnTo>
                    <a:pt x="579031" y="852627"/>
                  </a:lnTo>
                  <a:lnTo>
                    <a:pt x="564553" y="846251"/>
                  </a:lnTo>
                  <a:lnTo>
                    <a:pt x="549998" y="842975"/>
                  </a:lnTo>
                  <a:lnTo>
                    <a:pt x="530796" y="841476"/>
                  </a:lnTo>
                  <a:lnTo>
                    <a:pt x="521309" y="840841"/>
                  </a:lnTo>
                  <a:lnTo>
                    <a:pt x="511746" y="840016"/>
                  </a:lnTo>
                  <a:lnTo>
                    <a:pt x="503212" y="839139"/>
                  </a:lnTo>
                  <a:lnTo>
                    <a:pt x="476415" y="835456"/>
                  </a:lnTo>
                  <a:lnTo>
                    <a:pt x="460197" y="834161"/>
                  </a:lnTo>
                  <a:lnTo>
                    <a:pt x="445173" y="834161"/>
                  </a:lnTo>
                  <a:lnTo>
                    <a:pt x="434289" y="835698"/>
                  </a:lnTo>
                  <a:lnTo>
                    <a:pt x="399503" y="851395"/>
                  </a:lnTo>
                  <a:lnTo>
                    <a:pt x="366052" y="871969"/>
                  </a:lnTo>
                  <a:lnTo>
                    <a:pt x="350431" y="905294"/>
                  </a:lnTo>
                  <a:lnTo>
                    <a:pt x="350329" y="905865"/>
                  </a:lnTo>
                  <a:lnTo>
                    <a:pt x="349783" y="923010"/>
                  </a:lnTo>
                  <a:lnTo>
                    <a:pt x="349758" y="929817"/>
                  </a:lnTo>
                  <a:lnTo>
                    <a:pt x="350494" y="950582"/>
                  </a:lnTo>
                  <a:lnTo>
                    <a:pt x="350558" y="952588"/>
                  </a:lnTo>
                  <a:lnTo>
                    <a:pt x="367588" y="998816"/>
                  </a:lnTo>
                  <a:lnTo>
                    <a:pt x="429793" y="1018273"/>
                  </a:lnTo>
                  <a:lnTo>
                    <a:pt x="475361" y="1018451"/>
                  </a:lnTo>
                  <a:lnTo>
                    <a:pt x="498970" y="1018032"/>
                  </a:lnTo>
                  <a:lnTo>
                    <a:pt x="546900" y="1010246"/>
                  </a:lnTo>
                  <a:lnTo>
                    <a:pt x="573024" y="1000429"/>
                  </a:lnTo>
                  <a:lnTo>
                    <a:pt x="580631" y="997242"/>
                  </a:lnTo>
                  <a:lnTo>
                    <a:pt x="617093" y="978408"/>
                  </a:lnTo>
                  <a:lnTo>
                    <a:pt x="648830" y="944829"/>
                  </a:lnTo>
                  <a:lnTo>
                    <a:pt x="656767" y="908583"/>
                  </a:lnTo>
                  <a:lnTo>
                    <a:pt x="657225" y="905865"/>
                  </a:lnTo>
                  <a:lnTo>
                    <a:pt x="657326" y="905294"/>
                  </a:lnTo>
                  <a:lnTo>
                    <a:pt x="659561" y="903439"/>
                  </a:lnTo>
                  <a:lnTo>
                    <a:pt x="660374" y="900607"/>
                  </a:lnTo>
                  <a:lnTo>
                    <a:pt x="660374" y="892530"/>
                  </a:lnTo>
                  <a:close/>
                </a:path>
                <a:path w="1059180" h="1018539">
                  <a:moveTo>
                    <a:pt x="1058684" y="251358"/>
                  </a:moveTo>
                  <a:lnTo>
                    <a:pt x="1055585" y="248551"/>
                  </a:lnTo>
                  <a:lnTo>
                    <a:pt x="1052449" y="246710"/>
                  </a:lnTo>
                  <a:lnTo>
                    <a:pt x="1047089" y="245999"/>
                  </a:lnTo>
                  <a:lnTo>
                    <a:pt x="1037590" y="246354"/>
                  </a:lnTo>
                  <a:lnTo>
                    <a:pt x="1022019" y="247713"/>
                  </a:lnTo>
                  <a:lnTo>
                    <a:pt x="988847" y="250342"/>
                  </a:lnTo>
                  <a:lnTo>
                    <a:pt x="960678" y="251853"/>
                  </a:lnTo>
                  <a:lnTo>
                    <a:pt x="944245" y="253187"/>
                  </a:lnTo>
                  <a:lnTo>
                    <a:pt x="929424" y="254914"/>
                  </a:lnTo>
                  <a:lnTo>
                    <a:pt x="892632" y="260794"/>
                  </a:lnTo>
                  <a:lnTo>
                    <a:pt x="872375" y="263004"/>
                  </a:lnTo>
                  <a:lnTo>
                    <a:pt x="848677" y="264236"/>
                  </a:lnTo>
                  <a:lnTo>
                    <a:pt x="788263" y="265391"/>
                  </a:lnTo>
                  <a:lnTo>
                    <a:pt x="772909" y="265912"/>
                  </a:lnTo>
                  <a:lnTo>
                    <a:pt x="765898" y="266712"/>
                  </a:lnTo>
                  <a:lnTo>
                    <a:pt x="763333" y="268008"/>
                  </a:lnTo>
                  <a:lnTo>
                    <a:pt x="759714" y="271640"/>
                  </a:lnTo>
                  <a:lnTo>
                    <a:pt x="760260" y="278384"/>
                  </a:lnTo>
                  <a:lnTo>
                    <a:pt x="767918" y="284518"/>
                  </a:lnTo>
                  <a:lnTo>
                    <a:pt x="812571" y="283768"/>
                  </a:lnTo>
                  <a:lnTo>
                    <a:pt x="845007" y="282917"/>
                  </a:lnTo>
                  <a:lnTo>
                    <a:pt x="871232" y="281444"/>
                  </a:lnTo>
                  <a:lnTo>
                    <a:pt x="893419" y="279196"/>
                  </a:lnTo>
                  <a:lnTo>
                    <a:pt x="928077" y="273608"/>
                  </a:lnTo>
                  <a:lnTo>
                    <a:pt x="942428" y="271843"/>
                  </a:lnTo>
                  <a:lnTo>
                    <a:pt x="959612" y="270421"/>
                  </a:lnTo>
                  <a:lnTo>
                    <a:pt x="1010869" y="267271"/>
                  </a:lnTo>
                  <a:lnTo>
                    <a:pt x="1033272" y="265239"/>
                  </a:lnTo>
                  <a:lnTo>
                    <a:pt x="1048461" y="263093"/>
                  </a:lnTo>
                  <a:lnTo>
                    <a:pt x="1055293" y="260959"/>
                  </a:lnTo>
                  <a:lnTo>
                    <a:pt x="1058532" y="258025"/>
                  </a:lnTo>
                  <a:lnTo>
                    <a:pt x="1058684" y="251358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887398" y="2013548"/>
            <a:ext cx="60960" cy="20955"/>
          </a:xfrm>
          <a:custGeom>
            <a:avLst/>
            <a:gdLst/>
            <a:ahLst/>
            <a:cxnLst/>
            <a:rect l="l" t="t" r="r" b="b"/>
            <a:pathLst>
              <a:path w="60959" h="20955">
                <a:moveTo>
                  <a:pt x="6482" y="0"/>
                </a:moveTo>
                <a:lnTo>
                  <a:pt x="3241" y="3241"/>
                </a:lnTo>
                <a:lnTo>
                  <a:pt x="1458" y="5024"/>
                </a:lnTo>
                <a:lnTo>
                  <a:pt x="0" y="7331"/>
                </a:lnTo>
                <a:lnTo>
                  <a:pt x="0" y="11462"/>
                </a:lnTo>
                <a:lnTo>
                  <a:pt x="2712" y="16462"/>
                </a:lnTo>
                <a:lnTo>
                  <a:pt x="6004" y="17849"/>
                </a:lnTo>
                <a:lnTo>
                  <a:pt x="14277" y="18414"/>
                </a:lnTo>
                <a:lnTo>
                  <a:pt x="32264" y="18852"/>
                </a:lnTo>
                <a:lnTo>
                  <a:pt x="42484" y="19375"/>
                </a:lnTo>
                <a:lnTo>
                  <a:pt x="51308" y="20431"/>
                </a:lnTo>
                <a:lnTo>
                  <a:pt x="52900" y="20114"/>
                </a:lnTo>
                <a:lnTo>
                  <a:pt x="60458" y="14168"/>
                </a:lnTo>
                <a:lnTo>
                  <a:pt x="41196" y="893"/>
                </a:lnTo>
                <a:lnTo>
                  <a:pt x="6482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59584" y="1996308"/>
            <a:ext cx="66040" cy="18415"/>
          </a:xfrm>
          <a:custGeom>
            <a:avLst/>
            <a:gdLst/>
            <a:ahLst/>
            <a:cxnLst/>
            <a:rect l="l" t="t" r="r" b="b"/>
            <a:pathLst>
              <a:path w="66040" h="18414">
                <a:moveTo>
                  <a:pt x="47586" y="0"/>
                </a:moveTo>
                <a:lnTo>
                  <a:pt x="17393" y="0"/>
                </a:lnTo>
                <a:lnTo>
                  <a:pt x="9353" y="324"/>
                </a:lnTo>
                <a:lnTo>
                  <a:pt x="5548" y="1190"/>
                </a:lnTo>
                <a:lnTo>
                  <a:pt x="3512" y="2854"/>
                </a:lnTo>
                <a:lnTo>
                  <a:pt x="94" y="6492"/>
                </a:lnTo>
                <a:lnTo>
                  <a:pt x="0" y="11745"/>
                </a:lnTo>
                <a:lnTo>
                  <a:pt x="6176" y="17922"/>
                </a:lnTo>
                <a:lnTo>
                  <a:pt x="56461" y="17922"/>
                </a:lnTo>
                <a:lnTo>
                  <a:pt x="60341" y="17111"/>
                </a:lnTo>
                <a:lnTo>
                  <a:pt x="65707" y="11745"/>
                </a:lnTo>
                <a:lnTo>
                  <a:pt x="65629" y="6070"/>
                </a:lnTo>
                <a:lnTo>
                  <a:pt x="62018" y="2677"/>
                </a:lnTo>
                <a:lnTo>
                  <a:pt x="59896" y="1190"/>
                </a:lnTo>
                <a:lnTo>
                  <a:pt x="60068" y="1190"/>
                </a:lnTo>
                <a:lnTo>
                  <a:pt x="55825" y="324"/>
                </a:lnTo>
                <a:lnTo>
                  <a:pt x="47586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9976" y="2245313"/>
            <a:ext cx="169816" cy="15713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4477" y="2457227"/>
            <a:ext cx="202358" cy="1880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819" y="1872895"/>
            <a:ext cx="172607" cy="16989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33916" y="1116939"/>
            <a:ext cx="542290" cy="706120"/>
            <a:chOff x="133916" y="1116939"/>
            <a:chExt cx="542290" cy="70612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916" y="1116939"/>
              <a:ext cx="219906" cy="21487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41744" y="1323492"/>
              <a:ext cx="434340" cy="499745"/>
            </a:xfrm>
            <a:custGeom>
              <a:avLst/>
              <a:gdLst/>
              <a:ahLst/>
              <a:cxnLst/>
              <a:rect l="l" t="t" r="r" b="b"/>
              <a:pathLst>
                <a:path w="434340" h="499744">
                  <a:moveTo>
                    <a:pt x="240652" y="12217"/>
                  </a:moveTo>
                  <a:lnTo>
                    <a:pt x="239903" y="10287"/>
                  </a:lnTo>
                  <a:lnTo>
                    <a:pt x="234264" y="4660"/>
                  </a:lnTo>
                  <a:lnTo>
                    <a:pt x="232918" y="4495"/>
                  </a:lnTo>
                  <a:lnTo>
                    <a:pt x="221729" y="6134"/>
                  </a:lnTo>
                  <a:lnTo>
                    <a:pt x="200710" y="8623"/>
                  </a:lnTo>
                  <a:lnTo>
                    <a:pt x="175361" y="10134"/>
                  </a:lnTo>
                  <a:lnTo>
                    <a:pt x="140246" y="10896"/>
                  </a:lnTo>
                  <a:lnTo>
                    <a:pt x="38976" y="11176"/>
                  </a:lnTo>
                  <a:lnTo>
                    <a:pt x="13423" y="11899"/>
                  </a:lnTo>
                  <a:lnTo>
                    <a:pt x="4013" y="13995"/>
                  </a:lnTo>
                  <a:lnTo>
                    <a:pt x="1524" y="18224"/>
                  </a:lnTo>
                  <a:lnTo>
                    <a:pt x="0" y="22237"/>
                  </a:lnTo>
                  <a:lnTo>
                    <a:pt x="3060" y="28397"/>
                  </a:lnTo>
                  <a:lnTo>
                    <a:pt x="7086" y="29413"/>
                  </a:lnTo>
                  <a:lnTo>
                    <a:pt x="15062" y="29654"/>
                  </a:lnTo>
                  <a:lnTo>
                    <a:pt x="62801" y="29781"/>
                  </a:lnTo>
                  <a:lnTo>
                    <a:pt x="144221" y="29286"/>
                  </a:lnTo>
                  <a:lnTo>
                    <a:pt x="192481" y="27876"/>
                  </a:lnTo>
                  <a:lnTo>
                    <a:pt x="234632" y="22199"/>
                  </a:lnTo>
                  <a:lnTo>
                    <a:pt x="240372" y="15087"/>
                  </a:lnTo>
                  <a:lnTo>
                    <a:pt x="240652" y="12217"/>
                  </a:lnTo>
                  <a:close/>
                </a:path>
                <a:path w="434340" h="499744">
                  <a:moveTo>
                    <a:pt x="370662" y="258699"/>
                  </a:moveTo>
                  <a:lnTo>
                    <a:pt x="368503" y="253415"/>
                  </a:lnTo>
                  <a:lnTo>
                    <a:pt x="360819" y="249961"/>
                  </a:lnTo>
                  <a:lnTo>
                    <a:pt x="352247" y="251409"/>
                  </a:lnTo>
                  <a:lnTo>
                    <a:pt x="315404" y="269773"/>
                  </a:lnTo>
                  <a:lnTo>
                    <a:pt x="280149" y="311111"/>
                  </a:lnTo>
                  <a:lnTo>
                    <a:pt x="256590" y="343585"/>
                  </a:lnTo>
                  <a:lnTo>
                    <a:pt x="233387" y="378701"/>
                  </a:lnTo>
                  <a:lnTo>
                    <a:pt x="211632" y="414896"/>
                  </a:lnTo>
                  <a:lnTo>
                    <a:pt x="198894" y="436626"/>
                  </a:lnTo>
                  <a:lnTo>
                    <a:pt x="188353" y="453313"/>
                  </a:lnTo>
                  <a:lnTo>
                    <a:pt x="179730" y="465366"/>
                  </a:lnTo>
                  <a:lnTo>
                    <a:pt x="172770" y="473176"/>
                  </a:lnTo>
                  <a:lnTo>
                    <a:pt x="166192" y="478523"/>
                  </a:lnTo>
                  <a:lnTo>
                    <a:pt x="160210" y="479602"/>
                  </a:lnTo>
                  <a:lnTo>
                    <a:pt x="152082" y="475894"/>
                  </a:lnTo>
                  <a:lnTo>
                    <a:pt x="129222" y="459994"/>
                  </a:lnTo>
                  <a:lnTo>
                    <a:pt x="123291" y="456450"/>
                  </a:lnTo>
                  <a:lnTo>
                    <a:pt x="119519" y="455498"/>
                  </a:lnTo>
                  <a:lnTo>
                    <a:pt x="116243" y="456336"/>
                  </a:lnTo>
                  <a:lnTo>
                    <a:pt x="112077" y="458063"/>
                  </a:lnTo>
                  <a:lnTo>
                    <a:pt x="109131" y="463689"/>
                  </a:lnTo>
                  <a:lnTo>
                    <a:pt x="110794" y="468947"/>
                  </a:lnTo>
                  <a:lnTo>
                    <a:pt x="115798" y="473278"/>
                  </a:lnTo>
                  <a:lnTo>
                    <a:pt x="145732" y="493991"/>
                  </a:lnTo>
                  <a:lnTo>
                    <a:pt x="151714" y="496963"/>
                  </a:lnTo>
                  <a:lnTo>
                    <a:pt x="162229" y="499491"/>
                  </a:lnTo>
                  <a:lnTo>
                    <a:pt x="163093" y="499389"/>
                  </a:lnTo>
                  <a:lnTo>
                    <a:pt x="194081" y="476935"/>
                  </a:lnTo>
                  <a:lnTo>
                    <a:pt x="235356" y="410552"/>
                  </a:lnTo>
                  <a:lnTo>
                    <a:pt x="247713" y="390144"/>
                  </a:lnTo>
                  <a:lnTo>
                    <a:pt x="270535" y="355879"/>
                  </a:lnTo>
                  <a:lnTo>
                    <a:pt x="294246" y="323164"/>
                  </a:lnTo>
                  <a:lnTo>
                    <a:pt x="328942" y="282486"/>
                  </a:lnTo>
                  <a:lnTo>
                    <a:pt x="366395" y="267792"/>
                  </a:lnTo>
                  <a:lnTo>
                    <a:pt x="367398" y="267296"/>
                  </a:lnTo>
                  <a:lnTo>
                    <a:pt x="370662" y="258699"/>
                  </a:lnTo>
                  <a:close/>
                </a:path>
                <a:path w="434340" h="499744">
                  <a:moveTo>
                    <a:pt x="434314" y="10845"/>
                  </a:moveTo>
                  <a:lnTo>
                    <a:pt x="425767" y="0"/>
                  </a:lnTo>
                  <a:lnTo>
                    <a:pt x="421919" y="177"/>
                  </a:lnTo>
                  <a:lnTo>
                    <a:pt x="411657" y="5207"/>
                  </a:lnTo>
                  <a:lnTo>
                    <a:pt x="358914" y="40678"/>
                  </a:lnTo>
                  <a:lnTo>
                    <a:pt x="324548" y="67513"/>
                  </a:lnTo>
                  <a:lnTo>
                    <a:pt x="291909" y="95110"/>
                  </a:lnTo>
                  <a:lnTo>
                    <a:pt x="253809" y="131229"/>
                  </a:lnTo>
                  <a:lnTo>
                    <a:pt x="201980" y="184150"/>
                  </a:lnTo>
                  <a:lnTo>
                    <a:pt x="195326" y="189522"/>
                  </a:lnTo>
                  <a:lnTo>
                    <a:pt x="174307" y="165290"/>
                  </a:lnTo>
                  <a:lnTo>
                    <a:pt x="173647" y="164617"/>
                  </a:lnTo>
                  <a:lnTo>
                    <a:pt x="163423" y="164566"/>
                  </a:lnTo>
                  <a:lnTo>
                    <a:pt x="158838" y="169354"/>
                  </a:lnTo>
                  <a:lnTo>
                    <a:pt x="158838" y="174205"/>
                  </a:lnTo>
                  <a:lnTo>
                    <a:pt x="186131" y="209854"/>
                  </a:lnTo>
                  <a:lnTo>
                    <a:pt x="192366" y="209854"/>
                  </a:lnTo>
                  <a:lnTo>
                    <a:pt x="243471" y="167995"/>
                  </a:lnTo>
                  <a:lnTo>
                    <a:pt x="268643" y="142824"/>
                  </a:lnTo>
                  <a:lnTo>
                    <a:pt x="308229" y="105041"/>
                  </a:lnTo>
                  <a:lnTo>
                    <a:pt x="339953" y="78587"/>
                  </a:lnTo>
                  <a:lnTo>
                    <a:pt x="372376" y="53530"/>
                  </a:lnTo>
                  <a:lnTo>
                    <a:pt x="422529" y="20129"/>
                  </a:lnTo>
                  <a:lnTo>
                    <a:pt x="432498" y="15113"/>
                  </a:lnTo>
                  <a:lnTo>
                    <a:pt x="434314" y="10845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3536900" y="1885419"/>
            <a:ext cx="20320" cy="22860"/>
          </a:xfrm>
          <a:custGeom>
            <a:avLst/>
            <a:gdLst/>
            <a:ahLst/>
            <a:cxnLst/>
            <a:rect l="l" t="t" r="r" b="b"/>
            <a:pathLst>
              <a:path w="20320" h="22860">
                <a:moveTo>
                  <a:pt x="8119" y="0"/>
                </a:moveTo>
                <a:lnTo>
                  <a:pt x="6720" y="474"/>
                </a:lnTo>
                <a:lnTo>
                  <a:pt x="4116" y="3079"/>
                </a:lnTo>
                <a:lnTo>
                  <a:pt x="209" y="6986"/>
                </a:lnTo>
                <a:lnTo>
                  <a:pt x="0" y="11244"/>
                </a:lnTo>
                <a:lnTo>
                  <a:pt x="8672" y="22271"/>
                </a:lnTo>
                <a:lnTo>
                  <a:pt x="19758" y="18078"/>
                </a:lnTo>
                <a:lnTo>
                  <a:pt x="19758" y="5492"/>
                </a:lnTo>
                <a:lnTo>
                  <a:pt x="16016" y="1524"/>
                </a:lnTo>
                <a:lnTo>
                  <a:pt x="8119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0538" y="2020456"/>
            <a:ext cx="20955" cy="21590"/>
          </a:xfrm>
          <a:custGeom>
            <a:avLst/>
            <a:gdLst/>
            <a:ahLst/>
            <a:cxnLst/>
            <a:rect l="l" t="t" r="r" b="b"/>
            <a:pathLst>
              <a:path w="20954" h="21589">
                <a:moveTo>
                  <a:pt x="7114" y="0"/>
                </a:moveTo>
                <a:lnTo>
                  <a:pt x="3488" y="3859"/>
                </a:lnTo>
                <a:lnTo>
                  <a:pt x="530" y="7009"/>
                </a:lnTo>
                <a:lnTo>
                  <a:pt x="0" y="11027"/>
                </a:lnTo>
                <a:lnTo>
                  <a:pt x="5345" y="21016"/>
                </a:lnTo>
                <a:lnTo>
                  <a:pt x="14543" y="20959"/>
                </a:lnTo>
                <a:lnTo>
                  <a:pt x="20347" y="9735"/>
                </a:lnTo>
                <a:lnTo>
                  <a:pt x="20104" y="7605"/>
                </a:lnTo>
                <a:lnTo>
                  <a:pt x="12572" y="73"/>
                </a:lnTo>
                <a:lnTo>
                  <a:pt x="711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Activation</a:t>
            </a:r>
            <a:r>
              <a:rPr spc="210" dirty="0"/>
              <a:t> </a:t>
            </a:r>
            <a:r>
              <a:rPr spc="50" dirty="0"/>
              <a:t>Tree</a:t>
            </a:r>
            <a:r>
              <a:rPr spc="210" dirty="0"/>
              <a:t> </a:t>
            </a:r>
            <a:r>
              <a:rPr spc="75" dirty="0"/>
              <a:t>Example</a:t>
            </a:r>
            <a:endParaRPr spc="75" dirty="0"/>
          </a:p>
        </p:txBody>
      </p:sp>
      <p:sp>
        <p:nvSpPr>
          <p:cNvPr id="6" name="object 6"/>
          <p:cNvSpPr/>
          <p:nvPr/>
        </p:nvSpPr>
        <p:spPr>
          <a:xfrm>
            <a:off x="95529" y="711161"/>
            <a:ext cx="4417060" cy="731520"/>
          </a:xfrm>
          <a:custGeom>
            <a:avLst/>
            <a:gdLst/>
            <a:ahLst/>
            <a:cxnLst/>
            <a:rect l="l" t="t" r="r" b="b"/>
            <a:pathLst>
              <a:path w="4417060" h="731519">
                <a:moveTo>
                  <a:pt x="2527" y="43027"/>
                </a:moveTo>
                <a:lnTo>
                  <a:pt x="2527" y="0"/>
                </a:lnTo>
              </a:path>
              <a:path w="4417060" h="731519">
                <a:moveTo>
                  <a:pt x="0" y="2540"/>
                </a:moveTo>
                <a:lnTo>
                  <a:pt x="43014" y="2540"/>
                </a:lnTo>
              </a:path>
              <a:path w="4417060" h="731519">
                <a:moveTo>
                  <a:pt x="43014" y="2540"/>
                </a:moveTo>
                <a:lnTo>
                  <a:pt x="4373930" y="2540"/>
                </a:lnTo>
              </a:path>
              <a:path w="4417060" h="731519">
                <a:moveTo>
                  <a:pt x="4373930" y="2540"/>
                </a:moveTo>
                <a:lnTo>
                  <a:pt x="4416945" y="2540"/>
                </a:lnTo>
              </a:path>
              <a:path w="4417060" h="731519">
                <a:moveTo>
                  <a:pt x="4414418" y="43027"/>
                </a:moveTo>
                <a:lnTo>
                  <a:pt x="4414418" y="0"/>
                </a:lnTo>
              </a:path>
              <a:path w="4417060" h="731519">
                <a:moveTo>
                  <a:pt x="2527" y="215099"/>
                </a:moveTo>
                <a:lnTo>
                  <a:pt x="2527" y="43027"/>
                </a:lnTo>
              </a:path>
              <a:path w="4417060" h="731519">
                <a:moveTo>
                  <a:pt x="4414418" y="215099"/>
                </a:moveTo>
                <a:lnTo>
                  <a:pt x="4414418" y="43027"/>
                </a:lnTo>
              </a:path>
              <a:path w="4417060" h="731519">
                <a:moveTo>
                  <a:pt x="2527" y="387172"/>
                </a:moveTo>
                <a:lnTo>
                  <a:pt x="2527" y="215099"/>
                </a:lnTo>
              </a:path>
              <a:path w="4417060" h="731519">
                <a:moveTo>
                  <a:pt x="4414418" y="387172"/>
                </a:moveTo>
                <a:lnTo>
                  <a:pt x="4414418" y="215099"/>
                </a:lnTo>
              </a:path>
              <a:path w="4417060" h="731519">
                <a:moveTo>
                  <a:pt x="2527" y="559244"/>
                </a:moveTo>
                <a:lnTo>
                  <a:pt x="2527" y="387172"/>
                </a:lnTo>
              </a:path>
              <a:path w="4417060" h="731519">
                <a:moveTo>
                  <a:pt x="4414418" y="559244"/>
                </a:moveTo>
                <a:lnTo>
                  <a:pt x="4414418" y="387172"/>
                </a:lnTo>
              </a:path>
              <a:path w="4417060" h="731519">
                <a:moveTo>
                  <a:pt x="2527" y="731316"/>
                </a:moveTo>
                <a:lnTo>
                  <a:pt x="2527" y="559244"/>
                </a:lnTo>
              </a:path>
              <a:path w="4417060" h="731519">
                <a:moveTo>
                  <a:pt x="4414418" y="731316"/>
                </a:moveTo>
                <a:lnTo>
                  <a:pt x="4414418" y="55924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76885" y="723390"/>
            <a:ext cx="1917064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n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te</a:t>
            </a:r>
            <a:r>
              <a:rPr sz="1100" spc="-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225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read</a:t>
            </a:r>
            <a:r>
              <a:rPr sz="1100" u="heavy" spc="-16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5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Arra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()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u="heavy" spc="-13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u="heavy" spc="-12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5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u="heavy" spc="-114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v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215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read</a:t>
            </a:r>
            <a:r>
              <a:rPr sz="1100" spc="-1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Array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()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575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n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te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204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q</a:t>
            </a:r>
            <a:r>
              <a:rPr sz="1100" spc="-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k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7813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n</a:t>
            </a:r>
            <a:r>
              <a:rPr sz="1100" spc="-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te</a:t>
            </a:r>
            <a:r>
              <a:rPr sz="1100" spc="-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215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6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u="heavy" spc="-1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1100" u="heavy" spc="2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u="heavy" spc="-1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1100" u="heavy" spc="-1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056" y="1442478"/>
            <a:ext cx="4411980" cy="860425"/>
          </a:xfrm>
          <a:custGeom>
            <a:avLst/>
            <a:gdLst/>
            <a:ahLst/>
            <a:cxnLst/>
            <a:rect l="l" t="t" r="r" b="b"/>
            <a:pathLst>
              <a:path w="4411980" h="860425">
                <a:moveTo>
                  <a:pt x="0" y="172085"/>
                </a:moveTo>
                <a:lnTo>
                  <a:pt x="0" y="0"/>
                </a:lnTo>
              </a:path>
              <a:path w="4411980" h="860425">
                <a:moveTo>
                  <a:pt x="4411891" y="172085"/>
                </a:moveTo>
                <a:lnTo>
                  <a:pt x="4411891" y="0"/>
                </a:lnTo>
              </a:path>
              <a:path w="4411980" h="860425">
                <a:moveTo>
                  <a:pt x="0" y="344157"/>
                </a:moveTo>
                <a:lnTo>
                  <a:pt x="0" y="172085"/>
                </a:lnTo>
              </a:path>
              <a:path w="4411980" h="860425">
                <a:moveTo>
                  <a:pt x="4411891" y="344157"/>
                </a:moveTo>
                <a:lnTo>
                  <a:pt x="4411891" y="172085"/>
                </a:lnTo>
              </a:path>
              <a:path w="4411980" h="860425">
                <a:moveTo>
                  <a:pt x="0" y="516229"/>
                </a:moveTo>
                <a:lnTo>
                  <a:pt x="0" y="344157"/>
                </a:lnTo>
              </a:path>
              <a:path w="4411980" h="860425">
                <a:moveTo>
                  <a:pt x="4411891" y="516229"/>
                </a:moveTo>
                <a:lnTo>
                  <a:pt x="4411891" y="344157"/>
                </a:lnTo>
              </a:path>
              <a:path w="4411980" h="860425">
                <a:moveTo>
                  <a:pt x="0" y="688301"/>
                </a:moveTo>
                <a:lnTo>
                  <a:pt x="0" y="516229"/>
                </a:lnTo>
              </a:path>
              <a:path w="4411980" h="860425">
                <a:moveTo>
                  <a:pt x="4411891" y="688301"/>
                </a:moveTo>
                <a:lnTo>
                  <a:pt x="4411891" y="516229"/>
                </a:lnTo>
              </a:path>
              <a:path w="4411980" h="860425">
                <a:moveTo>
                  <a:pt x="0" y="860374"/>
                </a:moveTo>
                <a:lnTo>
                  <a:pt x="0" y="688301"/>
                </a:lnTo>
              </a:path>
              <a:path w="4411980" h="860425">
                <a:moveTo>
                  <a:pt x="4411891" y="860374"/>
                </a:moveTo>
                <a:lnTo>
                  <a:pt x="4411891" y="68830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2516" y="1411692"/>
            <a:ext cx="1151890" cy="880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q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k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3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1355"/>
              </a:spcBef>
            </a:pP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q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k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1100" u="heavy" spc="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u="heavy" spc="-1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3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q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k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5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056" y="2302853"/>
            <a:ext cx="4411980" cy="172085"/>
          </a:xfrm>
          <a:custGeom>
            <a:avLst/>
            <a:gdLst/>
            <a:ahLst/>
            <a:cxnLst/>
            <a:rect l="l" t="t" r="r" b="b"/>
            <a:pathLst>
              <a:path w="4411980" h="172085">
                <a:moveTo>
                  <a:pt x="0" y="172084"/>
                </a:moveTo>
                <a:lnTo>
                  <a:pt x="0" y="0"/>
                </a:lnTo>
              </a:path>
              <a:path w="4411980" h="172085">
                <a:moveTo>
                  <a:pt x="4411891" y="172084"/>
                </a:moveTo>
                <a:lnTo>
                  <a:pt x="4411891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2505" y="1411692"/>
            <a:ext cx="418465" cy="1052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780" indent="635">
              <a:lnSpc>
                <a:spcPct val="103000"/>
              </a:lnSpc>
              <a:spcBef>
                <a:spcPts val="55"/>
              </a:spcBef>
            </a:pPr>
            <a:r>
              <a:rPr sz="1100" u="heavy" spc="-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u="heavy" spc="-1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5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u="heavy" spc="-1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u="heavy" spc="-1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5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v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e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n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te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43840">
              <a:lnSpc>
                <a:spcPct val="100000"/>
              </a:lnSpc>
              <a:spcBef>
                <a:spcPts val="35"/>
              </a:spcBef>
            </a:pP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r>
              <a:rPr sz="1100" i="1" spc="-1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r>
              <a:rPr sz="1100" i="1" spc="-1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2700" marR="17780" indent="635">
              <a:lnSpc>
                <a:spcPct val="103000"/>
              </a:lnSpc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v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e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n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te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60655">
              <a:lnSpc>
                <a:spcPct val="100000"/>
              </a:lnSpc>
              <a:spcBef>
                <a:spcPts val="35"/>
              </a:spcBef>
            </a:pP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r>
              <a:rPr sz="1100" i="1" spc="-1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r>
              <a:rPr sz="1100" i="1" spc="-1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056" y="2474937"/>
            <a:ext cx="4411980" cy="516255"/>
          </a:xfrm>
          <a:custGeom>
            <a:avLst/>
            <a:gdLst/>
            <a:ahLst/>
            <a:cxnLst/>
            <a:rect l="l" t="t" r="r" b="b"/>
            <a:pathLst>
              <a:path w="4411980" h="516255">
                <a:moveTo>
                  <a:pt x="0" y="172072"/>
                </a:moveTo>
                <a:lnTo>
                  <a:pt x="0" y="0"/>
                </a:lnTo>
              </a:path>
              <a:path w="4411980" h="516255">
                <a:moveTo>
                  <a:pt x="4411891" y="172072"/>
                </a:moveTo>
                <a:lnTo>
                  <a:pt x="4411891" y="0"/>
                </a:lnTo>
              </a:path>
              <a:path w="4411980" h="516255">
                <a:moveTo>
                  <a:pt x="0" y="344144"/>
                </a:moveTo>
                <a:lnTo>
                  <a:pt x="0" y="172072"/>
                </a:lnTo>
              </a:path>
              <a:path w="4411980" h="516255">
                <a:moveTo>
                  <a:pt x="4411891" y="344144"/>
                </a:moveTo>
                <a:lnTo>
                  <a:pt x="4411891" y="172072"/>
                </a:lnTo>
              </a:path>
              <a:path w="4411980" h="516255">
                <a:moveTo>
                  <a:pt x="0" y="516216"/>
                </a:moveTo>
                <a:lnTo>
                  <a:pt x="0" y="344144"/>
                </a:lnTo>
              </a:path>
              <a:path w="4411980" h="516255">
                <a:moveTo>
                  <a:pt x="4411891" y="516216"/>
                </a:moveTo>
                <a:lnTo>
                  <a:pt x="4411891" y="34414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4462" y="2444139"/>
            <a:ext cx="214947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8435" marR="5080" indent="332105">
              <a:lnSpc>
                <a:spcPct val="103000"/>
              </a:lnSpc>
              <a:spcBef>
                <a:spcPts val="55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v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204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q</a:t>
            </a:r>
            <a:r>
              <a:rPr sz="1100" spc="-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k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5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v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204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q</a:t>
            </a:r>
            <a:r>
              <a:rPr sz="1100" spc="-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k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</a:rPr>
              <a:t>o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spc="-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9</a:t>
            </a:r>
            <a:r>
              <a:rPr sz="1100" spc="-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v</a:t>
            </a:r>
            <a:r>
              <a:rPr sz="1100" spc="-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sz="1100" spc="145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main</a:t>
            </a:r>
            <a:r>
              <a:rPr sz="1100" spc="-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()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5526" y="888188"/>
            <a:ext cx="4417060" cy="2146300"/>
            <a:chOff x="95526" y="888188"/>
            <a:chExt cx="4417060" cy="2146300"/>
          </a:xfrm>
        </p:grpSpPr>
        <p:sp>
          <p:nvSpPr>
            <p:cNvPr id="15" name="object 15"/>
            <p:cNvSpPr/>
            <p:nvPr/>
          </p:nvSpPr>
          <p:spPr>
            <a:xfrm>
              <a:off x="95529" y="2991154"/>
              <a:ext cx="4417060" cy="43180"/>
            </a:xfrm>
            <a:custGeom>
              <a:avLst/>
              <a:gdLst/>
              <a:ahLst/>
              <a:cxnLst/>
              <a:rect l="l" t="t" r="r" b="b"/>
              <a:pathLst>
                <a:path w="4417060" h="43180">
                  <a:moveTo>
                    <a:pt x="2527" y="43014"/>
                  </a:moveTo>
                  <a:lnTo>
                    <a:pt x="2527" y="0"/>
                  </a:lnTo>
                </a:path>
                <a:path w="4417060" h="43180">
                  <a:moveTo>
                    <a:pt x="0" y="40487"/>
                  </a:moveTo>
                  <a:lnTo>
                    <a:pt x="43014" y="40487"/>
                  </a:lnTo>
                </a:path>
                <a:path w="4417060" h="43180">
                  <a:moveTo>
                    <a:pt x="43014" y="40487"/>
                  </a:moveTo>
                  <a:lnTo>
                    <a:pt x="4373930" y="40487"/>
                  </a:lnTo>
                </a:path>
                <a:path w="4417060" h="43180">
                  <a:moveTo>
                    <a:pt x="4373930" y="40487"/>
                  </a:moveTo>
                  <a:lnTo>
                    <a:pt x="4416945" y="40487"/>
                  </a:lnTo>
                </a:path>
                <a:path w="4417060" h="43180">
                  <a:moveTo>
                    <a:pt x="4414418" y="43014"/>
                  </a:moveTo>
                  <a:lnTo>
                    <a:pt x="441441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3806" y="888199"/>
              <a:ext cx="2324100" cy="1241425"/>
            </a:xfrm>
            <a:custGeom>
              <a:avLst/>
              <a:gdLst/>
              <a:ahLst/>
              <a:cxnLst/>
              <a:rect l="l" t="t" r="r" b="b"/>
              <a:pathLst>
                <a:path w="2324100" h="1241425">
                  <a:moveTo>
                    <a:pt x="216039" y="21018"/>
                  </a:moveTo>
                  <a:lnTo>
                    <a:pt x="180047" y="4864"/>
                  </a:lnTo>
                  <a:lnTo>
                    <a:pt x="132816" y="1104"/>
                  </a:lnTo>
                  <a:lnTo>
                    <a:pt x="62077" y="0"/>
                  </a:lnTo>
                  <a:lnTo>
                    <a:pt x="23914" y="88"/>
                  </a:lnTo>
                  <a:lnTo>
                    <a:pt x="6057" y="685"/>
                  </a:lnTo>
                  <a:lnTo>
                    <a:pt x="5181" y="1041"/>
                  </a:lnTo>
                  <a:lnTo>
                    <a:pt x="3581" y="3035"/>
                  </a:lnTo>
                  <a:lnTo>
                    <a:pt x="0" y="9944"/>
                  </a:lnTo>
                  <a:lnTo>
                    <a:pt x="1943" y="15392"/>
                  </a:lnTo>
                  <a:lnTo>
                    <a:pt x="6819" y="17284"/>
                  </a:lnTo>
                  <a:lnTo>
                    <a:pt x="12979" y="17868"/>
                  </a:lnTo>
                  <a:lnTo>
                    <a:pt x="27736" y="18389"/>
                  </a:lnTo>
                  <a:lnTo>
                    <a:pt x="117513" y="19583"/>
                  </a:lnTo>
                  <a:lnTo>
                    <a:pt x="142125" y="20180"/>
                  </a:lnTo>
                  <a:lnTo>
                    <a:pt x="159854" y="21209"/>
                  </a:lnTo>
                  <a:lnTo>
                    <a:pt x="192836" y="24536"/>
                  </a:lnTo>
                  <a:lnTo>
                    <a:pt x="202031" y="25247"/>
                  </a:lnTo>
                  <a:lnTo>
                    <a:pt x="207010" y="25120"/>
                  </a:lnTo>
                  <a:lnTo>
                    <a:pt x="209778" y="24257"/>
                  </a:lnTo>
                  <a:lnTo>
                    <a:pt x="216039" y="21018"/>
                  </a:lnTo>
                  <a:close/>
                </a:path>
                <a:path w="2324100" h="1241425">
                  <a:moveTo>
                    <a:pt x="418744" y="1231150"/>
                  </a:moveTo>
                  <a:lnTo>
                    <a:pt x="377837" y="1222514"/>
                  </a:lnTo>
                  <a:lnTo>
                    <a:pt x="325221" y="1221752"/>
                  </a:lnTo>
                  <a:lnTo>
                    <a:pt x="304101" y="1221130"/>
                  </a:lnTo>
                  <a:lnTo>
                    <a:pt x="287286" y="1220076"/>
                  </a:lnTo>
                  <a:lnTo>
                    <a:pt x="241439" y="1215351"/>
                  </a:lnTo>
                  <a:lnTo>
                    <a:pt x="227025" y="1214247"/>
                  </a:lnTo>
                  <a:lnTo>
                    <a:pt x="221119" y="1214996"/>
                  </a:lnTo>
                  <a:lnTo>
                    <a:pt x="218147" y="1217498"/>
                  </a:lnTo>
                  <a:lnTo>
                    <a:pt x="215087" y="1220571"/>
                  </a:lnTo>
                  <a:lnTo>
                    <a:pt x="214490" y="1222006"/>
                  </a:lnTo>
                  <a:lnTo>
                    <a:pt x="216535" y="1230630"/>
                  </a:lnTo>
                  <a:lnTo>
                    <a:pt x="219710" y="1232166"/>
                  </a:lnTo>
                  <a:lnTo>
                    <a:pt x="261683" y="1235849"/>
                  </a:lnTo>
                  <a:lnTo>
                    <a:pt x="291592" y="1238732"/>
                  </a:lnTo>
                  <a:lnTo>
                    <a:pt x="308711" y="1239799"/>
                  </a:lnTo>
                  <a:lnTo>
                    <a:pt x="329145" y="1240497"/>
                  </a:lnTo>
                  <a:lnTo>
                    <a:pt x="389166" y="1241348"/>
                  </a:lnTo>
                  <a:lnTo>
                    <a:pt x="406781" y="1240828"/>
                  </a:lnTo>
                  <a:lnTo>
                    <a:pt x="414350" y="1238948"/>
                  </a:lnTo>
                  <a:lnTo>
                    <a:pt x="417055" y="1235227"/>
                  </a:lnTo>
                  <a:lnTo>
                    <a:pt x="418744" y="1231150"/>
                  </a:lnTo>
                  <a:close/>
                </a:path>
                <a:path w="2324100" h="1241425">
                  <a:moveTo>
                    <a:pt x="1158887" y="166255"/>
                  </a:moveTo>
                  <a:lnTo>
                    <a:pt x="1158709" y="159359"/>
                  </a:lnTo>
                  <a:lnTo>
                    <a:pt x="1152956" y="154190"/>
                  </a:lnTo>
                  <a:lnTo>
                    <a:pt x="1150899" y="153974"/>
                  </a:lnTo>
                  <a:lnTo>
                    <a:pt x="1128217" y="154597"/>
                  </a:lnTo>
                  <a:lnTo>
                    <a:pt x="1109154" y="156108"/>
                  </a:lnTo>
                  <a:lnTo>
                    <a:pt x="1083919" y="158877"/>
                  </a:lnTo>
                  <a:lnTo>
                    <a:pt x="1071435" y="159626"/>
                  </a:lnTo>
                  <a:lnTo>
                    <a:pt x="1066126" y="159626"/>
                  </a:lnTo>
                  <a:lnTo>
                    <a:pt x="1055268" y="160210"/>
                  </a:lnTo>
                  <a:lnTo>
                    <a:pt x="1038415" y="161505"/>
                  </a:lnTo>
                  <a:lnTo>
                    <a:pt x="1008595" y="162763"/>
                  </a:lnTo>
                  <a:lnTo>
                    <a:pt x="957148" y="164630"/>
                  </a:lnTo>
                  <a:lnTo>
                    <a:pt x="910056" y="172402"/>
                  </a:lnTo>
                  <a:lnTo>
                    <a:pt x="883158" y="178574"/>
                  </a:lnTo>
                  <a:lnTo>
                    <a:pt x="865657" y="182308"/>
                  </a:lnTo>
                  <a:lnTo>
                    <a:pt x="851103" y="183794"/>
                  </a:lnTo>
                  <a:lnTo>
                    <a:pt x="837018" y="183083"/>
                  </a:lnTo>
                  <a:lnTo>
                    <a:pt x="820889" y="180276"/>
                  </a:lnTo>
                  <a:lnTo>
                    <a:pt x="805751" y="176479"/>
                  </a:lnTo>
                  <a:lnTo>
                    <a:pt x="789051" y="171183"/>
                  </a:lnTo>
                  <a:lnTo>
                    <a:pt x="770204" y="164160"/>
                  </a:lnTo>
                  <a:lnTo>
                    <a:pt x="748563" y="155232"/>
                  </a:lnTo>
                  <a:lnTo>
                    <a:pt x="732155" y="148755"/>
                  </a:lnTo>
                  <a:lnTo>
                    <a:pt x="719201" y="145110"/>
                  </a:lnTo>
                  <a:lnTo>
                    <a:pt x="708177" y="144005"/>
                  </a:lnTo>
                  <a:lnTo>
                    <a:pt x="697611" y="145148"/>
                  </a:lnTo>
                  <a:lnTo>
                    <a:pt x="693115" y="146037"/>
                  </a:lnTo>
                  <a:lnTo>
                    <a:pt x="683780" y="148463"/>
                  </a:lnTo>
                  <a:lnTo>
                    <a:pt x="676859" y="150520"/>
                  </a:lnTo>
                  <a:lnTo>
                    <a:pt x="657466" y="155600"/>
                  </a:lnTo>
                  <a:lnTo>
                    <a:pt x="636130" y="158483"/>
                  </a:lnTo>
                  <a:lnTo>
                    <a:pt x="603453" y="159931"/>
                  </a:lnTo>
                  <a:lnTo>
                    <a:pt x="550011" y="160705"/>
                  </a:lnTo>
                  <a:lnTo>
                    <a:pt x="473481" y="161480"/>
                  </a:lnTo>
                  <a:lnTo>
                    <a:pt x="467779" y="168541"/>
                  </a:lnTo>
                  <a:lnTo>
                    <a:pt x="468071" y="172948"/>
                  </a:lnTo>
                  <a:lnTo>
                    <a:pt x="475157" y="180022"/>
                  </a:lnTo>
                  <a:lnTo>
                    <a:pt x="548335" y="179374"/>
                  </a:lnTo>
                  <a:lnTo>
                    <a:pt x="603605" y="178549"/>
                  </a:lnTo>
                  <a:lnTo>
                    <a:pt x="663892" y="172999"/>
                  </a:lnTo>
                  <a:lnTo>
                    <a:pt x="693432" y="164731"/>
                  </a:lnTo>
                  <a:lnTo>
                    <a:pt x="701929" y="162966"/>
                  </a:lnTo>
                  <a:lnTo>
                    <a:pt x="706424" y="162623"/>
                  </a:lnTo>
                  <a:lnTo>
                    <a:pt x="713016" y="162661"/>
                  </a:lnTo>
                  <a:lnTo>
                    <a:pt x="721004" y="164439"/>
                  </a:lnTo>
                  <a:lnTo>
                    <a:pt x="733488" y="168948"/>
                  </a:lnTo>
                  <a:lnTo>
                    <a:pt x="753592" y="177101"/>
                  </a:lnTo>
                  <a:lnTo>
                    <a:pt x="782637" y="188226"/>
                  </a:lnTo>
                  <a:lnTo>
                    <a:pt x="808253" y="196100"/>
                  </a:lnTo>
                  <a:lnTo>
                    <a:pt x="830643" y="200799"/>
                  </a:lnTo>
                  <a:lnTo>
                    <a:pt x="849998" y="202361"/>
                  </a:lnTo>
                  <a:lnTo>
                    <a:pt x="858647" y="201815"/>
                  </a:lnTo>
                  <a:lnTo>
                    <a:pt x="869569" y="200253"/>
                  </a:lnTo>
                  <a:lnTo>
                    <a:pt x="881824" y="197866"/>
                  </a:lnTo>
                  <a:lnTo>
                    <a:pt x="907326" y="191795"/>
                  </a:lnTo>
                  <a:lnTo>
                    <a:pt x="925220" y="188099"/>
                  </a:lnTo>
                  <a:lnTo>
                    <a:pt x="942682" y="184785"/>
                  </a:lnTo>
                  <a:lnTo>
                    <a:pt x="954227" y="182943"/>
                  </a:lnTo>
                  <a:lnTo>
                    <a:pt x="978293" y="181927"/>
                  </a:lnTo>
                  <a:lnTo>
                    <a:pt x="1024991" y="180568"/>
                  </a:lnTo>
                  <a:lnTo>
                    <a:pt x="1061427" y="178714"/>
                  </a:lnTo>
                  <a:lnTo>
                    <a:pt x="1091768" y="176580"/>
                  </a:lnTo>
                  <a:lnTo>
                    <a:pt x="1108405" y="174599"/>
                  </a:lnTo>
                  <a:lnTo>
                    <a:pt x="1111123" y="173939"/>
                  </a:lnTo>
                  <a:lnTo>
                    <a:pt x="1122362" y="173037"/>
                  </a:lnTo>
                  <a:lnTo>
                    <a:pt x="1150429" y="171894"/>
                  </a:lnTo>
                  <a:lnTo>
                    <a:pt x="1153718" y="171437"/>
                  </a:lnTo>
                  <a:lnTo>
                    <a:pt x="1158887" y="166255"/>
                  </a:lnTo>
                  <a:close/>
                </a:path>
                <a:path w="2324100" h="1241425">
                  <a:moveTo>
                    <a:pt x="1343710" y="368325"/>
                  </a:moveTo>
                  <a:lnTo>
                    <a:pt x="1343609" y="365582"/>
                  </a:lnTo>
                  <a:lnTo>
                    <a:pt x="1336852" y="357720"/>
                  </a:lnTo>
                  <a:lnTo>
                    <a:pt x="1287221" y="357124"/>
                  </a:lnTo>
                  <a:lnTo>
                    <a:pt x="1277289" y="357301"/>
                  </a:lnTo>
                  <a:lnTo>
                    <a:pt x="1272451" y="357974"/>
                  </a:lnTo>
                  <a:lnTo>
                    <a:pt x="1270025" y="359308"/>
                  </a:lnTo>
                  <a:lnTo>
                    <a:pt x="1266164" y="362419"/>
                  </a:lnTo>
                  <a:lnTo>
                    <a:pt x="1265986" y="368782"/>
                  </a:lnTo>
                  <a:lnTo>
                    <a:pt x="1269657" y="372440"/>
                  </a:lnTo>
                  <a:lnTo>
                    <a:pt x="1271854" y="373926"/>
                  </a:lnTo>
                  <a:lnTo>
                    <a:pt x="1276578" y="374777"/>
                  </a:lnTo>
                  <a:lnTo>
                    <a:pt x="1286662" y="375234"/>
                  </a:lnTo>
                  <a:lnTo>
                    <a:pt x="1337627" y="376059"/>
                  </a:lnTo>
                  <a:lnTo>
                    <a:pt x="1343710" y="368325"/>
                  </a:lnTo>
                  <a:close/>
                </a:path>
                <a:path w="2324100" h="1241425">
                  <a:moveTo>
                    <a:pt x="1584426" y="351612"/>
                  </a:moveTo>
                  <a:lnTo>
                    <a:pt x="1580515" y="347040"/>
                  </a:lnTo>
                  <a:lnTo>
                    <a:pt x="1512811" y="346659"/>
                  </a:lnTo>
                  <a:lnTo>
                    <a:pt x="1467129" y="346875"/>
                  </a:lnTo>
                  <a:lnTo>
                    <a:pt x="1461046" y="348729"/>
                  </a:lnTo>
                  <a:lnTo>
                    <a:pt x="1459064" y="357505"/>
                  </a:lnTo>
                  <a:lnTo>
                    <a:pt x="1463675" y="362115"/>
                  </a:lnTo>
                  <a:lnTo>
                    <a:pt x="1466215" y="363537"/>
                  </a:lnTo>
                  <a:lnTo>
                    <a:pt x="1473517" y="364299"/>
                  </a:lnTo>
                  <a:lnTo>
                    <a:pt x="1490637" y="364591"/>
                  </a:lnTo>
                  <a:lnTo>
                    <a:pt x="1578965" y="364629"/>
                  </a:lnTo>
                  <a:lnTo>
                    <a:pt x="1583207" y="360121"/>
                  </a:lnTo>
                  <a:lnTo>
                    <a:pt x="1584426" y="357289"/>
                  </a:lnTo>
                  <a:lnTo>
                    <a:pt x="1584426" y="351612"/>
                  </a:lnTo>
                  <a:close/>
                </a:path>
                <a:path w="2324100" h="1241425">
                  <a:moveTo>
                    <a:pt x="1586077" y="904087"/>
                  </a:moveTo>
                  <a:lnTo>
                    <a:pt x="1526870" y="882954"/>
                  </a:lnTo>
                  <a:lnTo>
                    <a:pt x="1478953" y="876300"/>
                  </a:lnTo>
                  <a:lnTo>
                    <a:pt x="1475740" y="879513"/>
                  </a:lnTo>
                  <a:lnTo>
                    <a:pt x="1472145" y="883107"/>
                  </a:lnTo>
                  <a:lnTo>
                    <a:pt x="1471790" y="885037"/>
                  </a:lnTo>
                  <a:lnTo>
                    <a:pt x="1475778" y="893762"/>
                  </a:lnTo>
                  <a:lnTo>
                    <a:pt x="1480032" y="895464"/>
                  </a:lnTo>
                  <a:lnTo>
                    <a:pt x="1488579" y="895477"/>
                  </a:lnTo>
                  <a:lnTo>
                    <a:pt x="1496847" y="895908"/>
                  </a:lnTo>
                  <a:lnTo>
                    <a:pt x="1507223" y="897521"/>
                  </a:lnTo>
                  <a:lnTo>
                    <a:pt x="1522260" y="900785"/>
                  </a:lnTo>
                  <a:lnTo>
                    <a:pt x="1565198" y="911186"/>
                  </a:lnTo>
                  <a:lnTo>
                    <a:pt x="1576578" y="913053"/>
                  </a:lnTo>
                  <a:lnTo>
                    <a:pt x="1581912" y="911987"/>
                  </a:lnTo>
                  <a:lnTo>
                    <a:pt x="1584401" y="908113"/>
                  </a:lnTo>
                  <a:lnTo>
                    <a:pt x="1586077" y="904087"/>
                  </a:lnTo>
                  <a:close/>
                </a:path>
                <a:path w="2324100" h="1241425">
                  <a:moveTo>
                    <a:pt x="1785277" y="896620"/>
                  </a:moveTo>
                  <a:lnTo>
                    <a:pt x="1727962" y="890536"/>
                  </a:lnTo>
                  <a:lnTo>
                    <a:pt x="1717967" y="890739"/>
                  </a:lnTo>
                  <a:lnTo>
                    <a:pt x="1713433" y="891552"/>
                  </a:lnTo>
                  <a:lnTo>
                    <a:pt x="1711058" y="893216"/>
                  </a:lnTo>
                  <a:lnTo>
                    <a:pt x="1706435" y="897356"/>
                  </a:lnTo>
                  <a:lnTo>
                    <a:pt x="1706105" y="902690"/>
                  </a:lnTo>
                  <a:lnTo>
                    <a:pt x="1710220" y="906792"/>
                  </a:lnTo>
                  <a:lnTo>
                    <a:pt x="1712379" y="908202"/>
                  </a:lnTo>
                  <a:lnTo>
                    <a:pt x="1717141" y="908951"/>
                  </a:lnTo>
                  <a:lnTo>
                    <a:pt x="1727365" y="909256"/>
                  </a:lnTo>
                  <a:lnTo>
                    <a:pt x="1764995" y="909269"/>
                  </a:lnTo>
                  <a:lnTo>
                    <a:pt x="1775129" y="908939"/>
                  </a:lnTo>
                  <a:lnTo>
                    <a:pt x="1779587" y="908075"/>
                  </a:lnTo>
                  <a:lnTo>
                    <a:pt x="1781708" y="906399"/>
                  </a:lnTo>
                  <a:lnTo>
                    <a:pt x="1785226" y="902652"/>
                  </a:lnTo>
                  <a:lnTo>
                    <a:pt x="1785277" y="896620"/>
                  </a:lnTo>
                  <a:close/>
                </a:path>
                <a:path w="2324100" h="1241425">
                  <a:moveTo>
                    <a:pt x="2300059" y="327025"/>
                  </a:moveTo>
                  <a:lnTo>
                    <a:pt x="2296274" y="316839"/>
                  </a:lnTo>
                  <a:lnTo>
                    <a:pt x="2285466" y="316839"/>
                  </a:lnTo>
                  <a:lnTo>
                    <a:pt x="2282698" y="317969"/>
                  </a:lnTo>
                  <a:lnTo>
                    <a:pt x="2281313" y="319354"/>
                  </a:lnTo>
                  <a:lnTo>
                    <a:pt x="2277567" y="323100"/>
                  </a:lnTo>
                  <a:lnTo>
                    <a:pt x="2277961" y="329831"/>
                  </a:lnTo>
                  <a:lnTo>
                    <a:pt x="2286393" y="336461"/>
                  </a:lnTo>
                  <a:lnTo>
                    <a:pt x="2289175" y="336384"/>
                  </a:lnTo>
                  <a:lnTo>
                    <a:pt x="2300059" y="327025"/>
                  </a:lnTo>
                  <a:close/>
                </a:path>
                <a:path w="2324100" h="1241425">
                  <a:moveTo>
                    <a:pt x="2323604" y="467741"/>
                  </a:moveTo>
                  <a:lnTo>
                    <a:pt x="2323020" y="462064"/>
                  </a:lnTo>
                  <a:lnTo>
                    <a:pt x="2318245" y="457733"/>
                  </a:lnTo>
                  <a:lnTo>
                    <a:pt x="2316518" y="457504"/>
                  </a:lnTo>
                  <a:lnTo>
                    <a:pt x="2302052" y="458978"/>
                  </a:lnTo>
                  <a:lnTo>
                    <a:pt x="2301671" y="458889"/>
                  </a:lnTo>
                  <a:lnTo>
                    <a:pt x="2293010" y="418846"/>
                  </a:lnTo>
                  <a:lnTo>
                    <a:pt x="2292350" y="401104"/>
                  </a:lnTo>
                  <a:lnTo>
                    <a:pt x="2291918" y="397891"/>
                  </a:lnTo>
                  <a:lnTo>
                    <a:pt x="2287244" y="393217"/>
                  </a:lnTo>
                  <a:lnTo>
                    <a:pt x="2281491" y="392836"/>
                  </a:lnTo>
                  <a:lnTo>
                    <a:pt x="2278456" y="395135"/>
                  </a:lnTo>
                  <a:lnTo>
                    <a:pt x="2276056" y="397954"/>
                  </a:lnTo>
                  <a:lnTo>
                    <a:pt x="2274798" y="402755"/>
                  </a:lnTo>
                  <a:lnTo>
                    <a:pt x="2274532" y="410946"/>
                  </a:lnTo>
                  <a:lnTo>
                    <a:pt x="2275065" y="423951"/>
                  </a:lnTo>
                  <a:lnTo>
                    <a:pt x="2284336" y="465963"/>
                  </a:lnTo>
                  <a:lnTo>
                    <a:pt x="2296934" y="477850"/>
                  </a:lnTo>
                  <a:lnTo>
                    <a:pt x="2309190" y="477850"/>
                  </a:lnTo>
                  <a:lnTo>
                    <a:pt x="2320277" y="473951"/>
                  </a:lnTo>
                  <a:lnTo>
                    <a:pt x="2323604" y="467741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0552" y="1221334"/>
              <a:ext cx="135595" cy="1559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3150" y="918641"/>
              <a:ext cx="2620645" cy="2110105"/>
            </a:xfrm>
            <a:custGeom>
              <a:avLst/>
              <a:gdLst/>
              <a:ahLst/>
              <a:cxnLst/>
              <a:rect l="l" t="t" r="r" b="b"/>
              <a:pathLst>
                <a:path w="2620645" h="2110105">
                  <a:moveTo>
                    <a:pt x="408178" y="2096808"/>
                  </a:moveTo>
                  <a:lnTo>
                    <a:pt x="364121" y="2083219"/>
                  </a:lnTo>
                  <a:lnTo>
                    <a:pt x="317538" y="2075726"/>
                  </a:lnTo>
                  <a:lnTo>
                    <a:pt x="265569" y="2074735"/>
                  </a:lnTo>
                  <a:lnTo>
                    <a:pt x="92760" y="2074164"/>
                  </a:lnTo>
                  <a:lnTo>
                    <a:pt x="43954" y="2074240"/>
                  </a:lnTo>
                  <a:lnTo>
                    <a:pt x="16611" y="2074608"/>
                  </a:lnTo>
                  <a:lnTo>
                    <a:pt x="7315" y="2075256"/>
                  </a:lnTo>
                  <a:lnTo>
                    <a:pt x="1270" y="2078723"/>
                  </a:lnTo>
                  <a:lnTo>
                    <a:pt x="0" y="2084133"/>
                  </a:lnTo>
                  <a:lnTo>
                    <a:pt x="6464" y="2092109"/>
                  </a:lnTo>
                  <a:lnTo>
                    <a:pt x="267296" y="2093277"/>
                  </a:lnTo>
                  <a:lnTo>
                    <a:pt x="319455" y="2094331"/>
                  </a:lnTo>
                  <a:lnTo>
                    <a:pt x="344690" y="2097036"/>
                  </a:lnTo>
                  <a:lnTo>
                    <a:pt x="381215" y="2106803"/>
                  </a:lnTo>
                  <a:lnTo>
                    <a:pt x="391858" y="2109241"/>
                  </a:lnTo>
                  <a:lnTo>
                    <a:pt x="398424" y="2110016"/>
                  </a:lnTo>
                  <a:lnTo>
                    <a:pt x="402170" y="2109381"/>
                  </a:lnTo>
                  <a:lnTo>
                    <a:pt x="407530" y="2106930"/>
                  </a:lnTo>
                  <a:lnTo>
                    <a:pt x="408178" y="2096808"/>
                  </a:lnTo>
                  <a:close/>
                </a:path>
                <a:path w="2620645" h="2110105">
                  <a:moveTo>
                    <a:pt x="1220558" y="1929968"/>
                  </a:moveTo>
                  <a:lnTo>
                    <a:pt x="1217434" y="1926805"/>
                  </a:lnTo>
                  <a:lnTo>
                    <a:pt x="1197978" y="1924342"/>
                  </a:lnTo>
                  <a:lnTo>
                    <a:pt x="1162164" y="1920468"/>
                  </a:lnTo>
                  <a:lnTo>
                    <a:pt x="1131328" y="1917484"/>
                  </a:lnTo>
                  <a:lnTo>
                    <a:pt x="1020965" y="1904161"/>
                  </a:lnTo>
                  <a:lnTo>
                    <a:pt x="980351" y="1898662"/>
                  </a:lnTo>
                  <a:lnTo>
                    <a:pt x="938999" y="1894179"/>
                  </a:lnTo>
                  <a:lnTo>
                    <a:pt x="894448" y="1891703"/>
                  </a:lnTo>
                  <a:lnTo>
                    <a:pt x="837679" y="1890623"/>
                  </a:lnTo>
                  <a:lnTo>
                    <a:pt x="825588" y="1891004"/>
                  </a:lnTo>
                  <a:lnTo>
                    <a:pt x="819162" y="1893709"/>
                  </a:lnTo>
                  <a:lnTo>
                    <a:pt x="817079" y="1901825"/>
                  </a:lnTo>
                  <a:lnTo>
                    <a:pt x="821626" y="1906384"/>
                  </a:lnTo>
                  <a:lnTo>
                    <a:pt x="824064" y="1907667"/>
                  </a:lnTo>
                  <a:lnTo>
                    <a:pt x="830376" y="1908467"/>
                  </a:lnTo>
                  <a:lnTo>
                    <a:pt x="843864" y="1908987"/>
                  </a:lnTo>
                  <a:lnTo>
                    <a:pt x="904455" y="1910448"/>
                  </a:lnTo>
                  <a:lnTo>
                    <a:pt x="935532" y="1912289"/>
                  </a:lnTo>
                  <a:lnTo>
                    <a:pt x="967016" y="1915439"/>
                  </a:lnTo>
                  <a:lnTo>
                    <a:pt x="1045019" y="1925878"/>
                  </a:lnTo>
                  <a:lnTo>
                    <a:pt x="1151382" y="1938020"/>
                  </a:lnTo>
                  <a:lnTo>
                    <a:pt x="1210170" y="1944293"/>
                  </a:lnTo>
                  <a:lnTo>
                    <a:pt x="1216825" y="1944306"/>
                  </a:lnTo>
                  <a:lnTo>
                    <a:pt x="1220558" y="1940229"/>
                  </a:lnTo>
                  <a:lnTo>
                    <a:pt x="1220558" y="1929968"/>
                  </a:lnTo>
                  <a:close/>
                </a:path>
                <a:path w="2620645" h="2110105">
                  <a:moveTo>
                    <a:pt x="1706524" y="1146124"/>
                  </a:moveTo>
                  <a:lnTo>
                    <a:pt x="1706511" y="1101382"/>
                  </a:lnTo>
                  <a:lnTo>
                    <a:pt x="1706156" y="1052576"/>
                  </a:lnTo>
                  <a:lnTo>
                    <a:pt x="1703654" y="980719"/>
                  </a:lnTo>
                  <a:lnTo>
                    <a:pt x="1698599" y="908545"/>
                  </a:lnTo>
                  <a:lnTo>
                    <a:pt x="1697088" y="873836"/>
                  </a:lnTo>
                  <a:lnTo>
                    <a:pt x="1696300" y="833691"/>
                  </a:lnTo>
                  <a:lnTo>
                    <a:pt x="1696008" y="740625"/>
                  </a:lnTo>
                  <a:lnTo>
                    <a:pt x="1695716" y="718502"/>
                  </a:lnTo>
                  <a:lnTo>
                    <a:pt x="1694967" y="709345"/>
                  </a:lnTo>
                  <a:lnTo>
                    <a:pt x="1693532" y="706539"/>
                  </a:lnTo>
                  <a:lnTo>
                    <a:pt x="1692135" y="705142"/>
                  </a:lnTo>
                  <a:lnTo>
                    <a:pt x="1689341" y="704024"/>
                  </a:lnTo>
                  <a:lnTo>
                    <a:pt x="1685150" y="704024"/>
                  </a:lnTo>
                  <a:lnTo>
                    <a:pt x="1682356" y="705142"/>
                  </a:lnTo>
                  <a:lnTo>
                    <a:pt x="1680959" y="706539"/>
                  </a:lnTo>
                  <a:lnTo>
                    <a:pt x="1679575" y="707923"/>
                  </a:lnTo>
                  <a:lnTo>
                    <a:pt x="1678432" y="710044"/>
                  </a:lnTo>
                  <a:lnTo>
                    <a:pt x="1678647" y="848093"/>
                  </a:lnTo>
                  <a:lnTo>
                    <a:pt x="1679257" y="885698"/>
                  </a:lnTo>
                  <a:lnTo>
                    <a:pt x="1680413" y="914349"/>
                  </a:lnTo>
                  <a:lnTo>
                    <a:pt x="1684832" y="970788"/>
                  </a:lnTo>
                  <a:lnTo>
                    <a:pt x="1686521" y="1003147"/>
                  </a:lnTo>
                  <a:lnTo>
                    <a:pt x="1687525" y="1042555"/>
                  </a:lnTo>
                  <a:lnTo>
                    <a:pt x="1688109" y="1095844"/>
                  </a:lnTo>
                  <a:lnTo>
                    <a:pt x="1688249" y="1161948"/>
                  </a:lnTo>
                  <a:lnTo>
                    <a:pt x="1687982" y="1181823"/>
                  </a:lnTo>
                  <a:lnTo>
                    <a:pt x="1687499" y="1191450"/>
                  </a:lnTo>
                  <a:lnTo>
                    <a:pt x="1686052" y="1201661"/>
                  </a:lnTo>
                  <a:lnTo>
                    <a:pt x="1687245" y="1205611"/>
                  </a:lnTo>
                  <a:lnTo>
                    <a:pt x="1695437" y="1209535"/>
                  </a:lnTo>
                  <a:lnTo>
                    <a:pt x="1696567" y="1209484"/>
                  </a:lnTo>
                  <a:lnTo>
                    <a:pt x="1701749" y="1206804"/>
                  </a:lnTo>
                  <a:lnTo>
                    <a:pt x="1703806" y="1204709"/>
                  </a:lnTo>
                  <a:lnTo>
                    <a:pt x="1704289" y="1203210"/>
                  </a:lnTo>
                  <a:lnTo>
                    <a:pt x="1705457" y="1194676"/>
                  </a:lnTo>
                  <a:lnTo>
                    <a:pt x="1706194" y="1176439"/>
                  </a:lnTo>
                  <a:lnTo>
                    <a:pt x="1706524" y="1146124"/>
                  </a:lnTo>
                  <a:close/>
                </a:path>
                <a:path w="2620645" h="2110105">
                  <a:moveTo>
                    <a:pt x="1761134" y="1772475"/>
                  </a:moveTo>
                  <a:lnTo>
                    <a:pt x="1760931" y="1768373"/>
                  </a:lnTo>
                  <a:lnTo>
                    <a:pt x="1759635" y="1761363"/>
                  </a:lnTo>
                  <a:lnTo>
                    <a:pt x="1757006" y="1749958"/>
                  </a:lnTo>
                  <a:lnTo>
                    <a:pt x="1753425" y="1731238"/>
                  </a:lnTo>
                  <a:lnTo>
                    <a:pt x="1746643" y="1676260"/>
                  </a:lnTo>
                  <a:lnTo>
                    <a:pt x="1742389" y="1617548"/>
                  </a:lnTo>
                  <a:lnTo>
                    <a:pt x="1740598" y="1541170"/>
                  </a:lnTo>
                  <a:lnTo>
                    <a:pt x="1740217" y="1484401"/>
                  </a:lnTo>
                  <a:lnTo>
                    <a:pt x="1740014" y="1335697"/>
                  </a:lnTo>
                  <a:lnTo>
                    <a:pt x="1739747" y="1291640"/>
                  </a:lnTo>
                  <a:lnTo>
                    <a:pt x="1739188" y="1270558"/>
                  </a:lnTo>
                  <a:lnTo>
                    <a:pt x="1738223" y="1264208"/>
                  </a:lnTo>
                  <a:lnTo>
                    <a:pt x="1736140" y="1261249"/>
                  </a:lnTo>
                  <a:lnTo>
                    <a:pt x="1731632" y="1259979"/>
                  </a:lnTo>
                  <a:lnTo>
                    <a:pt x="1727962" y="1261338"/>
                  </a:lnTo>
                  <a:lnTo>
                    <a:pt x="1724634" y="1264196"/>
                  </a:lnTo>
                  <a:lnTo>
                    <a:pt x="1722983" y="1280972"/>
                  </a:lnTo>
                  <a:lnTo>
                    <a:pt x="1722437" y="1328788"/>
                  </a:lnTo>
                  <a:lnTo>
                    <a:pt x="1722589" y="1515986"/>
                  </a:lnTo>
                  <a:lnTo>
                    <a:pt x="1723263" y="1580553"/>
                  </a:lnTo>
                  <a:lnTo>
                    <a:pt x="1724660" y="1627187"/>
                  </a:lnTo>
                  <a:lnTo>
                    <a:pt x="1730743" y="1701533"/>
                  </a:lnTo>
                  <a:lnTo>
                    <a:pt x="1738020" y="1748561"/>
                  </a:lnTo>
                  <a:lnTo>
                    <a:pt x="1748790" y="1782076"/>
                  </a:lnTo>
                  <a:lnTo>
                    <a:pt x="1757921" y="1780603"/>
                  </a:lnTo>
                  <a:lnTo>
                    <a:pt x="1760410" y="1775142"/>
                  </a:lnTo>
                  <a:lnTo>
                    <a:pt x="1761134" y="1772475"/>
                  </a:lnTo>
                  <a:close/>
                </a:path>
                <a:path w="2620645" h="2110105">
                  <a:moveTo>
                    <a:pt x="2268397" y="1692109"/>
                  </a:moveTo>
                  <a:lnTo>
                    <a:pt x="2266797" y="1686420"/>
                  </a:lnTo>
                  <a:lnTo>
                    <a:pt x="2262314" y="1682635"/>
                  </a:lnTo>
                  <a:lnTo>
                    <a:pt x="2256193" y="1682686"/>
                  </a:lnTo>
                  <a:lnTo>
                    <a:pt x="2251240" y="1687029"/>
                  </a:lnTo>
                  <a:lnTo>
                    <a:pt x="2250325" y="1692897"/>
                  </a:lnTo>
                  <a:lnTo>
                    <a:pt x="2253081" y="1698053"/>
                  </a:lnTo>
                  <a:lnTo>
                    <a:pt x="2259152" y="1700276"/>
                  </a:lnTo>
                  <a:lnTo>
                    <a:pt x="2261679" y="1700276"/>
                  </a:lnTo>
                  <a:lnTo>
                    <a:pt x="2264359" y="1699272"/>
                  </a:lnTo>
                  <a:lnTo>
                    <a:pt x="2265870" y="1697761"/>
                  </a:lnTo>
                  <a:lnTo>
                    <a:pt x="2268397" y="1692109"/>
                  </a:lnTo>
                  <a:close/>
                </a:path>
                <a:path w="2620645" h="2110105">
                  <a:moveTo>
                    <a:pt x="2620607" y="361848"/>
                  </a:moveTo>
                  <a:lnTo>
                    <a:pt x="2609469" y="305943"/>
                  </a:lnTo>
                  <a:lnTo>
                    <a:pt x="2602687" y="276288"/>
                  </a:lnTo>
                  <a:lnTo>
                    <a:pt x="2600833" y="267855"/>
                  </a:lnTo>
                  <a:lnTo>
                    <a:pt x="2599017" y="259346"/>
                  </a:lnTo>
                  <a:lnTo>
                    <a:pt x="2597493" y="251777"/>
                  </a:lnTo>
                  <a:lnTo>
                    <a:pt x="2592730" y="228892"/>
                  </a:lnTo>
                  <a:lnTo>
                    <a:pt x="2586126" y="198628"/>
                  </a:lnTo>
                  <a:lnTo>
                    <a:pt x="2579497" y="169227"/>
                  </a:lnTo>
                  <a:lnTo>
                    <a:pt x="2574683" y="149021"/>
                  </a:lnTo>
                  <a:lnTo>
                    <a:pt x="2574023" y="146469"/>
                  </a:lnTo>
                  <a:lnTo>
                    <a:pt x="2573921" y="146037"/>
                  </a:lnTo>
                  <a:lnTo>
                    <a:pt x="2573807" y="145630"/>
                  </a:lnTo>
                  <a:lnTo>
                    <a:pt x="2578633" y="145605"/>
                  </a:lnTo>
                  <a:lnTo>
                    <a:pt x="2585402" y="143852"/>
                  </a:lnTo>
                  <a:lnTo>
                    <a:pt x="2589403" y="139763"/>
                  </a:lnTo>
                  <a:lnTo>
                    <a:pt x="2590330" y="134505"/>
                  </a:lnTo>
                  <a:lnTo>
                    <a:pt x="2587498" y="129374"/>
                  </a:lnTo>
                  <a:lnTo>
                    <a:pt x="2585161" y="127177"/>
                  </a:lnTo>
                  <a:lnTo>
                    <a:pt x="2583243" y="126682"/>
                  </a:lnTo>
                  <a:lnTo>
                    <a:pt x="2569133" y="126682"/>
                  </a:lnTo>
                  <a:lnTo>
                    <a:pt x="2567863" y="121932"/>
                  </a:lnTo>
                  <a:lnTo>
                    <a:pt x="2560878" y="94373"/>
                  </a:lnTo>
                  <a:lnTo>
                    <a:pt x="2556497" y="72809"/>
                  </a:lnTo>
                  <a:lnTo>
                    <a:pt x="2554046" y="53301"/>
                  </a:lnTo>
                  <a:lnTo>
                    <a:pt x="2553766" y="48158"/>
                  </a:lnTo>
                  <a:lnTo>
                    <a:pt x="2553639" y="45910"/>
                  </a:lnTo>
                  <a:lnTo>
                    <a:pt x="2553563" y="44488"/>
                  </a:lnTo>
                  <a:lnTo>
                    <a:pt x="2552916" y="32778"/>
                  </a:lnTo>
                  <a:lnTo>
                    <a:pt x="2552877" y="31877"/>
                  </a:lnTo>
                  <a:lnTo>
                    <a:pt x="2552712" y="27393"/>
                  </a:lnTo>
                  <a:lnTo>
                    <a:pt x="2552700" y="27127"/>
                  </a:lnTo>
                  <a:lnTo>
                    <a:pt x="2552344" y="16954"/>
                  </a:lnTo>
                  <a:lnTo>
                    <a:pt x="2551760" y="8864"/>
                  </a:lnTo>
                  <a:lnTo>
                    <a:pt x="2550782" y="5130"/>
                  </a:lnTo>
                  <a:lnTo>
                    <a:pt x="2549080" y="3263"/>
                  </a:lnTo>
                  <a:lnTo>
                    <a:pt x="2545918" y="711"/>
                  </a:lnTo>
                  <a:lnTo>
                    <a:pt x="2545918" y="124409"/>
                  </a:lnTo>
                  <a:lnTo>
                    <a:pt x="2544953" y="125615"/>
                  </a:lnTo>
                  <a:lnTo>
                    <a:pt x="2538577" y="126314"/>
                  </a:lnTo>
                  <a:lnTo>
                    <a:pt x="2522880" y="126682"/>
                  </a:lnTo>
                  <a:lnTo>
                    <a:pt x="2536139" y="126682"/>
                  </a:lnTo>
                  <a:lnTo>
                    <a:pt x="2450007" y="127177"/>
                  </a:lnTo>
                  <a:lnTo>
                    <a:pt x="2440927" y="127177"/>
                  </a:lnTo>
                  <a:lnTo>
                    <a:pt x="2441371" y="124409"/>
                  </a:lnTo>
                  <a:lnTo>
                    <a:pt x="2441460" y="123837"/>
                  </a:lnTo>
                  <a:lnTo>
                    <a:pt x="2463571" y="79578"/>
                  </a:lnTo>
                  <a:lnTo>
                    <a:pt x="2499474" y="50939"/>
                  </a:lnTo>
                  <a:lnTo>
                    <a:pt x="2522512" y="44488"/>
                  </a:lnTo>
                  <a:lnTo>
                    <a:pt x="2530856" y="46875"/>
                  </a:lnTo>
                  <a:lnTo>
                    <a:pt x="2532913" y="48158"/>
                  </a:lnTo>
                  <a:lnTo>
                    <a:pt x="2533878" y="50596"/>
                  </a:lnTo>
                  <a:lnTo>
                    <a:pt x="2534882" y="57111"/>
                  </a:lnTo>
                  <a:lnTo>
                    <a:pt x="2538438" y="79578"/>
                  </a:lnTo>
                  <a:lnTo>
                    <a:pt x="2541689" y="99656"/>
                  </a:lnTo>
                  <a:lnTo>
                    <a:pt x="2544495" y="116535"/>
                  </a:lnTo>
                  <a:lnTo>
                    <a:pt x="2545804" y="123837"/>
                  </a:lnTo>
                  <a:lnTo>
                    <a:pt x="2545918" y="124409"/>
                  </a:lnTo>
                  <a:lnTo>
                    <a:pt x="2545918" y="711"/>
                  </a:lnTo>
                  <a:lnTo>
                    <a:pt x="2545054" y="0"/>
                  </a:lnTo>
                  <a:lnTo>
                    <a:pt x="2539873" y="215"/>
                  </a:lnTo>
                  <a:lnTo>
                    <a:pt x="2534196" y="6261"/>
                  </a:lnTo>
                  <a:lnTo>
                    <a:pt x="2533802" y="8140"/>
                  </a:lnTo>
                  <a:lnTo>
                    <a:pt x="2533802" y="27127"/>
                  </a:lnTo>
                  <a:lnTo>
                    <a:pt x="2525318" y="26416"/>
                  </a:lnTo>
                  <a:lnTo>
                    <a:pt x="2478138" y="42659"/>
                  </a:lnTo>
                  <a:lnTo>
                    <a:pt x="2449157" y="67995"/>
                  </a:lnTo>
                  <a:lnTo>
                    <a:pt x="2427173" y="107899"/>
                  </a:lnTo>
                  <a:lnTo>
                    <a:pt x="2415654" y="143852"/>
                  </a:lnTo>
                  <a:lnTo>
                    <a:pt x="2415743" y="147193"/>
                  </a:lnTo>
                  <a:lnTo>
                    <a:pt x="2425115" y="151701"/>
                  </a:lnTo>
                  <a:lnTo>
                    <a:pt x="2426297" y="151536"/>
                  </a:lnTo>
                  <a:lnTo>
                    <a:pt x="2431554" y="149021"/>
                  </a:lnTo>
                  <a:lnTo>
                    <a:pt x="2435974" y="147358"/>
                  </a:lnTo>
                  <a:lnTo>
                    <a:pt x="2444026" y="146469"/>
                  </a:lnTo>
                  <a:lnTo>
                    <a:pt x="2461399" y="146037"/>
                  </a:lnTo>
                  <a:lnTo>
                    <a:pt x="2549880" y="145719"/>
                  </a:lnTo>
                  <a:lnTo>
                    <a:pt x="2554541" y="170319"/>
                  </a:lnTo>
                  <a:lnTo>
                    <a:pt x="2559951" y="197434"/>
                  </a:lnTo>
                  <a:lnTo>
                    <a:pt x="2572931" y="255917"/>
                  </a:lnTo>
                  <a:lnTo>
                    <a:pt x="2585542" y="304952"/>
                  </a:lnTo>
                  <a:lnTo>
                    <a:pt x="2599550" y="353745"/>
                  </a:lnTo>
                  <a:lnTo>
                    <a:pt x="2609062" y="370674"/>
                  </a:lnTo>
                  <a:lnTo>
                    <a:pt x="2615755" y="370674"/>
                  </a:lnTo>
                  <a:lnTo>
                    <a:pt x="2620607" y="365518"/>
                  </a:lnTo>
                  <a:lnTo>
                    <a:pt x="2620607" y="361848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23416" y="470473"/>
            <a:ext cx="19050" cy="19685"/>
          </a:xfrm>
          <a:custGeom>
            <a:avLst/>
            <a:gdLst/>
            <a:ahLst/>
            <a:cxnLst/>
            <a:rect l="l" t="t" r="r" b="b"/>
            <a:pathLst>
              <a:path w="19050" h="19684">
                <a:moveTo>
                  <a:pt x="6489" y="0"/>
                </a:moveTo>
                <a:lnTo>
                  <a:pt x="2623" y="4116"/>
                </a:lnTo>
                <a:lnTo>
                  <a:pt x="0" y="10011"/>
                </a:lnTo>
                <a:lnTo>
                  <a:pt x="1576" y="15605"/>
                </a:lnTo>
                <a:lnTo>
                  <a:pt x="6154" y="19122"/>
                </a:lnTo>
                <a:lnTo>
                  <a:pt x="12534" y="18788"/>
                </a:lnTo>
                <a:lnTo>
                  <a:pt x="15774" y="17446"/>
                </a:lnTo>
                <a:lnTo>
                  <a:pt x="18755" y="12991"/>
                </a:lnTo>
                <a:lnTo>
                  <a:pt x="18755" y="8580"/>
                </a:lnTo>
                <a:lnTo>
                  <a:pt x="17582" y="6342"/>
                </a:lnTo>
                <a:lnTo>
                  <a:pt x="12741" y="186"/>
                </a:lnTo>
                <a:lnTo>
                  <a:pt x="6489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Activation</a:t>
            </a:r>
            <a:r>
              <a:rPr spc="210" dirty="0"/>
              <a:t> </a:t>
            </a:r>
            <a:r>
              <a:rPr spc="50" dirty="0"/>
              <a:t>Tree</a:t>
            </a:r>
            <a:r>
              <a:rPr spc="210" dirty="0"/>
              <a:t> </a:t>
            </a: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750864" y="864893"/>
            <a:ext cx="3082290" cy="1408430"/>
            <a:chOff x="750864" y="864893"/>
            <a:chExt cx="3082290" cy="14084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864" y="1060710"/>
              <a:ext cx="3081893" cy="11264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4038" y="963621"/>
              <a:ext cx="242348" cy="20870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42416" y="1123708"/>
              <a:ext cx="993775" cy="278130"/>
            </a:xfrm>
            <a:custGeom>
              <a:avLst/>
              <a:gdLst/>
              <a:ahLst/>
              <a:cxnLst/>
              <a:rect l="l" t="t" r="r" b="b"/>
              <a:pathLst>
                <a:path w="993775" h="278130">
                  <a:moveTo>
                    <a:pt x="358825" y="107403"/>
                  </a:moveTo>
                  <a:lnTo>
                    <a:pt x="354114" y="102704"/>
                  </a:lnTo>
                  <a:lnTo>
                    <a:pt x="348246" y="102730"/>
                  </a:lnTo>
                  <a:lnTo>
                    <a:pt x="341490" y="104635"/>
                  </a:lnTo>
                  <a:lnTo>
                    <a:pt x="291528" y="124409"/>
                  </a:lnTo>
                  <a:lnTo>
                    <a:pt x="192773" y="175679"/>
                  </a:lnTo>
                  <a:lnTo>
                    <a:pt x="177457" y="183413"/>
                  </a:lnTo>
                  <a:lnTo>
                    <a:pt x="158775" y="192252"/>
                  </a:lnTo>
                  <a:lnTo>
                    <a:pt x="139039" y="201129"/>
                  </a:lnTo>
                  <a:lnTo>
                    <a:pt x="111239" y="212864"/>
                  </a:lnTo>
                  <a:lnTo>
                    <a:pt x="87439" y="223685"/>
                  </a:lnTo>
                  <a:lnTo>
                    <a:pt x="44538" y="243725"/>
                  </a:lnTo>
                  <a:lnTo>
                    <a:pt x="28181" y="250964"/>
                  </a:lnTo>
                  <a:lnTo>
                    <a:pt x="15443" y="256184"/>
                  </a:lnTo>
                  <a:lnTo>
                    <a:pt x="5981" y="259486"/>
                  </a:lnTo>
                  <a:lnTo>
                    <a:pt x="673" y="263664"/>
                  </a:lnTo>
                  <a:lnTo>
                    <a:pt x="0" y="269722"/>
                  </a:lnTo>
                  <a:lnTo>
                    <a:pt x="3378" y="275183"/>
                  </a:lnTo>
                  <a:lnTo>
                    <a:pt x="10236" y="277558"/>
                  </a:lnTo>
                  <a:lnTo>
                    <a:pt x="17564" y="275399"/>
                  </a:lnTo>
                  <a:lnTo>
                    <a:pt x="32537" y="269278"/>
                  </a:lnTo>
                  <a:lnTo>
                    <a:pt x="53848" y="259753"/>
                  </a:lnTo>
                  <a:lnTo>
                    <a:pt x="90500" y="242608"/>
                  </a:lnTo>
                  <a:lnTo>
                    <a:pt x="136804" y="221970"/>
                  </a:lnTo>
                  <a:lnTo>
                    <a:pt x="168275" y="207670"/>
                  </a:lnTo>
                  <a:lnTo>
                    <a:pt x="203771" y="190525"/>
                  </a:lnTo>
                  <a:lnTo>
                    <a:pt x="239509" y="172427"/>
                  </a:lnTo>
                  <a:lnTo>
                    <a:pt x="271678" y="155244"/>
                  </a:lnTo>
                  <a:lnTo>
                    <a:pt x="288848" y="146405"/>
                  </a:lnTo>
                  <a:lnTo>
                    <a:pt x="308241" y="137439"/>
                  </a:lnTo>
                  <a:lnTo>
                    <a:pt x="327469" y="129400"/>
                  </a:lnTo>
                  <a:lnTo>
                    <a:pt x="344144" y="123355"/>
                  </a:lnTo>
                  <a:lnTo>
                    <a:pt x="355269" y="119761"/>
                  </a:lnTo>
                  <a:lnTo>
                    <a:pt x="358825" y="116916"/>
                  </a:lnTo>
                  <a:lnTo>
                    <a:pt x="358825" y="107403"/>
                  </a:lnTo>
                  <a:close/>
                </a:path>
                <a:path w="993775" h="278130">
                  <a:moveTo>
                    <a:pt x="993228" y="8788"/>
                  </a:moveTo>
                  <a:lnTo>
                    <a:pt x="984440" y="0"/>
                  </a:lnTo>
                  <a:lnTo>
                    <a:pt x="977582" y="12"/>
                  </a:lnTo>
                  <a:lnTo>
                    <a:pt x="974559" y="3352"/>
                  </a:lnTo>
                  <a:lnTo>
                    <a:pt x="969162" y="9309"/>
                  </a:lnTo>
                  <a:lnTo>
                    <a:pt x="973658" y="18935"/>
                  </a:lnTo>
                  <a:lnTo>
                    <a:pt x="989393" y="18478"/>
                  </a:lnTo>
                  <a:lnTo>
                    <a:pt x="993228" y="8788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6313" y="1181897"/>
              <a:ext cx="125356" cy="1157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58811" y="1367485"/>
              <a:ext cx="1240155" cy="610870"/>
            </a:xfrm>
            <a:custGeom>
              <a:avLst/>
              <a:gdLst/>
              <a:ahLst/>
              <a:cxnLst/>
              <a:rect l="l" t="t" r="r" b="b"/>
              <a:pathLst>
                <a:path w="1240155" h="610869">
                  <a:moveTo>
                    <a:pt x="247078" y="601472"/>
                  </a:moveTo>
                  <a:lnTo>
                    <a:pt x="246900" y="595896"/>
                  </a:lnTo>
                  <a:lnTo>
                    <a:pt x="240385" y="589762"/>
                  </a:lnTo>
                  <a:lnTo>
                    <a:pt x="76327" y="590423"/>
                  </a:lnTo>
                  <a:lnTo>
                    <a:pt x="31305" y="590969"/>
                  </a:lnTo>
                  <a:lnTo>
                    <a:pt x="0" y="598728"/>
                  </a:lnTo>
                  <a:lnTo>
                    <a:pt x="304" y="603123"/>
                  </a:lnTo>
                  <a:lnTo>
                    <a:pt x="7454" y="610273"/>
                  </a:lnTo>
                  <a:lnTo>
                    <a:pt x="29654" y="609346"/>
                  </a:lnTo>
                  <a:lnTo>
                    <a:pt x="62801" y="608723"/>
                  </a:lnTo>
                  <a:lnTo>
                    <a:pt x="186804" y="607529"/>
                  </a:lnTo>
                  <a:lnTo>
                    <a:pt x="239509" y="607377"/>
                  </a:lnTo>
                  <a:lnTo>
                    <a:pt x="241808" y="606742"/>
                  </a:lnTo>
                  <a:lnTo>
                    <a:pt x="247078" y="601472"/>
                  </a:lnTo>
                  <a:close/>
                </a:path>
                <a:path w="1240155" h="610869">
                  <a:moveTo>
                    <a:pt x="646239" y="301320"/>
                  </a:moveTo>
                  <a:lnTo>
                    <a:pt x="637108" y="296430"/>
                  </a:lnTo>
                  <a:lnTo>
                    <a:pt x="634479" y="296506"/>
                  </a:lnTo>
                  <a:lnTo>
                    <a:pt x="617905" y="298615"/>
                  </a:lnTo>
                  <a:lnTo>
                    <a:pt x="609028" y="299326"/>
                  </a:lnTo>
                  <a:lnTo>
                    <a:pt x="594906" y="299847"/>
                  </a:lnTo>
                  <a:lnTo>
                    <a:pt x="551497" y="300342"/>
                  </a:lnTo>
                  <a:lnTo>
                    <a:pt x="497674" y="300456"/>
                  </a:lnTo>
                  <a:lnTo>
                    <a:pt x="490880" y="307251"/>
                  </a:lnTo>
                  <a:lnTo>
                    <a:pt x="490626" y="311696"/>
                  </a:lnTo>
                  <a:lnTo>
                    <a:pt x="496303" y="318706"/>
                  </a:lnTo>
                  <a:lnTo>
                    <a:pt x="551446" y="318706"/>
                  </a:lnTo>
                  <a:lnTo>
                    <a:pt x="612101" y="317639"/>
                  </a:lnTo>
                  <a:lnTo>
                    <a:pt x="645464" y="311594"/>
                  </a:lnTo>
                  <a:lnTo>
                    <a:pt x="646239" y="301320"/>
                  </a:lnTo>
                  <a:close/>
                </a:path>
                <a:path w="1240155" h="610869">
                  <a:moveTo>
                    <a:pt x="1239570" y="186436"/>
                  </a:moveTo>
                  <a:lnTo>
                    <a:pt x="1239088" y="179514"/>
                  </a:lnTo>
                  <a:lnTo>
                    <a:pt x="1236967" y="170065"/>
                  </a:lnTo>
                  <a:lnTo>
                    <a:pt x="1232865" y="156032"/>
                  </a:lnTo>
                  <a:lnTo>
                    <a:pt x="1223695" y="124015"/>
                  </a:lnTo>
                  <a:lnTo>
                    <a:pt x="1220825" y="112636"/>
                  </a:lnTo>
                  <a:lnTo>
                    <a:pt x="1220825" y="183146"/>
                  </a:lnTo>
                  <a:lnTo>
                    <a:pt x="1220622" y="186436"/>
                  </a:lnTo>
                  <a:lnTo>
                    <a:pt x="1220520" y="188175"/>
                  </a:lnTo>
                  <a:lnTo>
                    <a:pt x="1218361" y="190855"/>
                  </a:lnTo>
                  <a:lnTo>
                    <a:pt x="1214551" y="193243"/>
                  </a:lnTo>
                  <a:lnTo>
                    <a:pt x="1202105" y="197396"/>
                  </a:lnTo>
                  <a:lnTo>
                    <a:pt x="1200429" y="196354"/>
                  </a:lnTo>
                  <a:lnTo>
                    <a:pt x="1199794" y="193243"/>
                  </a:lnTo>
                  <a:lnTo>
                    <a:pt x="1199718" y="192824"/>
                  </a:lnTo>
                  <a:lnTo>
                    <a:pt x="1199603" y="192265"/>
                  </a:lnTo>
                  <a:lnTo>
                    <a:pt x="1198664" y="183146"/>
                  </a:lnTo>
                  <a:lnTo>
                    <a:pt x="1197559" y="175031"/>
                  </a:lnTo>
                  <a:lnTo>
                    <a:pt x="1195641" y="163474"/>
                  </a:lnTo>
                  <a:lnTo>
                    <a:pt x="1194600" y="156032"/>
                  </a:lnTo>
                  <a:lnTo>
                    <a:pt x="1194498" y="155244"/>
                  </a:lnTo>
                  <a:lnTo>
                    <a:pt x="1194358" y="153885"/>
                  </a:lnTo>
                  <a:lnTo>
                    <a:pt x="1194282" y="153174"/>
                  </a:lnTo>
                  <a:lnTo>
                    <a:pt x="1194181" y="152260"/>
                  </a:lnTo>
                  <a:lnTo>
                    <a:pt x="1193190" y="142722"/>
                  </a:lnTo>
                  <a:lnTo>
                    <a:pt x="1193253" y="142481"/>
                  </a:lnTo>
                  <a:lnTo>
                    <a:pt x="1193571" y="142290"/>
                  </a:lnTo>
                  <a:lnTo>
                    <a:pt x="1199997" y="139369"/>
                  </a:lnTo>
                  <a:lnTo>
                    <a:pt x="1201635" y="134823"/>
                  </a:lnTo>
                  <a:lnTo>
                    <a:pt x="1199832" y="127622"/>
                  </a:lnTo>
                  <a:lnTo>
                    <a:pt x="1198118" y="126047"/>
                  </a:lnTo>
                  <a:lnTo>
                    <a:pt x="1190104" y="122910"/>
                  </a:lnTo>
                  <a:lnTo>
                    <a:pt x="1189888" y="122555"/>
                  </a:lnTo>
                  <a:lnTo>
                    <a:pt x="1189151" y="115735"/>
                  </a:lnTo>
                  <a:lnTo>
                    <a:pt x="1188250" y="99415"/>
                  </a:lnTo>
                  <a:lnTo>
                    <a:pt x="1187780" y="77800"/>
                  </a:lnTo>
                  <a:lnTo>
                    <a:pt x="1187792" y="58496"/>
                  </a:lnTo>
                  <a:lnTo>
                    <a:pt x="1188453" y="53898"/>
                  </a:lnTo>
                  <a:lnTo>
                    <a:pt x="1189139" y="57696"/>
                  </a:lnTo>
                  <a:lnTo>
                    <a:pt x="1191399" y="68453"/>
                  </a:lnTo>
                  <a:lnTo>
                    <a:pt x="1203934" y="120459"/>
                  </a:lnTo>
                  <a:lnTo>
                    <a:pt x="1215351" y="161353"/>
                  </a:lnTo>
                  <a:lnTo>
                    <a:pt x="1219136" y="174599"/>
                  </a:lnTo>
                  <a:lnTo>
                    <a:pt x="1220774" y="182905"/>
                  </a:lnTo>
                  <a:lnTo>
                    <a:pt x="1220825" y="183146"/>
                  </a:lnTo>
                  <a:lnTo>
                    <a:pt x="1220825" y="112636"/>
                  </a:lnTo>
                  <a:lnTo>
                    <a:pt x="1215669" y="92176"/>
                  </a:lnTo>
                  <a:lnTo>
                    <a:pt x="1208976" y="61341"/>
                  </a:lnTo>
                  <a:lnTo>
                    <a:pt x="1207681" y="53898"/>
                  </a:lnTo>
                  <a:lnTo>
                    <a:pt x="1200924" y="14833"/>
                  </a:lnTo>
                  <a:lnTo>
                    <a:pt x="1197089" y="4000"/>
                  </a:lnTo>
                  <a:lnTo>
                    <a:pt x="1191628" y="0"/>
                  </a:lnTo>
                  <a:lnTo>
                    <a:pt x="1183335" y="939"/>
                  </a:lnTo>
                  <a:lnTo>
                    <a:pt x="1181722" y="1384"/>
                  </a:lnTo>
                  <a:lnTo>
                    <a:pt x="1181722" y="200647"/>
                  </a:lnTo>
                  <a:lnTo>
                    <a:pt x="1178941" y="203619"/>
                  </a:lnTo>
                  <a:lnTo>
                    <a:pt x="1122222" y="206908"/>
                  </a:lnTo>
                  <a:lnTo>
                    <a:pt x="1112481" y="207276"/>
                  </a:lnTo>
                  <a:lnTo>
                    <a:pt x="1105458" y="207683"/>
                  </a:lnTo>
                  <a:lnTo>
                    <a:pt x="1102207" y="208064"/>
                  </a:lnTo>
                  <a:lnTo>
                    <a:pt x="1103541" y="205803"/>
                  </a:lnTo>
                  <a:lnTo>
                    <a:pt x="1133094" y="179070"/>
                  </a:lnTo>
                  <a:lnTo>
                    <a:pt x="1170749" y="153885"/>
                  </a:lnTo>
                  <a:lnTo>
                    <a:pt x="1175461" y="152260"/>
                  </a:lnTo>
                  <a:lnTo>
                    <a:pt x="1175626" y="153174"/>
                  </a:lnTo>
                  <a:lnTo>
                    <a:pt x="1181455" y="192265"/>
                  </a:lnTo>
                  <a:lnTo>
                    <a:pt x="1181481" y="192824"/>
                  </a:lnTo>
                  <a:lnTo>
                    <a:pt x="1181582" y="196354"/>
                  </a:lnTo>
                  <a:lnTo>
                    <a:pt x="1181620" y="197396"/>
                  </a:lnTo>
                  <a:lnTo>
                    <a:pt x="1181722" y="200647"/>
                  </a:lnTo>
                  <a:lnTo>
                    <a:pt x="1181722" y="1384"/>
                  </a:lnTo>
                  <a:lnTo>
                    <a:pt x="1169200" y="38773"/>
                  </a:lnTo>
                  <a:lnTo>
                    <a:pt x="1168679" y="57696"/>
                  </a:lnTo>
                  <a:lnTo>
                    <a:pt x="1168654" y="58496"/>
                  </a:lnTo>
                  <a:lnTo>
                    <a:pt x="1171498" y="122555"/>
                  </a:lnTo>
                  <a:lnTo>
                    <a:pt x="1172349" y="131533"/>
                  </a:lnTo>
                  <a:lnTo>
                    <a:pt x="1164945" y="135724"/>
                  </a:lnTo>
                  <a:lnTo>
                    <a:pt x="1129245" y="158927"/>
                  </a:lnTo>
                  <a:lnTo>
                    <a:pt x="1093508" y="189839"/>
                  </a:lnTo>
                  <a:lnTo>
                    <a:pt x="1067904" y="221716"/>
                  </a:lnTo>
                  <a:lnTo>
                    <a:pt x="1067879" y="222364"/>
                  </a:lnTo>
                  <a:lnTo>
                    <a:pt x="1076477" y="230416"/>
                  </a:lnTo>
                  <a:lnTo>
                    <a:pt x="1080020" y="231038"/>
                  </a:lnTo>
                  <a:lnTo>
                    <a:pt x="1090256" y="229196"/>
                  </a:lnTo>
                  <a:lnTo>
                    <a:pt x="1102906" y="227101"/>
                  </a:lnTo>
                  <a:lnTo>
                    <a:pt x="1113967" y="225831"/>
                  </a:lnTo>
                  <a:lnTo>
                    <a:pt x="1125753" y="225183"/>
                  </a:lnTo>
                  <a:lnTo>
                    <a:pt x="1150442" y="224790"/>
                  </a:lnTo>
                  <a:lnTo>
                    <a:pt x="1159979" y="224396"/>
                  </a:lnTo>
                  <a:lnTo>
                    <a:pt x="1168158" y="223837"/>
                  </a:lnTo>
                  <a:lnTo>
                    <a:pt x="1173467" y="223227"/>
                  </a:lnTo>
                  <a:lnTo>
                    <a:pt x="1173607" y="223227"/>
                  </a:lnTo>
                  <a:lnTo>
                    <a:pt x="1178877" y="222364"/>
                  </a:lnTo>
                  <a:lnTo>
                    <a:pt x="1178610" y="222364"/>
                  </a:lnTo>
                  <a:lnTo>
                    <a:pt x="1184313" y="221716"/>
                  </a:lnTo>
                  <a:lnTo>
                    <a:pt x="1185430" y="222364"/>
                  </a:lnTo>
                  <a:lnTo>
                    <a:pt x="1185202" y="222364"/>
                  </a:lnTo>
                  <a:lnTo>
                    <a:pt x="1185913" y="225831"/>
                  </a:lnTo>
                  <a:lnTo>
                    <a:pt x="1186294" y="229196"/>
                  </a:lnTo>
                  <a:lnTo>
                    <a:pt x="1186370" y="229920"/>
                  </a:lnTo>
                  <a:lnTo>
                    <a:pt x="1189355" y="251307"/>
                  </a:lnTo>
                  <a:lnTo>
                    <a:pt x="1193419" y="271526"/>
                  </a:lnTo>
                  <a:lnTo>
                    <a:pt x="1198803" y="291617"/>
                  </a:lnTo>
                  <a:lnTo>
                    <a:pt x="1205763" y="312635"/>
                  </a:lnTo>
                  <a:lnTo>
                    <a:pt x="1209268" y="322973"/>
                  </a:lnTo>
                  <a:lnTo>
                    <a:pt x="1211668" y="331660"/>
                  </a:lnTo>
                  <a:lnTo>
                    <a:pt x="1213345" y="340309"/>
                  </a:lnTo>
                  <a:lnTo>
                    <a:pt x="1214602" y="350139"/>
                  </a:lnTo>
                  <a:lnTo>
                    <a:pt x="1215402" y="357466"/>
                  </a:lnTo>
                  <a:lnTo>
                    <a:pt x="1216533" y="361797"/>
                  </a:lnTo>
                  <a:lnTo>
                    <a:pt x="1221079" y="366839"/>
                  </a:lnTo>
                  <a:lnTo>
                    <a:pt x="1227797" y="366636"/>
                  </a:lnTo>
                  <a:lnTo>
                    <a:pt x="1233639" y="360464"/>
                  </a:lnTo>
                  <a:lnTo>
                    <a:pt x="1233805" y="359308"/>
                  </a:lnTo>
                  <a:lnTo>
                    <a:pt x="1233093" y="350532"/>
                  </a:lnTo>
                  <a:lnTo>
                    <a:pt x="1231925" y="340309"/>
                  </a:lnTo>
                  <a:lnTo>
                    <a:pt x="1231811" y="339267"/>
                  </a:lnTo>
                  <a:lnTo>
                    <a:pt x="1229766" y="328676"/>
                  </a:lnTo>
                  <a:lnTo>
                    <a:pt x="1226667" y="317284"/>
                  </a:lnTo>
                  <a:lnTo>
                    <a:pt x="1222248" y="303974"/>
                  </a:lnTo>
                  <a:lnTo>
                    <a:pt x="1215542" y="282727"/>
                  </a:lnTo>
                  <a:lnTo>
                    <a:pt x="1210068" y="261010"/>
                  </a:lnTo>
                  <a:lnTo>
                    <a:pt x="1206233" y="240588"/>
                  </a:lnTo>
                  <a:lnTo>
                    <a:pt x="1204696" y="225831"/>
                  </a:lnTo>
                  <a:lnTo>
                    <a:pt x="1204582" y="224790"/>
                  </a:lnTo>
                  <a:lnTo>
                    <a:pt x="1204480" y="223837"/>
                  </a:lnTo>
                  <a:lnTo>
                    <a:pt x="1204379" y="222364"/>
                  </a:lnTo>
                  <a:lnTo>
                    <a:pt x="1204353" y="221716"/>
                  </a:lnTo>
                  <a:lnTo>
                    <a:pt x="1204175" y="217551"/>
                  </a:lnTo>
                  <a:lnTo>
                    <a:pt x="1204099" y="215823"/>
                  </a:lnTo>
                  <a:lnTo>
                    <a:pt x="1220673" y="210197"/>
                  </a:lnTo>
                  <a:lnTo>
                    <a:pt x="1225118" y="208064"/>
                  </a:lnTo>
                  <a:lnTo>
                    <a:pt x="1238618" y="193243"/>
                  </a:lnTo>
                  <a:lnTo>
                    <a:pt x="1238707" y="192824"/>
                  </a:lnTo>
                  <a:lnTo>
                    <a:pt x="1239570" y="186436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8953" y="1822653"/>
              <a:ext cx="67468" cy="1023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16481" y="1633994"/>
              <a:ext cx="2179320" cy="603885"/>
            </a:xfrm>
            <a:custGeom>
              <a:avLst/>
              <a:gdLst/>
              <a:ahLst/>
              <a:cxnLst/>
              <a:rect l="l" t="t" r="r" b="b"/>
              <a:pathLst>
                <a:path w="2179320" h="603885">
                  <a:moveTo>
                    <a:pt x="343814" y="201155"/>
                  </a:moveTo>
                  <a:lnTo>
                    <a:pt x="334822" y="163944"/>
                  </a:lnTo>
                  <a:lnTo>
                    <a:pt x="324942" y="153454"/>
                  </a:lnTo>
                  <a:lnTo>
                    <a:pt x="324942" y="193586"/>
                  </a:lnTo>
                  <a:lnTo>
                    <a:pt x="324853" y="201155"/>
                  </a:lnTo>
                  <a:lnTo>
                    <a:pt x="319214" y="242176"/>
                  </a:lnTo>
                  <a:lnTo>
                    <a:pt x="277622" y="263283"/>
                  </a:lnTo>
                  <a:lnTo>
                    <a:pt x="265430" y="268655"/>
                  </a:lnTo>
                  <a:lnTo>
                    <a:pt x="252399" y="274624"/>
                  </a:lnTo>
                  <a:lnTo>
                    <a:pt x="228600" y="286004"/>
                  </a:lnTo>
                  <a:lnTo>
                    <a:pt x="217741" y="290995"/>
                  </a:lnTo>
                  <a:lnTo>
                    <a:pt x="179666" y="302641"/>
                  </a:lnTo>
                  <a:lnTo>
                    <a:pt x="130098" y="307708"/>
                  </a:lnTo>
                  <a:lnTo>
                    <a:pt x="106019" y="307708"/>
                  </a:lnTo>
                  <a:lnTo>
                    <a:pt x="81584" y="306819"/>
                  </a:lnTo>
                  <a:lnTo>
                    <a:pt x="79921" y="306819"/>
                  </a:lnTo>
                  <a:lnTo>
                    <a:pt x="34544" y="295897"/>
                  </a:lnTo>
                  <a:lnTo>
                    <a:pt x="18110" y="274624"/>
                  </a:lnTo>
                  <a:lnTo>
                    <a:pt x="18554" y="263512"/>
                  </a:lnTo>
                  <a:lnTo>
                    <a:pt x="21120" y="238036"/>
                  </a:lnTo>
                  <a:lnTo>
                    <a:pt x="21132" y="237896"/>
                  </a:lnTo>
                  <a:lnTo>
                    <a:pt x="35788" y="197840"/>
                  </a:lnTo>
                  <a:lnTo>
                    <a:pt x="64096" y="169291"/>
                  </a:lnTo>
                  <a:lnTo>
                    <a:pt x="105511" y="148742"/>
                  </a:lnTo>
                  <a:lnTo>
                    <a:pt x="123863" y="144627"/>
                  </a:lnTo>
                  <a:lnTo>
                    <a:pt x="145338" y="144627"/>
                  </a:lnTo>
                  <a:lnTo>
                    <a:pt x="171551" y="147980"/>
                  </a:lnTo>
                  <a:lnTo>
                    <a:pt x="180213" y="149428"/>
                  </a:lnTo>
                  <a:lnTo>
                    <a:pt x="197980" y="152666"/>
                  </a:lnTo>
                  <a:lnTo>
                    <a:pt x="204889" y="154051"/>
                  </a:lnTo>
                  <a:lnTo>
                    <a:pt x="227114" y="158102"/>
                  </a:lnTo>
                  <a:lnTo>
                    <a:pt x="250291" y="161061"/>
                  </a:lnTo>
                  <a:lnTo>
                    <a:pt x="273926" y="162877"/>
                  </a:lnTo>
                  <a:lnTo>
                    <a:pt x="297751" y="163512"/>
                  </a:lnTo>
                  <a:lnTo>
                    <a:pt x="309664" y="163512"/>
                  </a:lnTo>
                  <a:lnTo>
                    <a:pt x="315988" y="170421"/>
                  </a:lnTo>
                  <a:lnTo>
                    <a:pt x="321246" y="176885"/>
                  </a:lnTo>
                  <a:lnTo>
                    <a:pt x="324002" y="183578"/>
                  </a:lnTo>
                  <a:lnTo>
                    <a:pt x="324942" y="193586"/>
                  </a:lnTo>
                  <a:lnTo>
                    <a:pt x="324942" y="153454"/>
                  </a:lnTo>
                  <a:lnTo>
                    <a:pt x="320941" y="149783"/>
                  </a:lnTo>
                  <a:lnTo>
                    <a:pt x="313550" y="144310"/>
                  </a:lnTo>
                  <a:lnTo>
                    <a:pt x="308673" y="142189"/>
                  </a:lnTo>
                  <a:lnTo>
                    <a:pt x="306400" y="142189"/>
                  </a:lnTo>
                  <a:lnTo>
                    <a:pt x="304634" y="142773"/>
                  </a:lnTo>
                  <a:lnTo>
                    <a:pt x="304139" y="143573"/>
                  </a:lnTo>
                  <a:lnTo>
                    <a:pt x="302094" y="144310"/>
                  </a:lnTo>
                  <a:lnTo>
                    <a:pt x="300786" y="144310"/>
                  </a:lnTo>
                  <a:lnTo>
                    <a:pt x="296214" y="144627"/>
                  </a:lnTo>
                  <a:lnTo>
                    <a:pt x="294297" y="144627"/>
                  </a:lnTo>
                  <a:lnTo>
                    <a:pt x="281241" y="144310"/>
                  </a:lnTo>
                  <a:lnTo>
                    <a:pt x="280123" y="144310"/>
                  </a:lnTo>
                  <a:lnTo>
                    <a:pt x="262483" y="143573"/>
                  </a:lnTo>
                  <a:lnTo>
                    <a:pt x="261239" y="143573"/>
                  </a:lnTo>
                  <a:lnTo>
                    <a:pt x="244983" y="142189"/>
                  </a:lnTo>
                  <a:lnTo>
                    <a:pt x="229730" y="139992"/>
                  </a:lnTo>
                  <a:lnTo>
                    <a:pt x="183857" y="131343"/>
                  </a:lnTo>
                  <a:lnTo>
                    <a:pt x="166382" y="128409"/>
                  </a:lnTo>
                  <a:lnTo>
                    <a:pt x="154584" y="127088"/>
                  </a:lnTo>
                  <a:lnTo>
                    <a:pt x="156095" y="127088"/>
                  </a:lnTo>
                  <a:lnTo>
                    <a:pt x="140741" y="126390"/>
                  </a:lnTo>
                  <a:lnTo>
                    <a:pt x="125412" y="126390"/>
                  </a:lnTo>
                  <a:lnTo>
                    <a:pt x="119253" y="126669"/>
                  </a:lnTo>
                  <a:lnTo>
                    <a:pt x="76885" y="140995"/>
                  </a:lnTo>
                  <a:lnTo>
                    <a:pt x="22085" y="184962"/>
                  </a:lnTo>
                  <a:lnTo>
                    <a:pt x="342" y="253161"/>
                  </a:lnTo>
                  <a:lnTo>
                    <a:pt x="228" y="262216"/>
                  </a:lnTo>
                  <a:lnTo>
                    <a:pt x="127" y="269367"/>
                  </a:lnTo>
                  <a:lnTo>
                    <a:pt x="0" y="278333"/>
                  </a:lnTo>
                  <a:lnTo>
                    <a:pt x="5981" y="295897"/>
                  </a:lnTo>
                  <a:lnTo>
                    <a:pt x="6096" y="296252"/>
                  </a:lnTo>
                  <a:lnTo>
                    <a:pt x="43103" y="318744"/>
                  </a:lnTo>
                  <a:lnTo>
                    <a:pt x="90131" y="325793"/>
                  </a:lnTo>
                  <a:lnTo>
                    <a:pt x="98971" y="325793"/>
                  </a:lnTo>
                  <a:lnTo>
                    <a:pt x="112433" y="325932"/>
                  </a:lnTo>
                  <a:lnTo>
                    <a:pt x="130340" y="325793"/>
                  </a:lnTo>
                  <a:lnTo>
                    <a:pt x="143954" y="325361"/>
                  </a:lnTo>
                  <a:lnTo>
                    <a:pt x="154787" y="324599"/>
                  </a:lnTo>
                  <a:lnTo>
                    <a:pt x="154978" y="324599"/>
                  </a:lnTo>
                  <a:lnTo>
                    <a:pt x="206044" y="315518"/>
                  </a:lnTo>
                  <a:lnTo>
                    <a:pt x="256057" y="293141"/>
                  </a:lnTo>
                  <a:lnTo>
                    <a:pt x="267779" y="287743"/>
                  </a:lnTo>
                  <a:lnTo>
                    <a:pt x="279514" y="282549"/>
                  </a:lnTo>
                  <a:lnTo>
                    <a:pt x="310616" y="269367"/>
                  </a:lnTo>
                  <a:lnTo>
                    <a:pt x="324091" y="262216"/>
                  </a:lnTo>
                  <a:lnTo>
                    <a:pt x="342646" y="224129"/>
                  </a:lnTo>
                  <a:lnTo>
                    <a:pt x="343814" y="201155"/>
                  </a:lnTo>
                  <a:close/>
                </a:path>
                <a:path w="2179320" h="603885">
                  <a:moveTo>
                    <a:pt x="600494" y="563600"/>
                  </a:moveTo>
                  <a:lnTo>
                    <a:pt x="552526" y="557276"/>
                  </a:lnTo>
                  <a:lnTo>
                    <a:pt x="399122" y="557237"/>
                  </a:lnTo>
                  <a:lnTo>
                    <a:pt x="396036" y="560324"/>
                  </a:lnTo>
                  <a:lnTo>
                    <a:pt x="394335" y="562013"/>
                  </a:lnTo>
                  <a:lnTo>
                    <a:pt x="392950" y="564870"/>
                  </a:lnTo>
                  <a:lnTo>
                    <a:pt x="392950" y="568464"/>
                  </a:lnTo>
                  <a:lnTo>
                    <a:pt x="394335" y="571309"/>
                  </a:lnTo>
                  <a:lnTo>
                    <a:pt x="399122" y="576097"/>
                  </a:lnTo>
                  <a:lnTo>
                    <a:pt x="552526" y="576059"/>
                  </a:lnTo>
                  <a:lnTo>
                    <a:pt x="593648" y="574992"/>
                  </a:lnTo>
                  <a:lnTo>
                    <a:pt x="600494" y="569722"/>
                  </a:lnTo>
                  <a:lnTo>
                    <a:pt x="600494" y="563600"/>
                  </a:lnTo>
                  <a:close/>
                </a:path>
                <a:path w="2179320" h="603885">
                  <a:moveTo>
                    <a:pt x="771067" y="121970"/>
                  </a:moveTo>
                  <a:lnTo>
                    <a:pt x="771004" y="119113"/>
                  </a:lnTo>
                  <a:lnTo>
                    <a:pt x="764120" y="111544"/>
                  </a:lnTo>
                  <a:lnTo>
                    <a:pt x="760628" y="110451"/>
                  </a:lnTo>
                  <a:lnTo>
                    <a:pt x="756881" y="111950"/>
                  </a:lnTo>
                  <a:lnTo>
                    <a:pt x="753567" y="113271"/>
                  </a:lnTo>
                  <a:lnTo>
                    <a:pt x="751446" y="116903"/>
                  </a:lnTo>
                  <a:lnTo>
                    <a:pt x="751446" y="129209"/>
                  </a:lnTo>
                  <a:lnTo>
                    <a:pt x="762685" y="132626"/>
                  </a:lnTo>
                  <a:lnTo>
                    <a:pt x="771067" y="121970"/>
                  </a:lnTo>
                  <a:close/>
                </a:path>
                <a:path w="2179320" h="603885">
                  <a:moveTo>
                    <a:pt x="1026934" y="593725"/>
                  </a:moveTo>
                  <a:lnTo>
                    <a:pt x="1025804" y="591375"/>
                  </a:lnTo>
                  <a:lnTo>
                    <a:pt x="1022388" y="587019"/>
                  </a:lnTo>
                  <a:lnTo>
                    <a:pt x="1020445" y="586308"/>
                  </a:lnTo>
                  <a:lnTo>
                    <a:pt x="1008748" y="585101"/>
                  </a:lnTo>
                  <a:lnTo>
                    <a:pt x="997508" y="583349"/>
                  </a:lnTo>
                  <a:lnTo>
                    <a:pt x="945654" y="577113"/>
                  </a:lnTo>
                  <a:lnTo>
                    <a:pt x="780275" y="576097"/>
                  </a:lnTo>
                  <a:lnTo>
                    <a:pt x="777189" y="579196"/>
                  </a:lnTo>
                  <a:lnTo>
                    <a:pt x="773480" y="582891"/>
                  </a:lnTo>
                  <a:lnTo>
                    <a:pt x="773226" y="587336"/>
                  </a:lnTo>
                  <a:lnTo>
                    <a:pt x="778903" y="594347"/>
                  </a:lnTo>
                  <a:lnTo>
                    <a:pt x="921194" y="595503"/>
                  </a:lnTo>
                  <a:lnTo>
                    <a:pt x="950747" y="596011"/>
                  </a:lnTo>
                  <a:lnTo>
                    <a:pt x="966711" y="596785"/>
                  </a:lnTo>
                  <a:lnTo>
                    <a:pt x="975360" y="597966"/>
                  </a:lnTo>
                  <a:lnTo>
                    <a:pt x="989812" y="600646"/>
                  </a:lnTo>
                  <a:lnTo>
                    <a:pt x="1003668" y="602691"/>
                  </a:lnTo>
                  <a:lnTo>
                    <a:pt x="1014577" y="603821"/>
                  </a:lnTo>
                  <a:lnTo>
                    <a:pt x="1020178" y="603707"/>
                  </a:lnTo>
                  <a:lnTo>
                    <a:pt x="1023366" y="602500"/>
                  </a:lnTo>
                  <a:lnTo>
                    <a:pt x="1026934" y="597827"/>
                  </a:lnTo>
                  <a:lnTo>
                    <a:pt x="1026934" y="593725"/>
                  </a:lnTo>
                  <a:close/>
                </a:path>
                <a:path w="2179320" h="603885">
                  <a:moveTo>
                    <a:pt x="1478521" y="8851"/>
                  </a:moveTo>
                  <a:lnTo>
                    <a:pt x="1477340" y="6375"/>
                  </a:lnTo>
                  <a:lnTo>
                    <a:pt x="1472539" y="279"/>
                  </a:lnTo>
                  <a:lnTo>
                    <a:pt x="1465935" y="0"/>
                  </a:lnTo>
                  <a:lnTo>
                    <a:pt x="1462214" y="4000"/>
                  </a:lnTo>
                  <a:lnTo>
                    <a:pt x="1456753" y="9855"/>
                  </a:lnTo>
                  <a:lnTo>
                    <a:pt x="1460893" y="18859"/>
                  </a:lnTo>
                  <a:lnTo>
                    <a:pt x="1473606" y="18859"/>
                  </a:lnTo>
                  <a:lnTo>
                    <a:pt x="1478521" y="14287"/>
                  </a:lnTo>
                  <a:lnTo>
                    <a:pt x="1478521" y="8851"/>
                  </a:lnTo>
                  <a:close/>
                </a:path>
                <a:path w="2179320" h="603885">
                  <a:moveTo>
                    <a:pt x="1751482" y="320332"/>
                  </a:moveTo>
                  <a:lnTo>
                    <a:pt x="1747596" y="315722"/>
                  </a:lnTo>
                  <a:lnTo>
                    <a:pt x="1568399" y="315391"/>
                  </a:lnTo>
                  <a:lnTo>
                    <a:pt x="1467840" y="315671"/>
                  </a:lnTo>
                  <a:lnTo>
                    <a:pt x="1450657" y="315925"/>
                  </a:lnTo>
                  <a:lnTo>
                    <a:pt x="1448409" y="316382"/>
                  </a:lnTo>
                  <a:lnTo>
                    <a:pt x="1445831" y="317766"/>
                  </a:lnTo>
                  <a:lnTo>
                    <a:pt x="1442516" y="322287"/>
                  </a:lnTo>
                  <a:lnTo>
                    <a:pt x="1442948" y="327939"/>
                  </a:lnTo>
                  <a:lnTo>
                    <a:pt x="1511858" y="333286"/>
                  </a:lnTo>
                  <a:lnTo>
                    <a:pt x="1746351" y="333324"/>
                  </a:lnTo>
                  <a:lnTo>
                    <a:pt x="1750326" y="329057"/>
                  </a:lnTo>
                  <a:lnTo>
                    <a:pt x="1751482" y="326237"/>
                  </a:lnTo>
                  <a:lnTo>
                    <a:pt x="1751482" y="320332"/>
                  </a:lnTo>
                  <a:close/>
                </a:path>
                <a:path w="2179320" h="603885">
                  <a:moveTo>
                    <a:pt x="2179167" y="315810"/>
                  </a:moveTo>
                  <a:lnTo>
                    <a:pt x="2177770" y="312953"/>
                  </a:lnTo>
                  <a:lnTo>
                    <a:pt x="2172982" y="308178"/>
                  </a:lnTo>
                  <a:lnTo>
                    <a:pt x="1954771" y="308229"/>
                  </a:lnTo>
                  <a:lnTo>
                    <a:pt x="1911616" y="308495"/>
                  </a:lnTo>
                  <a:lnTo>
                    <a:pt x="1880679" y="317665"/>
                  </a:lnTo>
                  <a:lnTo>
                    <a:pt x="1883892" y="323888"/>
                  </a:lnTo>
                  <a:lnTo>
                    <a:pt x="1975561" y="326986"/>
                  </a:lnTo>
                  <a:lnTo>
                    <a:pt x="2172982" y="327037"/>
                  </a:lnTo>
                  <a:lnTo>
                    <a:pt x="2177770" y="322262"/>
                  </a:lnTo>
                  <a:lnTo>
                    <a:pt x="2179167" y="319405"/>
                  </a:lnTo>
                  <a:lnTo>
                    <a:pt x="2179167" y="31581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6468" y="1761020"/>
              <a:ext cx="134252" cy="16239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19581" y="864895"/>
              <a:ext cx="2792730" cy="1408430"/>
            </a:xfrm>
            <a:custGeom>
              <a:avLst/>
              <a:gdLst/>
              <a:ahLst/>
              <a:cxnLst/>
              <a:rect l="l" t="t" r="r" b="b"/>
              <a:pathLst>
                <a:path w="2792729" h="1408430">
                  <a:moveTo>
                    <a:pt x="805954" y="408940"/>
                  </a:moveTo>
                  <a:lnTo>
                    <a:pt x="805916" y="369570"/>
                  </a:lnTo>
                  <a:lnTo>
                    <a:pt x="795147" y="328930"/>
                  </a:lnTo>
                  <a:lnTo>
                    <a:pt x="788403" y="315429"/>
                  </a:lnTo>
                  <a:lnTo>
                    <a:pt x="788403" y="381000"/>
                  </a:lnTo>
                  <a:lnTo>
                    <a:pt x="788250" y="389890"/>
                  </a:lnTo>
                  <a:lnTo>
                    <a:pt x="784656" y="433070"/>
                  </a:lnTo>
                  <a:lnTo>
                    <a:pt x="766991" y="492760"/>
                  </a:lnTo>
                  <a:lnTo>
                    <a:pt x="739355" y="519430"/>
                  </a:lnTo>
                  <a:lnTo>
                    <a:pt x="725309" y="525780"/>
                  </a:lnTo>
                  <a:lnTo>
                    <a:pt x="706196" y="534670"/>
                  </a:lnTo>
                  <a:lnTo>
                    <a:pt x="697153" y="538480"/>
                  </a:lnTo>
                  <a:lnTo>
                    <a:pt x="688327" y="542290"/>
                  </a:lnTo>
                  <a:lnTo>
                    <a:pt x="680732" y="544830"/>
                  </a:lnTo>
                  <a:lnTo>
                    <a:pt x="630123" y="562610"/>
                  </a:lnTo>
                  <a:lnTo>
                    <a:pt x="568464" y="571500"/>
                  </a:lnTo>
                  <a:lnTo>
                    <a:pt x="544944" y="572770"/>
                  </a:lnTo>
                  <a:lnTo>
                    <a:pt x="521106" y="576580"/>
                  </a:lnTo>
                  <a:lnTo>
                    <a:pt x="495300" y="580390"/>
                  </a:lnTo>
                  <a:lnTo>
                    <a:pt x="465861" y="585470"/>
                  </a:lnTo>
                  <a:lnTo>
                    <a:pt x="442976" y="588010"/>
                  </a:lnTo>
                  <a:lnTo>
                    <a:pt x="427253" y="590550"/>
                  </a:lnTo>
                  <a:lnTo>
                    <a:pt x="415886" y="590550"/>
                  </a:lnTo>
                  <a:lnTo>
                    <a:pt x="357543" y="579120"/>
                  </a:lnTo>
                  <a:lnTo>
                    <a:pt x="312623" y="566420"/>
                  </a:lnTo>
                  <a:lnTo>
                    <a:pt x="293217" y="549910"/>
                  </a:lnTo>
                  <a:lnTo>
                    <a:pt x="276974" y="535940"/>
                  </a:lnTo>
                  <a:lnTo>
                    <a:pt x="243370" y="511810"/>
                  </a:lnTo>
                  <a:lnTo>
                    <a:pt x="200418" y="491490"/>
                  </a:lnTo>
                  <a:lnTo>
                    <a:pt x="180492" y="487680"/>
                  </a:lnTo>
                  <a:lnTo>
                    <a:pt x="155613" y="487680"/>
                  </a:lnTo>
                  <a:lnTo>
                    <a:pt x="134962" y="486410"/>
                  </a:lnTo>
                  <a:lnTo>
                    <a:pt x="49085" y="486410"/>
                  </a:lnTo>
                  <a:lnTo>
                    <a:pt x="31127" y="485140"/>
                  </a:lnTo>
                  <a:lnTo>
                    <a:pt x="23888" y="483870"/>
                  </a:lnTo>
                  <a:lnTo>
                    <a:pt x="24726" y="481330"/>
                  </a:lnTo>
                  <a:lnTo>
                    <a:pt x="29171" y="477520"/>
                  </a:lnTo>
                  <a:lnTo>
                    <a:pt x="37553" y="471170"/>
                  </a:lnTo>
                  <a:lnTo>
                    <a:pt x="50203" y="462280"/>
                  </a:lnTo>
                  <a:lnTo>
                    <a:pt x="69342" y="450850"/>
                  </a:lnTo>
                  <a:lnTo>
                    <a:pt x="89331" y="438150"/>
                  </a:lnTo>
                  <a:lnTo>
                    <a:pt x="134480" y="412750"/>
                  </a:lnTo>
                  <a:lnTo>
                    <a:pt x="172948" y="393700"/>
                  </a:lnTo>
                  <a:lnTo>
                    <a:pt x="227164" y="370840"/>
                  </a:lnTo>
                  <a:lnTo>
                    <a:pt x="249516" y="367030"/>
                  </a:lnTo>
                  <a:lnTo>
                    <a:pt x="264248" y="363220"/>
                  </a:lnTo>
                  <a:lnTo>
                    <a:pt x="295160" y="340360"/>
                  </a:lnTo>
                  <a:lnTo>
                    <a:pt x="318630" y="308610"/>
                  </a:lnTo>
                  <a:lnTo>
                    <a:pt x="329145" y="259080"/>
                  </a:lnTo>
                  <a:lnTo>
                    <a:pt x="328142" y="243840"/>
                  </a:lnTo>
                  <a:lnTo>
                    <a:pt x="326364" y="233680"/>
                  </a:lnTo>
                  <a:lnTo>
                    <a:pt x="324612" y="228600"/>
                  </a:lnTo>
                  <a:lnTo>
                    <a:pt x="321411" y="222250"/>
                  </a:lnTo>
                  <a:lnTo>
                    <a:pt x="317207" y="212090"/>
                  </a:lnTo>
                  <a:lnTo>
                    <a:pt x="312458" y="201930"/>
                  </a:lnTo>
                  <a:lnTo>
                    <a:pt x="304596" y="185420"/>
                  </a:lnTo>
                  <a:lnTo>
                    <a:pt x="299796" y="172720"/>
                  </a:lnTo>
                  <a:lnTo>
                    <a:pt x="297408" y="163830"/>
                  </a:lnTo>
                  <a:lnTo>
                    <a:pt x="296837" y="154940"/>
                  </a:lnTo>
                  <a:lnTo>
                    <a:pt x="296811" y="152400"/>
                  </a:lnTo>
                  <a:lnTo>
                    <a:pt x="297141" y="146050"/>
                  </a:lnTo>
                  <a:lnTo>
                    <a:pt x="312953" y="107950"/>
                  </a:lnTo>
                  <a:lnTo>
                    <a:pt x="354914" y="76200"/>
                  </a:lnTo>
                  <a:lnTo>
                    <a:pt x="383273" y="69850"/>
                  </a:lnTo>
                  <a:lnTo>
                    <a:pt x="401789" y="69850"/>
                  </a:lnTo>
                  <a:lnTo>
                    <a:pt x="425983" y="68580"/>
                  </a:lnTo>
                  <a:lnTo>
                    <a:pt x="482981" y="68580"/>
                  </a:lnTo>
                  <a:lnTo>
                    <a:pt x="500532" y="69850"/>
                  </a:lnTo>
                  <a:lnTo>
                    <a:pt x="512165" y="71120"/>
                  </a:lnTo>
                  <a:lnTo>
                    <a:pt x="526338" y="73660"/>
                  </a:lnTo>
                  <a:lnTo>
                    <a:pt x="540854" y="77470"/>
                  </a:lnTo>
                  <a:lnTo>
                    <a:pt x="553504" y="80010"/>
                  </a:lnTo>
                  <a:lnTo>
                    <a:pt x="561797" y="82550"/>
                  </a:lnTo>
                  <a:lnTo>
                    <a:pt x="568769" y="86360"/>
                  </a:lnTo>
                  <a:lnTo>
                    <a:pt x="574992" y="88900"/>
                  </a:lnTo>
                  <a:lnTo>
                    <a:pt x="581012" y="92710"/>
                  </a:lnTo>
                  <a:lnTo>
                    <a:pt x="586905" y="95250"/>
                  </a:lnTo>
                  <a:lnTo>
                    <a:pt x="592391" y="97790"/>
                  </a:lnTo>
                  <a:lnTo>
                    <a:pt x="598436" y="96520"/>
                  </a:lnTo>
                  <a:lnTo>
                    <a:pt x="605955" y="95250"/>
                  </a:lnTo>
                  <a:lnTo>
                    <a:pt x="615035" y="93980"/>
                  </a:lnTo>
                  <a:lnTo>
                    <a:pt x="620534" y="93980"/>
                  </a:lnTo>
                  <a:lnTo>
                    <a:pt x="625017" y="97790"/>
                  </a:lnTo>
                  <a:lnTo>
                    <a:pt x="631088" y="105410"/>
                  </a:lnTo>
                  <a:lnTo>
                    <a:pt x="636422" y="113030"/>
                  </a:lnTo>
                  <a:lnTo>
                    <a:pt x="644245" y="121920"/>
                  </a:lnTo>
                  <a:lnTo>
                    <a:pt x="653516" y="134620"/>
                  </a:lnTo>
                  <a:lnTo>
                    <a:pt x="686828" y="175260"/>
                  </a:lnTo>
                  <a:lnTo>
                    <a:pt x="701687" y="195580"/>
                  </a:lnTo>
                  <a:lnTo>
                    <a:pt x="712444" y="212090"/>
                  </a:lnTo>
                  <a:lnTo>
                    <a:pt x="723773" y="233680"/>
                  </a:lnTo>
                  <a:lnTo>
                    <a:pt x="730758" y="247650"/>
                  </a:lnTo>
                  <a:lnTo>
                    <a:pt x="738212" y="261620"/>
                  </a:lnTo>
                  <a:lnTo>
                    <a:pt x="762177" y="304800"/>
                  </a:lnTo>
                  <a:lnTo>
                    <a:pt x="779830" y="339090"/>
                  </a:lnTo>
                  <a:lnTo>
                    <a:pt x="788339" y="379730"/>
                  </a:lnTo>
                  <a:lnTo>
                    <a:pt x="788403" y="381000"/>
                  </a:lnTo>
                  <a:lnTo>
                    <a:pt x="788403" y="315429"/>
                  </a:lnTo>
                  <a:lnTo>
                    <a:pt x="787539" y="313690"/>
                  </a:lnTo>
                  <a:lnTo>
                    <a:pt x="778217" y="295910"/>
                  </a:lnTo>
                  <a:lnTo>
                    <a:pt x="762660" y="267970"/>
                  </a:lnTo>
                  <a:lnTo>
                    <a:pt x="755688" y="255270"/>
                  </a:lnTo>
                  <a:lnTo>
                    <a:pt x="748309" y="241300"/>
                  </a:lnTo>
                  <a:lnTo>
                    <a:pt x="741413" y="228600"/>
                  </a:lnTo>
                  <a:lnTo>
                    <a:pt x="735139" y="215900"/>
                  </a:lnTo>
                  <a:lnTo>
                    <a:pt x="729462" y="204470"/>
                  </a:lnTo>
                  <a:lnTo>
                    <a:pt x="725004" y="196850"/>
                  </a:lnTo>
                  <a:lnTo>
                    <a:pt x="722388" y="191770"/>
                  </a:lnTo>
                  <a:lnTo>
                    <a:pt x="716749" y="184150"/>
                  </a:lnTo>
                  <a:lnTo>
                    <a:pt x="708444" y="172720"/>
                  </a:lnTo>
                  <a:lnTo>
                    <a:pt x="697407" y="158750"/>
                  </a:lnTo>
                  <a:lnTo>
                    <a:pt x="683539" y="142240"/>
                  </a:lnTo>
                  <a:lnTo>
                    <a:pt x="666242" y="120650"/>
                  </a:lnTo>
                  <a:lnTo>
                    <a:pt x="655243" y="106680"/>
                  </a:lnTo>
                  <a:lnTo>
                    <a:pt x="649528" y="99060"/>
                  </a:lnTo>
                  <a:lnTo>
                    <a:pt x="648119" y="97790"/>
                  </a:lnTo>
                  <a:lnTo>
                    <a:pt x="683882" y="111760"/>
                  </a:lnTo>
                  <a:lnTo>
                    <a:pt x="740168" y="140970"/>
                  </a:lnTo>
                  <a:lnTo>
                    <a:pt x="757847" y="152400"/>
                  </a:lnTo>
                  <a:lnTo>
                    <a:pt x="770267" y="158750"/>
                  </a:lnTo>
                  <a:lnTo>
                    <a:pt x="778497" y="162560"/>
                  </a:lnTo>
                  <a:lnTo>
                    <a:pt x="783577" y="163830"/>
                  </a:lnTo>
                  <a:lnTo>
                    <a:pt x="790117" y="163830"/>
                  </a:lnTo>
                  <a:lnTo>
                    <a:pt x="794880" y="160020"/>
                  </a:lnTo>
                  <a:lnTo>
                    <a:pt x="794880" y="149860"/>
                  </a:lnTo>
                  <a:lnTo>
                    <a:pt x="790270" y="144780"/>
                  </a:lnTo>
                  <a:lnTo>
                    <a:pt x="785876" y="144780"/>
                  </a:lnTo>
                  <a:lnTo>
                    <a:pt x="782116" y="143510"/>
                  </a:lnTo>
                  <a:lnTo>
                    <a:pt x="775589" y="140970"/>
                  </a:lnTo>
                  <a:lnTo>
                    <a:pt x="766356" y="135890"/>
                  </a:lnTo>
                  <a:lnTo>
                    <a:pt x="754481" y="128270"/>
                  </a:lnTo>
                  <a:lnTo>
                    <a:pt x="720712" y="109220"/>
                  </a:lnTo>
                  <a:lnTo>
                    <a:pt x="697509" y="97790"/>
                  </a:lnTo>
                  <a:lnTo>
                    <a:pt x="689775" y="93980"/>
                  </a:lnTo>
                  <a:lnTo>
                    <a:pt x="662927" y="82550"/>
                  </a:lnTo>
                  <a:lnTo>
                    <a:pt x="650024" y="78740"/>
                  </a:lnTo>
                  <a:lnTo>
                    <a:pt x="641413" y="76200"/>
                  </a:lnTo>
                  <a:lnTo>
                    <a:pt x="634238" y="74930"/>
                  </a:lnTo>
                  <a:lnTo>
                    <a:pt x="632396" y="73660"/>
                  </a:lnTo>
                  <a:lnTo>
                    <a:pt x="626325" y="68580"/>
                  </a:lnTo>
                  <a:lnTo>
                    <a:pt x="620077" y="63500"/>
                  </a:lnTo>
                  <a:lnTo>
                    <a:pt x="613587" y="58420"/>
                  </a:lnTo>
                  <a:lnTo>
                    <a:pt x="605624" y="54610"/>
                  </a:lnTo>
                  <a:lnTo>
                    <a:pt x="588670" y="45720"/>
                  </a:lnTo>
                  <a:lnTo>
                    <a:pt x="581596" y="43180"/>
                  </a:lnTo>
                  <a:lnTo>
                    <a:pt x="574548" y="39370"/>
                  </a:lnTo>
                  <a:lnTo>
                    <a:pt x="568388" y="35560"/>
                  </a:lnTo>
                  <a:lnTo>
                    <a:pt x="547839" y="25400"/>
                  </a:lnTo>
                  <a:lnTo>
                    <a:pt x="526516" y="15240"/>
                  </a:lnTo>
                  <a:lnTo>
                    <a:pt x="505955" y="7620"/>
                  </a:lnTo>
                  <a:lnTo>
                    <a:pt x="487692" y="2540"/>
                  </a:lnTo>
                  <a:lnTo>
                    <a:pt x="475068" y="0"/>
                  </a:lnTo>
                  <a:lnTo>
                    <a:pt x="472630" y="0"/>
                  </a:lnTo>
                  <a:lnTo>
                    <a:pt x="469328" y="3810"/>
                  </a:lnTo>
                  <a:lnTo>
                    <a:pt x="465886" y="6350"/>
                  </a:lnTo>
                  <a:lnTo>
                    <a:pt x="465632" y="13970"/>
                  </a:lnTo>
                  <a:lnTo>
                    <a:pt x="470103" y="17780"/>
                  </a:lnTo>
                  <a:lnTo>
                    <a:pt x="481393" y="20320"/>
                  </a:lnTo>
                  <a:lnTo>
                    <a:pt x="499313" y="25400"/>
                  </a:lnTo>
                  <a:lnTo>
                    <a:pt x="519252" y="31750"/>
                  </a:lnTo>
                  <a:lnTo>
                    <a:pt x="539991" y="41910"/>
                  </a:lnTo>
                  <a:lnTo>
                    <a:pt x="560285" y="52070"/>
                  </a:lnTo>
                  <a:lnTo>
                    <a:pt x="566242" y="55880"/>
                  </a:lnTo>
                  <a:lnTo>
                    <a:pt x="573163" y="59690"/>
                  </a:lnTo>
                  <a:lnTo>
                    <a:pt x="580186" y="62230"/>
                  </a:lnTo>
                  <a:lnTo>
                    <a:pt x="586447" y="66040"/>
                  </a:lnTo>
                  <a:lnTo>
                    <a:pt x="593928" y="68580"/>
                  </a:lnTo>
                  <a:lnTo>
                    <a:pt x="601776" y="72390"/>
                  </a:lnTo>
                  <a:lnTo>
                    <a:pt x="607745" y="76200"/>
                  </a:lnTo>
                  <a:lnTo>
                    <a:pt x="595134" y="78740"/>
                  </a:lnTo>
                  <a:lnTo>
                    <a:pt x="594525" y="78740"/>
                  </a:lnTo>
                  <a:lnTo>
                    <a:pt x="590054" y="76200"/>
                  </a:lnTo>
                  <a:lnTo>
                    <a:pt x="574281" y="68580"/>
                  </a:lnTo>
                  <a:lnTo>
                    <a:pt x="553085" y="60960"/>
                  </a:lnTo>
                  <a:lnTo>
                    <a:pt x="528662" y="55880"/>
                  </a:lnTo>
                  <a:lnTo>
                    <a:pt x="503224" y="52070"/>
                  </a:lnTo>
                  <a:lnTo>
                    <a:pt x="480466" y="50800"/>
                  </a:lnTo>
                  <a:lnTo>
                    <a:pt x="409917" y="50800"/>
                  </a:lnTo>
                  <a:lnTo>
                    <a:pt x="359651" y="55880"/>
                  </a:lnTo>
                  <a:lnTo>
                    <a:pt x="320332" y="73660"/>
                  </a:lnTo>
                  <a:lnTo>
                    <a:pt x="290372" y="110490"/>
                  </a:lnTo>
                  <a:lnTo>
                    <a:pt x="278942" y="149860"/>
                  </a:lnTo>
                  <a:lnTo>
                    <a:pt x="278828" y="152400"/>
                  </a:lnTo>
                  <a:lnTo>
                    <a:pt x="278701" y="154940"/>
                  </a:lnTo>
                  <a:lnTo>
                    <a:pt x="279361" y="166370"/>
                  </a:lnTo>
                  <a:lnTo>
                    <a:pt x="281901" y="177800"/>
                  </a:lnTo>
                  <a:lnTo>
                    <a:pt x="287197" y="191770"/>
                  </a:lnTo>
                  <a:lnTo>
                    <a:pt x="296151" y="210820"/>
                  </a:lnTo>
                  <a:lnTo>
                    <a:pt x="303847" y="227330"/>
                  </a:lnTo>
                  <a:lnTo>
                    <a:pt x="308165" y="238760"/>
                  </a:lnTo>
                  <a:lnTo>
                    <a:pt x="310261" y="246380"/>
                  </a:lnTo>
                  <a:lnTo>
                    <a:pt x="311289" y="256540"/>
                  </a:lnTo>
                  <a:lnTo>
                    <a:pt x="311404" y="267970"/>
                  </a:lnTo>
                  <a:lnTo>
                    <a:pt x="310502" y="278130"/>
                  </a:lnTo>
                  <a:lnTo>
                    <a:pt x="284594" y="325120"/>
                  </a:lnTo>
                  <a:lnTo>
                    <a:pt x="252006" y="347980"/>
                  </a:lnTo>
                  <a:lnTo>
                    <a:pt x="242658" y="349250"/>
                  </a:lnTo>
                  <a:lnTo>
                    <a:pt x="227863" y="351790"/>
                  </a:lnTo>
                  <a:lnTo>
                    <a:pt x="221183" y="353060"/>
                  </a:lnTo>
                  <a:lnTo>
                    <a:pt x="216128" y="355600"/>
                  </a:lnTo>
                  <a:lnTo>
                    <a:pt x="194741" y="363220"/>
                  </a:lnTo>
                  <a:lnTo>
                    <a:pt x="136004" y="391160"/>
                  </a:lnTo>
                  <a:lnTo>
                    <a:pt x="74523" y="425450"/>
                  </a:lnTo>
                  <a:lnTo>
                    <a:pt x="61277" y="434340"/>
                  </a:lnTo>
                  <a:lnTo>
                    <a:pt x="45262" y="444500"/>
                  </a:lnTo>
                  <a:lnTo>
                    <a:pt x="18884" y="462280"/>
                  </a:lnTo>
                  <a:lnTo>
                    <a:pt x="4508" y="474980"/>
                  </a:lnTo>
                  <a:lnTo>
                    <a:pt x="0" y="485140"/>
                  </a:lnTo>
                  <a:lnTo>
                    <a:pt x="3200" y="492760"/>
                  </a:lnTo>
                  <a:lnTo>
                    <a:pt x="5626" y="496570"/>
                  </a:lnTo>
                  <a:lnTo>
                    <a:pt x="7899" y="497840"/>
                  </a:lnTo>
                  <a:lnTo>
                    <a:pt x="14541" y="500380"/>
                  </a:lnTo>
                  <a:lnTo>
                    <a:pt x="17716" y="500380"/>
                  </a:lnTo>
                  <a:lnTo>
                    <a:pt x="18757" y="501650"/>
                  </a:lnTo>
                  <a:lnTo>
                    <a:pt x="26670" y="502920"/>
                  </a:lnTo>
                  <a:lnTo>
                    <a:pt x="43129" y="504190"/>
                  </a:lnTo>
                  <a:lnTo>
                    <a:pt x="70993" y="504190"/>
                  </a:lnTo>
                  <a:lnTo>
                    <a:pt x="161899" y="506730"/>
                  </a:lnTo>
                  <a:lnTo>
                    <a:pt x="202526" y="511810"/>
                  </a:lnTo>
                  <a:lnTo>
                    <a:pt x="236931" y="529590"/>
                  </a:lnTo>
                  <a:lnTo>
                    <a:pt x="268185" y="552450"/>
                  </a:lnTo>
                  <a:lnTo>
                    <a:pt x="281660" y="565150"/>
                  </a:lnTo>
                  <a:lnTo>
                    <a:pt x="297522" y="579120"/>
                  </a:lnTo>
                  <a:lnTo>
                    <a:pt x="362000" y="599440"/>
                  </a:lnTo>
                  <a:lnTo>
                    <a:pt x="407644" y="608330"/>
                  </a:lnTo>
                  <a:lnTo>
                    <a:pt x="429056" y="608330"/>
                  </a:lnTo>
                  <a:lnTo>
                    <a:pt x="440613" y="607060"/>
                  </a:lnTo>
                  <a:lnTo>
                    <a:pt x="450215" y="605790"/>
                  </a:lnTo>
                  <a:lnTo>
                    <a:pt x="460883" y="604520"/>
                  </a:lnTo>
                  <a:lnTo>
                    <a:pt x="479132" y="600710"/>
                  </a:lnTo>
                  <a:lnTo>
                    <a:pt x="500367" y="598170"/>
                  </a:lnTo>
                  <a:lnTo>
                    <a:pt x="520026" y="594360"/>
                  </a:lnTo>
                  <a:lnTo>
                    <a:pt x="529056" y="593090"/>
                  </a:lnTo>
                  <a:lnTo>
                    <a:pt x="553173" y="590550"/>
                  </a:lnTo>
                  <a:lnTo>
                    <a:pt x="586892" y="588010"/>
                  </a:lnTo>
                  <a:lnTo>
                    <a:pt x="602361" y="585470"/>
                  </a:lnTo>
                  <a:lnTo>
                    <a:pt x="647458" y="576580"/>
                  </a:lnTo>
                  <a:lnTo>
                    <a:pt x="689851" y="561340"/>
                  </a:lnTo>
                  <a:lnTo>
                    <a:pt x="726325" y="546100"/>
                  </a:lnTo>
                  <a:lnTo>
                    <a:pt x="742518" y="538480"/>
                  </a:lnTo>
                  <a:lnTo>
                    <a:pt x="753999" y="533400"/>
                  </a:lnTo>
                  <a:lnTo>
                    <a:pt x="786257" y="495300"/>
                  </a:lnTo>
                  <a:lnTo>
                    <a:pt x="799287" y="453390"/>
                  </a:lnTo>
                  <a:lnTo>
                    <a:pt x="804976" y="421640"/>
                  </a:lnTo>
                  <a:lnTo>
                    <a:pt x="805954" y="408940"/>
                  </a:lnTo>
                  <a:close/>
                </a:path>
                <a:path w="2792729" h="1408430">
                  <a:moveTo>
                    <a:pt x="1960930" y="1364068"/>
                  </a:moveTo>
                  <a:lnTo>
                    <a:pt x="1841334" y="1357782"/>
                  </a:lnTo>
                  <a:lnTo>
                    <a:pt x="1838248" y="1360868"/>
                  </a:lnTo>
                  <a:lnTo>
                    <a:pt x="1833410" y="1365707"/>
                  </a:lnTo>
                  <a:lnTo>
                    <a:pt x="1870595" y="1376578"/>
                  </a:lnTo>
                  <a:lnTo>
                    <a:pt x="1929561" y="1376603"/>
                  </a:lnTo>
                  <a:lnTo>
                    <a:pt x="1946211" y="1376299"/>
                  </a:lnTo>
                  <a:lnTo>
                    <a:pt x="1953463" y="1375524"/>
                  </a:lnTo>
                  <a:lnTo>
                    <a:pt x="1956384" y="1374038"/>
                  </a:lnTo>
                  <a:lnTo>
                    <a:pt x="1960664" y="1370672"/>
                  </a:lnTo>
                  <a:lnTo>
                    <a:pt x="1960930" y="1364068"/>
                  </a:lnTo>
                  <a:close/>
                </a:path>
                <a:path w="2792729" h="1408430">
                  <a:moveTo>
                    <a:pt x="2415908" y="1361465"/>
                  </a:moveTo>
                  <a:lnTo>
                    <a:pt x="2415667" y="1357020"/>
                  </a:lnTo>
                  <a:lnTo>
                    <a:pt x="2408872" y="1350238"/>
                  </a:lnTo>
                  <a:lnTo>
                    <a:pt x="2357640" y="1350556"/>
                  </a:lnTo>
                  <a:lnTo>
                    <a:pt x="2302726" y="1353794"/>
                  </a:lnTo>
                  <a:lnTo>
                    <a:pt x="2264194" y="1358684"/>
                  </a:lnTo>
                  <a:lnTo>
                    <a:pt x="2226094" y="1367637"/>
                  </a:lnTo>
                  <a:lnTo>
                    <a:pt x="2170912" y="1387475"/>
                  </a:lnTo>
                  <a:lnTo>
                    <a:pt x="2153374" y="1400187"/>
                  </a:lnTo>
                  <a:lnTo>
                    <a:pt x="2157285" y="1408099"/>
                  </a:lnTo>
                  <a:lnTo>
                    <a:pt x="2167102" y="1408099"/>
                  </a:lnTo>
                  <a:lnTo>
                    <a:pt x="2175776" y="1405293"/>
                  </a:lnTo>
                  <a:lnTo>
                    <a:pt x="2184209" y="1401864"/>
                  </a:lnTo>
                  <a:lnTo>
                    <a:pt x="2225979" y="1386725"/>
                  </a:lnTo>
                  <a:lnTo>
                    <a:pt x="2265870" y="1376997"/>
                  </a:lnTo>
                  <a:lnTo>
                    <a:pt x="2310168" y="1371561"/>
                  </a:lnTo>
                  <a:lnTo>
                    <a:pt x="2365159" y="1369263"/>
                  </a:lnTo>
                  <a:lnTo>
                    <a:pt x="2410244" y="1368475"/>
                  </a:lnTo>
                  <a:lnTo>
                    <a:pt x="2415908" y="1361465"/>
                  </a:lnTo>
                  <a:close/>
                </a:path>
                <a:path w="2792729" h="1408430">
                  <a:moveTo>
                    <a:pt x="2792412" y="1384287"/>
                  </a:moveTo>
                  <a:lnTo>
                    <a:pt x="2791028" y="1381429"/>
                  </a:lnTo>
                  <a:lnTo>
                    <a:pt x="2786240" y="1376654"/>
                  </a:lnTo>
                  <a:lnTo>
                    <a:pt x="2635834" y="1376692"/>
                  </a:lnTo>
                  <a:lnTo>
                    <a:pt x="2595461" y="1377759"/>
                  </a:lnTo>
                  <a:lnTo>
                    <a:pt x="2587523" y="1388224"/>
                  </a:lnTo>
                  <a:lnTo>
                    <a:pt x="2594813" y="1395514"/>
                  </a:lnTo>
                  <a:lnTo>
                    <a:pt x="2786240" y="1395514"/>
                  </a:lnTo>
                  <a:lnTo>
                    <a:pt x="2791028" y="1390726"/>
                  </a:lnTo>
                  <a:lnTo>
                    <a:pt x="2792412" y="1387881"/>
                  </a:lnTo>
                  <a:lnTo>
                    <a:pt x="2792412" y="1384287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46265" y="2410985"/>
            <a:ext cx="4116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Figure: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tree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5" dirty="0">
                <a:latin typeface="Palatino Linotype" panose="02040502050505030304"/>
                <a:cs typeface="Palatino Linotype" panose="02040502050505030304"/>
              </a:rPr>
              <a:t>representing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calls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5" dirty="0">
                <a:latin typeface="Palatino Linotype" panose="02040502050505030304"/>
                <a:cs typeface="Palatino Linotype" panose="02040502050505030304"/>
              </a:rPr>
              <a:t>during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execution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quicksort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77605" y="418971"/>
            <a:ext cx="20955" cy="19685"/>
          </a:xfrm>
          <a:custGeom>
            <a:avLst/>
            <a:gdLst/>
            <a:ahLst/>
            <a:cxnLst/>
            <a:rect l="l" t="t" r="r" b="b"/>
            <a:pathLst>
              <a:path w="20954" h="19684">
                <a:moveTo>
                  <a:pt x="13526" y="0"/>
                </a:moveTo>
                <a:lnTo>
                  <a:pt x="7592" y="257"/>
                </a:lnTo>
                <a:lnTo>
                  <a:pt x="4294" y="4449"/>
                </a:lnTo>
                <a:lnTo>
                  <a:pt x="0" y="9907"/>
                </a:lnTo>
                <a:lnTo>
                  <a:pt x="1032" y="15174"/>
                </a:lnTo>
                <a:lnTo>
                  <a:pt x="7001" y="18260"/>
                </a:lnTo>
                <a:lnTo>
                  <a:pt x="13703" y="19072"/>
                </a:lnTo>
                <a:lnTo>
                  <a:pt x="18718" y="15584"/>
                </a:lnTo>
                <a:lnTo>
                  <a:pt x="20535" y="9836"/>
                </a:lnTo>
                <a:lnTo>
                  <a:pt x="17646" y="3869"/>
                </a:lnTo>
                <a:lnTo>
                  <a:pt x="13526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08211" y="2578212"/>
            <a:ext cx="1511935" cy="107950"/>
          </a:xfrm>
          <a:custGeom>
            <a:avLst/>
            <a:gdLst/>
            <a:ahLst/>
            <a:cxnLst/>
            <a:rect l="l" t="t" r="r" b="b"/>
            <a:pathLst>
              <a:path w="1511935" h="107950">
                <a:moveTo>
                  <a:pt x="73131" y="0"/>
                </a:moveTo>
                <a:lnTo>
                  <a:pt x="25967" y="172"/>
                </a:lnTo>
                <a:lnTo>
                  <a:pt x="6347" y="667"/>
                </a:lnTo>
                <a:lnTo>
                  <a:pt x="3491" y="1724"/>
                </a:lnTo>
                <a:lnTo>
                  <a:pt x="0" y="6559"/>
                </a:lnTo>
                <a:lnTo>
                  <a:pt x="0" y="10649"/>
                </a:lnTo>
                <a:lnTo>
                  <a:pt x="1273" y="13036"/>
                </a:lnTo>
                <a:lnTo>
                  <a:pt x="5660" y="17902"/>
                </a:lnTo>
                <a:lnTo>
                  <a:pt x="204155" y="18889"/>
                </a:lnTo>
                <a:lnTo>
                  <a:pt x="293295" y="19933"/>
                </a:lnTo>
                <a:lnTo>
                  <a:pt x="362524" y="23420"/>
                </a:lnTo>
                <a:lnTo>
                  <a:pt x="411377" y="27255"/>
                </a:lnTo>
                <a:lnTo>
                  <a:pt x="459106" y="31833"/>
                </a:lnTo>
                <a:lnTo>
                  <a:pt x="503788" y="36988"/>
                </a:lnTo>
                <a:lnTo>
                  <a:pt x="656571" y="59970"/>
                </a:lnTo>
                <a:lnTo>
                  <a:pt x="720793" y="70074"/>
                </a:lnTo>
                <a:lnTo>
                  <a:pt x="841927" y="89510"/>
                </a:lnTo>
                <a:lnTo>
                  <a:pt x="900214" y="97708"/>
                </a:lnTo>
                <a:lnTo>
                  <a:pt x="949302" y="103253"/>
                </a:lnTo>
                <a:lnTo>
                  <a:pt x="991287" y="106380"/>
                </a:lnTo>
                <a:lnTo>
                  <a:pt x="1028260" y="107325"/>
                </a:lnTo>
                <a:lnTo>
                  <a:pt x="1043056" y="106996"/>
                </a:lnTo>
                <a:lnTo>
                  <a:pt x="1056286" y="105500"/>
                </a:lnTo>
                <a:lnTo>
                  <a:pt x="1073114" y="101972"/>
                </a:lnTo>
                <a:lnTo>
                  <a:pt x="1098702" y="95551"/>
                </a:lnTo>
                <a:lnTo>
                  <a:pt x="1130553" y="87883"/>
                </a:lnTo>
                <a:lnTo>
                  <a:pt x="1203227" y="73713"/>
                </a:lnTo>
                <a:lnTo>
                  <a:pt x="1247206" y="66596"/>
                </a:lnTo>
                <a:lnTo>
                  <a:pt x="1315965" y="56607"/>
                </a:lnTo>
                <a:lnTo>
                  <a:pt x="1373211" y="49693"/>
                </a:lnTo>
                <a:lnTo>
                  <a:pt x="1422487" y="45483"/>
                </a:lnTo>
                <a:lnTo>
                  <a:pt x="1467338" y="43609"/>
                </a:lnTo>
                <a:lnTo>
                  <a:pt x="1488377" y="43152"/>
                </a:lnTo>
                <a:lnTo>
                  <a:pt x="1500018" y="42625"/>
                </a:lnTo>
                <a:lnTo>
                  <a:pt x="1505462" y="41766"/>
                </a:lnTo>
                <a:lnTo>
                  <a:pt x="1507906" y="40318"/>
                </a:lnTo>
                <a:lnTo>
                  <a:pt x="1511127" y="37385"/>
                </a:lnTo>
                <a:lnTo>
                  <a:pt x="1511585" y="32276"/>
                </a:lnTo>
                <a:lnTo>
                  <a:pt x="1508951" y="28671"/>
                </a:lnTo>
                <a:lnTo>
                  <a:pt x="1505442" y="26651"/>
                </a:lnTo>
                <a:lnTo>
                  <a:pt x="1496935" y="25587"/>
                </a:lnTo>
                <a:lnTo>
                  <a:pt x="1480888" y="25343"/>
                </a:lnTo>
                <a:lnTo>
                  <a:pt x="1454759" y="25784"/>
                </a:lnTo>
                <a:lnTo>
                  <a:pt x="1410963" y="27927"/>
                </a:lnTo>
                <a:lnTo>
                  <a:pt x="1360423" y="32640"/>
                </a:lnTo>
                <a:lnTo>
                  <a:pt x="1300603" y="40206"/>
                </a:lnTo>
                <a:lnTo>
                  <a:pt x="1228966" y="50907"/>
                </a:lnTo>
                <a:lnTo>
                  <a:pt x="1185156" y="58233"/>
                </a:lnTo>
                <a:lnTo>
                  <a:pt x="1146138" y="65747"/>
                </a:lnTo>
                <a:lnTo>
                  <a:pt x="1108665" y="74121"/>
                </a:lnTo>
                <a:lnTo>
                  <a:pt x="1069490" y="84031"/>
                </a:lnTo>
                <a:lnTo>
                  <a:pt x="1055974" y="87197"/>
                </a:lnTo>
                <a:lnTo>
                  <a:pt x="1043387" y="88837"/>
                </a:lnTo>
                <a:lnTo>
                  <a:pt x="1028299" y="89201"/>
                </a:lnTo>
                <a:lnTo>
                  <a:pt x="1007280" y="88535"/>
                </a:lnTo>
                <a:lnTo>
                  <a:pt x="968611" y="86393"/>
                </a:lnTo>
                <a:lnTo>
                  <a:pt x="889356" y="77987"/>
                </a:lnTo>
                <a:lnTo>
                  <a:pt x="837645" y="70362"/>
                </a:lnTo>
                <a:lnTo>
                  <a:pt x="656623" y="41358"/>
                </a:lnTo>
                <a:lnTo>
                  <a:pt x="574859" y="28777"/>
                </a:lnTo>
                <a:lnTo>
                  <a:pt x="526434" y="21690"/>
                </a:lnTo>
                <a:lnTo>
                  <a:pt x="479181" y="15676"/>
                </a:lnTo>
                <a:lnTo>
                  <a:pt x="432755" y="10701"/>
                </a:lnTo>
                <a:lnTo>
                  <a:pt x="386809" y="6732"/>
                </a:lnTo>
                <a:lnTo>
                  <a:pt x="340998" y="3735"/>
                </a:lnTo>
                <a:lnTo>
                  <a:pt x="294977" y="1676"/>
                </a:lnTo>
                <a:lnTo>
                  <a:pt x="201642" y="449"/>
                </a:lnTo>
                <a:lnTo>
                  <a:pt x="73131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1698" y="699452"/>
            <a:ext cx="518159" cy="1731010"/>
          </a:xfrm>
          <a:custGeom>
            <a:avLst/>
            <a:gdLst/>
            <a:ahLst/>
            <a:cxnLst/>
            <a:rect l="l" t="t" r="r" b="b"/>
            <a:pathLst>
              <a:path w="518159" h="1731010">
                <a:moveTo>
                  <a:pt x="128308" y="1705584"/>
                </a:moveTo>
                <a:lnTo>
                  <a:pt x="117322" y="1696135"/>
                </a:lnTo>
                <a:lnTo>
                  <a:pt x="114541" y="1696046"/>
                </a:lnTo>
                <a:lnTo>
                  <a:pt x="110248" y="1699425"/>
                </a:lnTo>
                <a:lnTo>
                  <a:pt x="103670" y="1704594"/>
                </a:lnTo>
                <a:lnTo>
                  <a:pt x="107315" y="1715681"/>
                </a:lnTo>
                <a:lnTo>
                  <a:pt x="124536" y="1715681"/>
                </a:lnTo>
                <a:lnTo>
                  <a:pt x="128308" y="1705584"/>
                </a:lnTo>
                <a:close/>
              </a:path>
              <a:path w="518159" h="1731010">
                <a:moveTo>
                  <a:pt x="469493" y="6972"/>
                </a:moveTo>
                <a:lnTo>
                  <a:pt x="466521" y="1968"/>
                </a:lnTo>
                <a:lnTo>
                  <a:pt x="460806" y="0"/>
                </a:lnTo>
                <a:lnTo>
                  <a:pt x="459549" y="50"/>
                </a:lnTo>
                <a:lnTo>
                  <a:pt x="452577" y="2552"/>
                </a:lnTo>
                <a:lnTo>
                  <a:pt x="445312" y="5549"/>
                </a:lnTo>
                <a:lnTo>
                  <a:pt x="298767" y="65316"/>
                </a:lnTo>
                <a:lnTo>
                  <a:pt x="253009" y="84188"/>
                </a:lnTo>
                <a:lnTo>
                  <a:pt x="212852" y="101638"/>
                </a:lnTo>
                <a:lnTo>
                  <a:pt x="175094" y="119176"/>
                </a:lnTo>
                <a:lnTo>
                  <a:pt x="136601" y="138353"/>
                </a:lnTo>
                <a:lnTo>
                  <a:pt x="94170" y="160680"/>
                </a:lnTo>
                <a:lnTo>
                  <a:pt x="44665" y="187667"/>
                </a:lnTo>
                <a:lnTo>
                  <a:pt x="8953" y="208178"/>
                </a:lnTo>
                <a:lnTo>
                  <a:pt x="0" y="221373"/>
                </a:lnTo>
                <a:lnTo>
                  <a:pt x="8940" y="228409"/>
                </a:lnTo>
                <a:lnTo>
                  <a:pt x="10642" y="228282"/>
                </a:lnTo>
                <a:lnTo>
                  <a:pt x="17513" y="223977"/>
                </a:lnTo>
                <a:lnTo>
                  <a:pt x="33083" y="215049"/>
                </a:lnTo>
                <a:lnTo>
                  <a:pt x="93179" y="181978"/>
                </a:lnTo>
                <a:lnTo>
                  <a:pt x="140868" y="156768"/>
                </a:lnTo>
                <a:lnTo>
                  <a:pt x="185737" y="134391"/>
                </a:lnTo>
                <a:lnTo>
                  <a:pt x="255905" y="102882"/>
                </a:lnTo>
                <a:lnTo>
                  <a:pt x="437134" y="28816"/>
                </a:lnTo>
                <a:lnTo>
                  <a:pt x="460260" y="19469"/>
                </a:lnTo>
                <a:lnTo>
                  <a:pt x="465035" y="17272"/>
                </a:lnTo>
                <a:lnTo>
                  <a:pt x="469176" y="12801"/>
                </a:lnTo>
                <a:lnTo>
                  <a:pt x="469493" y="6972"/>
                </a:lnTo>
                <a:close/>
              </a:path>
              <a:path w="518159" h="1731010">
                <a:moveTo>
                  <a:pt x="518020" y="1651774"/>
                </a:moveTo>
                <a:lnTo>
                  <a:pt x="515048" y="1646936"/>
                </a:lnTo>
                <a:lnTo>
                  <a:pt x="512165" y="1644738"/>
                </a:lnTo>
                <a:lnTo>
                  <a:pt x="507123" y="1644662"/>
                </a:lnTo>
                <a:lnTo>
                  <a:pt x="496150" y="1647278"/>
                </a:lnTo>
                <a:lnTo>
                  <a:pt x="379907" y="1680718"/>
                </a:lnTo>
                <a:lnTo>
                  <a:pt x="337007" y="1693837"/>
                </a:lnTo>
                <a:lnTo>
                  <a:pt x="297802" y="1706575"/>
                </a:lnTo>
                <a:lnTo>
                  <a:pt x="283616" y="1710499"/>
                </a:lnTo>
                <a:lnTo>
                  <a:pt x="268681" y="1679219"/>
                </a:lnTo>
                <a:lnTo>
                  <a:pt x="268719" y="1640624"/>
                </a:lnTo>
                <a:lnTo>
                  <a:pt x="269836" y="1565287"/>
                </a:lnTo>
                <a:lnTo>
                  <a:pt x="272770" y="1504010"/>
                </a:lnTo>
                <a:lnTo>
                  <a:pt x="277444" y="1457883"/>
                </a:lnTo>
                <a:lnTo>
                  <a:pt x="285610" y="1421853"/>
                </a:lnTo>
                <a:lnTo>
                  <a:pt x="286727" y="1414957"/>
                </a:lnTo>
                <a:lnTo>
                  <a:pt x="287451" y="1404442"/>
                </a:lnTo>
                <a:lnTo>
                  <a:pt x="288696" y="1372603"/>
                </a:lnTo>
                <a:lnTo>
                  <a:pt x="289547" y="1359217"/>
                </a:lnTo>
                <a:lnTo>
                  <a:pt x="290639" y="1347165"/>
                </a:lnTo>
                <a:lnTo>
                  <a:pt x="293446" y="1324965"/>
                </a:lnTo>
                <a:lnTo>
                  <a:pt x="294335" y="1314056"/>
                </a:lnTo>
                <a:lnTo>
                  <a:pt x="294779" y="1301280"/>
                </a:lnTo>
                <a:lnTo>
                  <a:pt x="294881" y="1265821"/>
                </a:lnTo>
                <a:lnTo>
                  <a:pt x="294513" y="1255102"/>
                </a:lnTo>
                <a:lnTo>
                  <a:pt x="280581" y="1211986"/>
                </a:lnTo>
                <a:lnTo>
                  <a:pt x="264858" y="1172895"/>
                </a:lnTo>
                <a:lnTo>
                  <a:pt x="247484" y="1128331"/>
                </a:lnTo>
                <a:lnTo>
                  <a:pt x="230644" y="1079271"/>
                </a:lnTo>
                <a:lnTo>
                  <a:pt x="214718" y="1027264"/>
                </a:lnTo>
                <a:lnTo>
                  <a:pt x="200139" y="973874"/>
                </a:lnTo>
                <a:lnTo>
                  <a:pt x="187261" y="920623"/>
                </a:lnTo>
                <a:lnTo>
                  <a:pt x="176517" y="869086"/>
                </a:lnTo>
                <a:lnTo>
                  <a:pt x="168300" y="820788"/>
                </a:lnTo>
                <a:lnTo>
                  <a:pt x="162991" y="777290"/>
                </a:lnTo>
                <a:lnTo>
                  <a:pt x="159194" y="719734"/>
                </a:lnTo>
                <a:lnTo>
                  <a:pt x="158369" y="679462"/>
                </a:lnTo>
                <a:lnTo>
                  <a:pt x="158013" y="618477"/>
                </a:lnTo>
                <a:lnTo>
                  <a:pt x="158000" y="451154"/>
                </a:lnTo>
                <a:lnTo>
                  <a:pt x="158623" y="326364"/>
                </a:lnTo>
                <a:lnTo>
                  <a:pt x="159131" y="282232"/>
                </a:lnTo>
                <a:lnTo>
                  <a:pt x="159753" y="253504"/>
                </a:lnTo>
                <a:lnTo>
                  <a:pt x="160642" y="239382"/>
                </a:lnTo>
                <a:lnTo>
                  <a:pt x="161124" y="204901"/>
                </a:lnTo>
                <a:lnTo>
                  <a:pt x="161328" y="167970"/>
                </a:lnTo>
                <a:lnTo>
                  <a:pt x="153847" y="161544"/>
                </a:lnTo>
                <a:lnTo>
                  <a:pt x="151003" y="161429"/>
                </a:lnTo>
                <a:lnTo>
                  <a:pt x="146926" y="164630"/>
                </a:lnTo>
                <a:lnTo>
                  <a:pt x="143814" y="167068"/>
                </a:lnTo>
                <a:lnTo>
                  <a:pt x="140830" y="290487"/>
                </a:lnTo>
                <a:lnTo>
                  <a:pt x="140322" y="322834"/>
                </a:lnTo>
                <a:lnTo>
                  <a:pt x="139877" y="433476"/>
                </a:lnTo>
                <a:lnTo>
                  <a:pt x="140068" y="569849"/>
                </a:lnTo>
                <a:lnTo>
                  <a:pt x="140804" y="689254"/>
                </a:lnTo>
                <a:lnTo>
                  <a:pt x="141338" y="729246"/>
                </a:lnTo>
                <a:lnTo>
                  <a:pt x="145580" y="787285"/>
                </a:lnTo>
                <a:lnTo>
                  <a:pt x="154990" y="853363"/>
                </a:lnTo>
                <a:lnTo>
                  <a:pt x="162280" y="891755"/>
                </a:lnTo>
                <a:lnTo>
                  <a:pt x="170649" y="931125"/>
                </a:lnTo>
                <a:lnTo>
                  <a:pt x="180111" y="970432"/>
                </a:lnTo>
                <a:lnTo>
                  <a:pt x="191071" y="1011224"/>
                </a:lnTo>
                <a:lnTo>
                  <a:pt x="203936" y="1055090"/>
                </a:lnTo>
                <a:lnTo>
                  <a:pt x="226275" y="1123429"/>
                </a:lnTo>
                <a:lnTo>
                  <a:pt x="265315" y="1223403"/>
                </a:lnTo>
                <a:lnTo>
                  <a:pt x="271843" y="1241513"/>
                </a:lnTo>
                <a:lnTo>
                  <a:pt x="275285" y="1254417"/>
                </a:lnTo>
                <a:lnTo>
                  <a:pt x="276885" y="1265986"/>
                </a:lnTo>
                <a:lnTo>
                  <a:pt x="277571" y="1279486"/>
                </a:lnTo>
                <a:lnTo>
                  <a:pt x="277253" y="1294866"/>
                </a:lnTo>
                <a:lnTo>
                  <a:pt x="275894" y="1313091"/>
                </a:lnTo>
                <a:lnTo>
                  <a:pt x="272097" y="1347520"/>
                </a:lnTo>
                <a:lnTo>
                  <a:pt x="270992" y="1360665"/>
                </a:lnTo>
                <a:lnTo>
                  <a:pt x="270154" y="1373949"/>
                </a:lnTo>
                <a:lnTo>
                  <a:pt x="269214" y="1400848"/>
                </a:lnTo>
                <a:lnTo>
                  <a:pt x="268592" y="1410182"/>
                </a:lnTo>
                <a:lnTo>
                  <a:pt x="267614" y="1416761"/>
                </a:lnTo>
                <a:lnTo>
                  <a:pt x="261086" y="1442504"/>
                </a:lnTo>
                <a:lnTo>
                  <a:pt x="257390" y="1469021"/>
                </a:lnTo>
                <a:lnTo>
                  <a:pt x="254266" y="1509115"/>
                </a:lnTo>
                <a:lnTo>
                  <a:pt x="250990" y="1569770"/>
                </a:lnTo>
                <a:lnTo>
                  <a:pt x="249555" y="1639582"/>
                </a:lnTo>
                <a:lnTo>
                  <a:pt x="249224" y="1676285"/>
                </a:lnTo>
                <a:lnTo>
                  <a:pt x="249669" y="1699183"/>
                </a:lnTo>
                <a:lnTo>
                  <a:pt x="271678" y="1730857"/>
                </a:lnTo>
                <a:lnTo>
                  <a:pt x="281381" y="1729625"/>
                </a:lnTo>
                <a:lnTo>
                  <a:pt x="287693" y="1728381"/>
                </a:lnTo>
                <a:lnTo>
                  <a:pt x="296964" y="1725904"/>
                </a:lnTo>
                <a:lnTo>
                  <a:pt x="308914" y="1722285"/>
                </a:lnTo>
                <a:lnTo>
                  <a:pt x="338823" y="1712518"/>
                </a:lnTo>
                <a:lnTo>
                  <a:pt x="376694" y="1700784"/>
                </a:lnTo>
                <a:lnTo>
                  <a:pt x="507568" y="1663407"/>
                </a:lnTo>
                <a:lnTo>
                  <a:pt x="514057" y="1660499"/>
                </a:lnTo>
                <a:lnTo>
                  <a:pt x="517613" y="1656461"/>
                </a:lnTo>
                <a:lnTo>
                  <a:pt x="518020" y="1651774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9871" y="420237"/>
            <a:ext cx="1021715" cy="59055"/>
          </a:xfrm>
          <a:custGeom>
            <a:avLst/>
            <a:gdLst/>
            <a:ahLst/>
            <a:cxnLst/>
            <a:rect l="l" t="t" r="r" b="b"/>
            <a:pathLst>
              <a:path w="1021715" h="59054">
                <a:moveTo>
                  <a:pt x="77663" y="0"/>
                </a:moveTo>
                <a:lnTo>
                  <a:pt x="28006" y="99"/>
                </a:lnTo>
                <a:lnTo>
                  <a:pt x="5408" y="707"/>
                </a:lnTo>
                <a:lnTo>
                  <a:pt x="2380" y="1925"/>
                </a:lnTo>
                <a:lnTo>
                  <a:pt x="0" y="8274"/>
                </a:lnTo>
                <a:lnTo>
                  <a:pt x="1294" y="11678"/>
                </a:lnTo>
                <a:lnTo>
                  <a:pt x="3884" y="15724"/>
                </a:lnTo>
                <a:lnTo>
                  <a:pt x="14685" y="17801"/>
                </a:lnTo>
                <a:lnTo>
                  <a:pt x="44276" y="18684"/>
                </a:lnTo>
                <a:lnTo>
                  <a:pt x="141948" y="19501"/>
                </a:lnTo>
                <a:lnTo>
                  <a:pt x="204949" y="20567"/>
                </a:lnTo>
                <a:lnTo>
                  <a:pt x="221479" y="21149"/>
                </a:lnTo>
                <a:lnTo>
                  <a:pt x="254344" y="23350"/>
                </a:lnTo>
                <a:lnTo>
                  <a:pt x="343974" y="30311"/>
                </a:lnTo>
                <a:lnTo>
                  <a:pt x="519783" y="45119"/>
                </a:lnTo>
                <a:lnTo>
                  <a:pt x="690627" y="56787"/>
                </a:lnTo>
                <a:lnTo>
                  <a:pt x="719070" y="58146"/>
                </a:lnTo>
                <a:lnTo>
                  <a:pt x="745266" y="58724"/>
                </a:lnTo>
                <a:lnTo>
                  <a:pt x="769925" y="58545"/>
                </a:lnTo>
                <a:lnTo>
                  <a:pt x="792386" y="57807"/>
                </a:lnTo>
                <a:lnTo>
                  <a:pt x="808823" y="56178"/>
                </a:lnTo>
                <a:lnTo>
                  <a:pt x="825775" y="52648"/>
                </a:lnTo>
                <a:lnTo>
                  <a:pt x="873213" y="39799"/>
                </a:lnTo>
                <a:lnTo>
                  <a:pt x="889694" y="35540"/>
                </a:lnTo>
                <a:lnTo>
                  <a:pt x="947507" y="30156"/>
                </a:lnTo>
                <a:lnTo>
                  <a:pt x="1012814" y="30053"/>
                </a:lnTo>
                <a:lnTo>
                  <a:pt x="1021347" y="21521"/>
                </a:lnTo>
                <a:lnTo>
                  <a:pt x="1018744" y="13692"/>
                </a:lnTo>
                <a:lnTo>
                  <a:pt x="1010828" y="11706"/>
                </a:lnTo>
                <a:lnTo>
                  <a:pt x="1005743" y="11448"/>
                </a:lnTo>
                <a:lnTo>
                  <a:pt x="978079" y="11381"/>
                </a:lnTo>
                <a:lnTo>
                  <a:pt x="925417" y="12129"/>
                </a:lnTo>
                <a:lnTo>
                  <a:pt x="903698" y="13904"/>
                </a:lnTo>
                <a:lnTo>
                  <a:pt x="880357" y="18927"/>
                </a:lnTo>
                <a:lnTo>
                  <a:pt x="828688" y="32669"/>
                </a:lnTo>
                <a:lnTo>
                  <a:pt x="816447" y="35573"/>
                </a:lnTo>
                <a:lnTo>
                  <a:pt x="806168" y="37727"/>
                </a:lnTo>
                <a:lnTo>
                  <a:pt x="798746" y="38931"/>
                </a:lnTo>
                <a:lnTo>
                  <a:pt x="774911" y="39952"/>
                </a:lnTo>
                <a:lnTo>
                  <a:pt x="738038" y="39789"/>
                </a:lnTo>
                <a:lnTo>
                  <a:pt x="697111" y="38599"/>
                </a:lnTo>
                <a:lnTo>
                  <a:pt x="661116" y="36538"/>
                </a:lnTo>
                <a:lnTo>
                  <a:pt x="513227" y="26197"/>
                </a:lnTo>
                <a:lnTo>
                  <a:pt x="324956" y="10276"/>
                </a:lnTo>
                <a:lnTo>
                  <a:pt x="269595" y="6121"/>
                </a:lnTo>
                <a:lnTo>
                  <a:pt x="220051" y="3088"/>
                </a:lnTo>
                <a:lnTo>
                  <a:pt x="175565" y="1125"/>
                </a:lnTo>
                <a:lnTo>
                  <a:pt x="133732" y="358"/>
                </a:lnTo>
                <a:lnTo>
                  <a:pt x="77663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Contents</a:t>
            </a:r>
            <a:r>
              <a:rPr spc="19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55" dirty="0"/>
              <a:t>Activation</a:t>
            </a:r>
            <a:r>
              <a:rPr spc="195" dirty="0"/>
              <a:t> </a:t>
            </a:r>
            <a:r>
              <a:rPr spc="70" dirty="0"/>
              <a:t>Record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126347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1111750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025510"/>
            <a:ext cx="3434079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275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(commonly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instead).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(caller’s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record,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“dynamic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link”). Access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(“static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612140">
              <a:lnSpc>
                <a:spcPct val="125000"/>
              </a:lnSpc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(notably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address).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procedure.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fit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registers.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336373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3217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546412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531294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756416"/>
            <a:ext cx="110769" cy="110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7611" y="174210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1966455"/>
            <a:ext cx="110769" cy="1107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176481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1951347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386520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37193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86787" y="510450"/>
            <a:ext cx="19685" cy="22225"/>
          </a:xfrm>
          <a:custGeom>
            <a:avLst/>
            <a:gdLst/>
            <a:ahLst/>
            <a:cxnLst/>
            <a:rect l="l" t="t" r="r" b="b"/>
            <a:pathLst>
              <a:path w="19684" h="22225">
                <a:moveTo>
                  <a:pt x="9178" y="0"/>
                </a:moveTo>
                <a:lnTo>
                  <a:pt x="5427" y="1495"/>
                </a:lnTo>
                <a:lnTo>
                  <a:pt x="2114" y="2816"/>
                </a:lnTo>
                <a:lnTo>
                  <a:pt x="0" y="6450"/>
                </a:lnTo>
                <a:lnTo>
                  <a:pt x="0" y="18746"/>
                </a:lnTo>
                <a:lnTo>
                  <a:pt x="11232" y="22162"/>
                </a:lnTo>
                <a:lnTo>
                  <a:pt x="19611" y="11509"/>
                </a:lnTo>
                <a:lnTo>
                  <a:pt x="19553" y="8659"/>
                </a:lnTo>
                <a:lnTo>
                  <a:pt x="12666" y="1083"/>
                </a:lnTo>
                <a:lnTo>
                  <a:pt x="9178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Contents</a:t>
            </a:r>
            <a:r>
              <a:rPr spc="19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55" dirty="0"/>
              <a:t>Activation</a:t>
            </a:r>
            <a:r>
              <a:rPr spc="195" dirty="0"/>
              <a:t> </a:t>
            </a:r>
            <a:r>
              <a:rPr spc="70" dirty="0"/>
              <a:t>Record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126347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1111750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069288"/>
            <a:ext cx="3143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(commonly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instead).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336373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3217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1279320"/>
            <a:ext cx="1404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546412"/>
            <a:ext cx="110769" cy="11076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47611" y="1531294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1445575"/>
            <a:ext cx="3434079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(caller’s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record,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“dynamic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link”). Access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(“static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612140">
              <a:lnSpc>
                <a:spcPct val="125000"/>
              </a:lnSpc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(notably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address).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procedure.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fit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registers.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756416"/>
            <a:ext cx="110769" cy="11076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47611" y="174210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1966455"/>
            <a:ext cx="110769" cy="11076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176481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1951347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386520"/>
            <a:ext cx="110769" cy="11076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47611" y="237193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2546" y="1194332"/>
            <a:ext cx="1000760" cy="73660"/>
          </a:xfrm>
          <a:custGeom>
            <a:avLst/>
            <a:gdLst/>
            <a:ahLst/>
            <a:cxnLst/>
            <a:rect l="l" t="t" r="r" b="b"/>
            <a:pathLst>
              <a:path w="1000760" h="73659">
                <a:moveTo>
                  <a:pt x="631589" y="74"/>
                </a:moveTo>
                <a:lnTo>
                  <a:pt x="578823" y="2462"/>
                </a:lnTo>
                <a:lnTo>
                  <a:pt x="518999" y="12149"/>
                </a:lnTo>
                <a:lnTo>
                  <a:pt x="452238" y="25639"/>
                </a:lnTo>
                <a:lnTo>
                  <a:pt x="427956" y="30421"/>
                </a:lnTo>
                <a:lnTo>
                  <a:pt x="379513" y="37693"/>
                </a:lnTo>
                <a:lnTo>
                  <a:pt x="296065" y="39034"/>
                </a:lnTo>
                <a:lnTo>
                  <a:pt x="5856" y="39772"/>
                </a:lnTo>
                <a:lnTo>
                  <a:pt x="0" y="47217"/>
                </a:lnTo>
                <a:lnTo>
                  <a:pt x="79" y="50035"/>
                </a:lnTo>
                <a:lnTo>
                  <a:pt x="6484" y="57482"/>
                </a:lnTo>
                <a:lnTo>
                  <a:pt x="288560" y="57176"/>
                </a:lnTo>
                <a:lnTo>
                  <a:pt x="348870" y="56635"/>
                </a:lnTo>
                <a:lnTo>
                  <a:pt x="402650" y="53348"/>
                </a:lnTo>
                <a:lnTo>
                  <a:pt x="448504" y="45384"/>
                </a:lnTo>
                <a:lnTo>
                  <a:pt x="529069" y="28956"/>
                </a:lnTo>
                <a:lnTo>
                  <a:pt x="576191" y="21176"/>
                </a:lnTo>
                <a:lnTo>
                  <a:pt x="619084" y="18220"/>
                </a:lnTo>
                <a:lnTo>
                  <a:pt x="663009" y="20343"/>
                </a:lnTo>
                <a:lnTo>
                  <a:pt x="713224" y="27798"/>
                </a:lnTo>
                <a:lnTo>
                  <a:pt x="774990" y="40841"/>
                </a:lnTo>
                <a:lnTo>
                  <a:pt x="866029" y="61132"/>
                </a:lnTo>
                <a:lnTo>
                  <a:pt x="895605" y="66925"/>
                </a:lnTo>
                <a:lnTo>
                  <a:pt x="922540" y="70771"/>
                </a:lnTo>
                <a:lnTo>
                  <a:pt x="948976" y="72911"/>
                </a:lnTo>
                <a:lnTo>
                  <a:pt x="977058" y="73587"/>
                </a:lnTo>
                <a:lnTo>
                  <a:pt x="990382" y="73597"/>
                </a:lnTo>
                <a:lnTo>
                  <a:pt x="993378" y="73242"/>
                </a:lnTo>
                <a:lnTo>
                  <a:pt x="999809" y="67800"/>
                </a:lnTo>
                <a:lnTo>
                  <a:pt x="1000190" y="63191"/>
                </a:lnTo>
                <a:lnTo>
                  <a:pt x="993456" y="55359"/>
                </a:lnTo>
                <a:lnTo>
                  <a:pt x="960955" y="54518"/>
                </a:lnTo>
                <a:lnTo>
                  <a:pt x="932283" y="53293"/>
                </a:lnTo>
                <a:lnTo>
                  <a:pt x="905555" y="50092"/>
                </a:lnTo>
                <a:lnTo>
                  <a:pt x="869155" y="43026"/>
                </a:lnTo>
                <a:lnTo>
                  <a:pt x="744788" y="15569"/>
                </a:lnTo>
                <a:lnTo>
                  <a:pt x="697490" y="6490"/>
                </a:lnTo>
                <a:lnTo>
                  <a:pt x="662211" y="1737"/>
                </a:lnTo>
                <a:lnTo>
                  <a:pt x="631589" y="74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72118" y="1266608"/>
            <a:ext cx="1048385" cy="46355"/>
          </a:xfrm>
          <a:custGeom>
            <a:avLst/>
            <a:gdLst/>
            <a:ahLst/>
            <a:cxnLst/>
            <a:rect l="l" t="t" r="r" b="b"/>
            <a:pathLst>
              <a:path w="1048385" h="46355">
                <a:moveTo>
                  <a:pt x="7089" y="0"/>
                </a:moveTo>
                <a:lnTo>
                  <a:pt x="3972" y="3116"/>
                </a:lnTo>
                <a:lnTo>
                  <a:pt x="10" y="7077"/>
                </a:lnTo>
                <a:lnTo>
                  <a:pt x="0" y="11893"/>
                </a:lnTo>
                <a:lnTo>
                  <a:pt x="7031" y="18925"/>
                </a:lnTo>
                <a:lnTo>
                  <a:pt x="685677" y="19256"/>
                </a:lnTo>
                <a:lnTo>
                  <a:pt x="787887" y="19924"/>
                </a:lnTo>
                <a:lnTo>
                  <a:pt x="852606" y="26235"/>
                </a:lnTo>
                <a:lnTo>
                  <a:pt x="891447" y="32422"/>
                </a:lnTo>
                <a:lnTo>
                  <a:pt x="957509" y="43819"/>
                </a:lnTo>
                <a:lnTo>
                  <a:pt x="967780" y="45079"/>
                </a:lnTo>
                <a:lnTo>
                  <a:pt x="978254" y="45735"/>
                </a:lnTo>
                <a:lnTo>
                  <a:pt x="991457" y="46019"/>
                </a:lnTo>
                <a:lnTo>
                  <a:pt x="1012586" y="45925"/>
                </a:lnTo>
                <a:lnTo>
                  <a:pt x="1048371" y="31484"/>
                </a:lnTo>
                <a:lnTo>
                  <a:pt x="1042537" y="26204"/>
                </a:lnTo>
                <a:lnTo>
                  <a:pt x="1040749" y="25959"/>
                </a:lnTo>
                <a:lnTo>
                  <a:pt x="1025741" y="26721"/>
                </a:lnTo>
                <a:lnTo>
                  <a:pt x="993973" y="27038"/>
                </a:lnTo>
                <a:lnTo>
                  <a:pt x="977955" y="26897"/>
                </a:lnTo>
                <a:lnTo>
                  <a:pt x="966479" y="26307"/>
                </a:lnTo>
                <a:lnTo>
                  <a:pt x="955228" y="24888"/>
                </a:lnTo>
                <a:lnTo>
                  <a:pt x="896984" y="14721"/>
                </a:lnTo>
                <a:lnTo>
                  <a:pt x="864730" y="9401"/>
                </a:lnTo>
                <a:lnTo>
                  <a:pt x="816608" y="2976"/>
                </a:lnTo>
                <a:lnTo>
                  <a:pt x="738305" y="1087"/>
                </a:lnTo>
                <a:lnTo>
                  <a:pt x="401785" y="407"/>
                </a:lnTo>
                <a:lnTo>
                  <a:pt x="7089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2220" y="1426033"/>
            <a:ext cx="907415" cy="113664"/>
          </a:xfrm>
          <a:custGeom>
            <a:avLst/>
            <a:gdLst/>
            <a:ahLst/>
            <a:cxnLst/>
            <a:rect l="l" t="t" r="r" b="b"/>
            <a:pathLst>
              <a:path w="907414" h="113665">
                <a:moveTo>
                  <a:pt x="732089" y="43"/>
                </a:moveTo>
                <a:lnTo>
                  <a:pt x="660494" y="0"/>
                </a:lnTo>
                <a:lnTo>
                  <a:pt x="616916" y="612"/>
                </a:lnTo>
                <a:lnTo>
                  <a:pt x="565913" y="7663"/>
                </a:lnTo>
                <a:lnTo>
                  <a:pt x="505697" y="23711"/>
                </a:lnTo>
                <a:lnTo>
                  <a:pt x="466823" y="36974"/>
                </a:lnTo>
                <a:lnTo>
                  <a:pt x="430308" y="51794"/>
                </a:lnTo>
                <a:lnTo>
                  <a:pt x="366761" y="83578"/>
                </a:lnTo>
                <a:lnTo>
                  <a:pt x="348721" y="91687"/>
                </a:lnTo>
                <a:lnTo>
                  <a:pt x="336428" y="94505"/>
                </a:lnTo>
                <a:lnTo>
                  <a:pt x="323422" y="94357"/>
                </a:lnTo>
                <a:lnTo>
                  <a:pt x="308749" y="92306"/>
                </a:lnTo>
                <a:lnTo>
                  <a:pt x="286252" y="87448"/>
                </a:lnTo>
                <a:lnTo>
                  <a:pt x="256867" y="80008"/>
                </a:lnTo>
                <a:lnTo>
                  <a:pt x="183862" y="59908"/>
                </a:lnTo>
                <a:lnTo>
                  <a:pt x="154508" y="54328"/>
                </a:lnTo>
                <a:lnTo>
                  <a:pt x="121213" y="51900"/>
                </a:lnTo>
                <a:lnTo>
                  <a:pt x="71720" y="51056"/>
                </a:lnTo>
                <a:lnTo>
                  <a:pt x="6186" y="50447"/>
                </a:lnTo>
                <a:lnTo>
                  <a:pt x="0" y="58312"/>
                </a:lnTo>
                <a:lnTo>
                  <a:pt x="62" y="61057"/>
                </a:lnTo>
                <a:lnTo>
                  <a:pt x="6706" y="68782"/>
                </a:lnTo>
                <a:lnTo>
                  <a:pt x="46822" y="68513"/>
                </a:lnTo>
                <a:lnTo>
                  <a:pt x="79632" y="68636"/>
                </a:lnTo>
                <a:lnTo>
                  <a:pt x="133977" y="70805"/>
                </a:lnTo>
                <a:lnTo>
                  <a:pt x="181584" y="78465"/>
                </a:lnTo>
                <a:lnTo>
                  <a:pt x="264123" y="100762"/>
                </a:lnTo>
                <a:lnTo>
                  <a:pt x="276971" y="104074"/>
                </a:lnTo>
                <a:lnTo>
                  <a:pt x="311861" y="111807"/>
                </a:lnTo>
                <a:lnTo>
                  <a:pt x="336765" y="113138"/>
                </a:lnTo>
                <a:lnTo>
                  <a:pt x="359251" y="107357"/>
                </a:lnTo>
                <a:lnTo>
                  <a:pt x="386885" y="93752"/>
                </a:lnTo>
                <a:lnTo>
                  <a:pt x="405270" y="83999"/>
                </a:lnTo>
                <a:lnTo>
                  <a:pt x="421424" y="75985"/>
                </a:lnTo>
                <a:lnTo>
                  <a:pt x="488868" y="48665"/>
                </a:lnTo>
                <a:lnTo>
                  <a:pt x="557710" y="28320"/>
                </a:lnTo>
                <a:lnTo>
                  <a:pt x="600379" y="20018"/>
                </a:lnTo>
                <a:lnTo>
                  <a:pt x="646628" y="18629"/>
                </a:lnTo>
                <a:lnTo>
                  <a:pt x="745342" y="18097"/>
                </a:lnTo>
                <a:lnTo>
                  <a:pt x="780611" y="18214"/>
                </a:lnTo>
                <a:lnTo>
                  <a:pt x="807574" y="18624"/>
                </a:lnTo>
                <a:lnTo>
                  <a:pt x="870543" y="20886"/>
                </a:lnTo>
                <a:lnTo>
                  <a:pt x="901731" y="21035"/>
                </a:lnTo>
                <a:lnTo>
                  <a:pt x="907171" y="14317"/>
                </a:lnTo>
                <a:lnTo>
                  <a:pt x="907114" y="8588"/>
                </a:lnTo>
                <a:lnTo>
                  <a:pt x="901612" y="3085"/>
                </a:lnTo>
                <a:lnTo>
                  <a:pt x="899747" y="2898"/>
                </a:lnTo>
                <a:lnTo>
                  <a:pt x="868865" y="2794"/>
                </a:lnTo>
                <a:lnTo>
                  <a:pt x="848591" y="2093"/>
                </a:lnTo>
                <a:lnTo>
                  <a:pt x="840800" y="1582"/>
                </a:lnTo>
                <a:lnTo>
                  <a:pt x="802068" y="613"/>
                </a:lnTo>
                <a:lnTo>
                  <a:pt x="732089" y="43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Contents</a:t>
            </a:r>
            <a:r>
              <a:rPr spc="19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55" dirty="0"/>
              <a:t>Activation</a:t>
            </a:r>
            <a:r>
              <a:rPr spc="195" dirty="0"/>
              <a:t> </a:t>
            </a:r>
            <a:r>
              <a:rPr spc="70" dirty="0"/>
              <a:t>Record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126347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1111750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025510"/>
            <a:ext cx="314325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(commonly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instead).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336373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3217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546412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489353"/>
            <a:ext cx="35896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b="1" baseline="140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r>
              <a:rPr sz="900" b="1" spc="382" baseline="140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u="heavy" spc="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lin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k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(caller’s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record,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“dynamic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756416"/>
            <a:ext cx="110769" cy="110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7611" y="174210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932" y="1655607"/>
            <a:ext cx="282702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(“static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(notably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address).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procedure.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fit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registers.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1966455"/>
            <a:ext cx="110769" cy="11076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176481"/>
            <a:ext cx="110769" cy="11076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47611" y="1951347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386520"/>
            <a:ext cx="110769" cy="11076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47611" y="237193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0477" y="1447800"/>
            <a:ext cx="225182" cy="10052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19421" y="1977302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89">
                <a:moveTo>
                  <a:pt x="12317" y="0"/>
                </a:moveTo>
                <a:lnTo>
                  <a:pt x="6215" y="4942"/>
                </a:lnTo>
                <a:lnTo>
                  <a:pt x="0" y="9975"/>
                </a:lnTo>
                <a:lnTo>
                  <a:pt x="3992" y="21459"/>
                </a:lnTo>
                <a:lnTo>
                  <a:pt x="16766" y="21459"/>
                </a:lnTo>
                <a:lnTo>
                  <a:pt x="21422" y="16817"/>
                </a:lnTo>
                <a:lnTo>
                  <a:pt x="21422" y="4239"/>
                </a:lnTo>
                <a:lnTo>
                  <a:pt x="12317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Contents</a:t>
            </a:r>
            <a:r>
              <a:rPr spc="19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55" dirty="0"/>
              <a:t>Activation</a:t>
            </a:r>
            <a:r>
              <a:rPr spc="195" dirty="0"/>
              <a:t> </a:t>
            </a:r>
            <a:r>
              <a:rPr spc="70" dirty="0"/>
              <a:t>Record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126347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1111750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025510"/>
            <a:ext cx="3434079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275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(commonly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instead).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(caller’s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record,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“dynamic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336373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3217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546412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531294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756416"/>
            <a:ext cx="110769" cy="110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7611" y="1699385"/>
            <a:ext cx="1776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b="1" baseline="140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r>
              <a:rPr sz="900" b="1" spc="660" baseline="140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u="heavy" spc="-114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2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u="heavy" spc="7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li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nk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(“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static</a:t>
            </a:r>
            <a:r>
              <a:rPr sz="1100" u="heavy" spc="6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1966455"/>
            <a:ext cx="110769" cy="11076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2932" y="1865640"/>
            <a:ext cx="282702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(notably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address).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procedure.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fit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registers.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176481"/>
            <a:ext cx="110769" cy="11076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47611" y="1951347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386520"/>
            <a:ext cx="110769" cy="11076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47611" y="237193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18150" y="2695640"/>
            <a:ext cx="22225" cy="19050"/>
          </a:xfrm>
          <a:custGeom>
            <a:avLst/>
            <a:gdLst/>
            <a:ahLst/>
            <a:cxnLst/>
            <a:rect l="l" t="t" r="r" b="b"/>
            <a:pathLst>
              <a:path w="22225" h="19050">
                <a:moveTo>
                  <a:pt x="17673" y="0"/>
                </a:moveTo>
                <a:lnTo>
                  <a:pt x="5878" y="0"/>
                </a:lnTo>
                <a:lnTo>
                  <a:pt x="4090" y="743"/>
                </a:lnTo>
                <a:lnTo>
                  <a:pt x="2653" y="2795"/>
                </a:lnTo>
                <a:lnTo>
                  <a:pt x="0" y="6583"/>
                </a:lnTo>
                <a:lnTo>
                  <a:pt x="171" y="12973"/>
                </a:lnTo>
                <a:lnTo>
                  <a:pt x="6234" y="18460"/>
                </a:lnTo>
                <a:lnTo>
                  <a:pt x="13596" y="18213"/>
                </a:lnTo>
                <a:lnTo>
                  <a:pt x="21902" y="9035"/>
                </a:lnTo>
                <a:lnTo>
                  <a:pt x="17673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Contents</a:t>
            </a:r>
            <a:r>
              <a:rPr spc="19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55" dirty="0"/>
              <a:t>Activation</a:t>
            </a:r>
            <a:r>
              <a:rPr spc="195" dirty="0"/>
              <a:t> </a:t>
            </a:r>
            <a:r>
              <a:rPr spc="70" dirty="0"/>
              <a:t>Record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126347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1111750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025510"/>
            <a:ext cx="3434079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275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(commonly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instead).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(caller’s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record,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“dynamic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 Access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(“static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612140">
              <a:lnSpc>
                <a:spcPct val="125000"/>
              </a:lnSpc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(notably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address).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procedure.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336373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3217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546412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531294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756416"/>
            <a:ext cx="110769" cy="110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7611" y="174210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1966455"/>
            <a:ext cx="110769" cy="1107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176481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1951347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386520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37193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2932" y="2329483"/>
            <a:ext cx="2769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fit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registers.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46470" y="2118254"/>
            <a:ext cx="1347470" cy="0"/>
          </a:xfrm>
          <a:custGeom>
            <a:avLst/>
            <a:gdLst/>
            <a:ahLst/>
            <a:cxnLst/>
            <a:rect l="l" t="t" r="r" b="b"/>
            <a:pathLst>
              <a:path w="1347470">
                <a:moveTo>
                  <a:pt x="-5" y="3"/>
                </a:moveTo>
                <a:lnTo>
                  <a:pt x="-5" y="3"/>
                </a:lnTo>
                <a:lnTo>
                  <a:pt x="1297556" y="3"/>
                </a:lnTo>
                <a:lnTo>
                  <a:pt x="1347462" y="3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2635123" y="634669"/>
            <a:ext cx="438150" cy="215900"/>
            <a:chOff x="2635123" y="634669"/>
            <a:chExt cx="438150" cy="215900"/>
          </a:xfrm>
        </p:grpSpPr>
        <p:sp>
          <p:nvSpPr>
            <p:cNvPr id="24" name="object 24"/>
            <p:cNvSpPr/>
            <p:nvPr/>
          </p:nvSpPr>
          <p:spPr>
            <a:xfrm>
              <a:off x="2635123" y="720178"/>
              <a:ext cx="339090" cy="38735"/>
            </a:xfrm>
            <a:custGeom>
              <a:avLst/>
              <a:gdLst/>
              <a:ahLst/>
              <a:cxnLst/>
              <a:rect l="l" t="t" r="r" b="b"/>
              <a:pathLst>
                <a:path w="339089" h="38734">
                  <a:moveTo>
                    <a:pt x="322220" y="0"/>
                  </a:moveTo>
                  <a:lnTo>
                    <a:pt x="282580" y="177"/>
                  </a:lnTo>
                  <a:lnTo>
                    <a:pt x="218719" y="3067"/>
                  </a:lnTo>
                  <a:lnTo>
                    <a:pt x="163594" y="7094"/>
                  </a:lnTo>
                  <a:lnTo>
                    <a:pt x="108028" y="11713"/>
                  </a:lnTo>
                  <a:lnTo>
                    <a:pt x="46707" y="17721"/>
                  </a:lnTo>
                  <a:lnTo>
                    <a:pt x="28432" y="18919"/>
                  </a:lnTo>
                  <a:lnTo>
                    <a:pt x="0" y="26477"/>
                  </a:lnTo>
                  <a:lnTo>
                    <a:pt x="93" y="30822"/>
                  </a:lnTo>
                  <a:lnTo>
                    <a:pt x="6236" y="38633"/>
                  </a:lnTo>
                  <a:lnTo>
                    <a:pt x="32717" y="37375"/>
                  </a:lnTo>
                  <a:lnTo>
                    <a:pt x="60580" y="34977"/>
                  </a:lnTo>
                  <a:lnTo>
                    <a:pt x="98776" y="31043"/>
                  </a:lnTo>
                  <a:lnTo>
                    <a:pt x="123700" y="28747"/>
                  </a:lnTo>
                  <a:lnTo>
                    <a:pt x="200763" y="22560"/>
                  </a:lnTo>
                  <a:lnTo>
                    <a:pt x="254705" y="19361"/>
                  </a:lnTo>
                  <a:lnTo>
                    <a:pt x="320828" y="18130"/>
                  </a:lnTo>
                  <a:lnTo>
                    <a:pt x="329213" y="17793"/>
                  </a:lnTo>
                  <a:lnTo>
                    <a:pt x="333093" y="16924"/>
                  </a:lnTo>
                  <a:lnTo>
                    <a:pt x="335139" y="15259"/>
                  </a:lnTo>
                  <a:lnTo>
                    <a:pt x="338511" y="11670"/>
                  </a:lnTo>
                  <a:lnTo>
                    <a:pt x="338645" y="6822"/>
                  </a:lnTo>
                  <a:lnTo>
                    <a:pt x="335481" y="2914"/>
                  </a:lnTo>
                  <a:lnTo>
                    <a:pt x="333671" y="1218"/>
                  </a:lnTo>
                  <a:lnTo>
                    <a:pt x="330099" y="336"/>
                  </a:lnTo>
                  <a:lnTo>
                    <a:pt x="32222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90964" y="634669"/>
              <a:ext cx="181800" cy="215291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978037" y="2638927"/>
            <a:ext cx="20320" cy="19050"/>
          </a:xfrm>
          <a:custGeom>
            <a:avLst/>
            <a:gdLst/>
            <a:ahLst/>
            <a:cxnLst/>
            <a:rect l="l" t="t" r="r" b="b"/>
            <a:pathLst>
              <a:path w="20319" h="19050">
                <a:moveTo>
                  <a:pt x="14178" y="0"/>
                </a:moveTo>
                <a:lnTo>
                  <a:pt x="8062" y="58"/>
                </a:lnTo>
                <a:lnTo>
                  <a:pt x="1958" y="2504"/>
                </a:lnTo>
                <a:lnTo>
                  <a:pt x="0" y="10415"/>
                </a:lnTo>
                <a:lnTo>
                  <a:pt x="7340" y="18526"/>
                </a:lnTo>
                <a:lnTo>
                  <a:pt x="14207" y="18535"/>
                </a:lnTo>
                <a:lnTo>
                  <a:pt x="17540" y="15202"/>
                </a:lnTo>
                <a:lnTo>
                  <a:pt x="20127" y="9505"/>
                </a:lnTo>
                <a:lnTo>
                  <a:pt x="18603" y="3793"/>
                </a:lnTo>
                <a:lnTo>
                  <a:pt x="14178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Contents</a:t>
            </a:r>
            <a:r>
              <a:rPr spc="19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55" dirty="0"/>
              <a:t>Activation</a:t>
            </a:r>
            <a:r>
              <a:rPr spc="195" dirty="0"/>
              <a:t> </a:t>
            </a:r>
            <a:r>
              <a:rPr spc="70" dirty="0"/>
              <a:t>Record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126347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1111750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025510"/>
            <a:ext cx="3434079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275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(commonly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instead).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(caller’s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record,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“dynamic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 Access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(“static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612140">
              <a:lnSpc>
                <a:spcPct val="125000"/>
              </a:lnSpc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(notably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address).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procedure.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fit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registers.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336373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3217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546412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531294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756416"/>
            <a:ext cx="110769" cy="110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7611" y="174210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1966455"/>
            <a:ext cx="110769" cy="1107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176481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1951347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386520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37193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Contents</a:t>
            </a:r>
            <a:r>
              <a:rPr spc="190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spc="55" dirty="0"/>
              <a:t>Activation</a:t>
            </a:r>
            <a:r>
              <a:rPr spc="195" dirty="0"/>
              <a:t> </a:t>
            </a:r>
            <a:r>
              <a:rPr spc="70" dirty="0"/>
              <a:t>Record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126347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1111750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1270" y="1336373"/>
            <a:ext cx="111125" cy="321310"/>
            <a:chOff x="231270" y="1336373"/>
            <a:chExt cx="111125" cy="3213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270" y="1336373"/>
              <a:ext cx="110769" cy="1107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270" y="1546412"/>
              <a:ext cx="110769" cy="11076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47611" y="13217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7611" y="1531294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756416"/>
            <a:ext cx="110769" cy="110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7611" y="174210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1270" y="1966455"/>
            <a:ext cx="111125" cy="321310"/>
            <a:chOff x="231270" y="1966455"/>
            <a:chExt cx="111125" cy="32131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270" y="1966455"/>
              <a:ext cx="110769" cy="11076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270" y="2176481"/>
              <a:ext cx="110769" cy="11076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47611" y="1951347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386520"/>
            <a:ext cx="110769" cy="11076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47611" y="237193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1025510"/>
            <a:ext cx="3434079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275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(commonly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instead).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(caller’s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record,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“dynamic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 Access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(“static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link”).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612140">
              <a:lnSpc>
                <a:spcPct val="125000"/>
              </a:lnSpc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(notably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address).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procedure.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fit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746" y="961885"/>
            <a:ext cx="377825" cy="1605915"/>
          </a:xfrm>
          <a:custGeom>
            <a:avLst/>
            <a:gdLst/>
            <a:ahLst/>
            <a:cxnLst/>
            <a:rect l="l" t="t" r="r" b="b"/>
            <a:pathLst>
              <a:path w="377825" h="1605914">
                <a:moveTo>
                  <a:pt x="237858" y="1595043"/>
                </a:moveTo>
                <a:lnTo>
                  <a:pt x="237375" y="1589430"/>
                </a:lnTo>
                <a:lnTo>
                  <a:pt x="232130" y="1584198"/>
                </a:lnTo>
                <a:lnTo>
                  <a:pt x="230809" y="1583905"/>
                </a:lnTo>
                <a:lnTo>
                  <a:pt x="214299" y="1585976"/>
                </a:lnTo>
                <a:lnTo>
                  <a:pt x="206679" y="1585607"/>
                </a:lnTo>
                <a:lnTo>
                  <a:pt x="200291" y="1582889"/>
                </a:lnTo>
                <a:lnTo>
                  <a:pt x="192392" y="1577200"/>
                </a:lnTo>
                <a:lnTo>
                  <a:pt x="175171" y="1564220"/>
                </a:lnTo>
                <a:lnTo>
                  <a:pt x="162229" y="1555178"/>
                </a:lnTo>
                <a:lnTo>
                  <a:pt x="152298" y="1549234"/>
                </a:lnTo>
                <a:lnTo>
                  <a:pt x="144106" y="1545551"/>
                </a:lnTo>
                <a:lnTo>
                  <a:pt x="127406" y="1538795"/>
                </a:lnTo>
                <a:lnTo>
                  <a:pt x="116497" y="1531620"/>
                </a:lnTo>
                <a:lnTo>
                  <a:pt x="92176" y="1488846"/>
                </a:lnTo>
                <a:lnTo>
                  <a:pt x="74752" y="1362646"/>
                </a:lnTo>
                <a:lnTo>
                  <a:pt x="73050" y="1323543"/>
                </a:lnTo>
                <a:lnTo>
                  <a:pt x="73647" y="1280147"/>
                </a:lnTo>
                <a:lnTo>
                  <a:pt x="72199" y="1260271"/>
                </a:lnTo>
                <a:lnTo>
                  <a:pt x="68541" y="1241755"/>
                </a:lnTo>
                <a:lnTo>
                  <a:pt x="62179" y="1221168"/>
                </a:lnTo>
                <a:lnTo>
                  <a:pt x="55930" y="1201978"/>
                </a:lnTo>
                <a:lnTo>
                  <a:pt x="51346" y="1184973"/>
                </a:lnTo>
                <a:lnTo>
                  <a:pt x="44691" y="1146949"/>
                </a:lnTo>
                <a:lnTo>
                  <a:pt x="38036" y="1060970"/>
                </a:lnTo>
                <a:lnTo>
                  <a:pt x="36106" y="1003338"/>
                </a:lnTo>
                <a:lnTo>
                  <a:pt x="35267" y="939406"/>
                </a:lnTo>
                <a:lnTo>
                  <a:pt x="35077" y="891603"/>
                </a:lnTo>
                <a:lnTo>
                  <a:pt x="29692" y="877976"/>
                </a:lnTo>
                <a:lnTo>
                  <a:pt x="23418" y="861326"/>
                </a:lnTo>
                <a:lnTo>
                  <a:pt x="20193" y="846772"/>
                </a:lnTo>
                <a:lnTo>
                  <a:pt x="18923" y="825449"/>
                </a:lnTo>
                <a:lnTo>
                  <a:pt x="18465" y="788454"/>
                </a:lnTo>
                <a:lnTo>
                  <a:pt x="18745" y="733780"/>
                </a:lnTo>
                <a:lnTo>
                  <a:pt x="21272" y="687019"/>
                </a:lnTo>
                <a:lnTo>
                  <a:pt x="27038" y="640181"/>
                </a:lnTo>
                <a:lnTo>
                  <a:pt x="37045" y="585254"/>
                </a:lnTo>
                <a:lnTo>
                  <a:pt x="52273" y="514235"/>
                </a:lnTo>
                <a:lnTo>
                  <a:pt x="64020" y="462483"/>
                </a:lnTo>
                <a:lnTo>
                  <a:pt x="80962" y="401523"/>
                </a:lnTo>
                <a:lnTo>
                  <a:pt x="99263" y="352894"/>
                </a:lnTo>
                <a:lnTo>
                  <a:pt x="102082" y="344563"/>
                </a:lnTo>
                <a:lnTo>
                  <a:pt x="103517" y="339496"/>
                </a:lnTo>
                <a:lnTo>
                  <a:pt x="104140" y="333133"/>
                </a:lnTo>
                <a:lnTo>
                  <a:pt x="104597" y="321500"/>
                </a:lnTo>
                <a:lnTo>
                  <a:pt x="105829" y="218147"/>
                </a:lnTo>
                <a:lnTo>
                  <a:pt x="108445" y="166433"/>
                </a:lnTo>
                <a:lnTo>
                  <a:pt x="112826" y="128041"/>
                </a:lnTo>
                <a:lnTo>
                  <a:pt x="129870" y="82092"/>
                </a:lnTo>
                <a:lnTo>
                  <a:pt x="149618" y="59131"/>
                </a:lnTo>
                <a:lnTo>
                  <a:pt x="148907" y="52019"/>
                </a:lnTo>
                <a:lnTo>
                  <a:pt x="138950" y="46875"/>
                </a:lnTo>
                <a:lnTo>
                  <a:pt x="138544" y="46824"/>
                </a:lnTo>
                <a:lnTo>
                  <a:pt x="134886" y="47790"/>
                </a:lnTo>
                <a:lnTo>
                  <a:pt x="109232" y="80556"/>
                </a:lnTo>
                <a:lnTo>
                  <a:pt x="96240" y="117373"/>
                </a:lnTo>
                <a:lnTo>
                  <a:pt x="89357" y="174028"/>
                </a:lnTo>
                <a:lnTo>
                  <a:pt x="87464" y="217830"/>
                </a:lnTo>
                <a:lnTo>
                  <a:pt x="86169" y="279006"/>
                </a:lnTo>
                <a:lnTo>
                  <a:pt x="85229" y="340639"/>
                </a:lnTo>
                <a:lnTo>
                  <a:pt x="74345" y="367525"/>
                </a:lnTo>
                <a:lnTo>
                  <a:pt x="55892" y="419735"/>
                </a:lnTo>
                <a:lnTo>
                  <a:pt x="35788" y="504177"/>
                </a:lnTo>
                <a:lnTo>
                  <a:pt x="19812" y="577989"/>
                </a:lnTo>
                <a:lnTo>
                  <a:pt x="9410" y="633476"/>
                </a:lnTo>
                <a:lnTo>
                  <a:pt x="3429" y="679602"/>
                </a:lnTo>
                <a:lnTo>
                  <a:pt x="673" y="725335"/>
                </a:lnTo>
                <a:lnTo>
                  <a:pt x="0" y="779653"/>
                </a:lnTo>
                <a:lnTo>
                  <a:pt x="50" y="815187"/>
                </a:lnTo>
                <a:lnTo>
                  <a:pt x="2743" y="854494"/>
                </a:lnTo>
                <a:lnTo>
                  <a:pt x="13931" y="888517"/>
                </a:lnTo>
                <a:lnTo>
                  <a:pt x="16167" y="898448"/>
                </a:lnTo>
                <a:lnTo>
                  <a:pt x="16916" y="912507"/>
                </a:lnTo>
                <a:lnTo>
                  <a:pt x="16941" y="936891"/>
                </a:lnTo>
                <a:lnTo>
                  <a:pt x="17424" y="982853"/>
                </a:lnTo>
                <a:lnTo>
                  <a:pt x="18859" y="1035507"/>
                </a:lnTo>
                <a:lnTo>
                  <a:pt x="20916" y="1085227"/>
                </a:lnTo>
                <a:lnTo>
                  <a:pt x="26263" y="1149337"/>
                </a:lnTo>
                <a:lnTo>
                  <a:pt x="36258" y="1199222"/>
                </a:lnTo>
                <a:lnTo>
                  <a:pt x="50342" y="1244409"/>
                </a:lnTo>
                <a:lnTo>
                  <a:pt x="53809" y="1259903"/>
                </a:lnTo>
                <a:lnTo>
                  <a:pt x="54940" y="1277759"/>
                </a:lnTo>
                <a:lnTo>
                  <a:pt x="54800" y="1330299"/>
                </a:lnTo>
                <a:lnTo>
                  <a:pt x="55168" y="1347228"/>
                </a:lnTo>
                <a:lnTo>
                  <a:pt x="64046" y="1437525"/>
                </a:lnTo>
                <a:lnTo>
                  <a:pt x="69913" y="1479296"/>
                </a:lnTo>
                <a:lnTo>
                  <a:pt x="91744" y="1529207"/>
                </a:lnTo>
                <a:lnTo>
                  <a:pt x="132054" y="1560741"/>
                </a:lnTo>
                <a:lnTo>
                  <a:pt x="140538" y="1564259"/>
                </a:lnTo>
                <a:lnTo>
                  <a:pt x="148132" y="1568183"/>
                </a:lnTo>
                <a:lnTo>
                  <a:pt x="155981" y="1573161"/>
                </a:lnTo>
                <a:lnTo>
                  <a:pt x="179920" y="1590776"/>
                </a:lnTo>
                <a:lnTo>
                  <a:pt x="189268" y="1597367"/>
                </a:lnTo>
                <a:lnTo>
                  <a:pt x="195402" y="1601012"/>
                </a:lnTo>
                <a:lnTo>
                  <a:pt x="200418" y="1603108"/>
                </a:lnTo>
                <a:lnTo>
                  <a:pt x="204177" y="1604391"/>
                </a:lnTo>
                <a:lnTo>
                  <a:pt x="209296" y="1605457"/>
                </a:lnTo>
                <a:lnTo>
                  <a:pt x="218503" y="1605457"/>
                </a:lnTo>
                <a:lnTo>
                  <a:pt x="233540" y="1600962"/>
                </a:lnTo>
                <a:lnTo>
                  <a:pt x="237858" y="1595043"/>
                </a:lnTo>
                <a:close/>
              </a:path>
              <a:path w="377825" h="1605914">
                <a:moveTo>
                  <a:pt x="377482" y="5270"/>
                </a:moveTo>
                <a:lnTo>
                  <a:pt x="311962" y="50"/>
                </a:lnTo>
                <a:lnTo>
                  <a:pt x="111963" y="0"/>
                </a:lnTo>
                <a:lnTo>
                  <a:pt x="100266" y="139"/>
                </a:lnTo>
                <a:lnTo>
                  <a:pt x="98729" y="368"/>
                </a:lnTo>
                <a:lnTo>
                  <a:pt x="96291" y="2032"/>
                </a:lnTo>
                <a:lnTo>
                  <a:pt x="91782" y="7759"/>
                </a:lnTo>
                <a:lnTo>
                  <a:pt x="92379" y="12420"/>
                </a:lnTo>
                <a:lnTo>
                  <a:pt x="159918" y="17932"/>
                </a:lnTo>
                <a:lnTo>
                  <a:pt x="313461" y="17945"/>
                </a:lnTo>
                <a:lnTo>
                  <a:pt x="354291" y="17665"/>
                </a:lnTo>
                <a:lnTo>
                  <a:pt x="370344" y="16916"/>
                </a:lnTo>
                <a:lnTo>
                  <a:pt x="374154" y="15468"/>
                </a:lnTo>
                <a:lnTo>
                  <a:pt x="377456" y="12166"/>
                </a:lnTo>
                <a:lnTo>
                  <a:pt x="377482" y="527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8466" y="2643209"/>
            <a:ext cx="341630" cy="45720"/>
          </a:xfrm>
          <a:custGeom>
            <a:avLst/>
            <a:gdLst/>
            <a:ahLst/>
            <a:cxnLst/>
            <a:rect l="l" t="t" r="r" b="b"/>
            <a:pathLst>
              <a:path w="341630" h="45719">
                <a:moveTo>
                  <a:pt x="26914" y="0"/>
                </a:moveTo>
                <a:lnTo>
                  <a:pt x="6710" y="913"/>
                </a:lnTo>
                <a:lnTo>
                  <a:pt x="2858" y="2445"/>
                </a:lnTo>
                <a:lnTo>
                  <a:pt x="0" y="8277"/>
                </a:lnTo>
                <a:lnTo>
                  <a:pt x="1218" y="12118"/>
                </a:lnTo>
                <a:lnTo>
                  <a:pt x="3423" y="15635"/>
                </a:lnTo>
                <a:lnTo>
                  <a:pt x="11319" y="17516"/>
                </a:lnTo>
                <a:lnTo>
                  <a:pt x="31150" y="18377"/>
                </a:lnTo>
                <a:lnTo>
                  <a:pt x="109936" y="19378"/>
                </a:lnTo>
                <a:lnTo>
                  <a:pt x="137298" y="20697"/>
                </a:lnTo>
                <a:lnTo>
                  <a:pt x="163494" y="23809"/>
                </a:lnTo>
                <a:lnTo>
                  <a:pt x="239986" y="35898"/>
                </a:lnTo>
                <a:lnTo>
                  <a:pt x="271545" y="40340"/>
                </a:lnTo>
                <a:lnTo>
                  <a:pt x="296379" y="43170"/>
                </a:lnTo>
                <a:lnTo>
                  <a:pt x="315422" y="44509"/>
                </a:lnTo>
                <a:lnTo>
                  <a:pt x="335306" y="45229"/>
                </a:lnTo>
                <a:lnTo>
                  <a:pt x="340169" y="40660"/>
                </a:lnTo>
                <a:lnTo>
                  <a:pt x="341497" y="38000"/>
                </a:lnTo>
                <a:lnTo>
                  <a:pt x="341497" y="31730"/>
                </a:lnTo>
                <a:lnTo>
                  <a:pt x="337229" y="27288"/>
                </a:lnTo>
                <a:lnTo>
                  <a:pt x="327283" y="26919"/>
                </a:lnTo>
                <a:lnTo>
                  <a:pt x="313541" y="25835"/>
                </a:lnTo>
                <a:lnTo>
                  <a:pt x="290713" y="24255"/>
                </a:lnTo>
                <a:lnTo>
                  <a:pt x="270468" y="21802"/>
                </a:lnTo>
                <a:lnTo>
                  <a:pt x="241555" y="17555"/>
                </a:lnTo>
                <a:lnTo>
                  <a:pt x="167087" y="5963"/>
                </a:lnTo>
                <a:lnTo>
                  <a:pt x="142750" y="2754"/>
                </a:lnTo>
                <a:lnTo>
                  <a:pt x="112566" y="1159"/>
                </a:lnTo>
                <a:lnTo>
                  <a:pt x="68077" y="161"/>
                </a:lnTo>
                <a:lnTo>
                  <a:pt x="2691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72311" y="442379"/>
            <a:ext cx="1553845" cy="164465"/>
          </a:xfrm>
          <a:custGeom>
            <a:avLst/>
            <a:gdLst/>
            <a:ahLst/>
            <a:cxnLst/>
            <a:rect l="l" t="t" r="r" b="b"/>
            <a:pathLst>
              <a:path w="1553845" h="164465">
                <a:moveTo>
                  <a:pt x="1118273" y="4038"/>
                </a:moveTo>
                <a:lnTo>
                  <a:pt x="1109535" y="0"/>
                </a:lnTo>
                <a:lnTo>
                  <a:pt x="1103109" y="5207"/>
                </a:lnTo>
                <a:lnTo>
                  <a:pt x="1098956" y="8559"/>
                </a:lnTo>
                <a:lnTo>
                  <a:pt x="1099223" y="14986"/>
                </a:lnTo>
                <a:lnTo>
                  <a:pt x="1107884" y="22440"/>
                </a:lnTo>
                <a:lnTo>
                  <a:pt x="1110665" y="22517"/>
                </a:lnTo>
                <a:lnTo>
                  <a:pt x="1117384" y="17233"/>
                </a:lnTo>
                <a:lnTo>
                  <a:pt x="1118273" y="15392"/>
                </a:lnTo>
                <a:lnTo>
                  <a:pt x="1118273" y="4038"/>
                </a:lnTo>
                <a:close/>
              </a:path>
              <a:path w="1553845" h="164465">
                <a:moveTo>
                  <a:pt x="1553273" y="156972"/>
                </a:moveTo>
                <a:lnTo>
                  <a:pt x="1521155" y="144665"/>
                </a:lnTo>
                <a:lnTo>
                  <a:pt x="1496085" y="143103"/>
                </a:lnTo>
                <a:lnTo>
                  <a:pt x="1469364" y="139814"/>
                </a:lnTo>
                <a:lnTo>
                  <a:pt x="1441081" y="134785"/>
                </a:lnTo>
                <a:lnTo>
                  <a:pt x="1396619" y="124625"/>
                </a:lnTo>
                <a:lnTo>
                  <a:pt x="1380426" y="121246"/>
                </a:lnTo>
                <a:lnTo>
                  <a:pt x="1333157" y="114274"/>
                </a:lnTo>
                <a:lnTo>
                  <a:pt x="1269619" y="112509"/>
                </a:lnTo>
                <a:lnTo>
                  <a:pt x="1156893" y="112077"/>
                </a:lnTo>
                <a:lnTo>
                  <a:pt x="1120216" y="111353"/>
                </a:lnTo>
                <a:lnTo>
                  <a:pt x="1080528" y="107302"/>
                </a:lnTo>
                <a:lnTo>
                  <a:pt x="1036485" y="99301"/>
                </a:lnTo>
                <a:lnTo>
                  <a:pt x="939025" y="77190"/>
                </a:lnTo>
                <a:lnTo>
                  <a:pt x="905205" y="70434"/>
                </a:lnTo>
                <a:lnTo>
                  <a:pt x="845934" y="62026"/>
                </a:lnTo>
                <a:lnTo>
                  <a:pt x="781024" y="59080"/>
                </a:lnTo>
                <a:lnTo>
                  <a:pt x="737730" y="58534"/>
                </a:lnTo>
                <a:lnTo>
                  <a:pt x="692467" y="58724"/>
                </a:lnTo>
                <a:lnTo>
                  <a:pt x="624357" y="60147"/>
                </a:lnTo>
                <a:lnTo>
                  <a:pt x="575868" y="62890"/>
                </a:lnTo>
                <a:lnTo>
                  <a:pt x="536879" y="67856"/>
                </a:lnTo>
                <a:lnTo>
                  <a:pt x="482282" y="79095"/>
                </a:lnTo>
                <a:lnTo>
                  <a:pt x="471411" y="80568"/>
                </a:lnTo>
                <a:lnTo>
                  <a:pt x="396011" y="51777"/>
                </a:lnTo>
                <a:lnTo>
                  <a:pt x="381838" y="45237"/>
                </a:lnTo>
                <a:lnTo>
                  <a:pt x="345084" y="32067"/>
                </a:lnTo>
                <a:lnTo>
                  <a:pt x="306336" y="28016"/>
                </a:lnTo>
                <a:lnTo>
                  <a:pt x="215722" y="27711"/>
                </a:lnTo>
                <a:lnTo>
                  <a:pt x="169710" y="31178"/>
                </a:lnTo>
                <a:lnTo>
                  <a:pt x="123278" y="38633"/>
                </a:lnTo>
                <a:lnTo>
                  <a:pt x="78613" y="49644"/>
                </a:lnTo>
                <a:lnTo>
                  <a:pt x="37922" y="63741"/>
                </a:lnTo>
                <a:lnTo>
                  <a:pt x="406" y="81788"/>
                </a:lnTo>
                <a:lnTo>
                  <a:pt x="0" y="85915"/>
                </a:lnTo>
                <a:lnTo>
                  <a:pt x="0" y="90906"/>
                </a:lnTo>
                <a:lnTo>
                  <a:pt x="1231" y="92557"/>
                </a:lnTo>
                <a:lnTo>
                  <a:pt x="9067" y="95529"/>
                </a:lnTo>
                <a:lnTo>
                  <a:pt x="11658" y="94843"/>
                </a:lnTo>
                <a:lnTo>
                  <a:pt x="20853" y="90728"/>
                </a:lnTo>
                <a:lnTo>
                  <a:pt x="63995" y="73660"/>
                </a:lnTo>
                <a:lnTo>
                  <a:pt x="108127" y="60706"/>
                </a:lnTo>
                <a:lnTo>
                  <a:pt x="153568" y="51790"/>
                </a:lnTo>
                <a:lnTo>
                  <a:pt x="200647" y="46837"/>
                </a:lnTo>
                <a:lnTo>
                  <a:pt x="231216" y="45961"/>
                </a:lnTo>
                <a:lnTo>
                  <a:pt x="274866" y="45999"/>
                </a:lnTo>
                <a:lnTo>
                  <a:pt x="316039" y="46964"/>
                </a:lnTo>
                <a:lnTo>
                  <a:pt x="368935" y="59207"/>
                </a:lnTo>
                <a:lnTo>
                  <a:pt x="403720" y="75819"/>
                </a:lnTo>
                <a:lnTo>
                  <a:pt x="426110" y="86766"/>
                </a:lnTo>
                <a:lnTo>
                  <a:pt x="440347" y="93243"/>
                </a:lnTo>
                <a:lnTo>
                  <a:pt x="449808" y="96634"/>
                </a:lnTo>
                <a:lnTo>
                  <a:pt x="457873" y="98361"/>
                </a:lnTo>
                <a:lnTo>
                  <a:pt x="466572" y="99047"/>
                </a:lnTo>
                <a:lnTo>
                  <a:pt x="477215" y="98323"/>
                </a:lnTo>
                <a:lnTo>
                  <a:pt x="491388" y="95973"/>
                </a:lnTo>
                <a:lnTo>
                  <a:pt x="510705" y="91821"/>
                </a:lnTo>
                <a:lnTo>
                  <a:pt x="548970" y="84543"/>
                </a:lnTo>
                <a:lnTo>
                  <a:pt x="591680" y="80048"/>
                </a:lnTo>
                <a:lnTo>
                  <a:pt x="646887" y="77762"/>
                </a:lnTo>
                <a:lnTo>
                  <a:pt x="722655" y="77127"/>
                </a:lnTo>
                <a:lnTo>
                  <a:pt x="786282" y="77647"/>
                </a:lnTo>
                <a:lnTo>
                  <a:pt x="835291" y="79756"/>
                </a:lnTo>
                <a:lnTo>
                  <a:pt x="877658" y="84302"/>
                </a:lnTo>
                <a:lnTo>
                  <a:pt x="921321" y="92138"/>
                </a:lnTo>
                <a:lnTo>
                  <a:pt x="974229" y="104127"/>
                </a:lnTo>
                <a:lnTo>
                  <a:pt x="1001344" y="110502"/>
                </a:lnTo>
                <a:lnTo>
                  <a:pt x="1021194" y="114947"/>
                </a:lnTo>
                <a:lnTo>
                  <a:pt x="1036751" y="118071"/>
                </a:lnTo>
                <a:lnTo>
                  <a:pt x="1066088" y="123126"/>
                </a:lnTo>
                <a:lnTo>
                  <a:pt x="1083856" y="126860"/>
                </a:lnTo>
                <a:lnTo>
                  <a:pt x="1102677" y="128485"/>
                </a:lnTo>
                <a:lnTo>
                  <a:pt x="1139037" y="129324"/>
                </a:lnTo>
                <a:lnTo>
                  <a:pt x="1286662" y="130911"/>
                </a:lnTo>
                <a:lnTo>
                  <a:pt x="1335024" y="132969"/>
                </a:lnTo>
                <a:lnTo>
                  <a:pt x="1369517" y="137629"/>
                </a:lnTo>
                <a:lnTo>
                  <a:pt x="1408252" y="146342"/>
                </a:lnTo>
                <a:lnTo>
                  <a:pt x="1442631" y="153746"/>
                </a:lnTo>
                <a:lnTo>
                  <a:pt x="1475676" y="159258"/>
                </a:lnTo>
                <a:lnTo>
                  <a:pt x="1506143" y="162687"/>
                </a:lnTo>
                <a:lnTo>
                  <a:pt x="1532839" y="163893"/>
                </a:lnTo>
                <a:lnTo>
                  <a:pt x="1545780" y="163893"/>
                </a:lnTo>
                <a:lnTo>
                  <a:pt x="1546961" y="163690"/>
                </a:lnTo>
                <a:lnTo>
                  <a:pt x="1553273" y="156972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27419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400" b="1" spc="2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8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Record</a:t>
            </a:r>
            <a:r>
              <a:rPr sz="1400" b="1" spc="204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or</a:t>
            </a:r>
            <a:r>
              <a:rPr sz="1400" b="1" spc="2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“Frame”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89935" y="701040"/>
          <a:ext cx="1504950" cy="2383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3035"/>
              </a:tblGrid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Actual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 Parameters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Return</a:t>
                      </a:r>
                      <a:r>
                        <a:rPr sz="1100" spc="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Values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Control</a:t>
                      </a:r>
                      <a:r>
                        <a:rPr sz="1100" spc="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Access</a:t>
                      </a:r>
                      <a:r>
                        <a:rPr sz="1100" spc="-4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Saved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Machine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State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Local</a:t>
                      </a:r>
                      <a:r>
                        <a:rPr sz="1100" spc="1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Data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Temporaries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↓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97591" y="465563"/>
            <a:ext cx="559435" cy="0"/>
          </a:xfrm>
          <a:custGeom>
            <a:avLst/>
            <a:gdLst/>
            <a:ahLst/>
            <a:cxnLst/>
            <a:rect l="l" t="t" r="r" b="b"/>
            <a:pathLst>
              <a:path w="559435">
                <a:moveTo>
                  <a:pt x="3" y="6"/>
                </a:moveTo>
                <a:lnTo>
                  <a:pt x="3" y="6"/>
                </a:lnTo>
                <a:lnTo>
                  <a:pt x="508152" y="6"/>
                </a:lnTo>
                <a:lnTo>
                  <a:pt x="558967" y="6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27069" y="1149475"/>
            <a:ext cx="20955" cy="19685"/>
          </a:xfrm>
          <a:custGeom>
            <a:avLst/>
            <a:gdLst/>
            <a:ahLst/>
            <a:cxnLst/>
            <a:rect l="l" t="t" r="r" b="b"/>
            <a:pathLst>
              <a:path w="20955" h="19684">
                <a:moveTo>
                  <a:pt x="11188" y="0"/>
                </a:moveTo>
                <a:lnTo>
                  <a:pt x="9602" y="335"/>
                </a:lnTo>
                <a:lnTo>
                  <a:pt x="6737" y="1459"/>
                </a:lnTo>
                <a:lnTo>
                  <a:pt x="3559" y="2741"/>
                </a:lnTo>
                <a:lnTo>
                  <a:pt x="0" y="7456"/>
                </a:lnTo>
                <a:lnTo>
                  <a:pt x="0" y="14549"/>
                </a:lnTo>
                <a:lnTo>
                  <a:pt x="4961" y="19078"/>
                </a:lnTo>
                <a:lnTo>
                  <a:pt x="16655" y="19078"/>
                </a:lnTo>
                <a:lnTo>
                  <a:pt x="20729" y="12820"/>
                </a:lnTo>
                <a:lnTo>
                  <a:pt x="17445" y="4261"/>
                </a:lnTo>
                <a:lnTo>
                  <a:pt x="11188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15133" y="1169810"/>
            <a:ext cx="20320" cy="22860"/>
          </a:xfrm>
          <a:custGeom>
            <a:avLst/>
            <a:gdLst/>
            <a:ahLst/>
            <a:cxnLst/>
            <a:rect l="l" t="t" r="r" b="b"/>
            <a:pathLst>
              <a:path w="20319" h="22859">
                <a:moveTo>
                  <a:pt x="8776" y="0"/>
                </a:moveTo>
                <a:lnTo>
                  <a:pt x="3745" y="5031"/>
                </a:lnTo>
                <a:lnTo>
                  <a:pt x="0" y="8777"/>
                </a:lnTo>
                <a:lnTo>
                  <a:pt x="391" y="15510"/>
                </a:lnTo>
                <a:lnTo>
                  <a:pt x="9086" y="22350"/>
                </a:lnTo>
                <a:lnTo>
                  <a:pt x="12076" y="22052"/>
                </a:lnTo>
                <a:lnTo>
                  <a:pt x="19599" y="14529"/>
                </a:lnTo>
                <a:lnTo>
                  <a:pt x="20193" y="13093"/>
                </a:lnTo>
                <a:lnTo>
                  <a:pt x="17815" y="3040"/>
                </a:lnTo>
                <a:lnTo>
                  <a:pt x="8776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64856" y="1920680"/>
            <a:ext cx="19050" cy="20320"/>
          </a:xfrm>
          <a:custGeom>
            <a:avLst/>
            <a:gdLst/>
            <a:ahLst/>
            <a:cxnLst/>
            <a:rect l="l" t="t" r="r" b="b"/>
            <a:pathLst>
              <a:path w="19050" h="20319">
                <a:moveTo>
                  <a:pt x="9150" y="0"/>
                </a:moveTo>
                <a:lnTo>
                  <a:pt x="3176" y="3405"/>
                </a:lnTo>
                <a:lnTo>
                  <a:pt x="193" y="7197"/>
                </a:lnTo>
                <a:lnTo>
                  <a:pt x="0" y="8789"/>
                </a:lnTo>
                <a:lnTo>
                  <a:pt x="4898" y="19539"/>
                </a:lnTo>
                <a:lnTo>
                  <a:pt x="14876" y="20106"/>
                </a:lnTo>
                <a:lnTo>
                  <a:pt x="18106" y="14072"/>
                </a:lnTo>
                <a:lnTo>
                  <a:pt x="18967" y="7014"/>
                </a:lnTo>
                <a:lnTo>
                  <a:pt x="15198" y="1763"/>
                </a:lnTo>
                <a:lnTo>
                  <a:pt x="915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2610" y="2044227"/>
            <a:ext cx="18415" cy="20320"/>
          </a:xfrm>
          <a:custGeom>
            <a:avLst/>
            <a:gdLst/>
            <a:ahLst/>
            <a:cxnLst/>
            <a:rect l="l" t="t" r="r" b="b"/>
            <a:pathLst>
              <a:path w="18414" h="20319">
                <a:moveTo>
                  <a:pt x="11510" y="0"/>
                </a:moveTo>
                <a:lnTo>
                  <a:pt x="5797" y="2289"/>
                </a:lnTo>
                <a:lnTo>
                  <a:pt x="823" y="6668"/>
                </a:lnTo>
                <a:lnTo>
                  <a:pt x="0" y="12557"/>
                </a:lnTo>
                <a:lnTo>
                  <a:pt x="2907" y="17726"/>
                </a:lnTo>
                <a:lnTo>
                  <a:pt x="9125" y="19944"/>
                </a:lnTo>
                <a:lnTo>
                  <a:pt x="14033" y="19944"/>
                </a:lnTo>
                <a:lnTo>
                  <a:pt x="17791" y="15939"/>
                </a:lnTo>
                <a:lnTo>
                  <a:pt x="17791" y="4408"/>
                </a:lnTo>
                <a:lnTo>
                  <a:pt x="1151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22043" y="2250364"/>
            <a:ext cx="829310" cy="389890"/>
          </a:xfrm>
          <a:custGeom>
            <a:avLst/>
            <a:gdLst/>
            <a:ahLst/>
            <a:cxnLst/>
            <a:rect l="l" t="t" r="r" b="b"/>
            <a:pathLst>
              <a:path w="829310" h="389889">
                <a:moveTo>
                  <a:pt x="450791" y="0"/>
                </a:moveTo>
                <a:lnTo>
                  <a:pt x="406666" y="7819"/>
                </a:lnTo>
                <a:lnTo>
                  <a:pt x="372317" y="25981"/>
                </a:lnTo>
                <a:lnTo>
                  <a:pt x="353699" y="37049"/>
                </a:lnTo>
                <a:lnTo>
                  <a:pt x="336971" y="46679"/>
                </a:lnTo>
                <a:lnTo>
                  <a:pt x="296941" y="68539"/>
                </a:lnTo>
                <a:lnTo>
                  <a:pt x="249870" y="92640"/>
                </a:lnTo>
                <a:lnTo>
                  <a:pt x="210049" y="109776"/>
                </a:lnTo>
                <a:lnTo>
                  <a:pt x="173979" y="122953"/>
                </a:lnTo>
                <a:lnTo>
                  <a:pt x="95820" y="144088"/>
                </a:lnTo>
                <a:lnTo>
                  <a:pt x="74181" y="151358"/>
                </a:lnTo>
                <a:lnTo>
                  <a:pt x="59875" y="159428"/>
                </a:lnTo>
                <a:lnTo>
                  <a:pt x="45632" y="171401"/>
                </a:lnTo>
                <a:lnTo>
                  <a:pt x="40300" y="176102"/>
                </a:lnTo>
                <a:lnTo>
                  <a:pt x="34421" y="181132"/>
                </a:lnTo>
                <a:lnTo>
                  <a:pt x="28710" y="185890"/>
                </a:lnTo>
                <a:lnTo>
                  <a:pt x="23881" y="189771"/>
                </a:lnTo>
                <a:lnTo>
                  <a:pt x="15957" y="196517"/>
                </a:lnTo>
                <a:lnTo>
                  <a:pt x="0" y="226629"/>
                </a:lnTo>
                <a:lnTo>
                  <a:pt x="14" y="229350"/>
                </a:lnTo>
                <a:lnTo>
                  <a:pt x="133" y="242930"/>
                </a:lnTo>
                <a:lnTo>
                  <a:pt x="220" y="245347"/>
                </a:lnTo>
                <a:lnTo>
                  <a:pt x="334" y="248520"/>
                </a:lnTo>
                <a:lnTo>
                  <a:pt x="422" y="250951"/>
                </a:lnTo>
                <a:lnTo>
                  <a:pt x="479" y="252534"/>
                </a:lnTo>
                <a:lnTo>
                  <a:pt x="585" y="254704"/>
                </a:lnTo>
                <a:lnTo>
                  <a:pt x="1958" y="263510"/>
                </a:lnTo>
                <a:lnTo>
                  <a:pt x="2065" y="264200"/>
                </a:lnTo>
                <a:lnTo>
                  <a:pt x="43097" y="308690"/>
                </a:lnTo>
                <a:lnTo>
                  <a:pt x="118866" y="350815"/>
                </a:lnTo>
                <a:lnTo>
                  <a:pt x="159637" y="371290"/>
                </a:lnTo>
                <a:lnTo>
                  <a:pt x="203570" y="388533"/>
                </a:lnTo>
                <a:lnTo>
                  <a:pt x="218407" y="389883"/>
                </a:lnTo>
                <a:lnTo>
                  <a:pt x="228275" y="389184"/>
                </a:lnTo>
                <a:lnTo>
                  <a:pt x="238269" y="386445"/>
                </a:lnTo>
                <a:lnTo>
                  <a:pt x="250566" y="380853"/>
                </a:lnTo>
                <a:lnTo>
                  <a:pt x="267614" y="371441"/>
                </a:lnTo>
                <a:lnTo>
                  <a:pt x="212451" y="371441"/>
                </a:lnTo>
                <a:lnTo>
                  <a:pt x="196268" y="367010"/>
                </a:lnTo>
                <a:lnTo>
                  <a:pt x="117080" y="329413"/>
                </a:lnTo>
                <a:lnTo>
                  <a:pt x="71243" y="304095"/>
                </a:lnTo>
                <a:lnTo>
                  <a:pt x="28965" y="275095"/>
                </a:lnTo>
                <a:lnTo>
                  <a:pt x="18345" y="237446"/>
                </a:lnTo>
                <a:lnTo>
                  <a:pt x="18617" y="231407"/>
                </a:lnTo>
                <a:lnTo>
                  <a:pt x="18710" y="229350"/>
                </a:lnTo>
                <a:lnTo>
                  <a:pt x="18790" y="227589"/>
                </a:lnTo>
                <a:lnTo>
                  <a:pt x="21311" y="218753"/>
                </a:lnTo>
                <a:lnTo>
                  <a:pt x="27004" y="211262"/>
                </a:lnTo>
                <a:lnTo>
                  <a:pt x="37089" y="202691"/>
                </a:lnTo>
                <a:lnTo>
                  <a:pt x="42084" y="198670"/>
                </a:lnTo>
                <a:lnTo>
                  <a:pt x="47781" y="193901"/>
                </a:lnTo>
                <a:lnTo>
                  <a:pt x="53478" y="188980"/>
                </a:lnTo>
                <a:lnTo>
                  <a:pt x="58473" y="184504"/>
                </a:lnTo>
                <a:lnTo>
                  <a:pt x="69968" y="174745"/>
                </a:lnTo>
                <a:lnTo>
                  <a:pt x="82227" y="167991"/>
                </a:lnTo>
                <a:lnTo>
                  <a:pt x="101713" y="161533"/>
                </a:lnTo>
                <a:lnTo>
                  <a:pt x="160471" y="145976"/>
                </a:lnTo>
                <a:lnTo>
                  <a:pt x="180489" y="140045"/>
                </a:lnTo>
                <a:lnTo>
                  <a:pt x="220112" y="125454"/>
                </a:lnTo>
                <a:lnTo>
                  <a:pt x="292441" y="91676"/>
                </a:lnTo>
                <a:lnTo>
                  <a:pt x="333583" y="69642"/>
                </a:lnTo>
                <a:lnTo>
                  <a:pt x="374204" y="46153"/>
                </a:lnTo>
                <a:lnTo>
                  <a:pt x="391005" y="36233"/>
                </a:lnTo>
                <a:lnTo>
                  <a:pt x="403429" y="29443"/>
                </a:lnTo>
                <a:lnTo>
                  <a:pt x="413191" y="24907"/>
                </a:lnTo>
                <a:lnTo>
                  <a:pt x="422004" y="21750"/>
                </a:lnTo>
                <a:lnTo>
                  <a:pt x="427955" y="20126"/>
                </a:lnTo>
                <a:lnTo>
                  <a:pt x="434295" y="19335"/>
                </a:lnTo>
                <a:lnTo>
                  <a:pt x="433359" y="19335"/>
                </a:lnTo>
                <a:lnTo>
                  <a:pt x="444807" y="19115"/>
                </a:lnTo>
                <a:lnTo>
                  <a:pt x="590646" y="19115"/>
                </a:lnTo>
                <a:lnTo>
                  <a:pt x="566051" y="13981"/>
                </a:lnTo>
                <a:lnTo>
                  <a:pt x="523893" y="6273"/>
                </a:lnTo>
                <a:lnTo>
                  <a:pt x="498730" y="2838"/>
                </a:lnTo>
                <a:lnTo>
                  <a:pt x="473687" y="707"/>
                </a:lnTo>
                <a:lnTo>
                  <a:pt x="450791" y="0"/>
                </a:lnTo>
                <a:close/>
              </a:path>
              <a:path w="829310" h="389889">
                <a:moveTo>
                  <a:pt x="590646" y="19115"/>
                </a:moveTo>
                <a:lnTo>
                  <a:pt x="444807" y="19115"/>
                </a:lnTo>
                <a:lnTo>
                  <a:pt x="462257" y="19335"/>
                </a:lnTo>
                <a:lnTo>
                  <a:pt x="478684" y="19723"/>
                </a:lnTo>
                <a:lnTo>
                  <a:pt x="541523" y="28108"/>
                </a:lnTo>
                <a:lnTo>
                  <a:pt x="610232" y="41992"/>
                </a:lnTo>
                <a:lnTo>
                  <a:pt x="653343" y="52569"/>
                </a:lnTo>
                <a:lnTo>
                  <a:pt x="719484" y="76244"/>
                </a:lnTo>
                <a:lnTo>
                  <a:pt x="729588" y="79999"/>
                </a:lnTo>
                <a:lnTo>
                  <a:pt x="738657" y="83199"/>
                </a:lnTo>
                <a:lnTo>
                  <a:pt x="745512" y="85416"/>
                </a:lnTo>
                <a:lnTo>
                  <a:pt x="754743" y="88610"/>
                </a:lnTo>
                <a:lnTo>
                  <a:pt x="789835" y="139816"/>
                </a:lnTo>
                <a:lnTo>
                  <a:pt x="808949" y="191921"/>
                </a:lnTo>
                <a:lnTo>
                  <a:pt x="810142" y="209340"/>
                </a:lnTo>
                <a:lnTo>
                  <a:pt x="804855" y="220250"/>
                </a:lnTo>
                <a:lnTo>
                  <a:pt x="768285" y="237446"/>
                </a:lnTo>
                <a:lnTo>
                  <a:pt x="715634" y="248520"/>
                </a:lnTo>
                <a:lnTo>
                  <a:pt x="675578" y="252917"/>
                </a:lnTo>
                <a:lnTo>
                  <a:pt x="622048" y="256330"/>
                </a:lnTo>
                <a:lnTo>
                  <a:pt x="602152" y="257911"/>
                </a:lnTo>
                <a:lnTo>
                  <a:pt x="585267" y="259759"/>
                </a:lnTo>
                <a:lnTo>
                  <a:pt x="559061" y="263510"/>
                </a:lnTo>
                <a:lnTo>
                  <a:pt x="508358" y="270378"/>
                </a:lnTo>
                <a:lnTo>
                  <a:pt x="454709" y="280020"/>
                </a:lnTo>
                <a:lnTo>
                  <a:pt x="403860" y="293105"/>
                </a:lnTo>
                <a:lnTo>
                  <a:pt x="355329" y="309264"/>
                </a:lnTo>
                <a:lnTo>
                  <a:pt x="310260" y="328068"/>
                </a:lnTo>
                <a:lnTo>
                  <a:pt x="269799" y="349090"/>
                </a:lnTo>
                <a:lnTo>
                  <a:pt x="243373" y="363905"/>
                </a:lnTo>
                <a:lnTo>
                  <a:pt x="226205" y="370881"/>
                </a:lnTo>
                <a:lnTo>
                  <a:pt x="212451" y="371441"/>
                </a:lnTo>
                <a:lnTo>
                  <a:pt x="267614" y="371441"/>
                </a:lnTo>
                <a:lnTo>
                  <a:pt x="287963" y="360047"/>
                </a:lnTo>
                <a:lnTo>
                  <a:pt x="306898" y="350129"/>
                </a:lnTo>
                <a:lnTo>
                  <a:pt x="372888" y="322435"/>
                </a:lnTo>
                <a:lnTo>
                  <a:pt x="437886" y="302847"/>
                </a:lnTo>
                <a:lnTo>
                  <a:pt x="483985" y="292657"/>
                </a:lnTo>
                <a:lnTo>
                  <a:pt x="570029" y="280664"/>
                </a:lnTo>
                <a:lnTo>
                  <a:pt x="593001" y="277352"/>
                </a:lnTo>
                <a:lnTo>
                  <a:pt x="605705" y="275946"/>
                </a:lnTo>
                <a:lnTo>
                  <a:pt x="622786" y="274657"/>
                </a:lnTo>
                <a:lnTo>
                  <a:pt x="681120" y="270778"/>
                </a:lnTo>
                <a:lnTo>
                  <a:pt x="705781" y="268314"/>
                </a:lnTo>
                <a:lnTo>
                  <a:pt x="749056" y="260962"/>
                </a:lnTo>
                <a:lnTo>
                  <a:pt x="804631" y="242930"/>
                </a:lnTo>
                <a:lnTo>
                  <a:pt x="828769" y="204828"/>
                </a:lnTo>
                <a:lnTo>
                  <a:pt x="827289" y="189771"/>
                </a:lnTo>
                <a:lnTo>
                  <a:pt x="815084" y="150298"/>
                </a:lnTo>
                <a:lnTo>
                  <a:pt x="790199" y="101864"/>
                </a:lnTo>
                <a:lnTo>
                  <a:pt x="783252" y="91261"/>
                </a:lnTo>
                <a:lnTo>
                  <a:pt x="783146" y="90146"/>
                </a:lnTo>
                <a:lnTo>
                  <a:pt x="787997" y="81081"/>
                </a:lnTo>
                <a:lnTo>
                  <a:pt x="783771" y="74195"/>
                </a:lnTo>
                <a:lnTo>
                  <a:pt x="771821" y="74195"/>
                </a:lnTo>
                <a:lnTo>
                  <a:pt x="769329" y="73145"/>
                </a:lnTo>
                <a:lnTo>
                  <a:pt x="732630" y="46860"/>
                </a:lnTo>
                <a:lnTo>
                  <a:pt x="721900" y="40693"/>
                </a:lnTo>
                <a:lnTo>
                  <a:pt x="676212" y="40693"/>
                </a:lnTo>
                <a:lnTo>
                  <a:pt x="671463" y="38844"/>
                </a:lnTo>
                <a:lnTo>
                  <a:pt x="648545" y="32189"/>
                </a:lnTo>
                <a:lnTo>
                  <a:pt x="610504" y="23260"/>
                </a:lnTo>
                <a:lnTo>
                  <a:pt x="590646" y="19115"/>
                </a:lnTo>
                <a:close/>
              </a:path>
              <a:path w="829310" h="389889">
                <a:moveTo>
                  <a:pt x="683439" y="25136"/>
                </a:moveTo>
                <a:lnTo>
                  <a:pt x="677028" y="25136"/>
                </a:lnTo>
                <a:lnTo>
                  <a:pt x="672624" y="31257"/>
                </a:lnTo>
                <a:lnTo>
                  <a:pt x="676212" y="40693"/>
                </a:lnTo>
                <a:lnTo>
                  <a:pt x="721900" y="40693"/>
                </a:lnTo>
                <a:lnTo>
                  <a:pt x="713289" y="36524"/>
                </a:lnTo>
                <a:lnTo>
                  <a:pt x="701030" y="31257"/>
                </a:lnTo>
                <a:lnTo>
                  <a:pt x="689643" y="26868"/>
                </a:lnTo>
                <a:lnTo>
                  <a:pt x="683439" y="25136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20187" y="2618907"/>
            <a:ext cx="22225" cy="19050"/>
          </a:xfrm>
          <a:custGeom>
            <a:avLst/>
            <a:gdLst/>
            <a:ahLst/>
            <a:cxnLst/>
            <a:rect l="l" t="t" r="r" b="b"/>
            <a:pathLst>
              <a:path w="22225" h="19050">
                <a:moveTo>
                  <a:pt x="18447" y="0"/>
                </a:moveTo>
                <a:lnTo>
                  <a:pt x="7938" y="0"/>
                </a:lnTo>
                <a:lnTo>
                  <a:pt x="5143" y="1118"/>
                </a:lnTo>
                <a:lnTo>
                  <a:pt x="3745" y="2515"/>
                </a:lnTo>
                <a:lnTo>
                  <a:pt x="0" y="6261"/>
                </a:lnTo>
                <a:lnTo>
                  <a:pt x="391" y="12994"/>
                </a:lnTo>
                <a:lnTo>
                  <a:pt x="6367" y="17695"/>
                </a:lnTo>
                <a:lnTo>
                  <a:pt x="8838" y="18868"/>
                </a:lnTo>
                <a:lnTo>
                  <a:pt x="11232" y="18868"/>
                </a:lnTo>
                <a:lnTo>
                  <a:pt x="13703" y="17695"/>
                </a:lnTo>
                <a:lnTo>
                  <a:pt x="22173" y="11033"/>
                </a:lnTo>
                <a:lnTo>
                  <a:pt x="18447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27419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Activation</a:t>
            </a:r>
            <a:r>
              <a:rPr spc="200" dirty="0"/>
              <a:t> </a:t>
            </a:r>
            <a:r>
              <a:rPr spc="80" dirty="0"/>
              <a:t>Record</a:t>
            </a:r>
            <a:r>
              <a:rPr spc="204" dirty="0"/>
              <a:t> </a:t>
            </a:r>
            <a:r>
              <a:rPr spc="65" dirty="0"/>
              <a:t>or</a:t>
            </a:r>
            <a:r>
              <a:rPr spc="200" dirty="0"/>
              <a:t> </a:t>
            </a:r>
            <a:r>
              <a:rPr spc="70" dirty="0"/>
              <a:t>“Frame”</a:t>
            </a:r>
            <a:endParaRPr spc="7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851020"/>
            <a:ext cx="110769" cy="1107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611" y="836427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793964"/>
            <a:ext cx="4079240" cy="21405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58445">
              <a:lnSpc>
                <a:spcPct val="103000"/>
              </a:lnSpc>
              <a:spcBef>
                <a:spcPts val="5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Temporary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values,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such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those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arising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evaluation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of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expressions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3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belonging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procedure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whose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this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715">
              <a:lnSpc>
                <a:spcPct val="103000"/>
              </a:lnSpc>
              <a:spcBef>
                <a:spcPts val="3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status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just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before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procedure.</a:t>
            </a:r>
            <a:r>
              <a:rPr sz="1100" spc="1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Such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return</a:t>
            </a:r>
            <a:r>
              <a:rPr sz="1100" i="1" spc="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address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2700" marR="70485">
              <a:lnSpc>
                <a:spcPct val="103000"/>
              </a:lnSpc>
              <a:spcBef>
                <a:spcPts val="29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needed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locate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needed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procedure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but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found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elsewhere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350520">
              <a:lnSpc>
                <a:spcPct val="125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link,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pointing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caller.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value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function,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any.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used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procedure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233116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21853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615224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00116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1997319"/>
            <a:ext cx="110769" cy="1107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7611" y="1983008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379449"/>
            <a:ext cx="110769" cy="11076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47611" y="2364338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589488"/>
            <a:ext cx="110769" cy="11076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799514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574371"/>
            <a:ext cx="78105" cy="327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265329" y="342703"/>
            <a:ext cx="63881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10"/>
              </a:spcBef>
            </a:pP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a =</a:t>
            </a:r>
            <a:r>
              <a:rPr sz="750" b="1" spc="20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b</a:t>
            </a:r>
            <a:r>
              <a:rPr sz="750" b="1" spc="20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+ c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/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spc="-5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4</a:t>
            </a:r>
            <a:r>
              <a:rPr sz="750" b="1" spc="50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t1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750" b="1" spc="1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750" b="1" spc="1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/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spc="-50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75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</a:pP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b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+</a:t>
            </a:r>
            <a:r>
              <a:rPr sz="750" b="1" spc="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750" b="1" spc="-25" dirty="0">
                <a:solidFill>
                  <a:srgbClr val="FF2600"/>
                </a:solidFill>
                <a:latin typeface="Georgia" panose="02040502050405020303"/>
                <a:cs typeface="Georgia" panose="02040502050405020303"/>
              </a:rPr>
              <a:t>t1</a:t>
            </a:r>
            <a:endParaRPr sz="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Snapshot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65" dirty="0"/>
              <a:t>run-</a:t>
            </a:r>
            <a:r>
              <a:rPr spc="70" dirty="0"/>
              <a:t>time</a:t>
            </a:r>
            <a:r>
              <a:rPr spc="210" dirty="0"/>
              <a:t> </a:t>
            </a:r>
            <a:r>
              <a:rPr spc="55" dirty="0"/>
              <a:t>stack</a:t>
            </a:r>
            <a:r>
              <a:rPr spc="210" dirty="0"/>
              <a:t> </a:t>
            </a:r>
            <a:r>
              <a:rPr dirty="0"/>
              <a:t>for</a:t>
            </a:r>
            <a:r>
              <a:rPr spc="210" dirty="0"/>
              <a:t> </a:t>
            </a:r>
            <a:r>
              <a:rPr spc="-10" dirty="0"/>
              <a:t>’quicksort’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790460"/>
            <a:ext cx="63296" cy="632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627212"/>
            <a:ext cx="4076065" cy="685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u="sng" spc="-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Dashed</a:t>
            </a:r>
            <a:r>
              <a:rPr sz="1100" u="sng" spc="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sng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lines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partial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trees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have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ended.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191135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Since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array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global,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allocated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before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execution begins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4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u="heavy" spc="1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3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procedure</a:t>
            </a:r>
            <a:r>
              <a:rPr sz="1100" u="heavy" spc="2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ma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shown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1034542"/>
            <a:ext cx="63296" cy="6329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04444" y="1534591"/>
            <a:ext cx="3075305" cy="1059180"/>
            <a:chOff x="1004444" y="1534591"/>
            <a:chExt cx="3075305" cy="10591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4444" y="1643786"/>
              <a:ext cx="2799060" cy="9070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66024" y="1534591"/>
              <a:ext cx="2813685" cy="1059180"/>
            </a:xfrm>
            <a:custGeom>
              <a:avLst/>
              <a:gdLst/>
              <a:ahLst/>
              <a:cxnLst/>
              <a:rect l="l" t="t" r="r" b="b"/>
              <a:pathLst>
                <a:path w="2813685" h="1059180">
                  <a:moveTo>
                    <a:pt x="381127" y="4699"/>
                  </a:moveTo>
                  <a:lnTo>
                    <a:pt x="376339" y="0"/>
                  </a:lnTo>
                  <a:lnTo>
                    <a:pt x="372249" y="63"/>
                  </a:lnTo>
                  <a:lnTo>
                    <a:pt x="368642" y="1016"/>
                  </a:lnTo>
                  <a:lnTo>
                    <a:pt x="316636" y="20764"/>
                  </a:lnTo>
                  <a:lnTo>
                    <a:pt x="272707" y="44310"/>
                  </a:lnTo>
                  <a:lnTo>
                    <a:pt x="241642" y="66573"/>
                  </a:lnTo>
                  <a:lnTo>
                    <a:pt x="205740" y="94919"/>
                  </a:lnTo>
                  <a:lnTo>
                    <a:pt x="135102" y="149263"/>
                  </a:lnTo>
                  <a:lnTo>
                    <a:pt x="82867" y="190690"/>
                  </a:lnTo>
                  <a:lnTo>
                    <a:pt x="51549" y="208572"/>
                  </a:lnTo>
                  <a:lnTo>
                    <a:pt x="43573" y="207441"/>
                  </a:lnTo>
                  <a:lnTo>
                    <a:pt x="18923" y="166928"/>
                  </a:lnTo>
                  <a:lnTo>
                    <a:pt x="18834" y="162077"/>
                  </a:lnTo>
                  <a:lnTo>
                    <a:pt x="13144" y="157251"/>
                  </a:lnTo>
                  <a:lnTo>
                    <a:pt x="4368" y="157251"/>
                  </a:lnTo>
                  <a:lnTo>
                    <a:pt x="0" y="162255"/>
                  </a:lnTo>
                  <a:lnTo>
                    <a:pt x="0" y="167500"/>
                  </a:lnTo>
                  <a:lnTo>
                    <a:pt x="2768" y="175577"/>
                  </a:lnTo>
                  <a:lnTo>
                    <a:pt x="23482" y="214337"/>
                  </a:lnTo>
                  <a:lnTo>
                    <a:pt x="52476" y="226504"/>
                  </a:lnTo>
                  <a:lnTo>
                    <a:pt x="64592" y="223875"/>
                  </a:lnTo>
                  <a:lnTo>
                    <a:pt x="71704" y="220916"/>
                  </a:lnTo>
                  <a:lnTo>
                    <a:pt x="80314" y="215506"/>
                  </a:lnTo>
                  <a:lnTo>
                    <a:pt x="94640" y="204685"/>
                  </a:lnTo>
                  <a:lnTo>
                    <a:pt x="153123" y="158521"/>
                  </a:lnTo>
                  <a:lnTo>
                    <a:pt x="224040" y="103886"/>
                  </a:lnTo>
                  <a:lnTo>
                    <a:pt x="257860" y="77317"/>
                  </a:lnTo>
                  <a:lnTo>
                    <a:pt x="293484" y="52730"/>
                  </a:lnTo>
                  <a:lnTo>
                    <a:pt x="338950" y="31623"/>
                  </a:lnTo>
                  <a:lnTo>
                    <a:pt x="378002" y="17132"/>
                  </a:lnTo>
                  <a:lnTo>
                    <a:pt x="381127" y="13893"/>
                  </a:lnTo>
                  <a:lnTo>
                    <a:pt x="381127" y="4699"/>
                  </a:lnTo>
                  <a:close/>
                </a:path>
                <a:path w="2813685" h="1059180">
                  <a:moveTo>
                    <a:pt x="619620" y="379209"/>
                  </a:moveTo>
                  <a:lnTo>
                    <a:pt x="618947" y="368363"/>
                  </a:lnTo>
                  <a:lnTo>
                    <a:pt x="612736" y="357251"/>
                  </a:lnTo>
                  <a:lnTo>
                    <a:pt x="610933" y="354838"/>
                  </a:lnTo>
                  <a:lnTo>
                    <a:pt x="608330" y="350647"/>
                  </a:lnTo>
                  <a:lnTo>
                    <a:pt x="605574" y="345249"/>
                  </a:lnTo>
                  <a:lnTo>
                    <a:pt x="602957" y="342430"/>
                  </a:lnTo>
                  <a:lnTo>
                    <a:pt x="601268" y="341718"/>
                  </a:lnTo>
                  <a:lnTo>
                    <a:pt x="601268" y="373888"/>
                  </a:lnTo>
                  <a:lnTo>
                    <a:pt x="601268" y="375170"/>
                  </a:lnTo>
                  <a:lnTo>
                    <a:pt x="578459" y="406996"/>
                  </a:lnTo>
                  <a:lnTo>
                    <a:pt x="545871" y="430530"/>
                  </a:lnTo>
                  <a:lnTo>
                    <a:pt x="504278" y="447065"/>
                  </a:lnTo>
                  <a:lnTo>
                    <a:pt x="440093" y="456285"/>
                  </a:lnTo>
                  <a:lnTo>
                    <a:pt x="428332" y="458165"/>
                  </a:lnTo>
                  <a:lnTo>
                    <a:pt x="417309" y="460133"/>
                  </a:lnTo>
                  <a:lnTo>
                    <a:pt x="398170" y="464096"/>
                  </a:lnTo>
                  <a:lnTo>
                    <a:pt x="390017" y="465289"/>
                  </a:lnTo>
                  <a:lnTo>
                    <a:pt x="379488" y="465912"/>
                  </a:lnTo>
                  <a:lnTo>
                    <a:pt x="369189" y="465912"/>
                  </a:lnTo>
                  <a:lnTo>
                    <a:pt x="340106" y="465289"/>
                  </a:lnTo>
                  <a:lnTo>
                    <a:pt x="337527" y="465289"/>
                  </a:lnTo>
                  <a:lnTo>
                    <a:pt x="275297" y="461048"/>
                  </a:lnTo>
                  <a:lnTo>
                    <a:pt x="246735" y="426656"/>
                  </a:lnTo>
                  <a:lnTo>
                    <a:pt x="246608" y="425462"/>
                  </a:lnTo>
                  <a:lnTo>
                    <a:pt x="270560" y="387032"/>
                  </a:lnTo>
                  <a:lnTo>
                    <a:pt x="305562" y="363308"/>
                  </a:lnTo>
                  <a:lnTo>
                    <a:pt x="380796" y="352145"/>
                  </a:lnTo>
                  <a:lnTo>
                    <a:pt x="384289" y="351624"/>
                  </a:lnTo>
                  <a:lnTo>
                    <a:pt x="454977" y="337959"/>
                  </a:lnTo>
                  <a:lnTo>
                    <a:pt x="469188" y="335394"/>
                  </a:lnTo>
                  <a:lnTo>
                    <a:pt x="480923" y="335026"/>
                  </a:lnTo>
                  <a:lnTo>
                    <a:pt x="499427" y="335534"/>
                  </a:lnTo>
                  <a:lnTo>
                    <a:pt x="519785" y="336689"/>
                  </a:lnTo>
                  <a:lnTo>
                    <a:pt x="537121" y="338289"/>
                  </a:lnTo>
                  <a:lnTo>
                    <a:pt x="546112" y="339293"/>
                  </a:lnTo>
                  <a:lnTo>
                    <a:pt x="557250" y="340360"/>
                  </a:lnTo>
                  <a:lnTo>
                    <a:pt x="557441" y="340360"/>
                  </a:lnTo>
                  <a:lnTo>
                    <a:pt x="566077" y="341058"/>
                  </a:lnTo>
                  <a:lnTo>
                    <a:pt x="575640" y="341655"/>
                  </a:lnTo>
                  <a:lnTo>
                    <a:pt x="575919" y="341655"/>
                  </a:lnTo>
                  <a:lnTo>
                    <a:pt x="591388" y="342430"/>
                  </a:lnTo>
                  <a:lnTo>
                    <a:pt x="592429" y="342620"/>
                  </a:lnTo>
                  <a:lnTo>
                    <a:pt x="589559" y="345795"/>
                  </a:lnTo>
                  <a:lnTo>
                    <a:pt x="588695" y="348005"/>
                  </a:lnTo>
                  <a:lnTo>
                    <a:pt x="588695" y="352767"/>
                  </a:lnTo>
                  <a:lnTo>
                    <a:pt x="593382" y="362305"/>
                  </a:lnTo>
                  <a:lnTo>
                    <a:pt x="599808" y="370890"/>
                  </a:lnTo>
                  <a:lnTo>
                    <a:pt x="601268" y="373888"/>
                  </a:lnTo>
                  <a:lnTo>
                    <a:pt x="601268" y="341718"/>
                  </a:lnTo>
                  <a:lnTo>
                    <a:pt x="598055" y="340360"/>
                  </a:lnTo>
                  <a:lnTo>
                    <a:pt x="597903" y="339991"/>
                  </a:lnTo>
                  <a:lnTo>
                    <a:pt x="601535" y="335026"/>
                  </a:lnTo>
                  <a:lnTo>
                    <a:pt x="602259" y="334035"/>
                  </a:lnTo>
                  <a:lnTo>
                    <a:pt x="601687" y="328828"/>
                  </a:lnTo>
                  <a:lnTo>
                    <a:pt x="595566" y="324015"/>
                  </a:lnTo>
                  <a:lnTo>
                    <a:pt x="592226" y="323570"/>
                  </a:lnTo>
                  <a:lnTo>
                    <a:pt x="573989" y="322935"/>
                  </a:lnTo>
                  <a:lnTo>
                    <a:pt x="564337" y="322440"/>
                  </a:lnTo>
                  <a:lnTo>
                    <a:pt x="554113" y="321703"/>
                  </a:lnTo>
                  <a:lnTo>
                    <a:pt x="543356" y="320713"/>
                  </a:lnTo>
                  <a:lnTo>
                    <a:pt x="519569" y="317931"/>
                  </a:lnTo>
                  <a:lnTo>
                    <a:pt x="519836" y="317931"/>
                  </a:lnTo>
                  <a:lnTo>
                    <a:pt x="504545" y="316903"/>
                  </a:lnTo>
                  <a:lnTo>
                    <a:pt x="465061" y="317931"/>
                  </a:lnTo>
                  <a:lnTo>
                    <a:pt x="397230" y="330314"/>
                  </a:lnTo>
                  <a:lnTo>
                    <a:pt x="378637" y="333705"/>
                  </a:lnTo>
                  <a:lnTo>
                    <a:pt x="363651" y="335927"/>
                  </a:lnTo>
                  <a:lnTo>
                    <a:pt x="347802" y="337731"/>
                  </a:lnTo>
                  <a:lnTo>
                    <a:pt x="317131" y="341655"/>
                  </a:lnTo>
                  <a:lnTo>
                    <a:pt x="279946" y="355155"/>
                  </a:lnTo>
                  <a:lnTo>
                    <a:pt x="241731" y="391782"/>
                  </a:lnTo>
                  <a:lnTo>
                    <a:pt x="227774" y="429361"/>
                  </a:lnTo>
                  <a:lnTo>
                    <a:pt x="231127" y="447065"/>
                  </a:lnTo>
                  <a:lnTo>
                    <a:pt x="258483" y="476707"/>
                  </a:lnTo>
                  <a:lnTo>
                    <a:pt x="302526" y="481863"/>
                  </a:lnTo>
                  <a:lnTo>
                    <a:pt x="347306" y="483908"/>
                  </a:lnTo>
                  <a:lnTo>
                    <a:pt x="375653" y="484378"/>
                  </a:lnTo>
                  <a:lnTo>
                    <a:pt x="394474" y="483146"/>
                  </a:lnTo>
                  <a:lnTo>
                    <a:pt x="410705" y="480098"/>
                  </a:lnTo>
                  <a:lnTo>
                    <a:pt x="417169" y="478701"/>
                  </a:lnTo>
                  <a:lnTo>
                    <a:pt x="424535" y="477278"/>
                  </a:lnTo>
                  <a:lnTo>
                    <a:pt x="431914" y="475996"/>
                  </a:lnTo>
                  <a:lnTo>
                    <a:pt x="438378" y="475005"/>
                  </a:lnTo>
                  <a:lnTo>
                    <a:pt x="491591" y="467563"/>
                  </a:lnTo>
                  <a:lnTo>
                    <a:pt x="500583" y="465912"/>
                  </a:lnTo>
                  <a:lnTo>
                    <a:pt x="538289" y="455790"/>
                  </a:lnTo>
                  <a:lnTo>
                    <a:pt x="571855" y="435571"/>
                  </a:lnTo>
                  <a:lnTo>
                    <a:pt x="602843" y="407568"/>
                  </a:lnTo>
                  <a:lnTo>
                    <a:pt x="615543" y="388886"/>
                  </a:lnTo>
                  <a:lnTo>
                    <a:pt x="619620" y="379209"/>
                  </a:lnTo>
                  <a:close/>
                </a:path>
                <a:path w="2813685" h="1059180">
                  <a:moveTo>
                    <a:pt x="760514" y="532130"/>
                  </a:moveTo>
                  <a:lnTo>
                    <a:pt x="753795" y="523595"/>
                  </a:lnTo>
                  <a:lnTo>
                    <a:pt x="747179" y="523328"/>
                  </a:lnTo>
                  <a:lnTo>
                    <a:pt x="743458" y="527316"/>
                  </a:lnTo>
                  <a:lnTo>
                    <a:pt x="740194" y="530821"/>
                  </a:lnTo>
                  <a:lnTo>
                    <a:pt x="740168" y="536422"/>
                  </a:lnTo>
                  <a:lnTo>
                    <a:pt x="747496" y="543737"/>
                  </a:lnTo>
                  <a:lnTo>
                    <a:pt x="752843" y="543445"/>
                  </a:lnTo>
                  <a:lnTo>
                    <a:pt x="760450" y="534974"/>
                  </a:lnTo>
                  <a:lnTo>
                    <a:pt x="760514" y="532130"/>
                  </a:lnTo>
                  <a:close/>
                </a:path>
                <a:path w="2813685" h="1059180">
                  <a:moveTo>
                    <a:pt x="899820" y="482104"/>
                  </a:moveTo>
                  <a:lnTo>
                    <a:pt x="890498" y="472782"/>
                  </a:lnTo>
                  <a:lnTo>
                    <a:pt x="887818" y="472363"/>
                  </a:lnTo>
                  <a:lnTo>
                    <a:pt x="883500" y="474446"/>
                  </a:lnTo>
                  <a:lnTo>
                    <a:pt x="880821" y="475754"/>
                  </a:lnTo>
                  <a:lnTo>
                    <a:pt x="878001" y="480415"/>
                  </a:lnTo>
                  <a:lnTo>
                    <a:pt x="878001" y="487260"/>
                  </a:lnTo>
                  <a:lnTo>
                    <a:pt x="883158" y="491845"/>
                  </a:lnTo>
                  <a:lnTo>
                    <a:pt x="895819" y="491845"/>
                  </a:lnTo>
                  <a:lnTo>
                    <a:pt x="899820" y="482104"/>
                  </a:lnTo>
                  <a:close/>
                </a:path>
                <a:path w="2813685" h="1059180">
                  <a:moveTo>
                    <a:pt x="1229537" y="397522"/>
                  </a:moveTo>
                  <a:lnTo>
                    <a:pt x="1229436" y="390652"/>
                  </a:lnTo>
                  <a:lnTo>
                    <a:pt x="1228699" y="388721"/>
                  </a:lnTo>
                  <a:lnTo>
                    <a:pt x="1222692" y="384886"/>
                  </a:lnTo>
                  <a:lnTo>
                    <a:pt x="1219974" y="384987"/>
                  </a:lnTo>
                  <a:lnTo>
                    <a:pt x="1218399" y="385622"/>
                  </a:lnTo>
                  <a:lnTo>
                    <a:pt x="1217015" y="386384"/>
                  </a:lnTo>
                  <a:lnTo>
                    <a:pt x="1210881" y="389737"/>
                  </a:lnTo>
                  <a:lnTo>
                    <a:pt x="1209713" y="395097"/>
                  </a:lnTo>
                  <a:lnTo>
                    <a:pt x="1213954" y="400481"/>
                  </a:lnTo>
                  <a:lnTo>
                    <a:pt x="1219644" y="403809"/>
                  </a:lnTo>
                  <a:lnTo>
                    <a:pt x="1225550" y="402374"/>
                  </a:lnTo>
                  <a:lnTo>
                    <a:pt x="1229537" y="397522"/>
                  </a:lnTo>
                  <a:close/>
                </a:path>
                <a:path w="2813685" h="1059180">
                  <a:moveTo>
                    <a:pt x="1230782" y="18783"/>
                  </a:moveTo>
                  <a:lnTo>
                    <a:pt x="1230591" y="17183"/>
                  </a:lnTo>
                  <a:lnTo>
                    <a:pt x="1224241" y="9118"/>
                  </a:lnTo>
                  <a:lnTo>
                    <a:pt x="1217637" y="8839"/>
                  </a:lnTo>
                  <a:lnTo>
                    <a:pt x="1213916" y="12839"/>
                  </a:lnTo>
                  <a:lnTo>
                    <a:pt x="1209471" y="17602"/>
                  </a:lnTo>
                  <a:lnTo>
                    <a:pt x="1210716" y="24130"/>
                  </a:lnTo>
                  <a:lnTo>
                    <a:pt x="1221333" y="29629"/>
                  </a:lnTo>
                  <a:lnTo>
                    <a:pt x="1226654" y="27838"/>
                  </a:lnTo>
                  <a:lnTo>
                    <a:pt x="1230782" y="18783"/>
                  </a:lnTo>
                  <a:close/>
                </a:path>
                <a:path w="2813685" h="1059180">
                  <a:moveTo>
                    <a:pt x="1894827" y="316115"/>
                  </a:moveTo>
                  <a:lnTo>
                    <a:pt x="1876031" y="270052"/>
                  </a:lnTo>
                  <a:lnTo>
                    <a:pt x="1876031" y="319735"/>
                  </a:lnTo>
                  <a:lnTo>
                    <a:pt x="1876005" y="331444"/>
                  </a:lnTo>
                  <a:lnTo>
                    <a:pt x="1870354" y="372237"/>
                  </a:lnTo>
                  <a:lnTo>
                    <a:pt x="1846503" y="418185"/>
                  </a:lnTo>
                  <a:lnTo>
                    <a:pt x="1822894" y="456006"/>
                  </a:lnTo>
                  <a:lnTo>
                    <a:pt x="1811464" y="472795"/>
                  </a:lnTo>
                  <a:lnTo>
                    <a:pt x="1803412" y="485330"/>
                  </a:lnTo>
                  <a:lnTo>
                    <a:pt x="1796529" y="497268"/>
                  </a:lnTo>
                  <a:lnTo>
                    <a:pt x="1788591" y="512229"/>
                  </a:lnTo>
                  <a:lnTo>
                    <a:pt x="1775752" y="536130"/>
                  </a:lnTo>
                  <a:lnTo>
                    <a:pt x="1763483" y="554088"/>
                  </a:lnTo>
                  <a:lnTo>
                    <a:pt x="1744332" y="575424"/>
                  </a:lnTo>
                  <a:lnTo>
                    <a:pt x="1688338" y="632434"/>
                  </a:lnTo>
                  <a:lnTo>
                    <a:pt x="1665744" y="655967"/>
                  </a:lnTo>
                  <a:lnTo>
                    <a:pt x="1645373" y="677621"/>
                  </a:lnTo>
                  <a:lnTo>
                    <a:pt x="1629549" y="694982"/>
                  </a:lnTo>
                  <a:lnTo>
                    <a:pt x="1615859" y="710158"/>
                  </a:lnTo>
                  <a:lnTo>
                    <a:pt x="1600873" y="726389"/>
                  </a:lnTo>
                  <a:lnTo>
                    <a:pt x="1574253" y="754227"/>
                  </a:lnTo>
                  <a:lnTo>
                    <a:pt x="1511198" y="804697"/>
                  </a:lnTo>
                  <a:lnTo>
                    <a:pt x="1478064" y="826071"/>
                  </a:lnTo>
                  <a:lnTo>
                    <a:pt x="1423276" y="840498"/>
                  </a:lnTo>
                  <a:lnTo>
                    <a:pt x="1373619" y="840917"/>
                  </a:lnTo>
                  <a:lnTo>
                    <a:pt x="1335354" y="840778"/>
                  </a:lnTo>
                  <a:lnTo>
                    <a:pt x="1291564" y="833247"/>
                  </a:lnTo>
                  <a:lnTo>
                    <a:pt x="1258989" y="802741"/>
                  </a:lnTo>
                  <a:lnTo>
                    <a:pt x="1248702" y="786028"/>
                  </a:lnTo>
                  <a:lnTo>
                    <a:pt x="1249502" y="765670"/>
                  </a:lnTo>
                  <a:lnTo>
                    <a:pt x="1261757" y="706539"/>
                  </a:lnTo>
                  <a:lnTo>
                    <a:pt x="1280071" y="660425"/>
                  </a:lnTo>
                  <a:lnTo>
                    <a:pt x="1306842" y="604989"/>
                  </a:lnTo>
                  <a:lnTo>
                    <a:pt x="1346288" y="542023"/>
                  </a:lnTo>
                  <a:lnTo>
                    <a:pt x="1372171" y="504431"/>
                  </a:lnTo>
                  <a:lnTo>
                    <a:pt x="1397165" y="474662"/>
                  </a:lnTo>
                  <a:lnTo>
                    <a:pt x="1423619" y="447802"/>
                  </a:lnTo>
                  <a:lnTo>
                    <a:pt x="1437017" y="433781"/>
                  </a:lnTo>
                  <a:lnTo>
                    <a:pt x="1449895" y="419989"/>
                  </a:lnTo>
                  <a:lnTo>
                    <a:pt x="1475003" y="392150"/>
                  </a:lnTo>
                  <a:lnTo>
                    <a:pt x="1487170" y="379603"/>
                  </a:lnTo>
                  <a:lnTo>
                    <a:pt x="1518653" y="351294"/>
                  </a:lnTo>
                  <a:lnTo>
                    <a:pt x="1568348" y="313042"/>
                  </a:lnTo>
                  <a:lnTo>
                    <a:pt x="1625295" y="278422"/>
                  </a:lnTo>
                  <a:lnTo>
                    <a:pt x="1672615" y="255828"/>
                  </a:lnTo>
                  <a:lnTo>
                    <a:pt x="1731302" y="239014"/>
                  </a:lnTo>
                  <a:lnTo>
                    <a:pt x="1762760" y="234708"/>
                  </a:lnTo>
                  <a:lnTo>
                    <a:pt x="1764741" y="235000"/>
                  </a:lnTo>
                  <a:lnTo>
                    <a:pt x="1772666" y="235800"/>
                  </a:lnTo>
                  <a:lnTo>
                    <a:pt x="1828685" y="241300"/>
                  </a:lnTo>
                  <a:lnTo>
                    <a:pt x="1859153" y="276529"/>
                  </a:lnTo>
                  <a:lnTo>
                    <a:pt x="1876031" y="319735"/>
                  </a:lnTo>
                  <a:lnTo>
                    <a:pt x="1876031" y="270052"/>
                  </a:lnTo>
                  <a:lnTo>
                    <a:pt x="1855228" y="234708"/>
                  </a:lnTo>
                  <a:lnTo>
                    <a:pt x="1820646" y="221399"/>
                  </a:lnTo>
                  <a:lnTo>
                    <a:pt x="1818157" y="221399"/>
                  </a:lnTo>
                  <a:lnTo>
                    <a:pt x="1815579" y="220421"/>
                  </a:lnTo>
                  <a:lnTo>
                    <a:pt x="1814220" y="218973"/>
                  </a:lnTo>
                  <a:lnTo>
                    <a:pt x="1809546" y="215836"/>
                  </a:lnTo>
                  <a:lnTo>
                    <a:pt x="1801698" y="214261"/>
                  </a:lnTo>
                  <a:lnTo>
                    <a:pt x="1788922" y="214096"/>
                  </a:lnTo>
                  <a:lnTo>
                    <a:pt x="1769465" y="215201"/>
                  </a:lnTo>
                  <a:lnTo>
                    <a:pt x="1722056" y="222237"/>
                  </a:lnTo>
                  <a:lnTo>
                    <a:pt x="1684502" y="232029"/>
                  </a:lnTo>
                  <a:lnTo>
                    <a:pt x="1646377" y="247027"/>
                  </a:lnTo>
                  <a:lnTo>
                    <a:pt x="1605826" y="268071"/>
                  </a:lnTo>
                  <a:lnTo>
                    <a:pt x="1561045" y="295986"/>
                  </a:lnTo>
                  <a:lnTo>
                    <a:pt x="1529969" y="318300"/>
                  </a:lnTo>
                  <a:lnTo>
                    <a:pt x="1499857" y="343090"/>
                  </a:lnTo>
                  <a:lnTo>
                    <a:pt x="1471625" y="369544"/>
                  </a:lnTo>
                  <a:lnTo>
                    <a:pt x="1437906" y="406095"/>
                  </a:lnTo>
                  <a:lnTo>
                    <a:pt x="1426667" y="418185"/>
                  </a:lnTo>
                  <a:lnTo>
                    <a:pt x="1413903" y="431571"/>
                  </a:lnTo>
                  <a:lnTo>
                    <a:pt x="1401114" y="444677"/>
                  </a:lnTo>
                  <a:lnTo>
                    <a:pt x="1381709" y="464362"/>
                  </a:lnTo>
                  <a:lnTo>
                    <a:pt x="1370634" y="476199"/>
                  </a:lnTo>
                  <a:lnTo>
                    <a:pt x="1321333" y="546201"/>
                  </a:lnTo>
                  <a:lnTo>
                    <a:pt x="1296479" y="586232"/>
                  </a:lnTo>
                  <a:lnTo>
                    <a:pt x="1277175" y="622160"/>
                  </a:lnTo>
                  <a:lnTo>
                    <a:pt x="1254455" y="674954"/>
                  </a:lnTo>
                  <a:lnTo>
                    <a:pt x="1251292" y="682688"/>
                  </a:lnTo>
                  <a:lnTo>
                    <a:pt x="1234948" y="731431"/>
                  </a:lnTo>
                  <a:lnTo>
                    <a:pt x="1230223" y="773137"/>
                  </a:lnTo>
                  <a:lnTo>
                    <a:pt x="1231049" y="786028"/>
                  </a:lnTo>
                  <a:lnTo>
                    <a:pt x="1231099" y="786879"/>
                  </a:lnTo>
                  <a:lnTo>
                    <a:pt x="1251267" y="821791"/>
                  </a:lnTo>
                  <a:lnTo>
                    <a:pt x="1296949" y="855103"/>
                  </a:lnTo>
                  <a:lnTo>
                    <a:pt x="1385570" y="860069"/>
                  </a:lnTo>
                  <a:lnTo>
                    <a:pt x="1416659" y="859447"/>
                  </a:lnTo>
                  <a:lnTo>
                    <a:pt x="1464183" y="852817"/>
                  </a:lnTo>
                  <a:lnTo>
                    <a:pt x="1499349" y="834504"/>
                  </a:lnTo>
                  <a:lnTo>
                    <a:pt x="1557896" y="795870"/>
                  </a:lnTo>
                  <a:lnTo>
                    <a:pt x="1589417" y="764298"/>
                  </a:lnTo>
                  <a:lnTo>
                    <a:pt x="1618475" y="734250"/>
                  </a:lnTo>
                  <a:lnTo>
                    <a:pt x="1644078" y="706323"/>
                  </a:lnTo>
                  <a:lnTo>
                    <a:pt x="1657337" y="691743"/>
                  </a:lnTo>
                  <a:lnTo>
                    <a:pt x="1676336" y="671588"/>
                  </a:lnTo>
                  <a:lnTo>
                    <a:pt x="1698548" y="648525"/>
                  </a:lnTo>
                  <a:lnTo>
                    <a:pt x="1745843" y="600341"/>
                  </a:lnTo>
                  <a:lnTo>
                    <a:pt x="1763915" y="581545"/>
                  </a:lnTo>
                  <a:lnTo>
                    <a:pt x="1789582" y="548652"/>
                  </a:lnTo>
                  <a:lnTo>
                    <a:pt x="1814626" y="502475"/>
                  </a:lnTo>
                  <a:lnTo>
                    <a:pt x="1817624" y="497268"/>
                  </a:lnTo>
                  <a:lnTo>
                    <a:pt x="1821929" y="490347"/>
                  </a:lnTo>
                  <a:lnTo>
                    <a:pt x="1826856" y="482790"/>
                  </a:lnTo>
                  <a:lnTo>
                    <a:pt x="1831886" y="475424"/>
                  </a:lnTo>
                  <a:lnTo>
                    <a:pt x="1849374" y="449033"/>
                  </a:lnTo>
                  <a:lnTo>
                    <a:pt x="1866176" y="421284"/>
                  </a:lnTo>
                  <a:lnTo>
                    <a:pt x="1879574" y="396875"/>
                  </a:lnTo>
                  <a:lnTo>
                    <a:pt x="1879688" y="396684"/>
                  </a:lnTo>
                  <a:lnTo>
                    <a:pt x="1892808" y="355003"/>
                  </a:lnTo>
                  <a:lnTo>
                    <a:pt x="1894738" y="331444"/>
                  </a:lnTo>
                  <a:lnTo>
                    <a:pt x="1894827" y="316115"/>
                  </a:lnTo>
                  <a:close/>
                </a:path>
                <a:path w="2813685" h="1059180">
                  <a:moveTo>
                    <a:pt x="1937156" y="872959"/>
                  </a:moveTo>
                  <a:lnTo>
                    <a:pt x="1933092" y="869226"/>
                  </a:lnTo>
                  <a:lnTo>
                    <a:pt x="1924291" y="869226"/>
                  </a:lnTo>
                  <a:lnTo>
                    <a:pt x="1922614" y="870419"/>
                  </a:lnTo>
                  <a:lnTo>
                    <a:pt x="1916112" y="877709"/>
                  </a:lnTo>
                  <a:lnTo>
                    <a:pt x="1908975" y="884821"/>
                  </a:lnTo>
                  <a:lnTo>
                    <a:pt x="1862175" y="905611"/>
                  </a:lnTo>
                  <a:lnTo>
                    <a:pt x="1844471" y="909154"/>
                  </a:lnTo>
                  <a:lnTo>
                    <a:pt x="1838833" y="908304"/>
                  </a:lnTo>
                  <a:lnTo>
                    <a:pt x="1796110" y="890041"/>
                  </a:lnTo>
                  <a:lnTo>
                    <a:pt x="1767598" y="846683"/>
                  </a:lnTo>
                  <a:lnTo>
                    <a:pt x="1763852" y="783691"/>
                  </a:lnTo>
                  <a:lnTo>
                    <a:pt x="1763725" y="747433"/>
                  </a:lnTo>
                  <a:lnTo>
                    <a:pt x="1764817" y="720369"/>
                  </a:lnTo>
                  <a:lnTo>
                    <a:pt x="1774304" y="644690"/>
                  </a:lnTo>
                  <a:lnTo>
                    <a:pt x="1788299" y="598500"/>
                  </a:lnTo>
                  <a:lnTo>
                    <a:pt x="1814004" y="562216"/>
                  </a:lnTo>
                  <a:lnTo>
                    <a:pt x="1847316" y="530212"/>
                  </a:lnTo>
                  <a:lnTo>
                    <a:pt x="1896681" y="513676"/>
                  </a:lnTo>
                  <a:lnTo>
                    <a:pt x="1899183" y="512889"/>
                  </a:lnTo>
                  <a:lnTo>
                    <a:pt x="1904060" y="506857"/>
                  </a:lnTo>
                  <a:lnTo>
                    <a:pt x="1903780" y="501637"/>
                  </a:lnTo>
                  <a:lnTo>
                    <a:pt x="1897087" y="495363"/>
                  </a:lnTo>
                  <a:lnTo>
                    <a:pt x="1892312" y="495058"/>
                  </a:lnTo>
                  <a:lnTo>
                    <a:pt x="1878672" y="497014"/>
                  </a:lnTo>
                  <a:lnTo>
                    <a:pt x="1836458" y="515569"/>
                  </a:lnTo>
                  <a:lnTo>
                    <a:pt x="1793608" y="558520"/>
                  </a:lnTo>
                  <a:lnTo>
                    <a:pt x="1765833" y="602919"/>
                  </a:lnTo>
                  <a:lnTo>
                    <a:pt x="1753476" y="660412"/>
                  </a:lnTo>
                  <a:lnTo>
                    <a:pt x="1746351" y="719099"/>
                  </a:lnTo>
                  <a:lnTo>
                    <a:pt x="1745424" y="805268"/>
                  </a:lnTo>
                  <a:lnTo>
                    <a:pt x="1745716" y="823302"/>
                  </a:lnTo>
                  <a:lnTo>
                    <a:pt x="1757337" y="872934"/>
                  </a:lnTo>
                  <a:lnTo>
                    <a:pt x="1786153" y="905383"/>
                  </a:lnTo>
                  <a:lnTo>
                    <a:pt x="1824329" y="922705"/>
                  </a:lnTo>
                  <a:lnTo>
                    <a:pt x="1840649" y="926858"/>
                  </a:lnTo>
                  <a:lnTo>
                    <a:pt x="1848472" y="926782"/>
                  </a:lnTo>
                  <a:lnTo>
                    <a:pt x="1890052" y="915733"/>
                  </a:lnTo>
                  <a:lnTo>
                    <a:pt x="1926209" y="893953"/>
                  </a:lnTo>
                  <a:lnTo>
                    <a:pt x="1937156" y="877722"/>
                  </a:lnTo>
                  <a:lnTo>
                    <a:pt x="1937156" y="872959"/>
                  </a:lnTo>
                  <a:close/>
                </a:path>
                <a:path w="2813685" h="1059180">
                  <a:moveTo>
                    <a:pt x="2384920" y="1031252"/>
                  </a:moveTo>
                  <a:lnTo>
                    <a:pt x="2340140" y="1019022"/>
                  </a:lnTo>
                  <a:lnTo>
                    <a:pt x="2255837" y="1019213"/>
                  </a:lnTo>
                  <a:lnTo>
                    <a:pt x="2205825" y="1019822"/>
                  </a:lnTo>
                  <a:lnTo>
                    <a:pt x="2169706" y="1028179"/>
                  </a:lnTo>
                  <a:lnTo>
                    <a:pt x="2159330" y="1030820"/>
                  </a:lnTo>
                  <a:lnTo>
                    <a:pt x="2142718" y="1032624"/>
                  </a:lnTo>
                  <a:lnTo>
                    <a:pt x="2116848" y="1033805"/>
                  </a:lnTo>
                  <a:lnTo>
                    <a:pt x="2040255" y="1035405"/>
                  </a:lnTo>
                  <a:lnTo>
                    <a:pt x="2013254" y="1036472"/>
                  </a:lnTo>
                  <a:lnTo>
                    <a:pt x="1986203" y="1037894"/>
                  </a:lnTo>
                  <a:lnTo>
                    <a:pt x="1953348" y="1039114"/>
                  </a:lnTo>
                  <a:lnTo>
                    <a:pt x="1919909" y="1039964"/>
                  </a:lnTo>
                  <a:lnTo>
                    <a:pt x="1874812" y="1040358"/>
                  </a:lnTo>
                  <a:lnTo>
                    <a:pt x="1865299" y="1040663"/>
                  </a:lnTo>
                  <a:lnTo>
                    <a:pt x="1860423" y="1041323"/>
                  </a:lnTo>
                  <a:lnTo>
                    <a:pt x="1858098" y="1042492"/>
                  </a:lnTo>
                  <a:lnTo>
                    <a:pt x="1853844" y="1046099"/>
                  </a:lnTo>
                  <a:lnTo>
                    <a:pt x="1853476" y="1050709"/>
                  </a:lnTo>
                  <a:lnTo>
                    <a:pt x="1860207" y="1058532"/>
                  </a:lnTo>
                  <a:lnTo>
                    <a:pt x="1885162" y="1058633"/>
                  </a:lnTo>
                  <a:lnTo>
                    <a:pt x="1912594" y="1058430"/>
                  </a:lnTo>
                  <a:lnTo>
                    <a:pt x="1944395" y="1057744"/>
                  </a:lnTo>
                  <a:lnTo>
                    <a:pt x="1975942" y="1056678"/>
                  </a:lnTo>
                  <a:lnTo>
                    <a:pt x="2016213" y="1054735"/>
                  </a:lnTo>
                  <a:lnTo>
                    <a:pt x="2059787" y="1053388"/>
                  </a:lnTo>
                  <a:lnTo>
                    <a:pt x="2128405" y="1051775"/>
                  </a:lnTo>
                  <a:lnTo>
                    <a:pt x="2154986" y="1050036"/>
                  </a:lnTo>
                  <a:lnTo>
                    <a:pt x="2172347" y="1046670"/>
                  </a:lnTo>
                  <a:lnTo>
                    <a:pt x="2188730" y="1040701"/>
                  </a:lnTo>
                  <a:lnTo>
                    <a:pt x="2194204" y="1039431"/>
                  </a:lnTo>
                  <a:lnTo>
                    <a:pt x="2207539" y="1038669"/>
                  </a:lnTo>
                  <a:lnTo>
                    <a:pt x="2235885" y="1038186"/>
                  </a:lnTo>
                  <a:lnTo>
                    <a:pt x="2338057" y="1037374"/>
                  </a:lnTo>
                  <a:lnTo>
                    <a:pt x="2365870" y="1036904"/>
                  </a:lnTo>
                  <a:lnTo>
                    <a:pt x="2377605" y="1036116"/>
                  </a:lnTo>
                  <a:lnTo>
                    <a:pt x="2381059" y="1034757"/>
                  </a:lnTo>
                  <a:lnTo>
                    <a:pt x="2384920" y="1031252"/>
                  </a:lnTo>
                  <a:close/>
                </a:path>
                <a:path w="2813685" h="1059180">
                  <a:moveTo>
                    <a:pt x="2491892" y="771880"/>
                  </a:moveTo>
                  <a:lnTo>
                    <a:pt x="2473299" y="728294"/>
                  </a:lnTo>
                  <a:lnTo>
                    <a:pt x="2432913" y="695693"/>
                  </a:lnTo>
                  <a:lnTo>
                    <a:pt x="2403449" y="688086"/>
                  </a:lnTo>
                  <a:lnTo>
                    <a:pt x="2398699" y="688086"/>
                  </a:lnTo>
                  <a:lnTo>
                    <a:pt x="2394610" y="692061"/>
                  </a:lnTo>
                  <a:lnTo>
                    <a:pt x="2394610" y="702703"/>
                  </a:lnTo>
                  <a:lnTo>
                    <a:pt x="2397861" y="705231"/>
                  </a:lnTo>
                  <a:lnTo>
                    <a:pt x="2408656" y="707618"/>
                  </a:lnTo>
                  <a:lnTo>
                    <a:pt x="2421331" y="711098"/>
                  </a:lnTo>
                  <a:lnTo>
                    <a:pt x="2458910" y="739990"/>
                  </a:lnTo>
                  <a:lnTo>
                    <a:pt x="2473439" y="769035"/>
                  </a:lnTo>
                  <a:lnTo>
                    <a:pt x="2473109" y="776693"/>
                  </a:lnTo>
                  <a:lnTo>
                    <a:pt x="2433802" y="826719"/>
                  </a:lnTo>
                  <a:lnTo>
                    <a:pt x="2400706" y="859891"/>
                  </a:lnTo>
                  <a:lnTo>
                    <a:pt x="2385898" y="866940"/>
                  </a:lnTo>
                  <a:lnTo>
                    <a:pt x="2369070" y="865733"/>
                  </a:lnTo>
                  <a:lnTo>
                    <a:pt x="2354669" y="863968"/>
                  </a:lnTo>
                  <a:lnTo>
                    <a:pt x="2325332" y="859332"/>
                  </a:lnTo>
                  <a:lnTo>
                    <a:pt x="2301062" y="855878"/>
                  </a:lnTo>
                  <a:lnTo>
                    <a:pt x="2278024" y="852944"/>
                  </a:lnTo>
                  <a:lnTo>
                    <a:pt x="2179726" y="842949"/>
                  </a:lnTo>
                  <a:lnTo>
                    <a:pt x="2144865" y="839939"/>
                  </a:lnTo>
                  <a:lnTo>
                    <a:pt x="2098370" y="836409"/>
                  </a:lnTo>
                  <a:lnTo>
                    <a:pt x="2072360" y="832370"/>
                  </a:lnTo>
                  <a:lnTo>
                    <a:pt x="2040128" y="800773"/>
                  </a:lnTo>
                  <a:lnTo>
                    <a:pt x="2040712" y="797382"/>
                  </a:lnTo>
                  <a:lnTo>
                    <a:pt x="2061794" y="747280"/>
                  </a:lnTo>
                  <a:lnTo>
                    <a:pt x="2080196" y="712165"/>
                  </a:lnTo>
                  <a:lnTo>
                    <a:pt x="2113064" y="703300"/>
                  </a:lnTo>
                  <a:lnTo>
                    <a:pt x="2145919" y="706513"/>
                  </a:lnTo>
                  <a:lnTo>
                    <a:pt x="2161070" y="707174"/>
                  </a:lnTo>
                  <a:lnTo>
                    <a:pt x="2184387" y="707504"/>
                  </a:lnTo>
                  <a:lnTo>
                    <a:pt x="2288743" y="707580"/>
                  </a:lnTo>
                  <a:lnTo>
                    <a:pt x="2302573" y="703999"/>
                  </a:lnTo>
                  <a:lnTo>
                    <a:pt x="2318270" y="701027"/>
                  </a:lnTo>
                  <a:lnTo>
                    <a:pt x="2333548" y="702487"/>
                  </a:lnTo>
                  <a:lnTo>
                    <a:pt x="2354910" y="709980"/>
                  </a:lnTo>
                  <a:lnTo>
                    <a:pt x="2388870" y="725093"/>
                  </a:lnTo>
                  <a:lnTo>
                    <a:pt x="2414765" y="735914"/>
                  </a:lnTo>
                  <a:lnTo>
                    <a:pt x="2432291" y="740587"/>
                  </a:lnTo>
                  <a:lnTo>
                    <a:pt x="2442210" y="739203"/>
                  </a:lnTo>
                  <a:lnTo>
                    <a:pt x="2445347" y="731875"/>
                  </a:lnTo>
                  <a:lnTo>
                    <a:pt x="2445347" y="726719"/>
                  </a:lnTo>
                  <a:lnTo>
                    <a:pt x="2441740" y="723912"/>
                  </a:lnTo>
                  <a:lnTo>
                    <a:pt x="2432926" y="722185"/>
                  </a:lnTo>
                  <a:lnTo>
                    <a:pt x="2425408" y="720344"/>
                  </a:lnTo>
                  <a:lnTo>
                    <a:pt x="2417102" y="717524"/>
                  </a:lnTo>
                  <a:lnTo>
                    <a:pt x="2407170" y="713422"/>
                  </a:lnTo>
                  <a:lnTo>
                    <a:pt x="2360536" y="692200"/>
                  </a:lnTo>
                  <a:lnTo>
                    <a:pt x="2336711" y="684060"/>
                  </a:lnTo>
                  <a:lnTo>
                    <a:pt x="2318550" y="682142"/>
                  </a:lnTo>
                  <a:lnTo>
                    <a:pt x="2301316" y="685317"/>
                  </a:lnTo>
                  <a:lnTo>
                    <a:pt x="2290000" y="688606"/>
                  </a:lnTo>
                  <a:lnTo>
                    <a:pt x="2189988" y="689178"/>
                  </a:lnTo>
                  <a:lnTo>
                    <a:pt x="2167547" y="689013"/>
                  </a:lnTo>
                  <a:lnTo>
                    <a:pt x="2152967" y="688479"/>
                  </a:lnTo>
                  <a:lnTo>
                    <a:pt x="2112518" y="684720"/>
                  </a:lnTo>
                  <a:lnTo>
                    <a:pt x="2091283" y="685774"/>
                  </a:lnTo>
                  <a:lnTo>
                    <a:pt x="2056980" y="715670"/>
                  </a:lnTo>
                  <a:lnTo>
                    <a:pt x="2033384" y="764362"/>
                  </a:lnTo>
                  <a:lnTo>
                    <a:pt x="2021852" y="803186"/>
                  </a:lnTo>
                  <a:lnTo>
                    <a:pt x="2025904" y="826744"/>
                  </a:lnTo>
                  <a:lnTo>
                    <a:pt x="2044204" y="842683"/>
                  </a:lnTo>
                  <a:lnTo>
                    <a:pt x="2079993" y="852538"/>
                  </a:lnTo>
                  <a:lnTo>
                    <a:pt x="2136533" y="857897"/>
                  </a:lnTo>
                  <a:lnTo>
                    <a:pt x="2162949" y="859764"/>
                  </a:lnTo>
                  <a:lnTo>
                    <a:pt x="2266746" y="870178"/>
                  </a:lnTo>
                  <a:lnTo>
                    <a:pt x="2290991" y="873163"/>
                  </a:lnTo>
                  <a:lnTo>
                    <a:pt x="2319921" y="877176"/>
                  </a:lnTo>
                  <a:lnTo>
                    <a:pt x="2355405" y="882472"/>
                  </a:lnTo>
                  <a:lnTo>
                    <a:pt x="2381859" y="884847"/>
                  </a:lnTo>
                  <a:lnTo>
                    <a:pt x="2420734" y="867473"/>
                  </a:lnTo>
                  <a:lnTo>
                    <a:pt x="2464816" y="819531"/>
                  </a:lnTo>
                  <a:lnTo>
                    <a:pt x="2490813" y="781812"/>
                  </a:lnTo>
                  <a:lnTo>
                    <a:pt x="2491892" y="771880"/>
                  </a:lnTo>
                  <a:close/>
                </a:path>
                <a:path w="2813685" h="1059180">
                  <a:moveTo>
                    <a:pt x="2788691" y="455726"/>
                  </a:moveTo>
                  <a:lnTo>
                    <a:pt x="2784233" y="449084"/>
                  </a:lnTo>
                  <a:lnTo>
                    <a:pt x="2776575" y="449084"/>
                  </a:lnTo>
                  <a:lnTo>
                    <a:pt x="2733560" y="480593"/>
                  </a:lnTo>
                  <a:lnTo>
                    <a:pt x="2704173" y="508431"/>
                  </a:lnTo>
                  <a:lnTo>
                    <a:pt x="2621902" y="589330"/>
                  </a:lnTo>
                  <a:lnTo>
                    <a:pt x="2592552" y="617321"/>
                  </a:lnTo>
                  <a:lnTo>
                    <a:pt x="2571432" y="636384"/>
                  </a:lnTo>
                  <a:lnTo>
                    <a:pt x="2558199" y="646823"/>
                  </a:lnTo>
                  <a:lnTo>
                    <a:pt x="2551265" y="651421"/>
                  </a:lnTo>
                  <a:lnTo>
                    <a:pt x="2547785" y="651268"/>
                  </a:lnTo>
                  <a:lnTo>
                    <a:pt x="2524696" y="640753"/>
                  </a:lnTo>
                  <a:lnTo>
                    <a:pt x="2512491" y="635800"/>
                  </a:lnTo>
                  <a:lnTo>
                    <a:pt x="2463711" y="619861"/>
                  </a:lnTo>
                  <a:lnTo>
                    <a:pt x="2422906" y="613283"/>
                  </a:lnTo>
                  <a:lnTo>
                    <a:pt x="2399919" y="612609"/>
                  </a:lnTo>
                  <a:lnTo>
                    <a:pt x="2384501" y="612609"/>
                  </a:lnTo>
                  <a:lnTo>
                    <a:pt x="2382456" y="612863"/>
                  </a:lnTo>
                  <a:lnTo>
                    <a:pt x="2374989" y="618744"/>
                  </a:lnTo>
                  <a:lnTo>
                    <a:pt x="2374900" y="625271"/>
                  </a:lnTo>
                  <a:lnTo>
                    <a:pt x="2379268" y="628713"/>
                  </a:lnTo>
                  <a:lnTo>
                    <a:pt x="2381770" y="630034"/>
                  </a:lnTo>
                  <a:lnTo>
                    <a:pt x="2386419" y="630872"/>
                  </a:lnTo>
                  <a:lnTo>
                    <a:pt x="2395283" y="631393"/>
                  </a:lnTo>
                  <a:lnTo>
                    <a:pt x="2425471" y="632294"/>
                  </a:lnTo>
                  <a:lnTo>
                    <a:pt x="2435910" y="632968"/>
                  </a:lnTo>
                  <a:lnTo>
                    <a:pt x="2487866" y="646455"/>
                  </a:lnTo>
                  <a:lnTo>
                    <a:pt x="2533789" y="665010"/>
                  </a:lnTo>
                  <a:lnTo>
                    <a:pt x="2541511" y="667854"/>
                  </a:lnTo>
                  <a:lnTo>
                    <a:pt x="2547175" y="668858"/>
                  </a:lnTo>
                  <a:lnTo>
                    <a:pt x="2552725" y="668553"/>
                  </a:lnTo>
                  <a:lnTo>
                    <a:pt x="2565260" y="663803"/>
                  </a:lnTo>
                  <a:lnTo>
                    <a:pt x="2584716" y="649084"/>
                  </a:lnTo>
                  <a:lnTo>
                    <a:pt x="2616682" y="619582"/>
                  </a:lnTo>
                  <a:lnTo>
                    <a:pt x="2712516" y="525475"/>
                  </a:lnTo>
                  <a:lnTo>
                    <a:pt x="2742958" y="496608"/>
                  </a:lnTo>
                  <a:lnTo>
                    <a:pt x="2763101" y="479323"/>
                  </a:lnTo>
                  <a:lnTo>
                    <a:pt x="2777998" y="469023"/>
                  </a:lnTo>
                  <a:lnTo>
                    <a:pt x="2781871" y="466712"/>
                  </a:lnTo>
                  <a:lnTo>
                    <a:pt x="2785491" y="463461"/>
                  </a:lnTo>
                  <a:lnTo>
                    <a:pt x="2788691" y="455726"/>
                  </a:lnTo>
                  <a:close/>
                </a:path>
                <a:path w="2813685" h="1059180">
                  <a:moveTo>
                    <a:pt x="2798495" y="21742"/>
                  </a:moveTo>
                  <a:lnTo>
                    <a:pt x="2793149" y="14541"/>
                  </a:lnTo>
                  <a:lnTo>
                    <a:pt x="2785605" y="16090"/>
                  </a:lnTo>
                  <a:lnTo>
                    <a:pt x="2774086" y="20840"/>
                  </a:lnTo>
                  <a:lnTo>
                    <a:pt x="2734678" y="44030"/>
                  </a:lnTo>
                  <a:lnTo>
                    <a:pt x="2691688" y="75755"/>
                  </a:lnTo>
                  <a:lnTo>
                    <a:pt x="2661653" y="101117"/>
                  </a:lnTo>
                  <a:lnTo>
                    <a:pt x="2628506" y="130302"/>
                  </a:lnTo>
                  <a:lnTo>
                    <a:pt x="2581846" y="173202"/>
                  </a:lnTo>
                  <a:lnTo>
                    <a:pt x="2572118" y="181394"/>
                  </a:lnTo>
                  <a:lnTo>
                    <a:pt x="2565755" y="185305"/>
                  </a:lnTo>
                  <a:lnTo>
                    <a:pt x="2560840" y="186410"/>
                  </a:lnTo>
                  <a:lnTo>
                    <a:pt x="2555684" y="186601"/>
                  </a:lnTo>
                  <a:lnTo>
                    <a:pt x="2552852" y="185153"/>
                  </a:lnTo>
                  <a:lnTo>
                    <a:pt x="2527249" y="150088"/>
                  </a:lnTo>
                  <a:lnTo>
                    <a:pt x="2522918" y="138633"/>
                  </a:lnTo>
                  <a:lnTo>
                    <a:pt x="2519121" y="135445"/>
                  </a:lnTo>
                  <a:lnTo>
                    <a:pt x="2508935" y="135445"/>
                  </a:lnTo>
                  <a:lnTo>
                    <a:pt x="2505722" y="139611"/>
                  </a:lnTo>
                  <a:lnTo>
                    <a:pt x="2505722" y="146583"/>
                  </a:lnTo>
                  <a:lnTo>
                    <a:pt x="2506129" y="150050"/>
                  </a:lnTo>
                  <a:lnTo>
                    <a:pt x="2530538" y="187312"/>
                  </a:lnTo>
                  <a:lnTo>
                    <a:pt x="2560586" y="205054"/>
                  </a:lnTo>
                  <a:lnTo>
                    <a:pt x="2569222" y="203898"/>
                  </a:lnTo>
                  <a:lnTo>
                    <a:pt x="2578201" y="199644"/>
                  </a:lnTo>
                  <a:lnTo>
                    <a:pt x="2589453" y="191046"/>
                  </a:lnTo>
                  <a:lnTo>
                    <a:pt x="2630970" y="152857"/>
                  </a:lnTo>
                  <a:lnTo>
                    <a:pt x="2662682" y="124650"/>
                  </a:lnTo>
                  <a:lnTo>
                    <a:pt x="2692666" y="98755"/>
                  </a:lnTo>
                  <a:lnTo>
                    <a:pt x="2731490" y="68465"/>
                  </a:lnTo>
                  <a:lnTo>
                    <a:pt x="2765564" y="46355"/>
                  </a:lnTo>
                  <a:lnTo>
                    <a:pt x="2787916" y="34721"/>
                  </a:lnTo>
                  <a:lnTo>
                    <a:pt x="2795143" y="30505"/>
                  </a:lnTo>
                  <a:lnTo>
                    <a:pt x="2798495" y="21742"/>
                  </a:lnTo>
                  <a:close/>
                </a:path>
                <a:path w="2813685" h="1059180">
                  <a:moveTo>
                    <a:pt x="2813418" y="261505"/>
                  </a:moveTo>
                  <a:lnTo>
                    <a:pt x="2812999" y="254825"/>
                  </a:lnTo>
                  <a:lnTo>
                    <a:pt x="2807017" y="249389"/>
                  </a:lnTo>
                  <a:lnTo>
                    <a:pt x="2801505" y="249897"/>
                  </a:lnTo>
                  <a:lnTo>
                    <a:pt x="2754706" y="280606"/>
                  </a:lnTo>
                  <a:lnTo>
                    <a:pt x="2701328" y="318058"/>
                  </a:lnTo>
                  <a:lnTo>
                    <a:pt x="2649461" y="355930"/>
                  </a:lnTo>
                  <a:lnTo>
                    <a:pt x="2588082" y="403847"/>
                  </a:lnTo>
                  <a:lnTo>
                    <a:pt x="2564015" y="422084"/>
                  </a:lnTo>
                  <a:lnTo>
                    <a:pt x="2525306" y="447065"/>
                  </a:lnTo>
                  <a:lnTo>
                    <a:pt x="2510688" y="450913"/>
                  </a:lnTo>
                  <a:lnTo>
                    <a:pt x="2504859" y="450862"/>
                  </a:lnTo>
                  <a:lnTo>
                    <a:pt x="2498725" y="448881"/>
                  </a:lnTo>
                  <a:lnTo>
                    <a:pt x="2493048" y="443979"/>
                  </a:lnTo>
                  <a:lnTo>
                    <a:pt x="2486596" y="434746"/>
                  </a:lnTo>
                  <a:lnTo>
                    <a:pt x="2466632" y="399503"/>
                  </a:lnTo>
                  <a:lnTo>
                    <a:pt x="2456865" y="385102"/>
                  </a:lnTo>
                  <a:lnTo>
                    <a:pt x="2448814" y="376491"/>
                  </a:lnTo>
                  <a:lnTo>
                    <a:pt x="2442464" y="373621"/>
                  </a:lnTo>
                  <a:lnTo>
                    <a:pt x="2439238" y="373608"/>
                  </a:lnTo>
                  <a:lnTo>
                    <a:pt x="2434018" y="379247"/>
                  </a:lnTo>
                  <a:lnTo>
                    <a:pt x="2434018" y="384454"/>
                  </a:lnTo>
                  <a:lnTo>
                    <a:pt x="2437879" y="390804"/>
                  </a:lnTo>
                  <a:lnTo>
                    <a:pt x="2443276" y="397929"/>
                  </a:lnTo>
                  <a:lnTo>
                    <a:pt x="2447671" y="404215"/>
                  </a:lnTo>
                  <a:lnTo>
                    <a:pt x="2452725" y="412165"/>
                  </a:lnTo>
                  <a:lnTo>
                    <a:pt x="2457843" y="420814"/>
                  </a:lnTo>
                  <a:lnTo>
                    <a:pt x="2470099" y="443153"/>
                  </a:lnTo>
                  <a:lnTo>
                    <a:pt x="2476639" y="453199"/>
                  </a:lnTo>
                  <a:lnTo>
                    <a:pt x="2482621" y="460108"/>
                  </a:lnTo>
                  <a:lnTo>
                    <a:pt x="2488615" y="464667"/>
                  </a:lnTo>
                  <a:lnTo>
                    <a:pt x="2498814" y="468477"/>
                  </a:lnTo>
                  <a:lnTo>
                    <a:pt x="2510777" y="469265"/>
                  </a:lnTo>
                  <a:lnTo>
                    <a:pt x="2523896" y="467029"/>
                  </a:lnTo>
                  <a:lnTo>
                    <a:pt x="2571305" y="439331"/>
                  </a:lnTo>
                  <a:lnTo>
                    <a:pt x="2628455" y="395452"/>
                  </a:lnTo>
                  <a:lnTo>
                    <a:pt x="2662148" y="369443"/>
                  </a:lnTo>
                  <a:lnTo>
                    <a:pt x="2701023" y="340741"/>
                  </a:lnTo>
                  <a:lnTo>
                    <a:pt x="2741028" y="312318"/>
                  </a:lnTo>
                  <a:lnTo>
                    <a:pt x="2807995" y="266776"/>
                  </a:lnTo>
                  <a:lnTo>
                    <a:pt x="2811081" y="264375"/>
                  </a:lnTo>
                  <a:lnTo>
                    <a:pt x="2813418" y="261505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97788" y="2725856"/>
            <a:ext cx="3012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Figure:</a:t>
            </a:r>
            <a:r>
              <a:rPr sz="10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55" dirty="0">
                <a:latin typeface="Palatino Linotype" panose="02040502050505030304"/>
                <a:cs typeface="Palatino Linotype" panose="02040502050505030304"/>
              </a:rPr>
              <a:t>Downward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45" dirty="0">
                <a:latin typeface="Palatino Linotype" panose="02040502050505030304"/>
                <a:cs typeface="Palatino Linotype" panose="02040502050505030304"/>
              </a:rPr>
              <a:t>growing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0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records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54767" y="921585"/>
            <a:ext cx="1991995" cy="0"/>
          </a:xfrm>
          <a:custGeom>
            <a:avLst/>
            <a:gdLst/>
            <a:ahLst/>
            <a:cxnLst/>
            <a:rect l="l" t="t" r="r" b="b"/>
            <a:pathLst>
              <a:path w="1991995">
                <a:moveTo>
                  <a:pt x="2" y="2"/>
                </a:moveTo>
                <a:lnTo>
                  <a:pt x="2" y="2"/>
                </a:lnTo>
                <a:lnTo>
                  <a:pt x="1940446" y="2"/>
                </a:lnTo>
                <a:lnTo>
                  <a:pt x="1991511" y="2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7353" y="996138"/>
            <a:ext cx="149163" cy="149163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Snapshot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65" dirty="0"/>
              <a:t>run-</a:t>
            </a:r>
            <a:r>
              <a:rPr spc="70" dirty="0"/>
              <a:t>time</a:t>
            </a:r>
            <a:r>
              <a:rPr spc="210" dirty="0"/>
              <a:t> </a:t>
            </a:r>
            <a:r>
              <a:rPr spc="55" dirty="0"/>
              <a:t>stack</a:t>
            </a:r>
            <a:r>
              <a:rPr spc="210" dirty="0"/>
              <a:t> </a:t>
            </a:r>
            <a:r>
              <a:rPr dirty="0"/>
              <a:t>for</a:t>
            </a:r>
            <a:r>
              <a:rPr spc="210" dirty="0"/>
              <a:t> </a:t>
            </a:r>
            <a:r>
              <a:rPr spc="-10" dirty="0"/>
              <a:t>’quicksort’</a:t>
            </a:r>
            <a:endParaRPr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628952" y="823506"/>
            <a:ext cx="3493770" cy="1602105"/>
            <a:chOff x="628952" y="823506"/>
            <a:chExt cx="3493770" cy="16021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952" y="908567"/>
              <a:ext cx="3354975" cy="149218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79817" y="956881"/>
              <a:ext cx="2353310" cy="1468755"/>
            </a:xfrm>
            <a:custGeom>
              <a:avLst/>
              <a:gdLst/>
              <a:ahLst/>
              <a:cxnLst/>
              <a:rect l="l" t="t" r="r" b="b"/>
              <a:pathLst>
                <a:path w="2353310" h="1468755">
                  <a:moveTo>
                    <a:pt x="384162" y="604012"/>
                  </a:moveTo>
                  <a:lnTo>
                    <a:pt x="383857" y="596036"/>
                  </a:lnTo>
                  <a:lnTo>
                    <a:pt x="380263" y="593521"/>
                  </a:lnTo>
                  <a:lnTo>
                    <a:pt x="377024" y="592150"/>
                  </a:lnTo>
                  <a:lnTo>
                    <a:pt x="371754" y="591870"/>
                  </a:lnTo>
                  <a:lnTo>
                    <a:pt x="363105" y="592747"/>
                  </a:lnTo>
                  <a:lnTo>
                    <a:pt x="349732" y="594817"/>
                  </a:lnTo>
                  <a:lnTo>
                    <a:pt x="320814" y="599147"/>
                  </a:lnTo>
                  <a:lnTo>
                    <a:pt x="289928" y="601472"/>
                  </a:lnTo>
                  <a:lnTo>
                    <a:pt x="239826" y="602475"/>
                  </a:lnTo>
                  <a:lnTo>
                    <a:pt x="150609" y="602881"/>
                  </a:lnTo>
                  <a:lnTo>
                    <a:pt x="146570" y="608228"/>
                  </a:lnTo>
                  <a:lnTo>
                    <a:pt x="146570" y="613575"/>
                  </a:lnTo>
                  <a:lnTo>
                    <a:pt x="147878" y="616254"/>
                  </a:lnTo>
                  <a:lnTo>
                    <a:pt x="152565" y="620649"/>
                  </a:lnTo>
                  <a:lnTo>
                    <a:pt x="278472" y="619848"/>
                  </a:lnTo>
                  <a:lnTo>
                    <a:pt x="304469" y="619328"/>
                  </a:lnTo>
                  <a:lnTo>
                    <a:pt x="319481" y="618286"/>
                  </a:lnTo>
                  <a:lnTo>
                    <a:pt x="373507" y="609930"/>
                  </a:lnTo>
                  <a:lnTo>
                    <a:pt x="379374" y="608342"/>
                  </a:lnTo>
                  <a:lnTo>
                    <a:pt x="384162" y="604012"/>
                  </a:lnTo>
                  <a:close/>
                </a:path>
                <a:path w="2353310" h="1468755">
                  <a:moveTo>
                    <a:pt x="597331" y="1451813"/>
                  </a:moveTo>
                  <a:lnTo>
                    <a:pt x="592302" y="1443164"/>
                  </a:lnTo>
                  <a:lnTo>
                    <a:pt x="580644" y="1443164"/>
                  </a:lnTo>
                  <a:lnTo>
                    <a:pt x="578180" y="1443431"/>
                  </a:lnTo>
                  <a:lnTo>
                    <a:pt x="577850" y="1443761"/>
                  </a:lnTo>
                  <a:lnTo>
                    <a:pt x="567651" y="1444548"/>
                  </a:lnTo>
                  <a:lnTo>
                    <a:pt x="514223" y="1447050"/>
                  </a:lnTo>
                  <a:lnTo>
                    <a:pt x="475665" y="1449920"/>
                  </a:lnTo>
                  <a:lnTo>
                    <a:pt x="458584" y="1450467"/>
                  </a:lnTo>
                  <a:lnTo>
                    <a:pt x="362902" y="1449920"/>
                  </a:lnTo>
                  <a:lnTo>
                    <a:pt x="318223" y="1448765"/>
                  </a:lnTo>
                  <a:lnTo>
                    <a:pt x="292658" y="1447253"/>
                  </a:lnTo>
                  <a:lnTo>
                    <a:pt x="264210" y="1446733"/>
                  </a:lnTo>
                  <a:lnTo>
                    <a:pt x="217563" y="1446453"/>
                  </a:lnTo>
                  <a:lnTo>
                    <a:pt x="5473" y="1446301"/>
                  </a:lnTo>
                  <a:lnTo>
                    <a:pt x="0" y="1453045"/>
                  </a:lnTo>
                  <a:lnTo>
                    <a:pt x="0" y="1457172"/>
                  </a:lnTo>
                  <a:lnTo>
                    <a:pt x="5461" y="1463916"/>
                  </a:lnTo>
                  <a:lnTo>
                    <a:pt x="219659" y="1465084"/>
                  </a:lnTo>
                  <a:lnTo>
                    <a:pt x="268414" y="1465592"/>
                  </a:lnTo>
                  <a:lnTo>
                    <a:pt x="300164" y="1466189"/>
                  </a:lnTo>
                  <a:lnTo>
                    <a:pt x="349504" y="1468170"/>
                  </a:lnTo>
                  <a:lnTo>
                    <a:pt x="406260" y="1468539"/>
                  </a:lnTo>
                  <a:lnTo>
                    <a:pt x="463359" y="1468005"/>
                  </a:lnTo>
                  <a:lnTo>
                    <a:pt x="498779" y="1466634"/>
                  </a:lnTo>
                  <a:lnTo>
                    <a:pt x="519430" y="1465046"/>
                  </a:lnTo>
                  <a:lnTo>
                    <a:pt x="566178" y="1463078"/>
                  </a:lnTo>
                  <a:lnTo>
                    <a:pt x="580517" y="1461998"/>
                  </a:lnTo>
                  <a:lnTo>
                    <a:pt x="588492" y="1460474"/>
                  </a:lnTo>
                  <a:lnTo>
                    <a:pt x="592124" y="1458252"/>
                  </a:lnTo>
                  <a:lnTo>
                    <a:pt x="597331" y="1451813"/>
                  </a:lnTo>
                  <a:close/>
                </a:path>
                <a:path w="2353310" h="1468755">
                  <a:moveTo>
                    <a:pt x="1282446" y="437629"/>
                  </a:moveTo>
                  <a:lnTo>
                    <a:pt x="1262303" y="417436"/>
                  </a:lnTo>
                  <a:lnTo>
                    <a:pt x="1243444" y="411695"/>
                  </a:lnTo>
                  <a:lnTo>
                    <a:pt x="1203058" y="385889"/>
                  </a:lnTo>
                  <a:lnTo>
                    <a:pt x="1195108" y="333121"/>
                  </a:lnTo>
                  <a:lnTo>
                    <a:pt x="1194765" y="330771"/>
                  </a:lnTo>
                  <a:lnTo>
                    <a:pt x="1188948" y="326517"/>
                  </a:lnTo>
                  <a:lnTo>
                    <a:pt x="1182611" y="326961"/>
                  </a:lnTo>
                  <a:lnTo>
                    <a:pt x="1179817" y="330060"/>
                  </a:lnTo>
                  <a:lnTo>
                    <a:pt x="1177658" y="332460"/>
                  </a:lnTo>
                  <a:lnTo>
                    <a:pt x="1177442" y="334683"/>
                  </a:lnTo>
                  <a:lnTo>
                    <a:pt x="1177772" y="362534"/>
                  </a:lnTo>
                  <a:lnTo>
                    <a:pt x="1193647" y="403479"/>
                  </a:lnTo>
                  <a:lnTo>
                    <a:pt x="1230439" y="426123"/>
                  </a:lnTo>
                  <a:lnTo>
                    <a:pt x="1260640" y="435610"/>
                  </a:lnTo>
                  <a:lnTo>
                    <a:pt x="1262468" y="436105"/>
                  </a:lnTo>
                  <a:lnTo>
                    <a:pt x="1263408" y="436702"/>
                  </a:lnTo>
                  <a:lnTo>
                    <a:pt x="1264069" y="438848"/>
                  </a:lnTo>
                  <a:lnTo>
                    <a:pt x="1262303" y="444042"/>
                  </a:lnTo>
                  <a:lnTo>
                    <a:pt x="1257528" y="453605"/>
                  </a:lnTo>
                  <a:lnTo>
                    <a:pt x="1249121" y="468884"/>
                  </a:lnTo>
                  <a:lnTo>
                    <a:pt x="1239951" y="486333"/>
                  </a:lnTo>
                  <a:lnTo>
                    <a:pt x="1219123" y="530453"/>
                  </a:lnTo>
                  <a:lnTo>
                    <a:pt x="1200645" y="578764"/>
                  </a:lnTo>
                  <a:lnTo>
                    <a:pt x="1183855" y="642912"/>
                  </a:lnTo>
                  <a:lnTo>
                    <a:pt x="1178331" y="685863"/>
                  </a:lnTo>
                  <a:lnTo>
                    <a:pt x="1178128" y="705307"/>
                  </a:lnTo>
                  <a:lnTo>
                    <a:pt x="1178687" y="724954"/>
                  </a:lnTo>
                  <a:lnTo>
                    <a:pt x="1179982" y="741197"/>
                  </a:lnTo>
                  <a:lnTo>
                    <a:pt x="1182077" y="760171"/>
                  </a:lnTo>
                  <a:lnTo>
                    <a:pt x="1120813" y="760958"/>
                  </a:lnTo>
                  <a:lnTo>
                    <a:pt x="1082179" y="764235"/>
                  </a:lnTo>
                  <a:lnTo>
                    <a:pt x="1042352" y="769442"/>
                  </a:lnTo>
                  <a:lnTo>
                    <a:pt x="1000874" y="776643"/>
                  </a:lnTo>
                  <a:lnTo>
                    <a:pt x="928382" y="792213"/>
                  </a:lnTo>
                  <a:lnTo>
                    <a:pt x="922159" y="793407"/>
                  </a:lnTo>
                  <a:lnTo>
                    <a:pt x="908329" y="795147"/>
                  </a:lnTo>
                  <a:lnTo>
                    <a:pt x="890346" y="796645"/>
                  </a:lnTo>
                  <a:lnTo>
                    <a:pt x="873734" y="797534"/>
                  </a:lnTo>
                  <a:lnTo>
                    <a:pt x="863968" y="797433"/>
                  </a:lnTo>
                  <a:lnTo>
                    <a:pt x="856335" y="798080"/>
                  </a:lnTo>
                  <a:lnTo>
                    <a:pt x="851179" y="801839"/>
                  </a:lnTo>
                  <a:lnTo>
                    <a:pt x="849528" y="807326"/>
                  </a:lnTo>
                  <a:lnTo>
                    <a:pt x="852424" y="813130"/>
                  </a:lnTo>
                  <a:lnTo>
                    <a:pt x="854443" y="814641"/>
                  </a:lnTo>
                  <a:lnTo>
                    <a:pt x="858227" y="815365"/>
                  </a:lnTo>
                  <a:lnTo>
                    <a:pt x="866267" y="815454"/>
                  </a:lnTo>
                  <a:lnTo>
                    <a:pt x="881037" y="815086"/>
                  </a:lnTo>
                  <a:lnTo>
                    <a:pt x="926731" y="811403"/>
                  </a:lnTo>
                  <a:lnTo>
                    <a:pt x="956652" y="804862"/>
                  </a:lnTo>
                  <a:lnTo>
                    <a:pt x="1008075" y="793724"/>
                  </a:lnTo>
                  <a:lnTo>
                    <a:pt x="1055077" y="785977"/>
                  </a:lnTo>
                  <a:lnTo>
                    <a:pt x="1100467" y="781240"/>
                  </a:lnTo>
                  <a:lnTo>
                    <a:pt x="1147025" y="779132"/>
                  </a:lnTo>
                  <a:lnTo>
                    <a:pt x="1184109" y="778421"/>
                  </a:lnTo>
                  <a:lnTo>
                    <a:pt x="1185113" y="787425"/>
                  </a:lnTo>
                  <a:lnTo>
                    <a:pt x="1185697" y="789863"/>
                  </a:lnTo>
                  <a:lnTo>
                    <a:pt x="1192034" y="794994"/>
                  </a:lnTo>
                  <a:lnTo>
                    <a:pt x="1196479" y="794639"/>
                  </a:lnTo>
                  <a:lnTo>
                    <a:pt x="1203401" y="787730"/>
                  </a:lnTo>
                  <a:lnTo>
                    <a:pt x="1203502" y="787158"/>
                  </a:lnTo>
                  <a:lnTo>
                    <a:pt x="1199324" y="747610"/>
                  </a:lnTo>
                  <a:lnTo>
                    <a:pt x="1196860" y="720496"/>
                  </a:lnTo>
                  <a:lnTo>
                    <a:pt x="1197876" y="671169"/>
                  </a:lnTo>
                  <a:lnTo>
                    <a:pt x="1205306" y="631012"/>
                  </a:lnTo>
                  <a:lnTo>
                    <a:pt x="1216317" y="590308"/>
                  </a:lnTo>
                  <a:lnTo>
                    <a:pt x="1230426" y="550811"/>
                  </a:lnTo>
                  <a:lnTo>
                    <a:pt x="1254785" y="497598"/>
                  </a:lnTo>
                  <a:lnTo>
                    <a:pt x="1274787" y="460349"/>
                  </a:lnTo>
                  <a:lnTo>
                    <a:pt x="1279461" y="450608"/>
                  </a:lnTo>
                  <a:lnTo>
                    <a:pt x="1281811" y="443534"/>
                  </a:lnTo>
                  <a:lnTo>
                    <a:pt x="1282446" y="437629"/>
                  </a:lnTo>
                  <a:close/>
                </a:path>
                <a:path w="2353310" h="1468755">
                  <a:moveTo>
                    <a:pt x="2134832" y="98526"/>
                  </a:moveTo>
                  <a:lnTo>
                    <a:pt x="2128189" y="90081"/>
                  </a:lnTo>
                  <a:lnTo>
                    <a:pt x="2121446" y="89687"/>
                  </a:lnTo>
                  <a:lnTo>
                    <a:pt x="2117712" y="93433"/>
                  </a:lnTo>
                  <a:lnTo>
                    <a:pt x="2116328" y="94818"/>
                  </a:lnTo>
                  <a:lnTo>
                    <a:pt x="2115185" y="97586"/>
                  </a:lnTo>
                  <a:lnTo>
                    <a:pt x="2115185" y="108521"/>
                  </a:lnTo>
                  <a:lnTo>
                    <a:pt x="2125294" y="112293"/>
                  </a:lnTo>
                  <a:lnTo>
                    <a:pt x="2134743" y="101307"/>
                  </a:lnTo>
                  <a:lnTo>
                    <a:pt x="2134832" y="98526"/>
                  </a:lnTo>
                  <a:close/>
                </a:path>
                <a:path w="2353310" h="1468755">
                  <a:moveTo>
                    <a:pt x="2196414" y="579513"/>
                  </a:moveTo>
                  <a:lnTo>
                    <a:pt x="2196350" y="573354"/>
                  </a:lnTo>
                  <a:lnTo>
                    <a:pt x="2193175" y="570179"/>
                  </a:lnTo>
                  <a:lnTo>
                    <a:pt x="2190077" y="568325"/>
                  </a:lnTo>
                  <a:lnTo>
                    <a:pt x="2185276" y="567944"/>
                  </a:lnTo>
                  <a:lnTo>
                    <a:pt x="2177821" y="569087"/>
                  </a:lnTo>
                  <a:lnTo>
                    <a:pt x="2166759" y="571817"/>
                  </a:lnTo>
                  <a:lnTo>
                    <a:pt x="2152294" y="575716"/>
                  </a:lnTo>
                  <a:lnTo>
                    <a:pt x="1992896" y="576884"/>
                  </a:lnTo>
                  <a:lnTo>
                    <a:pt x="1962975" y="577761"/>
                  </a:lnTo>
                  <a:lnTo>
                    <a:pt x="1952802" y="579907"/>
                  </a:lnTo>
                  <a:lnTo>
                    <a:pt x="1951024" y="584149"/>
                  </a:lnTo>
                  <a:lnTo>
                    <a:pt x="1950415" y="586600"/>
                  </a:lnTo>
                  <a:lnTo>
                    <a:pt x="1951012" y="588352"/>
                  </a:lnTo>
                  <a:lnTo>
                    <a:pt x="1956473" y="594702"/>
                  </a:lnTo>
                  <a:lnTo>
                    <a:pt x="2081276" y="594715"/>
                  </a:lnTo>
                  <a:lnTo>
                    <a:pt x="2135124" y="594207"/>
                  </a:lnTo>
                  <a:lnTo>
                    <a:pt x="2174646" y="588873"/>
                  </a:lnTo>
                  <a:lnTo>
                    <a:pt x="2193328" y="582599"/>
                  </a:lnTo>
                  <a:lnTo>
                    <a:pt x="2196414" y="579513"/>
                  </a:lnTo>
                  <a:close/>
                </a:path>
                <a:path w="2353310" h="1468755">
                  <a:moveTo>
                    <a:pt x="2206612" y="250761"/>
                  </a:moveTo>
                  <a:lnTo>
                    <a:pt x="2201253" y="244132"/>
                  </a:lnTo>
                  <a:lnTo>
                    <a:pt x="2199805" y="243763"/>
                  </a:lnTo>
                  <a:lnTo>
                    <a:pt x="2185670" y="243459"/>
                  </a:lnTo>
                  <a:lnTo>
                    <a:pt x="2174710" y="243840"/>
                  </a:lnTo>
                  <a:lnTo>
                    <a:pt x="2166759" y="244411"/>
                  </a:lnTo>
                  <a:lnTo>
                    <a:pt x="2147493" y="246519"/>
                  </a:lnTo>
                  <a:lnTo>
                    <a:pt x="2121471" y="250126"/>
                  </a:lnTo>
                  <a:lnTo>
                    <a:pt x="2090648" y="254800"/>
                  </a:lnTo>
                  <a:lnTo>
                    <a:pt x="2011768" y="255765"/>
                  </a:lnTo>
                  <a:lnTo>
                    <a:pt x="1996262" y="256235"/>
                  </a:lnTo>
                  <a:lnTo>
                    <a:pt x="1989289" y="257022"/>
                  </a:lnTo>
                  <a:lnTo>
                    <a:pt x="1986749" y="258356"/>
                  </a:lnTo>
                  <a:lnTo>
                    <a:pt x="1983473" y="261620"/>
                  </a:lnTo>
                  <a:lnTo>
                    <a:pt x="1983625" y="268478"/>
                  </a:lnTo>
                  <a:lnTo>
                    <a:pt x="1987016" y="271551"/>
                  </a:lnTo>
                  <a:lnTo>
                    <a:pt x="1989594" y="272872"/>
                  </a:lnTo>
                  <a:lnTo>
                    <a:pt x="1996198" y="273570"/>
                  </a:lnTo>
                  <a:lnTo>
                    <a:pt x="2010879" y="273799"/>
                  </a:lnTo>
                  <a:lnTo>
                    <a:pt x="2066569" y="273507"/>
                  </a:lnTo>
                  <a:lnTo>
                    <a:pt x="2086013" y="272796"/>
                  </a:lnTo>
                  <a:lnTo>
                    <a:pt x="2102548" y="271208"/>
                  </a:lnTo>
                  <a:lnTo>
                    <a:pt x="2142147" y="265569"/>
                  </a:lnTo>
                  <a:lnTo>
                    <a:pt x="2159203" y="263601"/>
                  </a:lnTo>
                  <a:lnTo>
                    <a:pt x="2173846" y="262407"/>
                  </a:lnTo>
                  <a:lnTo>
                    <a:pt x="2186000" y="262001"/>
                  </a:lnTo>
                  <a:lnTo>
                    <a:pt x="2198725" y="261988"/>
                  </a:lnTo>
                  <a:lnTo>
                    <a:pt x="2199767" y="261797"/>
                  </a:lnTo>
                  <a:lnTo>
                    <a:pt x="2206358" y="255206"/>
                  </a:lnTo>
                  <a:lnTo>
                    <a:pt x="2206612" y="250761"/>
                  </a:lnTo>
                  <a:close/>
                </a:path>
                <a:path w="2353310" h="1468755">
                  <a:moveTo>
                    <a:pt x="2228392" y="860933"/>
                  </a:moveTo>
                  <a:lnTo>
                    <a:pt x="2227224" y="858342"/>
                  </a:lnTo>
                  <a:lnTo>
                    <a:pt x="2222639" y="852512"/>
                  </a:lnTo>
                  <a:lnTo>
                    <a:pt x="2218525" y="852360"/>
                  </a:lnTo>
                  <a:lnTo>
                    <a:pt x="2207641" y="855865"/>
                  </a:lnTo>
                  <a:lnTo>
                    <a:pt x="2176195" y="865124"/>
                  </a:lnTo>
                  <a:lnTo>
                    <a:pt x="1985391" y="866419"/>
                  </a:lnTo>
                  <a:lnTo>
                    <a:pt x="1979726" y="873417"/>
                  </a:lnTo>
                  <a:lnTo>
                    <a:pt x="1979968" y="877862"/>
                  </a:lnTo>
                  <a:lnTo>
                    <a:pt x="1986762" y="884656"/>
                  </a:lnTo>
                  <a:lnTo>
                    <a:pt x="2133816" y="884504"/>
                  </a:lnTo>
                  <a:lnTo>
                    <a:pt x="2183511" y="881697"/>
                  </a:lnTo>
                  <a:lnTo>
                    <a:pt x="2223732" y="869492"/>
                  </a:lnTo>
                  <a:lnTo>
                    <a:pt x="2228392" y="862266"/>
                  </a:lnTo>
                  <a:lnTo>
                    <a:pt x="2228392" y="860933"/>
                  </a:lnTo>
                  <a:close/>
                </a:path>
                <a:path w="2353310" h="1468755">
                  <a:moveTo>
                    <a:pt x="2353145" y="431800"/>
                  </a:moveTo>
                  <a:lnTo>
                    <a:pt x="2352306" y="417830"/>
                  </a:lnTo>
                  <a:lnTo>
                    <a:pt x="2352230" y="416560"/>
                  </a:lnTo>
                  <a:lnTo>
                    <a:pt x="2348573" y="401320"/>
                  </a:lnTo>
                  <a:lnTo>
                    <a:pt x="2340622" y="381000"/>
                  </a:lnTo>
                  <a:lnTo>
                    <a:pt x="2334717" y="367957"/>
                  </a:lnTo>
                  <a:lnTo>
                    <a:pt x="2334717" y="422910"/>
                  </a:lnTo>
                  <a:lnTo>
                    <a:pt x="2334666" y="440690"/>
                  </a:lnTo>
                  <a:lnTo>
                    <a:pt x="2325827" y="487680"/>
                  </a:lnTo>
                  <a:lnTo>
                    <a:pt x="2307171" y="535940"/>
                  </a:lnTo>
                  <a:lnTo>
                    <a:pt x="2286749" y="581660"/>
                  </a:lnTo>
                  <a:lnTo>
                    <a:pt x="2278265" y="601980"/>
                  </a:lnTo>
                  <a:lnTo>
                    <a:pt x="2273249" y="615950"/>
                  </a:lnTo>
                  <a:lnTo>
                    <a:pt x="2269642" y="631190"/>
                  </a:lnTo>
                  <a:lnTo>
                    <a:pt x="2266823" y="642620"/>
                  </a:lnTo>
                  <a:lnTo>
                    <a:pt x="2266289" y="822960"/>
                  </a:lnTo>
                  <a:lnTo>
                    <a:pt x="2266251" y="835660"/>
                  </a:lnTo>
                  <a:lnTo>
                    <a:pt x="2266162" y="867410"/>
                  </a:lnTo>
                  <a:lnTo>
                    <a:pt x="2266099" y="890270"/>
                  </a:lnTo>
                  <a:lnTo>
                    <a:pt x="2265984" y="928370"/>
                  </a:lnTo>
                  <a:lnTo>
                    <a:pt x="2265959" y="937260"/>
                  </a:lnTo>
                  <a:lnTo>
                    <a:pt x="2265832" y="979170"/>
                  </a:lnTo>
                  <a:lnTo>
                    <a:pt x="2265718" y="1018540"/>
                  </a:lnTo>
                  <a:lnTo>
                    <a:pt x="2265603" y="1057910"/>
                  </a:lnTo>
                  <a:lnTo>
                    <a:pt x="2265489" y="1096010"/>
                  </a:lnTo>
                  <a:lnTo>
                    <a:pt x="2254148" y="1143000"/>
                  </a:lnTo>
                  <a:lnTo>
                    <a:pt x="2236927" y="1178560"/>
                  </a:lnTo>
                  <a:lnTo>
                    <a:pt x="2222157" y="1193800"/>
                  </a:lnTo>
                  <a:lnTo>
                    <a:pt x="2218766" y="1193800"/>
                  </a:lnTo>
                  <a:lnTo>
                    <a:pt x="2212771" y="1195070"/>
                  </a:lnTo>
                  <a:lnTo>
                    <a:pt x="2205024" y="1196340"/>
                  </a:lnTo>
                  <a:lnTo>
                    <a:pt x="2196363" y="1196340"/>
                  </a:lnTo>
                  <a:lnTo>
                    <a:pt x="2141410" y="1203960"/>
                  </a:lnTo>
                  <a:lnTo>
                    <a:pt x="2117102" y="1209040"/>
                  </a:lnTo>
                  <a:lnTo>
                    <a:pt x="2064232" y="1224280"/>
                  </a:lnTo>
                  <a:lnTo>
                    <a:pt x="2040839" y="1228090"/>
                  </a:lnTo>
                  <a:lnTo>
                    <a:pt x="2019465" y="1228090"/>
                  </a:lnTo>
                  <a:lnTo>
                    <a:pt x="1994382" y="1223010"/>
                  </a:lnTo>
                  <a:lnTo>
                    <a:pt x="1985391" y="1221740"/>
                  </a:lnTo>
                  <a:lnTo>
                    <a:pt x="1965312" y="1216660"/>
                  </a:lnTo>
                  <a:lnTo>
                    <a:pt x="1956689" y="1215390"/>
                  </a:lnTo>
                  <a:lnTo>
                    <a:pt x="1932838" y="1210310"/>
                  </a:lnTo>
                  <a:lnTo>
                    <a:pt x="1904047" y="1205230"/>
                  </a:lnTo>
                  <a:lnTo>
                    <a:pt x="1896846" y="1203960"/>
                  </a:lnTo>
                  <a:lnTo>
                    <a:pt x="1860118" y="1196340"/>
                  </a:lnTo>
                  <a:lnTo>
                    <a:pt x="1834045" y="1191260"/>
                  </a:lnTo>
                  <a:lnTo>
                    <a:pt x="1819922" y="1188720"/>
                  </a:lnTo>
                  <a:lnTo>
                    <a:pt x="1807324" y="1187450"/>
                  </a:lnTo>
                  <a:lnTo>
                    <a:pt x="1796402" y="1187450"/>
                  </a:lnTo>
                  <a:lnTo>
                    <a:pt x="1787296" y="1188720"/>
                  </a:lnTo>
                  <a:lnTo>
                    <a:pt x="1780425" y="1189990"/>
                  </a:lnTo>
                  <a:lnTo>
                    <a:pt x="1773948" y="1192530"/>
                  </a:lnTo>
                  <a:lnTo>
                    <a:pt x="1753565" y="1205230"/>
                  </a:lnTo>
                  <a:lnTo>
                    <a:pt x="1734870" y="1215390"/>
                  </a:lnTo>
                  <a:lnTo>
                    <a:pt x="1718132" y="1220470"/>
                  </a:lnTo>
                  <a:lnTo>
                    <a:pt x="1699768" y="1223010"/>
                  </a:lnTo>
                  <a:lnTo>
                    <a:pt x="1665135" y="1223010"/>
                  </a:lnTo>
                  <a:lnTo>
                    <a:pt x="1642745" y="1220470"/>
                  </a:lnTo>
                  <a:lnTo>
                    <a:pt x="1632788" y="1219200"/>
                  </a:lnTo>
                  <a:lnTo>
                    <a:pt x="1596351" y="1214120"/>
                  </a:lnTo>
                  <a:lnTo>
                    <a:pt x="1556258" y="1206500"/>
                  </a:lnTo>
                  <a:lnTo>
                    <a:pt x="1490637" y="1195070"/>
                  </a:lnTo>
                  <a:lnTo>
                    <a:pt x="1463992" y="1189990"/>
                  </a:lnTo>
                  <a:lnTo>
                    <a:pt x="1451724" y="1187450"/>
                  </a:lnTo>
                  <a:lnTo>
                    <a:pt x="1442300" y="1184910"/>
                  </a:lnTo>
                  <a:lnTo>
                    <a:pt x="1424457" y="1181100"/>
                  </a:lnTo>
                  <a:lnTo>
                    <a:pt x="1413725" y="1176020"/>
                  </a:lnTo>
                  <a:lnTo>
                    <a:pt x="1408074" y="1167130"/>
                  </a:lnTo>
                  <a:lnTo>
                    <a:pt x="1405445" y="1154430"/>
                  </a:lnTo>
                  <a:lnTo>
                    <a:pt x="1404670" y="1132840"/>
                  </a:lnTo>
                  <a:lnTo>
                    <a:pt x="1404785" y="1115060"/>
                  </a:lnTo>
                  <a:lnTo>
                    <a:pt x="1405877" y="1065530"/>
                  </a:lnTo>
                  <a:lnTo>
                    <a:pt x="1413903" y="1009650"/>
                  </a:lnTo>
                  <a:lnTo>
                    <a:pt x="1424127" y="971550"/>
                  </a:lnTo>
                  <a:lnTo>
                    <a:pt x="1438567" y="928370"/>
                  </a:lnTo>
                  <a:lnTo>
                    <a:pt x="1457693" y="880110"/>
                  </a:lnTo>
                  <a:lnTo>
                    <a:pt x="1481975" y="822960"/>
                  </a:lnTo>
                  <a:lnTo>
                    <a:pt x="1511871" y="758190"/>
                  </a:lnTo>
                  <a:lnTo>
                    <a:pt x="1530934" y="720090"/>
                  </a:lnTo>
                  <a:lnTo>
                    <a:pt x="1553032" y="679450"/>
                  </a:lnTo>
                  <a:lnTo>
                    <a:pt x="1578089" y="637540"/>
                  </a:lnTo>
                  <a:lnTo>
                    <a:pt x="1606029" y="593090"/>
                  </a:lnTo>
                  <a:lnTo>
                    <a:pt x="1636763" y="547370"/>
                  </a:lnTo>
                  <a:lnTo>
                    <a:pt x="1670443" y="499110"/>
                  </a:lnTo>
                  <a:lnTo>
                    <a:pt x="1687347" y="477520"/>
                  </a:lnTo>
                  <a:lnTo>
                    <a:pt x="1707667" y="450850"/>
                  </a:lnTo>
                  <a:lnTo>
                    <a:pt x="1715604" y="440690"/>
                  </a:lnTo>
                  <a:lnTo>
                    <a:pt x="1722742" y="431800"/>
                  </a:lnTo>
                  <a:lnTo>
                    <a:pt x="1728279" y="425450"/>
                  </a:lnTo>
                  <a:lnTo>
                    <a:pt x="1731441" y="420370"/>
                  </a:lnTo>
                  <a:lnTo>
                    <a:pt x="1746631" y="381000"/>
                  </a:lnTo>
                  <a:lnTo>
                    <a:pt x="1752473" y="354330"/>
                  </a:lnTo>
                  <a:lnTo>
                    <a:pt x="1759153" y="328930"/>
                  </a:lnTo>
                  <a:lnTo>
                    <a:pt x="1776336" y="279400"/>
                  </a:lnTo>
                  <a:lnTo>
                    <a:pt x="1804174" y="227330"/>
                  </a:lnTo>
                  <a:lnTo>
                    <a:pt x="1841360" y="181610"/>
                  </a:lnTo>
                  <a:lnTo>
                    <a:pt x="1884337" y="147320"/>
                  </a:lnTo>
                  <a:lnTo>
                    <a:pt x="1946402" y="116840"/>
                  </a:lnTo>
                  <a:lnTo>
                    <a:pt x="1995055" y="100330"/>
                  </a:lnTo>
                  <a:lnTo>
                    <a:pt x="2017699" y="96520"/>
                  </a:lnTo>
                  <a:lnTo>
                    <a:pt x="2029206" y="93980"/>
                  </a:lnTo>
                  <a:lnTo>
                    <a:pt x="2040077" y="91440"/>
                  </a:lnTo>
                  <a:lnTo>
                    <a:pt x="2049094" y="88900"/>
                  </a:lnTo>
                  <a:lnTo>
                    <a:pt x="2055012" y="87630"/>
                  </a:lnTo>
                  <a:lnTo>
                    <a:pt x="2064385" y="86360"/>
                  </a:lnTo>
                  <a:lnTo>
                    <a:pt x="2064715" y="86360"/>
                  </a:lnTo>
                  <a:lnTo>
                    <a:pt x="2067763" y="88900"/>
                  </a:lnTo>
                  <a:lnTo>
                    <a:pt x="2070290" y="90170"/>
                  </a:lnTo>
                  <a:lnTo>
                    <a:pt x="2076043" y="90170"/>
                  </a:lnTo>
                  <a:lnTo>
                    <a:pt x="2078393" y="88900"/>
                  </a:lnTo>
                  <a:lnTo>
                    <a:pt x="2080374" y="86360"/>
                  </a:lnTo>
                  <a:lnTo>
                    <a:pt x="2083333" y="82550"/>
                  </a:lnTo>
                  <a:lnTo>
                    <a:pt x="2087346" y="80010"/>
                  </a:lnTo>
                  <a:lnTo>
                    <a:pt x="2095550" y="78740"/>
                  </a:lnTo>
                  <a:lnTo>
                    <a:pt x="2106180" y="76200"/>
                  </a:lnTo>
                  <a:lnTo>
                    <a:pt x="2117471" y="76200"/>
                  </a:lnTo>
                  <a:lnTo>
                    <a:pt x="2130044" y="74930"/>
                  </a:lnTo>
                  <a:lnTo>
                    <a:pt x="2134057" y="72390"/>
                  </a:lnTo>
                  <a:lnTo>
                    <a:pt x="2134057" y="58420"/>
                  </a:lnTo>
                  <a:lnTo>
                    <a:pt x="2134057" y="57150"/>
                  </a:lnTo>
                  <a:lnTo>
                    <a:pt x="2129066" y="55880"/>
                  </a:lnTo>
                  <a:lnTo>
                    <a:pt x="2108555" y="58420"/>
                  </a:lnTo>
                  <a:lnTo>
                    <a:pt x="2104301" y="58420"/>
                  </a:lnTo>
                  <a:lnTo>
                    <a:pt x="2104910" y="57150"/>
                  </a:lnTo>
                  <a:lnTo>
                    <a:pt x="2110397" y="52070"/>
                  </a:lnTo>
                  <a:lnTo>
                    <a:pt x="2116785" y="48260"/>
                  </a:lnTo>
                  <a:lnTo>
                    <a:pt x="2139289" y="31750"/>
                  </a:lnTo>
                  <a:lnTo>
                    <a:pt x="2153310" y="22860"/>
                  </a:lnTo>
                  <a:lnTo>
                    <a:pt x="2163330" y="19050"/>
                  </a:lnTo>
                  <a:lnTo>
                    <a:pt x="2181860" y="19050"/>
                  </a:lnTo>
                  <a:lnTo>
                    <a:pt x="2185543" y="20320"/>
                  </a:lnTo>
                  <a:lnTo>
                    <a:pt x="2191220" y="22860"/>
                  </a:lnTo>
                  <a:lnTo>
                    <a:pt x="2195652" y="25400"/>
                  </a:lnTo>
                  <a:lnTo>
                    <a:pt x="2201316" y="30480"/>
                  </a:lnTo>
                  <a:lnTo>
                    <a:pt x="2208809" y="36830"/>
                  </a:lnTo>
                  <a:lnTo>
                    <a:pt x="2218753" y="46990"/>
                  </a:lnTo>
                  <a:lnTo>
                    <a:pt x="2227237" y="54610"/>
                  </a:lnTo>
                  <a:lnTo>
                    <a:pt x="2241981" y="68580"/>
                  </a:lnTo>
                  <a:lnTo>
                    <a:pt x="2246439" y="72390"/>
                  </a:lnTo>
                  <a:lnTo>
                    <a:pt x="2250465" y="76200"/>
                  </a:lnTo>
                  <a:lnTo>
                    <a:pt x="2254593" y="80010"/>
                  </a:lnTo>
                  <a:lnTo>
                    <a:pt x="2261031" y="124460"/>
                  </a:lnTo>
                  <a:lnTo>
                    <a:pt x="2261133" y="125730"/>
                  </a:lnTo>
                  <a:lnTo>
                    <a:pt x="2269185" y="195580"/>
                  </a:lnTo>
                  <a:lnTo>
                    <a:pt x="2275929" y="236220"/>
                  </a:lnTo>
                  <a:lnTo>
                    <a:pt x="2283930" y="276860"/>
                  </a:lnTo>
                  <a:lnTo>
                    <a:pt x="2295817" y="322580"/>
                  </a:lnTo>
                  <a:lnTo>
                    <a:pt x="2312517" y="363220"/>
                  </a:lnTo>
                  <a:lnTo>
                    <a:pt x="2324658" y="389890"/>
                  </a:lnTo>
                  <a:lnTo>
                    <a:pt x="2331682" y="408940"/>
                  </a:lnTo>
                  <a:lnTo>
                    <a:pt x="2334717" y="422910"/>
                  </a:lnTo>
                  <a:lnTo>
                    <a:pt x="2334717" y="367957"/>
                  </a:lnTo>
                  <a:lnTo>
                    <a:pt x="2326830" y="350520"/>
                  </a:lnTo>
                  <a:lnTo>
                    <a:pt x="2318816" y="332740"/>
                  </a:lnTo>
                  <a:lnTo>
                    <a:pt x="2307132" y="295910"/>
                  </a:lnTo>
                  <a:lnTo>
                    <a:pt x="2293607" y="231140"/>
                  </a:lnTo>
                  <a:lnTo>
                    <a:pt x="2287206" y="193040"/>
                  </a:lnTo>
                  <a:lnTo>
                    <a:pt x="2279485" y="125730"/>
                  </a:lnTo>
                  <a:lnTo>
                    <a:pt x="2279358" y="124460"/>
                  </a:lnTo>
                  <a:lnTo>
                    <a:pt x="2278507" y="111760"/>
                  </a:lnTo>
                  <a:lnTo>
                    <a:pt x="2277618" y="101600"/>
                  </a:lnTo>
                  <a:lnTo>
                    <a:pt x="2277148" y="96520"/>
                  </a:lnTo>
                  <a:lnTo>
                    <a:pt x="2277033" y="95250"/>
                  </a:lnTo>
                  <a:lnTo>
                    <a:pt x="2276919" y="93980"/>
                  </a:lnTo>
                  <a:lnTo>
                    <a:pt x="2276805" y="92710"/>
                  </a:lnTo>
                  <a:lnTo>
                    <a:pt x="2276157" y="87630"/>
                  </a:lnTo>
                  <a:lnTo>
                    <a:pt x="2255659" y="55880"/>
                  </a:lnTo>
                  <a:lnTo>
                    <a:pt x="2248611" y="49530"/>
                  </a:lnTo>
                  <a:lnTo>
                    <a:pt x="2240038" y="41910"/>
                  </a:lnTo>
                  <a:lnTo>
                    <a:pt x="2230920" y="33020"/>
                  </a:lnTo>
                  <a:lnTo>
                    <a:pt x="2221103" y="24130"/>
                  </a:lnTo>
                  <a:lnTo>
                    <a:pt x="2215565" y="19050"/>
                  </a:lnTo>
                  <a:lnTo>
                    <a:pt x="2212797" y="16510"/>
                  </a:lnTo>
                  <a:lnTo>
                    <a:pt x="2206256" y="10160"/>
                  </a:lnTo>
                  <a:lnTo>
                    <a:pt x="2201748" y="7620"/>
                  </a:lnTo>
                  <a:lnTo>
                    <a:pt x="2192744" y="3810"/>
                  </a:lnTo>
                  <a:lnTo>
                    <a:pt x="2182469" y="1270"/>
                  </a:lnTo>
                  <a:lnTo>
                    <a:pt x="2171839" y="0"/>
                  </a:lnTo>
                  <a:lnTo>
                    <a:pt x="2161730" y="0"/>
                  </a:lnTo>
                  <a:lnTo>
                    <a:pt x="2155152" y="2540"/>
                  </a:lnTo>
                  <a:lnTo>
                    <a:pt x="2147709" y="5080"/>
                  </a:lnTo>
                  <a:lnTo>
                    <a:pt x="2139734" y="8890"/>
                  </a:lnTo>
                  <a:lnTo>
                    <a:pt x="2131542" y="13970"/>
                  </a:lnTo>
                  <a:lnTo>
                    <a:pt x="2115045" y="26670"/>
                  </a:lnTo>
                  <a:lnTo>
                    <a:pt x="2101291" y="36830"/>
                  </a:lnTo>
                  <a:lnTo>
                    <a:pt x="2090166" y="45720"/>
                  </a:lnTo>
                  <a:lnTo>
                    <a:pt x="2081580" y="54610"/>
                  </a:lnTo>
                  <a:lnTo>
                    <a:pt x="2071573" y="64770"/>
                  </a:lnTo>
                  <a:lnTo>
                    <a:pt x="2052815" y="69850"/>
                  </a:lnTo>
                  <a:lnTo>
                    <a:pt x="2043353" y="71120"/>
                  </a:lnTo>
                  <a:lnTo>
                    <a:pt x="2031479" y="73660"/>
                  </a:lnTo>
                  <a:lnTo>
                    <a:pt x="2018677" y="77470"/>
                  </a:lnTo>
                  <a:lnTo>
                    <a:pt x="1981581" y="85090"/>
                  </a:lnTo>
                  <a:lnTo>
                    <a:pt x="1961222" y="91440"/>
                  </a:lnTo>
                  <a:lnTo>
                    <a:pt x="1911591" y="111760"/>
                  </a:lnTo>
                  <a:lnTo>
                    <a:pt x="1863979" y="138430"/>
                  </a:lnTo>
                  <a:lnTo>
                    <a:pt x="1823948" y="173990"/>
                  </a:lnTo>
                  <a:lnTo>
                    <a:pt x="1798091" y="204470"/>
                  </a:lnTo>
                  <a:lnTo>
                    <a:pt x="1769478" y="250190"/>
                  </a:lnTo>
                  <a:lnTo>
                    <a:pt x="1746796" y="307340"/>
                  </a:lnTo>
                  <a:lnTo>
                    <a:pt x="1733867" y="351790"/>
                  </a:lnTo>
                  <a:lnTo>
                    <a:pt x="1728965" y="375920"/>
                  </a:lnTo>
                  <a:lnTo>
                    <a:pt x="1725498" y="391160"/>
                  </a:lnTo>
                  <a:lnTo>
                    <a:pt x="1720062" y="403860"/>
                  </a:lnTo>
                  <a:lnTo>
                    <a:pt x="1710283" y="417830"/>
                  </a:lnTo>
                  <a:lnTo>
                    <a:pt x="1693748" y="439420"/>
                  </a:lnTo>
                  <a:lnTo>
                    <a:pt x="1668957" y="471170"/>
                  </a:lnTo>
                  <a:lnTo>
                    <a:pt x="1647101" y="500380"/>
                  </a:lnTo>
                  <a:lnTo>
                    <a:pt x="1601495" y="566420"/>
                  </a:lnTo>
                  <a:lnTo>
                    <a:pt x="1572387" y="612140"/>
                  </a:lnTo>
                  <a:lnTo>
                    <a:pt x="1547558" y="652780"/>
                  </a:lnTo>
                  <a:lnTo>
                    <a:pt x="1525638" y="690880"/>
                  </a:lnTo>
                  <a:lnTo>
                    <a:pt x="1505229" y="730250"/>
                  </a:lnTo>
                  <a:lnTo>
                    <a:pt x="1484934" y="773430"/>
                  </a:lnTo>
                  <a:lnTo>
                    <a:pt x="1456258" y="835660"/>
                  </a:lnTo>
                  <a:lnTo>
                    <a:pt x="1433423" y="890270"/>
                  </a:lnTo>
                  <a:lnTo>
                    <a:pt x="1415757" y="937260"/>
                  </a:lnTo>
                  <a:lnTo>
                    <a:pt x="1402626" y="979170"/>
                  </a:lnTo>
                  <a:lnTo>
                    <a:pt x="1393367" y="1018540"/>
                  </a:lnTo>
                  <a:lnTo>
                    <a:pt x="1387856" y="1057910"/>
                  </a:lnTo>
                  <a:lnTo>
                    <a:pt x="1387055" y="1083310"/>
                  </a:lnTo>
                  <a:lnTo>
                    <a:pt x="1387144" y="1117600"/>
                  </a:lnTo>
                  <a:lnTo>
                    <a:pt x="1387284" y="1130300"/>
                  </a:lnTo>
                  <a:lnTo>
                    <a:pt x="1387322" y="1132840"/>
                  </a:lnTo>
                  <a:lnTo>
                    <a:pt x="1387436" y="1143000"/>
                  </a:lnTo>
                  <a:lnTo>
                    <a:pt x="1387475" y="1146810"/>
                  </a:lnTo>
                  <a:lnTo>
                    <a:pt x="1387729" y="1154430"/>
                  </a:lnTo>
                  <a:lnTo>
                    <a:pt x="1387843" y="1158240"/>
                  </a:lnTo>
                  <a:lnTo>
                    <a:pt x="1404658" y="1192530"/>
                  </a:lnTo>
                  <a:lnTo>
                    <a:pt x="1425879" y="1200150"/>
                  </a:lnTo>
                  <a:lnTo>
                    <a:pt x="1437932" y="1202690"/>
                  </a:lnTo>
                  <a:lnTo>
                    <a:pt x="1460500" y="1207770"/>
                  </a:lnTo>
                  <a:lnTo>
                    <a:pt x="1477594" y="1210310"/>
                  </a:lnTo>
                  <a:lnTo>
                    <a:pt x="1485277" y="1212850"/>
                  </a:lnTo>
                  <a:lnTo>
                    <a:pt x="1508417" y="1216660"/>
                  </a:lnTo>
                  <a:lnTo>
                    <a:pt x="1547812" y="1224280"/>
                  </a:lnTo>
                  <a:lnTo>
                    <a:pt x="1592021" y="1231900"/>
                  </a:lnTo>
                  <a:lnTo>
                    <a:pt x="1647456" y="1239520"/>
                  </a:lnTo>
                  <a:lnTo>
                    <a:pt x="1686852" y="1242060"/>
                  </a:lnTo>
                  <a:lnTo>
                    <a:pt x="1718945" y="1239520"/>
                  </a:lnTo>
                  <a:lnTo>
                    <a:pt x="1733169" y="1235710"/>
                  </a:lnTo>
                  <a:lnTo>
                    <a:pt x="1747977" y="1229360"/>
                  </a:lnTo>
                  <a:lnTo>
                    <a:pt x="1758988" y="1223010"/>
                  </a:lnTo>
                  <a:lnTo>
                    <a:pt x="1778812" y="1211580"/>
                  </a:lnTo>
                  <a:lnTo>
                    <a:pt x="1788871" y="1206500"/>
                  </a:lnTo>
                  <a:lnTo>
                    <a:pt x="1797697" y="1205230"/>
                  </a:lnTo>
                  <a:lnTo>
                    <a:pt x="1806943" y="1205230"/>
                  </a:lnTo>
                  <a:lnTo>
                    <a:pt x="1814220" y="1206500"/>
                  </a:lnTo>
                  <a:lnTo>
                    <a:pt x="1827022" y="1209040"/>
                  </a:lnTo>
                  <a:lnTo>
                    <a:pt x="1843544" y="1211580"/>
                  </a:lnTo>
                  <a:lnTo>
                    <a:pt x="1861972" y="1215390"/>
                  </a:lnTo>
                  <a:lnTo>
                    <a:pt x="1882305" y="1219200"/>
                  </a:lnTo>
                  <a:lnTo>
                    <a:pt x="1904034" y="1224280"/>
                  </a:lnTo>
                  <a:lnTo>
                    <a:pt x="1924532" y="1228090"/>
                  </a:lnTo>
                  <a:lnTo>
                    <a:pt x="1955634" y="1234440"/>
                  </a:lnTo>
                  <a:lnTo>
                    <a:pt x="1969947" y="1236980"/>
                  </a:lnTo>
                  <a:lnTo>
                    <a:pt x="1982508" y="1239520"/>
                  </a:lnTo>
                  <a:lnTo>
                    <a:pt x="1991652" y="1240790"/>
                  </a:lnTo>
                  <a:lnTo>
                    <a:pt x="2018131" y="1245870"/>
                  </a:lnTo>
                  <a:lnTo>
                    <a:pt x="2041563" y="1245870"/>
                  </a:lnTo>
                  <a:lnTo>
                    <a:pt x="2066353" y="1242060"/>
                  </a:lnTo>
                  <a:lnTo>
                    <a:pt x="2096947" y="1233170"/>
                  </a:lnTo>
                  <a:lnTo>
                    <a:pt x="2119020" y="1228090"/>
                  </a:lnTo>
                  <a:lnTo>
                    <a:pt x="2144026" y="1221740"/>
                  </a:lnTo>
                  <a:lnTo>
                    <a:pt x="2169388" y="1217930"/>
                  </a:lnTo>
                  <a:lnTo>
                    <a:pt x="2192553" y="1215390"/>
                  </a:lnTo>
                  <a:lnTo>
                    <a:pt x="2211540" y="1214120"/>
                  </a:lnTo>
                  <a:lnTo>
                    <a:pt x="2225268" y="1211580"/>
                  </a:lnTo>
                  <a:lnTo>
                    <a:pt x="2254580" y="1184910"/>
                  </a:lnTo>
                  <a:lnTo>
                    <a:pt x="2261501" y="1170940"/>
                  </a:lnTo>
                  <a:lnTo>
                    <a:pt x="2268042" y="1158240"/>
                  </a:lnTo>
                  <a:lnTo>
                    <a:pt x="2280208" y="1115060"/>
                  </a:lnTo>
                  <a:lnTo>
                    <a:pt x="2285365" y="773430"/>
                  </a:lnTo>
                  <a:lnTo>
                    <a:pt x="2285415" y="756920"/>
                  </a:lnTo>
                  <a:lnTo>
                    <a:pt x="2285771" y="690880"/>
                  </a:lnTo>
                  <a:lnTo>
                    <a:pt x="2286292" y="652780"/>
                  </a:lnTo>
                  <a:lnTo>
                    <a:pt x="2295017" y="609600"/>
                  </a:lnTo>
                  <a:lnTo>
                    <a:pt x="2310714" y="574040"/>
                  </a:lnTo>
                  <a:lnTo>
                    <a:pt x="2331085" y="527050"/>
                  </a:lnTo>
                  <a:lnTo>
                    <a:pt x="2344191" y="490220"/>
                  </a:lnTo>
                  <a:lnTo>
                    <a:pt x="2351163" y="459740"/>
                  </a:lnTo>
                  <a:lnTo>
                    <a:pt x="2353145" y="43180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0578" y="823506"/>
              <a:ext cx="230745" cy="1515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7311" y="1120496"/>
              <a:ext cx="217371" cy="1072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3371" y="1446314"/>
              <a:ext cx="1989455" cy="966469"/>
            </a:xfrm>
            <a:custGeom>
              <a:avLst/>
              <a:gdLst/>
              <a:ahLst/>
              <a:cxnLst/>
              <a:rect l="l" t="t" r="r" b="b"/>
              <a:pathLst>
                <a:path w="1989454" h="966469">
                  <a:moveTo>
                    <a:pt x="20726" y="951712"/>
                  </a:moveTo>
                  <a:lnTo>
                    <a:pt x="16738" y="947432"/>
                  </a:lnTo>
                  <a:lnTo>
                    <a:pt x="10096" y="947432"/>
                  </a:lnTo>
                  <a:lnTo>
                    <a:pt x="7378" y="948588"/>
                  </a:lnTo>
                  <a:lnTo>
                    <a:pt x="5867" y="949998"/>
                  </a:lnTo>
                  <a:lnTo>
                    <a:pt x="0" y="955459"/>
                  </a:lnTo>
                  <a:lnTo>
                    <a:pt x="4038" y="966304"/>
                  </a:lnTo>
                  <a:lnTo>
                    <a:pt x="16738" y="966304"/>
                  </a:lnTo>
                  <a:lnTo>
                    <a:pt x="20726" y="962037"/>
                  </a:lnTo>
                  <a:lnTo>
                    <a:pt x="20726" y="951712"/>
                  </a:lnTo>
                  <a:close/>
                </a:path>
                <a:path w="1989454" h="966469">
                  <a:moveTo>
                    <a:pt x="1989328" y="1981"/>
                  </a:moveTo>
                  <a:lnTo>
                    <a:pt x="1945411" y="10553"/>
                  </a:lnTo>
                  <a:lnTo>
                    <a:pt x="1891157" y="36245"/>
                  </a:lnTo>
                  <a:lnTo>
                    <a:pt x="1857603" y="56108"/>
                  </a:lnTo>
                  <a:lnTo>
                    <a:pt x="1826983" y="74726"/>
                  </a:lnTo>
                  <a:lnTo>
                    <a:pt x="1806536" y="85979"/>
                  </a:lnTo>
                  <a:lnTo>
                    <a:pt x="1792325" y="91808"/>
                  </a:lnTo>
                  <a:lnTo>
                    <a:pt x="1780413" y="94157"/>
                  </a:lnTo>
                  <a:lnTo>
                    <a:pt x="1772437" y="93967"/>
                  </a:lnTo>
                  <a:lnTo>
                    <a:pt x="1764792" y="90881"/>
                  </a:lnTo>
                  <a:lnTo>
                    <a:pt x="1755749" y="83858"/>
                  </a:lnTo>
                  <a:lnTo>
                    <a:pt x="1733219" y="61493"/>
                  </a:lnTo>
                  <a:lnTo>
                    <a:pt x="1726666" y="56413"/>
                  </a:lnTo>
                  <a:lnTo>
                    <a:pt x="1722221" y="55765"/>
                  </a:lnTo>
                  <a:lnTo>
                    <a:pt x="1718208" y="58674"/>
                  </a:lnTo>
                  <a:lnTo>
                    <a:pt x="1715579" y="62318"/>
                  </a:lnTo>
                  <a:lnTo>
                    <a:pt x="1715554" y="66230"/>
                  </a:lnTo>
                  <a:lnTo>
                    <a:pt x="1718449" y="71386"/>
                  </a:lnTo>
                  <a:lnTo>
                    <a:pt x="1750771" y="103695"/>
                  </a:lnTo>
                  <a:lnTo>
                    <a:pt x="1772983" y="112293"/>
                  </a:lnTo>
                  <a:lnTo>
                    <a:pt x="1787004" y="111747"/>
                  </a:lnTo>
                  <a:lnTo>
                    <a:pt x="1803717" y="106984"/>
                  </a:lnTo>
                  <a:lnTo>
                    <a:pt x="1823770" y="97751"/>
                  </a:lnTo>
                  <a:lnTo>
                    <a:pt x="1847824" y="83794"/>
                  </a:lnTo>
                  <a:lnTo>
                    <a:pt x="1891411" y="57480"/>
                  </a:lnTo>
                  <a:lnTo>
                    <a:pt x="1925459" y="39128"/>
                  </a:lnTo>
                  <a:lnTo>
                    <a:pt x="1952675" y="27419"/>
                  </a:lnTo>
                  <a:lnTo>
                    <a:pt x="1975802" y="21018"/>
                  </a:lnTo>
                  <a:lnTo>
                    <a:pt x="1986038" y="19075"/>
                  </a:lnTo>
                  <a:lnTo>
                    <a:pt x="1989328" y="16573"/>
                  </a:lnTo>
                  <a:lnTo>
                    <a:pt x="1989328" y="1981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97788" y="2580683"/>
            <a:ext cx="3012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Figure:</a:t>
            </a:r>
            <a:r>
              <a:rPr sz="10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55" dirty="0">
                <a:latin typeface="Palatino Linotype" panose="02040502050505030304"/>
                <a:cs typeface="Palatino Linotype" panose="02040502050505030304"/>
              </a:rPr>
              <a:t>Downward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45" dirty="0">
                <a:latin typeface="Palatino Linotype" panose="02040502050505030304"/>
                <a:cs typeface="Palatino Linotype" panose="02040502050505030304"/>
              </a:rPr>
              <a:t>growing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0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records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09911" y="652815"/>
            <a:ext cx="24765" cy="19050"/>
          </a:xfrm>
          <a:custGeom>
            <a:avLst/>
            <a:gdLst/>
            <a:ahLst/>
            <a:cxnLst/>
            <a:rect l="l" t="t" r="r" b="b"/>
            <a:pathLst>
              <a:path w="24764" h="19050">
                <a:moveTo>
                  <a:pt x="13332" y="0"/>
                </a:moveTo>
                <a:lnTo>
                  <a:pt x="10939" y="0"/>
                </a:lnTo>
                <a:lnTo>
                  <a:pt x="8468" y="1172"/>
                </a:lnTo>
                <a:lnTo>
                  <a:pt x="6645" y="2606"/>
                </a:lnTo>
                <a:lnTo>
                  <a:pt x="0" y="7833"/>
                </a:lnTo>
                <a:lnTo>
                  <a:pt x="3725" y="18864"/>
                </a:lnTo>
                <a:lnTo>
                  <a:pt x="20546" y="18864"/>
                </a:lnTo>
                <a:lnTo>
                  <a:pt x="24271" y="7833"/>
                </a:lnTo>
                <a:lnTo>
                  <a:pt x="15803" y="1172"/>
                </a:lnTo>
                <a:lnTo>
                  <a:pt x="13332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Where</a:t>
            </a:r>
            <a:r>
              <a:rPr spc="210" dirty="0"/>
              <a:t> </a:t>
            </a:r>
            <a:r>
              <a:rPr dirty="0"/>
              <a:t>Is</a:t>
            </a:r>
            <a:r>
              <a:rPr spc="215" dirty="0"/>
              <a:t> </a:t>
            </a:r>
            <a:r>
              <a:rPr spc="95" dirty="0"/>
              <a:t>My</a:t>
            </a:r>
            <a:r>
              <a:rPr spc="210" dirty="0"/>
              <a:t> </a:t>
            </a:r>
            <a:r>
              <a:rPr spc="55" dirty="0"/>
              <a:t>Activation</a:t>
            </a:r>
            <a:r>
              <a:rPr spc="215" dirty="0"/>
              <a:t> </a:t>
            </a:r>
            <a:r>
              <a:rPr spc="80" dirty="0"/>
              <a:t>Record?</a:t>
            </a:r>
            <a:endParaRPr spc="8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17" y="1170165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17" y="1758391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912" y="2329942"/>
            <a:ext cx="50990" cy="509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0392" y="1084743"/>
            <a:ext cx="1435100" cy="14890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5405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Keep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(top) frame’s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Frame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Pointer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(FP)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196215" algn="just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Keep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track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Size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(SP)</a:t>
            </a:r>
            <a:r>
              <a:rPr sz="1100" spc="4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register.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5080" algn="just">
              <a:lnSpc>
                <a:spcPct val="100000"/>
              </a:lnSpc>
              <a:spcBef>
                <a:spcPts val="470"/>
              </a:spcBef>
            </a:pPr>
            <a:r>
              <a:rPr sz="1000" spc="-25" dirty="0">
                <a:solidFill>
                  <a:srgbClr val="F9F9F9"/>
                </a:solidFill>
                <a:latin typeface="Palatino Linotype" panose="02040502050505030304"/>
                <a:cs typeface="Palatino Linotype" panose="02040502050505030304"/>
              </a:rPr>
              <a:t>Variable-</a:t>
            </a:r>
            <a:r>
              <a:rPr sz="1000" dirty="0">
                <a:solidFill>
                  <a:srgbClr val="F9F9F9"/>
                </a:solidFill>
                <a:latin typeface="Palatino Linotype" panose="02040502050505030304"/>
                <a:cs typeface="Palatino Linotype" panose="02040502050505030304"/>
              </a:rPr>
              <a:t>length</a:t>
            </a:r>
            <a:r>
              <a:rPr sz="1000" spc="55" dirty="0">
                <a:solidFill>
                  <a:srgbClr val="F9F9F9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solidFill>
                  <a:srgbClr val="F9F9F9"/>
                </a:solidFill>
                <a:latin typeface="Palatino Linotype" panose="02040502050505030304"/>
                <a:cs typeface="Palatino Linotype" panose="02040502050505030304"/>
              </a:rPr>
              <a:t>data </a:t>
            </a:r>
            <a:r>
              <a:rPr sz="1000" dirty="0">
                <a:solidFill>
                  <a:srgbClr val="F9F9F9"/>
                </a:solidFill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000" spc="-15" dirty="0">
                <a:solidFill>
                  <a:srgbClr val="F9F9F9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Palatino Linotype" panose="02040502050505030304"/>
                <a:cs typeface="Palatino Linotype" panose="02040502050505030304"/>
              </a:rPr>
              <a:t>stack.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25035" y="1013307"/>
          <a:ext cx="1504315" cy="1543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3035"/>
              </a:tblGrid>
              <a:tr h="1739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Actual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 Parameters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Return</a:t>
                      </a:r>
                      <a:r>
                        <a:rPr sz="1100" spc="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Values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Control</a:t>
                      </a:r>
                      <a:r>
                        <a:rPr sz="1100" spc="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Access</a:t>
                      </a:r>
                      <a:r>
                        <a:rPr sz="1100" spc="1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Saved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Machine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State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Local</a:t>
                      </a:r>
                      <a:r>
                        <a:rPr sz="1100" spc="1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Data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Temporaries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↓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535212" y="1498738"/>
            <a:ext cx="426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9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FP</a:t>
            </a:r>
            <a:r>
              <a:rPr sz="1100" i="1" spc="1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0604" y="2187040"/>
            <a:ext cx="41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SP</a:t>
            </a:r>
            <a:r>
              <a:rPr sz="1100" i="1" spc="2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44965" y="1219472"/>
            <a:ext cx="531495" cy="617855"/>
          </a:xfrm>
          <a:custGeom>
            <a:avLst/>
            <a:gdLst/>
            <a:ahLst/>
            <a:cxnLst/>
            <a:rect l="l" t="t" r="r" b="b"/>
            <a:pathLst>
              <a:path w="531494" h="617855">
                <a:moveTo>
                  <a:pt x="392142" y="0"/>
                </a:moveTo>
                <a:lnTo>
                  <a:pt x="349569" y="15046"/>
                </a:lnTo>
                <a:lnTo>
                  <a:pt x="303775" y="54858"/>
                </a:lnTo>
                <a:lnTo>
                  <a:pt x="281447" y="80752"/>
                </a:lnTo>
                <a:lnTo>
                  <a:pt x="281470" y="83546"/>
                </a:lnTo>
                <a:lnTo>
                  <a:pt x="282478" y="85533"/>
                </a:lnTo>
                <a:lnTo>
                  <a:pt x="284795" y="87356"/>
                </a:lnTo>
                <a:lnTo>
                  <a:pt x="289137" y="89778"/>
                </a:lnTo>
                <a:lnTo>
                  <a:pt x="294235" y="88353"/>
                </a:lnTo>
                <a:lnTo>
                  <a:pt x="302724" y="81467"/>
                </a:lnTo>
                <a:lnTo>
                  <a:pt x="334867" y="50641"/>
                </a:lnTo>
                <a:lnTo>
                  <a:pt x="348366" y="38754"/>
                </a:lnTo>
                <a:lnTo>
                  <a:pt x="359155" y="30685"/>
                </a:lnTo>
                <a:lnTo>
                  <a:pt x="368650" y="25271"/>
                </a:lnTo>
                <a:lnTo>
                  <a:pt x="386638" y="19122"/>
                </a:lnTo>
                <a:lnTo>
                  <a:pt x="403250" y="18950"/>
                </a:lnTo>
                <a:lnTo>
                  <a:pt x="419257" y="24890"/>
                </a:lnTo>
                <a:lnTo>
                  <a:pt x="454814" y="60114"/>
                </a:lnTo>
                <a:lnTo>
                  <a:pt x="491626" y="126756"/>
                </a:lnTo>
                <a:lnTo>
                  <a:pt x="507897" y="180664"/>
                </a:lnTo>
                <a:lnTo>
                  <a:pt x="512443" y="227822"/>
                </a:lnTo>
                <a:lnTo>
                  <a:pt x="512907" y="259780"/>
                </a:lnTo>
                <a:lnTo>
                  <a:pt x="511848" y="308971"/>
                </a:lnTo>
                <a:lnTo>
                  <a:pt x="508569" y="356367"/>
                </a:lnTo>
                <a:lnTo>
                  <a:pt x="502895" y="403813"/>
                </a:lnTo>
                <a:lnTo>
                  <a:pt x="494654" y="453157"/>
                </a:lnTo>
                <a:lnTo>
                  <a:pt x="478985" y="515997"/>
                </a:lnTo>
                <a:lnTo>
                  <a:pt x="457339" y="550970"/>
                </a:lnTo>
                <a:lnTo>
                  <a:pt x="420156" y="578497"/>
                </a:lnTo>
                <a:lnTo>
                  <a:pt x="375825" y="596270"/>
                </a:lnTo>
                <a:lnTo>
                  <a:pt x="332837" y="599068"/>
                </a:lnTo>
                <a:lnTo>
                  <a:pt x="303120" y="599187"/>
                </a:lnTo>
                <a:lnTo>
                  <a:pt x="276352" y="598282"/>
                </a:lnTo>
                <a:lnTo>
                  <a:pt x="224282" y="593246"/>
                </a:lnTo>
                <a:lnTo>
                  <a:pt x="182961" y="584634"/>
                </a:lnTo>
                <a:lnTo>
                  <a:pt x="112935" y="550997"/>
                </a:lnTo>
                <a:lnTo>
                  <a:pt x="69285" y="517517"/>
                </a:lnTo>
                <a:lnTo>
                  <a:pt x="40872" y="488629"/>
                </a:lnTo>
                <a:lnTo>
                  <a:pt x="19714" y="441650"/>
                </a:lnTo>
                <a:lnTo>
                  <a:pt x="18618" y="423583"/>
                </a:lnTo>
                <a:lnTo>
                  <a:pt x="20208" y="400075"/>
                </a:lnTo>
                <a:lnTo>
                  <a:pt x="30699" y="343431"/>
                </a:lnTo>
                <a:lnTo>
                  <a:pt x="44683" y="304090"/>
                </a:lnTo>
                <a:lnTo>
                  <a:pt x="67088" y="262780"/>
                </a:lnTo>
                <a:lnTo>
                  <a:pt x="97198" y="220640"/>
                </a:lnTo>
                <a:lnTo>
                  <a:pt x="134295" y="178811"/>
                </a:lnTo>
                <a:lnTo>
                  <a:pt x="162270" y="152001"/>
                </a:lnTo>
                <a:lnTo>
                  <a:pt x="211442" y="115594"/>
                </a:lnTo>
                <a:lnTo>
                  <a:pt x="248407" y="103923"/>
                </a:lnTo>
                <a:lnTo>
                  <a:pt x="273473" y="102542"/>
                </a:lnTo>
                <a:lnTo>
                  <a:pt x="275208" y="102057"/>
                </a:lnTo>
                <a:lnTo>
                  <a:pt x="232399" y="87844"/>
                </a:lnTo>
                <a:lnTo>
                  <a:pt x="182330" y="112548"/>
                </a:lnTo>
                <a:lnTo>
                  <a:pt x="150656" y="137741"/>
                </a:lnTo>
                <a:lnTo>
                  <a:pt x="117259" y="169676"/>
                </a:lnTo>
                <a:lnTo>
                  <a:pt x="84573" y="207177"/>
                </a:lnTo>
                <a:lnTo>
                  <a:pt x="55749" y="246318"/>
                </a:lnTo>
                <a:lnTo>
                  <a:pt x="33938" y="283172"/>
                </a:lnTo>
                <a:lnTo>
                  <a:pt x="18086" y="321643"/>
                </a:lnTo>
                <a:lnTo>
                  <a:pt x="6850" y="367533"/>
                </a:lnTo>
                <a:lnTo>
                  <a:pt x="0" y="426176"/>
                </a:lnTo>
                <a:lnTo>
                  <a:pt x="2340" y="448498"/>
                </a:lnTo>
                <a:lnTo>
                  <a:pt x="16590" y="486742"/>
                </a:lnTo>
                <a:lnTo>
                  <a:pt x="66840" y="539728"/>
                </a:lnTo>
                <a:lnTo>
                  <a:pt x="101538" y="565394"/>
                </a:lnTo>
                <a:lnTo>
                  <a:pt x="137448" y="586252"/>
                </a:lnTo>
                <a:lnTo>
                  <a:pt x="182283" y="603710"/>
                </a:lnTo>
                <a:lnTo>
                  <a:pt x="228264" y="612246"/>
                </a:lnTo>
                <a:lnTo>
                  <a:pt x="304444" y="617699"/>
                </a:lnTo>
                <a:lnTo>
                  <a:pt x="340603" y="617662"/>
                </a:lnTo>
                <a:lnTo>
                  <a:pt x="381800" y="613626"/>
                </a:lnTo>
                <a:lnTo>
                  <a:pt x="431823" y="592833"/>
                </a:lnTo>
                <a:lnTo>
                  <a:pt x="470309" y="564638"/>
                </a:lnTo>
                <a:lnTo>
                  <a:pt x="498394" y="516266"/>
                </a:lnTo>
                <a:lnTo>
                  <a:pt x="510979" y="466158"/>
                </a:lnTo>
                <a:lnTo>
                  <a:pt x="523082" y="390710"/>
                </a:lnTo>
                <a:lnTo>
                  <a:pt x="530051" y="315156"/>
                </a:lnTo>
                <a:lnTo>
                  <a:pt x="531309" y="272762"/>
                </a:lnTo>
                <a:lnTo>
                  <a:pt x="531041" y="232524"/>
                </a:lnTo>
                <a:lnTo>
                  <a:pt x="524695" y="170858"/>
                </a:lnTo>
                <a:lnTo>
                  <a:pt x="506039" y="113672"/>
                </a:lnTo>
                <a:lnTo>
                  <a:pt x="473108" y="54331"/>
                </a:lnTo>
                <a:lnTo>
                  <a:pt x="436918" y="14442"/>
                </a:lnTo>
                <a:lnTo>
                  <a:pt x="401439" y="396"/>
                </a:lnTo>
                <a:lnTo>
                  <a:pt x="392142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Where</a:t>
            </a:r>
            <a:r>
              <a:rPr spc="210" dirty="0"/>
              <a:t> </a:t>
            </a:r>
            <a:r>
              <a:rPr dirty="0"/>
              <a:t>Is</a:t>
            </a:r>
            <a:r>
              <a:rPr spc="215" dirty="0"/>
              <a:t> </a:t>
            </a:r>
            <a:r>
              <a:rPr spc="95" dirty="0"/>
              <a:t>My</a:t>
            </a:r>
            <a:r>
              <a:rPr spc="210" dirty="0"/>
              <a:t> </a:t>
            </a:r>
            <a:r>
              <a:rPr spc="55" dirty="0"/>
              <a:t>Activation</a:t>
            </a:r>
            <a:r>
              <a:rPr spc="215" dirty="0"/>
              <a:t> </a:t>
            </a:r>
            <a:r>
              <a:rPr spc="80" dirty="0"/>
              <a:t>Record?</a:t>
            </a:r>
            <a:endParaRPr spc="8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17" y="1170165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17" y="1758391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912" y="2329942"/>
            <a:ext cx="50990" cy="509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0392" y="1084743"/>
            <a:ext cx="1435100" cy="14890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5405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Keep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(top) frame’s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Frame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Pointer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(FP)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196215" algn="just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Keep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track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Local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Size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(SP)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5080" algn="just">
              <a:lnSpc>
                <a:spcPct val="100000"/>
              </a:lnSpc>
              <a:spcBef>
                <a:spcPts val="470"/>
              </a:spcBef>
            </a:pPr>
            <a:r>
              <a:rPr sz="10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Variable-</a:t>
            </a:r>
            <a:r>
              <a:rPr sz="10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length</a:t>
            </a:r>
            <a:r>
              <a:rPr sz="1000" spc="5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data </a:t>
            </a:r>
            <a:r>
              <a:rPr sz="10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0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stack.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25035" y="1013307"/>
          <a:ext cx="1504315" cy="1543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3035"/>
              </a:tblGrid>
              <a:tr h="1739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Actual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 Parameters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Return</a:t>
                      </a:r>
                      <a:r>
                        <a:rPr sz="1100" spc="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Values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Control</a:t>
                      </a:r>
                      <a:r>
                        <a:rPr sz="1100" spc="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Access</a:t>
                      </a:r>
                      <a:r>
                        <a:rPr sz="1100" spc="1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Saved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Machine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State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Local</a:t>
                      </a:r>
                      <a:r>
                        <a:rPr sz="1100" spc="1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Data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Temporaries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↓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535212" y="1498738"/>
            <a:ext cx="426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9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FP</a:t>
            </a:r>
            <a:r>
              <a:rPr sz="1100" i="1" spc="1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0604" y="2187040"/>
            <a:ext cx="41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SP</a:t>
            </a:r>
            <a:r>
              <a:rPr sz="1100" i="1" spc="2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49372" y="595192"/>
            <a:ext cx="19685" cy="19050"/>
          </a:xfrm>
          <a:custGeom>
            <a:avLst/>
            <a:gdLst/>
            <a:ahLst/>
            <a:cxnLst/>
            <a:rect l="l" t="t" r="r" b="b"/>
            <a:pathLst>
              <a:path w="19685" h="19050">
                <a:moveTo>
                  <a:pt x="8860" y="0"/>
                </a:moveTo>
                <a:lnTo>
                  <a:pt x="3680" y="2667"/>
                </a:lnTo>
                <a:lnTo>
                  <a:pt x="0" y="6584"/>
                </a:lnTo>
                <a:lnTo>
                  <a:pt x="193" y="11696"/>
                </a:lnTo>
                <a:lnTo>
                  <a:pt x="6786" y="18289"/>
                </a:lnTo>
                <a:lnTo>
                  <a:pt x="8160" y="18752"/>
                </a:lnTo>
                <a:lnTo>
                  <a:pt x="16418" y="17100"/>
                </a:lnTo>
                <a:lnTo>
                  <a:pt x="18289" y="15228"/>
                </a:lnTo>
                <a:lnTo>
                  <a:pt x="19295" y="10199"/>
                </a:lnTo>
                <a:lnTo>
                  <a:pt x="18397" y="4600"/>
                </a:lnTo>
                <a:lnTo>
                  <a:pt x="14342" y="922"/>
                </a:lnTo>
                <a:lnTo>
                  <a:pt x="886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Where</a:t>
            </a:r>
            <a:r>
              <a:rPr spc="210" dirty="0"/>
              <a:t> </a:t>
            </a:r>
            <a:r>
              <a:rPr dirty="0"/>
              <a:t>Is</a:t>
            </a:r>
            <a:r>
              <a:rPr spc="215" dirty="0"/>
              <a:t> </a:t>
            </a:r>
            <a:r>
              <a:rPr spc="95" dirty="0"/>
              <a:t>My</a:t>
            </a:r>
            <a:r>
              <a:rPr spc="210" dirty="0"/>
              <a:t> </a:t>
            </a:r>
            <a:r>
              <a:rPr spc="55" dirty="0"/>
              <a:t>Activation</a:t>
            </a:r>
            <a:r>
              <a:rPr spc="215" dirty="0"/>
              <a:t> </a:t>
            </a:r>
            <a:r>
              <a:rPr spc="80" dirty="0"/>
              <a:t>Record?</a:t>
            </a:r>
            <a:endParaRPr spc="8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17" y="1170165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17" y="1758391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912" y="2329942"/>
            <a:ext cx="50990" cy="509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0392" y="1084743"/>
            <a:ext cx="1435100" cy="14890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5405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Keep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(top) frame’s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Frame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Pointer 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(FP)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196215" algn="just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Keep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track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Local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Size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(SP)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register.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5080" algn="just">
              <a:lnSpc>
                <a:spcPct val="100000"/>
              </a:lnSpc>
              <a:spcBef>
                <a:spcPts val="470"/>
              </a:spcBef>
            </a:pPr>
            <a:r>
              <a:rPr sz="1000" spc="-25" dirty="0">
                <a:latin typeface="Palatino Linotype" panose="02040502050505030304"/>
                <a:cs typeface="Palatino Linotype" panose="02040502050505030304"/>
              </a:rPr>
              <a:t>Variable-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length</a:t>
            </a:r>
            <a:r>
              <a:rPr sz="10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data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0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stack.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25035" y="1013307"/>
          <a:ext cx="1504315" cy="1543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3035"/>
              </a:tblGrid>
              <a:tr h="1739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r>
                        <a:rPr sz="11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.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Actual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 Parameters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Return</a:t>
                      </a:r>
                      <a:r>
                        <a:rPr sz="1100" spc="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Values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Control</a:t>
                      </a:r>
                      <a:r>
                        <a:rPr sz="1100" spc="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Access</a:t>
                      </a:r>
                      <a:r>
                        <a:rPr sz="1100" spc="1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Link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Saved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Machine</a:t>
                      </a: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State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Palatino Linotype" panose="02040502050505030304"/>
                          <a:cs typeface="Palatino Linotype" panose="02040502050505030304"/>
                        </a:rPr>
                        <a:t>Local</a:t>
                      </a:r>
                      <a:r>
                        <a:rPr sz="1100" spc="1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Data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Temporaries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↓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535212" y="1498738"/>
            <a:ext cx="426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9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FP</a:t>
            </a:r>
            <a:r>
              <a:rPr sz="1100" i="1" spc="1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0604" y="2187040"/>
            <a:ext cx="41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SP</a:t>
            </a:r>
            <a:r>
              <a:rPr sz="1100" i="1" spc="2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97214" y="2160149"/>
            <a:ext cx="362585" cy="312420"/>
          </a:xfrm>
          <a:custGeom>
            <a:avLst/>
            <a:gdLst/>
            <a:ahLst/>
            <a:cxnLst/>
            <a:rect l="l" t="t" r="r" b="b"/>
            <a:pathLst>
              <a:path w="362585" h="312419">
                <a:moveTo>
                  <a:pt x="349018" y="59256"/>
                </a:moveTo>
                <a:lnTo>
                  <a:pt x="323995" y="29766"/>
                </a:lnTo>
                <a:lnTo>
                  <a:pt x="289973" y="9928"/>
                </a:lnTo>
                <a:lnTo>
                  <a:pt x="249233" y="0"/>
                </a:lnTo>
                <a:lnTo>
                  <a:pt x="204060" y="238"/>
                </a:lnTo>
                <a:lnTo>
                  <a:pt x="156735" y="10900"/>
                </a:lnTo>
                <a:lnTo>
                  <a:pt x="109540" y="32244"/>
                </a:lnTo>
                <a:lnTo>
                  <a:pt x="67459" y="62443"/>
                </a:lnTo>
                <a:lnTo>
                  <a:pt x="34563" y="98097"/>
                </a:lnTo>
                <a:lnTo>
                  <a:pt x="11771" y="137100"/>
                </a:lnTo>
                <a:lnTo>
                  <a:pt x="0" y="177346"/>
                </a:lnTo>
                <a:lnTo>
                  <a:pt x="168" y="216729"/>
                </a:lnTo>
                <a:lnTo>
                  <a:pt x="13195" y="253145"/>
                </a:lnTo>
                <a:lnTo>
                  <a:pt x="38218" y="282634"/>
                </a:lnTo>
                <a:lnTo>
                  <a:pt x="72241" y="302472"/>
                </a:lnTo>
                <a:lnTo>
                  <a:pt x="112980" y="312401"/>
                </a:lnTo>
                <a:lnTo>
                  <a:pt x="158153" y="312163"/>
                </a:lnTo>
                <a:lnTo>
                  <a:pt x="205478" y="301501"/>
                </a:lnTo>
                <a:lnTo>
                  <a:pt x="252672" y="280157"/>
                </a:lnTo>
                <a:lnTo>
                  <a:pt x="294753" y="249957"/>
                </a:lnTo>
                <a:lnTo>
                  <a:pt x="327650" y="214303"/>
                </a:lnTo>
                <a:lnTo>
                  <a:pt x="350443" y="175301"/>
                </a:lnTo>
                <a:lnTo>
                  <a:pt x="362214" y="135055"/>
                </a:lnTo>
                <a:lnTo>
                  <a:pt x="362045" y="95671"/>
                </a:lnTo>
                <a:lnTo>
                  <a:pt x="349018" y="59256"/>
                </a:lnTo>
                <a:close/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52424" y="1372405"/>
            <a:ext cx="379730" cy="379730"/>
          </a:xfrm>
          <a:custGeom>
            <a:avLst/>
            <a:gdLst/>
            <a:ahLst/>
            <a:cxnLst/>
            <a:rect l="l" t="t" r="r" b="b"/>
            <a:pathLst>
              <a:path w="379730" h="379730">
                <a:moveTo>
                  <a:pt x="379573" y="189783"/>
                </a:moveTo>
                <a:lnTo>
                  <a:pt x="372794" y="139330"/>
                </a:lnTo>
                <a:lnTo>
                  <a:pt x="353661" y="93993"/>
                </a:lnTo>
                <a:lnTo>
                  <a:pt x="323985" y="55582"/>
                </a:lnTo>
                <a:lnTo>
                  <a:pt x="285575" y="25906"/>
                </a:lnTo>
                <a:lnTo>
                  <a:pt x="240238" y="6774"/>
                </a:lnTo>
                <a:lnTo>
                  <a:pt x="189785" y="-4"/>
                </a:lnTo>
                <a:lnTo>
                  <a:pt x="139331" y="6774"/>
                </a:lnTo>
                <a:lnTo>
                  <a:pt x="93995" y="25906"/>
                </a:lnTo>
                <a:lnTo>
                  <a:pt x="55584" y="55582"/>
                </a:lnTo>
                <a:lnTo>
                  <a:pt x="25908" y="93993"/>
                </a:lnTo>
                <a:lnTo>
                  <a:pt x="6776" y="139330"/>
                </a:lnTo>
                <a:lnTo>
                  <a:pt x="-3" y="189783"/>
                </a:lnTo>
                <a:lnTo>
                  <a:pt x="6776" y="240237"/>
                </a:lnTo>
                <a:lnTo>
                  <a:pt x="25908" y="285573"/>
                </a:lnTo>
                <a:lnTo>
                  <a:pt x="55584" y="323984"/>
                </a:lnTo>
                <a:lnTo>
                  <a:pt x="93995" y="353660"/>
                </a:lnTo>
                <a:lnTo>
                  <a:pt x="139331" y="372792"/>
                </a:lnTo>
                <a:lnTo>
                  <a:pt x="189785" y="379572"/>
                </a:lnTo>
                <a:lnTo>
                  <a:pt x="240238" y="372792"/>
                </a:lnTo>
                <a:lnTo>
                  <a:pt x="285575" y="353660"/>
                </a:lnTo>
                <a:lnTo>
                  <a:pt x="323985" y="323984"/>
                </a:lnTo>
                <a:lnTo>
                  <a:pt x="353661" y="285573"/>
                </a:lnTo>
                <a:lnTo>
                  <a:pt x="372794" y="240237"/>
                </a:lnTo>
                <a:lnTo>
                  <a:pt x="379573" y="189783"/>
                </a:lnTo>
                <a:close/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7) Ch 3.46_Calling Sequences _ Access to Nonlocal Data _ Scope of variable _ Nesting Depth - 0-0-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3587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7) Ch 3.46_Calling Sequences _ Access to Nonlocal Data _ Scope of variable _ Nesting Depth - 0-4-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5" y="3175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(1507) Ch 3.46_Calling Sequences _ Access to Nonlocal Data _ Scope of variable _ Nesting Depth - 0-8-19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56070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20" dirty="0"/>
              <a:t> </a:t>
            </a:r>
            <a:r>
              <a:rPr spc="-10" dirty="0"/>
              <a:t>Sequence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817243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428461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611" y="14138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327643"/>
            <a:ext cx="34632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parameters.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pushes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control/dynamic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(FP).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access/static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link. 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state. 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data.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might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temporaries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638499"/>
            <a:ext cx="110769" cy="110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848526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23915"/>
            <a:ext cx="78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2058565"/>
            <a:ext cx="110769" cy="110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268591"/>
            <a:ext cx="110769" cy="1107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7611" y="2044247"/>
            <a:ext cx="78105" cy="32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478630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2463525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688669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6740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96149" y="955617"/>
            <a:ext cx="20955" cy="34925"/>
          </a:xfrm>
          <a:custGeom>
            <a:avLst/>
            <a:gdLst/>
            <a:ahLst/>
            <a:cxnLst/>
            <a:rect l="l" t="t" r="r" b="b"/>
            <a:pathLst>
              <a:path w="20955" h="34925">
                <a:moveTo>
                  <a:pt x="0" y="34918"/>
                </a:moveTo>
                <a:lnTo>
                  <a:pt x="10477" y="0"/>
                </a:lnTo>
                <a:lnTo>
                  <a:pt x="20955" y="34918"/>
                </a:lnTo>
              </a:path>
            </a:pathLst>
          </a:custGeom>
          <a:ln w="6983">
            <a:solidFill>
              <a:srgbClr val="A7AB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143756"/>
            <a:ext cx="1940560" cy="477520"/>
          </a:xfrm>
          <a:custGeom>
            <a:avLst/>
            <a:gdLst/>
            <a:ahLst/>
            <a:cxnLst/>
            <a:rect l="l" t="t" r="r" b="b"/>
            <a:pathLst>
              <a:path w="1940560" h="477520">
                <a:moveTo>
                  <a:pt x="0" y="352780"/>
                </a:moveTo>
                <a:lnTo>
                  <a:pt x="64538" y="376711"/>
                </a:lnTo>
                <a:lnTo>
                  <a:pt x="106490" y="389380"/>
                </a:lnTo>
                <a:lnTo>
                  <a:pt x="151942" y="401363"/>
                </a:lnTo>
                <a:lnTo>
                  <a:pt x="200717" y="412619"/>
                </a:lnTo>
                <a:lnTo>
                  <a:pt x="252641" y="423108"/>
                </a:lnTo>
                <a:lnTo>
                  <a:pt x="307540" y="432789"/>
                </a:lnTo>
                <a:lnTo>
                  <a:pt x="365237" y="441623"/>
                </a:lnTo>
                <a:lnTo>
                  <a:pt x="425560" y="449569"/>
                </a:lnTo>
                <a:lnTo>
                  <a:pt x="488332" y="456586"/>
                </a:lnTo>
                <a:lnTo>
                  <a:pt x="553379" y="462634"/>
                </a:lnTo>
                <a:lnTo>
                  <a:pt x="620525" y="467673"/>
                </a:lnTo>
                <a:lnTo>
                  <a:pt x="689597" y="471662"/>
                </a:lnTo>
                <a:lnTo>
                  <a:pt x="760419" y="474562"/>
                </a:lnTo>
                <a:lnTo>
                  <a:pt x="832816" y="476331"/>
                </a:lnTo>
                <a:lnTo>
                  <a:pt x="906614" y="476930"/>
                </a:lnTo>
                <a:lnTo>
                  <a:pt x="980411" y="476331"/>
                </a:lnTo>
                <a:lnTo>
                  <a:pt x="1052809" y="474562"/>
                </a:lnTo>
                <a:lnTo>
                  <a:pt x="1123631" y="471662"/>
                </a:lnTo>
                <a:lnTo>
                  <a:pt x="1192702" y="467673"/>
                </a:lnTo>
                <a:lnTo>
                  <a:pt x="1259849" y="462634"/>
                </a:lnTo>
                <a:lnTo>
                  <a:pt x="1324896" y="456586"/>
                </a:lnTo>
                <a:lnTo>
                  <a:pt x="1387668" y="449569"/>
                </a:lnTo>
                <a:lnTo>
                  <a:pt x="1447990" y="441623"/>
                </a:lnTo>
                <a:lnTo>
                  <a:pt x="1505688" y="432789"/>
                </a:lnTo>
                <a:lnTo>
                  <a:pt x="1560586" y="423108"/>
                </a:lnTo>
                <a:lnTo>
                  <a:pt x="1612511" y="412619"/>
                </a:lnTo>
                <a:lnTo>
                  <a:pt x="1661286" y="401363"/>
                </a:lnTo>
                <a:lnTo>
                  <a:pt x="1706737" y="389380"/>
                </a:lnTo>
                <a:lnTo>
                  <a:pt x="1748690" y="376711"/>
                </a:lnTo>
                <a:lnTo>
                  <a:pt x="1786968" y="363396"/>
                </a:lnTo>
                <a:lnTo>
                  <a:pt x="1851806" y="334990"/>
                </a:lnTo>
                <a:lnTo>
                  <a:pt x="1899850" y="304483"/>
                </a:lnTo>
                <a:lnTo>
                  <a:pt x="1929702" y="272199"/>
                </a:lnTo>
                <a:lnTo>
                  <a:pt x="1939964" y="238462"/>
                </a:lnTo>
                <a:lnTo>
                  <a:pt x="1937370" y="221431"/>
                </a:lnTo>
                <a:lnTo>
                  <a:pt x="1917138" y="188380"/>
                </a:lnTo>
                <a:lnTo>
                  <a:pt x="1878014" y="156945"/>
                </a:lnTo>
                <a:lnTo>
                  <a:pt x="1821399" y="127448"/>
                </a:lnTo>
                <a:lnTo>
                  <a:pt x="1748690" y="100212"/>
                </a:lnTo>
                <a:lnTo>
                  <a:pt x="1706737" y="87543"/>
                </a:lnTo>
                <a:lnTo>
                  <a:pt x="1661286" y="75560"/>
                </a:lnTo>
                <a:lnTo>
                  <a:pt x="1612511" y="64304"/>
                </a:lnTo>
                <a:lnTo>
                  <a:pt x="1560586" y="53816"/>
                </a:lnTo>
                <a:lnTo>
                  <a:pt x="1505688" y="44134"/>
                </a:lnTo>
                <a:lnTo>
                  <a:pt x="1447990" y="35300"/>
                </a:lnTo>
                <a:lnTo>
                  <a:pt x="1387668" y="27355"/>
                </a:lnTo>
                <a:lnTo>
                  <a:pt x="1324896" y="20338"/>
                </a:lnTo>
                <a:lnTo>
                  <a:pt x="1259849" y="14290"/>
                </a:lnTo>
                <a:lnTo>
                  <a:pt x="1192702" y="9251"/>
                </a:lnTo>
                <a:lnTo>
                  <a:pt x="1123631" y="5261"/>
                </a:lnTo>
                <a:lnTo>
                  <a:pt x="1052809" y="2361"/>
                </a:lnTo>
                <a:lnTo>
                  <a:pt x="980411" y="592"/>
                </a:lnTo>
                <a:lnTo>
                  <a:pt x="906614" y="-6"/>
                </a:lnTo>
                <a:lnTo>
                  <a:pt x="832816" y="592"/>
                </a:lnTo>
                <a:lnTo>
                  <a:pt x="760419" y="2361"/>
                </a:lnTo>
                <a:lnTo>
                  <a:pt x="689597" y="5261"/>
                </a:lnTo>
                <a:lnTo>
                  <a:pt x="620525" y="9251"/>
                </a:lnTo>
                <a:lnTo>
                  <a:pt x="553379" y="14290"/>
                </a:lnTo>
                <a:lnTo>
                  <a:pt x="488332" y="20338"/>
                </a:lnTo>
                <a:lnTo>
                  <a:pt x="425560" y="27355"/>
                </a:lnTo>
                <a:lnTo>
                  <a:pt x="365237" y="35300"/>
                </a:lnTo>
                <a:lnTo>
                  <a:pt x="307540" y="44134"/>
                </a:lnTo>
                <a:lnTo>
                  <a:pt x="252641" y="53816"/>
                </a:lnTo>
                <a:lnTo>
                  <a:pt x="200717" y="64304"/>
                </a:lnTo>
                <a:lnTo>
                  <a:pt x="151942" y="75560"/>
                </a:lnTo>
                <a:lnTo>
                  <a:pt x="106490" y="87543"/>
                </a:lnTo>
                <a:lnTo>
                  <a:pt x="64538" y="100212"/>
                </a:lnTo>
                <a:lnTo>
                  <a:pt x="26259" y="113527"/>
                </a:lnTo>
                <a:lnTo>
                  <a:pt x="0" y="124144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50945" y="956344"/>
            <a:ext cx="1104265" cy="48895"/>
          </a:xfrm>
          <a:custGeom>
            <a:avLst/>
            <a:gdLst/>
            <a:ahLst/>
            <a:cxnLst/>
            <a:rect l="l" t="t" r="r" b="b"/>
            <a:pathLst>
              <a:path w="1104264" h="48894">
                <a:moveTo>
                  <a:pt x="0" y="34055"/>
                </a:moveTo>
                <a:lnTo>
                  <a:pt x="64476" y="23207"/>
                </a:lnTo>
                <a:lnTo>
                  <a:pt x="114562" y="15937"/>
                </a:lnTo>
                <a:lnTo>
                  <a:pt x="158792" y="10930"/>
                </a:lnTo>
                <a:lnTo>
                  <a:pt x="205702" y="6874"/>
                </a:lnTo>
                <a:lnTo>
                  <a:pt x="253516" y="3847"/>
                </a:lnTo>
                <a:lnTo>
                  <a:pt x="300456" y="1930"/>
                </a:lnTo>
                <a:lnTo>
                  <a:pt x="345466" y="872"/>
                </a:lnTo>
                <a:lnTo>
                  <a:pt x="387488" y="419"/>
                </a:lnTo>
                <a:lnTo>
                  <a:pt x="426856" y="306"/>
                </a:lnTo>
                <a:lnTo>
                  <a:pt x="463907" y="268"/>
                </a:lnTo>
                <a:lnTo>
                  <a:pt x="481580" y="268"/>
                </a:lnTo>
                <a:lnTo>
                  <a:pt x="498708" y="268"/>
                </a:lnTo>
                <a:lnTo>
                  <a:pt x="634368" y="268"/>
                </a:lnTo>
                <a:lnTo>
                  <a:pt x="643681" y="255"/>
                </a:lnTo>
                <a:lnTo>
                  <a:pt x="652457" y="215"/>
                </a:lnTo>
                <a:lnTo>
                  <a:pt x="660698" y="149"/>
                </a:lnTo>
                <a:lnTo>
                  <a:pt x="668402" y="56"/>
                </a:lnTo>
                <a:lnTo>
                  <a:pt x="675778" y="0"/>
                </a:lnTo>
                <a:lnTo>
                  <a:pt x="720376" y="2536"/>
                </a:lnTo>
                <a:lnTo>
                  <a:pt x="758148" y="9152"/>
                </a:lnTo>
                <a:lnTo>
                  <a:pt x="779650" y="14038"/>
                </a:lnTo>
                <a:lnTo>
                  <a:pt x="791054" y="16644"/>
                </a:lnTo>
                <a:lnTo>
                  <a:pt x="840113" y="27412"/>
                </a:lnTo>
                <a:lnTo>
                  <a:pt x="889036" y="36471"/>
                </a:lnTo>
                <a:lnTo>
                  <a:pt x="931982" y="43031"/>
                </a:lnTo>
                <a:lnTo>
                  <a:pt x="973091" y="47844"/>
                </a:lnTo>
                <a:lnTo>
                  <a:pt x="988007" y="48707"/>
                </a:lnTo>
                <a:lnTo>
                  <a:pt x="996023" y="48424"/>
                </a:lnTo>
                <a:lnTo>
                  <a:pt x="1003691" y="47415"/>
                </a:lnTo>
                <a:lnTo>
                  <a:pt x="1011354" y="46408"/>
                </a:lnTo>
                <a:lnTo>
                  <a:pt x="1018925" y="44889"/>
                </a:lnTo>
                <a:lnTo>
                  <a:pt x="1026389" y="42860"/>
                </a:lnTo>
                <a:lnTo>
                  <a:pt x="1033859" y="40830"/>
                </a:lnTo>
                <a:lnTo>
                  <a:pt x="1071352" y="31985"/>
                </a:lnTo>
                <a:lnTo>
                  <a:pt x="1078591" y="30344"/>
                </a:lnTo>
                <a:lnTo>
                  <a:pt x="1085787" y="28704"/>
                </a:lnTo>
                <a:lnTo>
                  <a:pt x="1092946" y="27066"/>
                </a:lnTo>
                <a:lnTo>
                  <a:pt x="1103681" y="24608"/>
                </a:lnTo>
              </a:path>
            </a:pathLst>
          </a:custGeom>
          <a:ln w="12700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05951" y="1333836"/>
            <a:ext cx="1384300" cy="287655"/>
          </a:xfrm>
          <a:custGeom>
            <a:avLst/>
            <a:gdLst/>
            <a:ahLst/>
            <a:cxnLst/>
            <a:rect l="l" t="t" r="r" b="b"/>
            <a:pathLst>
              <a:path w="1384300" h="287655">
                <a:moveTo>
                  <a:pt x="1384162" y="143625"/>
                </a:moveTo>
                <a:lnTo>
                  <a:pt x="1348880" y="98230"/>
                </a:lnTo>
                <a:lnTo>
                  <a:pt x="1289673" y="71137"/>
                </a:lnTo>
                <a:lnTo>
                  <a:pt x="1250631" y="58805"/>
                </a:lnTo>
                <a:lnTo>
                  <a:pt x="1205859" y="47399"/>
                </a:lnTo>
                <a:lnTo>
                  <a:pt x="1155780" y="37007"/>
                </a:lnTo>
                <a:lnTo>
                  <a:pt x="1100816" y="27716"/>
                </a:lnTo>
                <a:lnTo>
                  <a:pt x="1041388" y="19614"/>
                </a:lnTo>
                <a:lnTo>
                  <a:pt x="977920" y="12788"/>
                </a:lnTo>
                <a:lnTo>
                  <a:pt x="910832" y="7327"/>
                </a:lnTo>
                <a:lnTo>
                  <a:pt x="840549" y="3318"/>
                </a:lnTo>
                <a:lnTo>
                  <a:pt x="767491" y="848"/>
                </a:lnTo>
                <a:lnTo>
                  <a:pt x="692081" y="6"/>
                </a:lnTo>
                <a:lnTo>
                  <a:pt x="616671" y="848"/>
                </a:lnTo>
                <a:lnTo>
                  <a:pt x="543613" y="3318"/>
                </a:lnTo>
                <a:lnTo>
                  <a:pt x="473330" y="7327"/>
                </a:lnTo>
                <a:lnTo>
                  <a:pt x="406243" y="12788"/>
                </a:lnTo>
                <a:lnTo>
                  <a:pt x="342774" y="19614"/>
                </a:lnTo>
                <a:lnTo>
                  <a:pt x="283347" y="27716"/>
                </a:lnTo>
                <a:lnTo>
                  <a:pt x="228382" y="37007"/>
                </a:lnTo>
                <a:lnTo>
                  <a:pt x="178303" y="47399"/>
                </a:lnTo>
                <a:lnTo>
                  <a:pt x="133531" y="58805"/>
                </a:lnTo>
                <a:lnTo>
                  <a:pt x="94489" y="71137"/>
                </a:lnTo>
                <a:lnTo>
                  <a:pt x="35282" y="98230"/>
                </a:lnTo>
                <a:lnTo>
                  <a:pt x="4060" y="127976"/>
                </a:lnTo>
                <a:lnTo>
                  <a:pt x="0" y="143625"/>
                </a:lnTo>
                <a:lnTo>
                  <a:pt x="4060" y="159273"/>
                </a:lnTo>
                <a:lnTo>
                  <a:pt x="35282" y="189019"/>
                </a:lnTo>
                <a:lnTo>
                  <a:pt x="94489" y="216111"/>
                </a:lnTo>
                <a:lnTo>
                  <a:pt x="133531" y="228443"/>
                </a:lnTo>
                <a:lnTo>
                  <a:pt x="178303" y="239849"/>
                </a:lnTo>
                <a:lnTo>
                  <a:pt x="228382" y="250241"/>
                </a:lnTo>
                <a:lnTo>
                  <a:pt x="283347" y="259532"/>
                </a:lnTo>
                <a:lnTo>
                  <a:pt x="342774" y="267634"/>
                </a:lnTo>
                <a:lnTo>
                  <a:pt x="406243" y="274459"/>
                </a:lnTo>
                <a:lnTo>
                  <a:pt x="473330" y="279920"/>
                </a:lnTo>
                <a:lnTo>
                  <a:pt x="543613" y="283930"/>
                </a:lnTo>
                <a:lnTo>
                  <a:pt x="616671" y="286400"/>
                </a:lnTo>
                <a:lnTo>
                  <a:pt x="692081" y="287242"/>
                </a:lnTo>
                <a:lnTo>
                  <a:pt x="767491" y="286400"/>
                </a:lnTo>
                <a:lnTo>
                  <a:pt x="840549" y="283930"/>
                </a:lnTo>
                <a:lnTo>
                  <a:pt x="910832" y="279920"/>
                </a:lnTo>
                <a:lnTo>
                  <a:pt x="977920" y="274459"/>
                </a:lnTo>
                <a:lnTo>
                  <a:pt x="1041388" y="267634"/>
                </a:lnTo>
                <a:lnTo>
                  <a:pt x="1100816" y="259532"/>
                </a:lnTo>
                <a:lnTo>
                  <a:pt x="1155780" y="250241"/>
                </a:lnTo>
                <a:lnTo>
                  <a:pt x="1205859" y="239849"/>
                </a:lnTo>
                <a:lnTo>
                  <a:pt x="1250631" y="228443"/>
                </a:lnTo>
                <a:lnTo>
                  <a:pt x="1289673" y="216111"/>
                </a:lnTo>
                <a:lnTo>
                  <a:pt x="1348880" y="189019"/>
                </a:lnTo>
                <a:lnTo>
                  <a:pt x="1380101" y="159273"/>
                </a:lnTo>
                <a:lnTo>
                  <a:pt x="1384162" y="143625"/>
                </a:lnTo>
                <a:close/>
              </a:path>
            </a:pathLst>
          </a:custGeom>
          <a:ln w="1269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20" dirty="0"/>
              <a:t> </a:t>
            </a:r>
            <a:r>
              <a:rPr spc="-10" dirty="0"/>
              <a:t>Sequence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817243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428461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611" y="14138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327643"/>
            <a:ext cx="34632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parameters.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pushes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control/dynamic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(FP).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access/static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link. 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state. 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data.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might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temporaries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638499"/>
            <a:ext cx="110769" cy="110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848526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23915"/>
            <a:ext cx="78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2058565"/>
            <a:ext cx="110769" cy="110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268591"/>
            <a:ext cx="110769" cy="1107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7611" y="2044247"/>
            <a:ext cx="78105" cy="32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478630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2463525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688669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6740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20" dirty="0"/>
              <a:t> </a:t>
            </a:r>
            <a:r>
              <a:rPr spc="-10" dirty="0"/>
              <a:t>Sequence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817243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428461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611" y="14138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327643"/>
            <a:ext cx="34632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parameters.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pushes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control/dynamic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(FP).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access/static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link. 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state. 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data.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might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temporaries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638499"/>
            <a:ext cx="110769" cy="110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848526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23915"/>
            <a:ext cx="78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2058565"/>
            <a:ext cx="110769" cy="110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268591"/>
            <a:ext cx="110769" cy="1107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7611" y="2044247"/>
            <a:ext cx="78105" cy="32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478630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2463525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688669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6740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20" dirty="0"/>
              <a:t> </a:t>
            </a:r>
            <a:r>
              <a:rPr spc="-10" dirty="0"/>
              <a:t>Sequence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817243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428461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611" y="14138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327643"/>
            <a:ext cx="34632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parameters.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pushes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control/dynamic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(FP).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access/static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link.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state. 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data.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might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temporaries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638499"/>
            <a:ext cx="110769" cy="110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848526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23915"/>
            <a:ext cx="78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2058565"/>
            <a:ext cx="110769" cy="110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268591"/>
            <a:ext cx="110769" cy="1107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7611" y="2044247"/>
            <a:ext cx="78105" cy="32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478630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2463525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688669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6740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20" dirty="0"/>
              <a:t> </a:t>
            </a:r>
            <a:r>
              <a:rPr spc="-10" dirty="0"/>
              <a:t>Sequence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817243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428461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611" y="14138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327643"/>
            <a:ext cx="34632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parameters.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pushes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control/dynamic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(FP).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access/static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link. callee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state.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data.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might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temporaries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638499"/>
            <a:ext cx="110769" cy="110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848526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23915"/>
            <a:ext cx="78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2058565"/>
            <a:ext cx="110769" cy="110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268591"/>
            <a:ext cx="110769" cy="1107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7611" y="2044247"/>
            <a:ext cx="78105" cy="32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478630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2463525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688669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6740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20" dirty="0"/>
              <a:t> </a:t>
            </a:r>
            <a:r>
              <a:rPr spc="-10" dirty="0"/>
              <a:t>Sequence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817243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428461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611" y="14138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327643"/>
            <a:ext cx="34632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parameters.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pushes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control/dynamic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(FP).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access/static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link. callee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state. callee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data.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might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temporaries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runs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638499"/>
            <a:ext cx="110769" cy="110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848526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23915"/>
            <a:ext cx="78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2058565"/>
            <a:ext cx="110769" cy="110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268591"/>
            <a:ext cx="110769" cy="1107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7611" y="2044247"/>
            <a:ext cx="78105" cy="32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478630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2463525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688669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6740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20" dirty="0"/>
              <a:t> </a:t>
            </a:r>
            <a:r>
              <a:rPr spc="-10" dirty="0"/>
              <a:t>Sequence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817243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428461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7611" y="141388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327643"/>
            <a:ext cx="34632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actual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parameters.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value.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pushes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control/dynamic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(FP).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25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access/static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link. callee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stores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saved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state. callee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space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data.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runs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might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temporaries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runs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638499"/>
            <a:ext cx="110769" cy="110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1848526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1623915"/>
            <a:ext cx="78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70" y="2058565"/>
            <a:ext cx="110769" cy="110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270" y="2268591"/>
            <a:ext cx="110769" cy="1107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7611" y="2044247"/>
            <a:ext cx="78105" cy="32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270" y="2478630"/>
            <a:ext cx="110769" cy="11076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611" y="2463525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270" y="2688669"/>
            <a:ext cx="110769" cy="1107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7611" y="26740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7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95" dirty="0"/>
              <a:t> </a:t>
            </a:r>
            <a:r>
              <a:rPr dirty="0"/>
              <a:t>Sequence,</a:t>
            </a:r>
            <a:r>
              <a:rPr spc="495" dirty="0"/>
              <a:t> </a:t>
            </a:r>
            <a:r>
              <a:rPr spc="-10" dirty="0"/>
              <a:t>continued.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1153958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765185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664370"/>
            <a:ext cx="407924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 cleans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material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(pops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temporaries).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callee</a:t>
            </a:r>
            <a:r>
              <a:rPr sz="1100" spc="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restores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caller’s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(includes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“jumping</a:t>
            </a:r>
            <a:r>
              <a:rPr sz="1100" spc="3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back”).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extracts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value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recovers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used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975211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750598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2185250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217014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5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cap="small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tack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Allocation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cap="small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</a:t>
            </a: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pace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Calling</a:t>
            </a:r>
            <a:r>
              <a:rPr spc="495" dirty="0"/>
              <a:t> </a:t>
            </a:r>
            <a:r>
              <a:rPr dirty="0"/>
              <a:t>Sequence,</a:t>
            </a:r>
            <a:r>
              <a:rPr spc="495" dirty="0"/>
              <a:t> </a:t>
            </a:r>
            <a:r>
              <a:rPr spc="-10" dirty="0"/>
              <a:t>continued.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5844" y="1153958"/>
            <a:ext cx="43567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b="1" spc="1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sequences</a:t>
            </a:r>
            <a:r>
              <a:rPr sz="11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allocates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activation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record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information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fields: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70" y="1765185"/>
            <a:ext cx="110769" cy="1107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664370"/>
            <a:ext cx="407924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callee cleans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material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(pops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temporaries). callee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restores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caller’s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machine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(includes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“jumping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back”).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caller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extracts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value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recovers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used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parameters.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70" y="1975211"/>
            <a:ext cx="110769" cy="1107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7611" y="1750598"/>
            <a:ext cx="78105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270" y="2185250"/>
            <a:ext cx="110769" cy="1107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7611" y="2170143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7048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Non-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data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138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105515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55" y="1026323"/>
            <a:ext cx="1273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Storage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organization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514017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482203"/>
            <a:ext cx="1741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600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Stack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Allocation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of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Space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969897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1938082"/>
            <a:ext cx="1083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644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6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Non-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local</a:t>
            </a:r>
            <a:r>
              <a:rPr sz="1100" spc="7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425776"/>
            <a:ext cx="155257" cy="1552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4675" y="2393961"/>
            <a:ext cx="1326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r>
              <a:rPr sz="1200" b="1" spc="600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Heap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Management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7" y="2111590"/>
            <a:ext cx="1193800" cy="111125"/>
          </a:xfrm>
          <a:custGeom>
            <a:avLst/>
            <a:gdLst/>
            <a:ahLst/>
            <a:cxnLst/>
            <a:rect l="l" t="t" r="r" b="b"/>
            <a:pathLst>
              <a:path w="1193800" h="111125">
                <a:moveTo>
                  <a:pt x="1165724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70"/>
                </a:lnTo>
                <a:lnTo>
                  <a:pt x="0" y="55419"/>
                </a:lnTo>
                <a:lnTo>
                  <a:pt x="2381" y="75769"/>
                </a:lnTo>
                <a:lnTo>
                  <a:pt x="8659" y="93520"/>
                </a:lnTo>
                <a:lnTo>
                  <a:pt x="17534" y="106076"/>
                </a:lnTo>
                <a:lnTo>
                  <a:pt x="27709" y="110839"/>
                </a:lnTo>
                <a:lnTo>
                  <a:pt x="1165724" y="110839"/>
                </a:lnTo>
                <a:lnTo>
                  <a:pt x="1175899" y="106076"/>
                </a:lnTo>
                <a:lnTo>
                  <a:pt x="1184775" y="93520"/>
                </a:lnTo>
                <a:lnTo>
                  <a:pt x="1191052" y="75769"/>
                </a:lnTo>
                <a:lnTo>
                  <a:pt x="1193434" y="55419"/>
                </a:lnTo>
                <a:lnTo>
                  <a:pt x="1191052" y="35070"/>
                </a:lnTo>
                <a:lnTo>
                  <a:pt x="1184775" y="17318"/>
                </a:lnTo>
                <a:lnTo>
                  <a:pt x="1175899" y="4762"/>
                </a:lnTo>
                <a:lnTo>
                  <a:pt x="1165724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43709" y="1867508"/>
            <a:ext cx="824865" cy="111125"/>
          </a:xfrm>
          <a:custGeom>
            <a:avLst/>
            <a:gdLst/>
            <a:ahLst/>
            <a:cxnLst/>
            <a:rect l="l" t="t" r="r" b="b"/>
            <a:pathLst>
              <a:path w="824864" h="111125">
                <a:moveTo>
                  <a:pt x="796634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69"/>
                </a:lnTo>
                <a:lnTo>
                  <a:pt x="0" y="55417"/>
                </a:lnTo>
                <a:lnTo>
                  <a:pt x="2381" y="75766"/>
                </a:lnTo>
                <a:lnTo>
                  <a:pt x="8659" y="93517"/>
                </a:lnTo>
                <a:lnTo>
                  <a:pt x="17534" y="106072"/>
                </a:lnTo>
                <a:lnTo>
                  <a:pt x="27709" y="110835"/>
                </a:lnTo>
                <a:lnTo>
                  <a:pt x="796634" y="110835"/>
                </a:lnTo>
                <a:lnTo>
                  <a:pt x="806808" y="106072"/>
                </a:lnTo>
                <a:lnTo>
                  <a:pt x="815684" y="93517"/>
                </a:lnTo>
                <a:lnTo>
                  <a:pt x="821962" y="75766"/>
                </a:lnTo>
                <a:lnTo>
                  <a:pt x="824343" y="55417"/>
                </a:lnTo>
                <a:lnTo>
                  <a:pt x="821962" y="35069"/>
                </a:lnTo>
                <a:lnTo>
                  <a:pt x="815684" y="17318"/>
                </a:lnTo>
                <a:lnTo>
                  <a:pt x="806808" y="4762"/>
                </a:lnTo>
                <a:lnTo>
                  <a:pt x="796634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5632" y="1299526"/>
            <a:ext cx="4017010" cy="111125"/>
          </a:xfrm>
          <a:custGeom>
            <a:avLst/>
            <a:gdLst/>
            <a:ahLst/>
            <a:cxnLst/>
            <a:rect l="l" t="t" r="r" b="b"/>
            <a:pathLst>
              <a:path w="4017010" h="111125">
                <a:moveTo>
                  <a:pt x="3988726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69"/>
                </a:lnTo>
                <a:lnTo>
                  <a:pt x="0" y="55417"/>
                </a:lnTo>
                <a:lnTo>
                  <a:pt x="2381" y="75766"/>
                </a:lnTo>
                <a:lnTo>
                  <a:pt x="8659" y="93517"/>
                </a:lnTo>
                <a:lnTo>
                  <a:pt x="17534" y="106072"/>
                </a:lnTo>
                <a:lnTo>
                  <a:pt x="27709" y="110835"/>
                </a:lnTo>
                <a:lnTo>
                  <a:pt x="3988726" y="110835"/>
                </a:lnTo>
                <a:lnTo>
                  <a:pt x="3998901" y="106072"/>
                </a:lnTo>
                <a:lnTo>
                  <a:pt x="4007776" y="93517"/>
                </a:lnTo>
                <a:lnTo>
                  <a:pt x="4014054" y="75766"/>
                </a:lnTo>
                <a:lnTo>
                  <a:pt x="4016435" y="55417"/>
                </a:lnTo>
                <a:lnTo>
                  <a:pt x="4014054" y="35069"/>
                </a:lnTo>
                <a:lnTo>
                  <a:pt x="4007776" y="17318"/>
                </a:lnTo>
                <a:lnTo>
                  <a:pt x="3998901" y="4762"/>
                </a:lnTo>
                <a:lnTo>
                  <a:pt x="3988726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10" name="object 10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7" name="object 17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2" name="object 22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30911" y="-4300"/>
            <a:ext cx="7048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Non-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local</a:t>
            </a:r>
            <a:r>
              <a:rPr sz="600" b="1" spc="3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data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Easy:</a:t>
            </a:r>
            <a:r>
              <a:rPr spc="375" dirty="0"/>
              <a:t> </a:t>
            </a:r>
            <a:r>
              <a:rPr spc="150" dirty="0"/>
              <a:t>C</a:t>
            </a:r>
            <a:r>
              <a:rPr spc="200" dirty="0"/>
              <a:t> </a:t>
            </a:r>
            <a:r>
              <a:rPr spc="75" dirty="0"/>
              <a:t>(no</a:t>
            </a:r>
            <a:r>
              <a:rPr spc="195" dirty="0"/>
              <a:t> </a:t>
            </a:r>
            <a:r>
              <a:rPr spc="55" dirty="0"/>
              <a:t>nested</a:t>
            </a:r>
            <a:r>
              <a:rPr spc="195" dirty="0"/>
              <a:t> </a:t>
            </a:r>
            <a:r>
              <a:rPr spc="60" dirty="0"/>
              <a:t>procedures,</a:t>
            </a:r>
            <a:r>
              <a:rPr spc="195" dirty="0"/>
              <a:t> </a:t>
            </a:r>
            <a:r>
              <a:rPr spc="80" dirty="0"/>
              <a:t>static</a:t>
            </a:r>
            <a:r>
              <a:rPr spc="200" dirty="0"/>
              <a:t> </a:t>
            </a:r>
            <a:r>
              <a:rPr spc="-10" dirty="0"/>
              <a:t>scoping)</a:t>
            </a:r>
            <a:endParaRPr spc="-10" dirty="0"/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1331518"/>
            <a:ext cx="63296" cy="6329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02932" y="1246097"/>
            <a:ext cx="4042410" cy="1003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how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procedures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their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also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other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procedures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1275080">
              <a:lnSpc>
                <a:spcPct val="146000"/>
              </a:lnSpc>
              <a:spcBef>
                <a:spcPts val="63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static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goes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static</a:t>
            </a:r>
            <a:r>
              <a:rPr sz="1100" u="heavy" spc="4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sectio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n. Everything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else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default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100" u="heavy" spc="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u="heavy" spc="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stack.</a:t>
            </a:r>
            <a:r>
              <a:rPr sz="1100" u="heavy" spc="-7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Explicit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malloc()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free()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manage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u="heavy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he</a:t>
            </a:r>
            <a:r>
              <a:rPr sz="1100" u="heavy" spc="4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heap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70" y="1655432"/>
            <a:ext cx="63296" cy="6329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070" y="1899500"/>
            <a:ext cx="63296" cy="6329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070" y="2143569"/>
            <a:ext cx="63296" cy="63296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23885" y="1711961"/>
            <a:ext cx="1040765" cy="60325"/>
          </a:xfrm>
          <a:custGeom>
            <a:avLst/>
            <a:gdLst/>
            <a:ahLst/>
            <a:cxnLst/>
            <a:rect l="l" t="t" r="r" b="b"/>
            <a:pathLst>
              <a:path w="1040765" h="60325">
                <a:moveTo>
                  <a:pt x="7867" y="0"/>
                </a:moveTo>
                <a:lnTo>
                  <a:pt x="4552" y="2607"/>
                </a:lnTo>
                <a:lnTo>
                  <a:pt x="270" y="5975"/>
                </a:lnTo>
                <a:lnTo>
                  <a:pt x="0" y="12586"/>
                </a:lnTo>
                <a:lnTo>
                  <a:pt x="3991" y="16305"/>
                </a:lnTo>
                <a:lnTo>
                  <a:pt x="8606" y="17785"/>
                </a:lnTo>
                <a:lnTo>
                  <a:pt x="30199" y="18549"/>
                </a:lnTo>
                <a:lnTo>
                  <a:pt x="86567" y="18839"/>
                </a:lnTo>
                <a:lnTo>
                  <a:pt x="284748" y="18960"/>
                </a:lnTo>
                <a:lnTo>
                  <a:pt x="351005" y="19328"/>
                </a:lnTo>
                <a:lnTo>
                  <a:pt x="400410" y="20293"/>
                </a:lnTo>
                <a:lnTo>
                  <a:pt x="439098" y="22148"/>
                </a:lnTo>
                <a:lnTo>
                  <a:pt x="508858" y="29704"/>
                </a:lnTo>
                <a:lnTo>
                  <a:pt x="627258" y="47167"/>
                </a:lnTo>
                <a:lnTo>
                  <a:pt x="688825" y="58735"/>
                </a:lnTo>
                <a:lnTo>
                  <a:pt x="705969" y="60095"/>
                </a:lnTo>
                <a:lnTo>
                  <a:pt x="726645" y="59397"/>
                </a:lnTo>
                <a:lnTo>
                  <a:pt x="781482" y="53949"/>
                </a:lnTo>
                <a:lnTo>
                  <a:pt x="802331" y="52358"/>
                </a:lnTo>
                <a:lnTo>
                  <a:pt x="804406" y="51983"/>
                </a:lnTo>
                <a:lnTo>
                  <a:pt x="840142" y="51325"/>
                </a:lnTo>
                <a:lnTo>
                  <a:pt x="985625" y="50307"/>
                </a:lnTo>
                <a:lnTo>
                  <a:pt x="1019391" y="49837"/>
                </a:lnTo>
                <a:lnTo>
                  <a:pt x="1032696" y="48991"/>
                </a:lnTo>
                <a:lnTo>
                  <a:pt x="1036174" y="47472"/>
                </a:lnTo>
                <a:lnTo>
                  <a:pt x="1040272" y="43675"/>
                </a:lnTo>
                <a:lnTo>
                  <a:pt x="1039983" y="37446"/>
                </a:lnTo>
                <a:lnTo>
                  <a:pt x="1032086" y="31141"/>
                </a:lnTo>
                <a:lnTo>
                  <a:pt x="859867" y="32481"/>
                </a:lnTo>
                <a:lnTo>
                  <a:pt x="816144" y="33497"/>
                </a:lnTo>
                <a:lnTo>
                  <a:pt x="784006" y="35361"/>
                </a:lnTo>
                <a:lnTo>
                  <a:pt x="751574" y="38524"/>
                </a:lnTo>
                <a:lnTo>
                  <a:pt x="727203" y="40667"/>
                </a:lnTo>
                <a:lnTo>
                  <a:pt x="707253" y="41292"/>
                </a:lnTo>
                <a:lnTo>
                  <a:pt x="691224" y="40396"/>
                </a:lnTo>
                <a:lnTo>
                  <a:pt x="641506" y="30955"/>
                </a:lnTo>
                <a:lnTo>
                  <a:pt x="575843" y="20808"/>
                </a:lnTo>
                <a:lnTo>
                  <a:pt x="505336" y="11009"/>
                </a:lnTo>
                <a:lnTo>
                  <a:pt x="453693" y="5028"/>
                </a:lnTo>
                <a:lnTo>
                  <a:pt x="389269" y="1424"/>
                </a:lnTo>
                <a:lnTo>
                  <a:pt x="342788" y="563"/>
                </a:lnTo>
                <a:lnTo>
                  <a:pt x="276714" y="143"/>
                </a:lnTo>
                <a:lnTo>
                  <a:pt x="7867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4831" y="2222670"/>
            <a:ext cx="164757" cy="104457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1603222" y="2188655"/>
            <a:ext cx="352425" cy="175895"/>
          </a:xfrm>
          <a:custGeom>
            <a:avLst/>
            <a:gdLst/>
            <a:ahLst/>
            <a:cxnLst/>
            <a:rect l="l" t="t" r="r" b="b"/>
            <a:pathLst>
              <a:path w="352425" h="175894">
                <a:moveTo>
                  <a:pt x="347702" y="0"/>
                </a:moveTo>
                <a:lnTo>
                  <a:pt x="300652" y="14627"/>
                </a:lnTo>
                <a:lnTo>
                  <a:pt x="246951" y="44757"/>
                </a:lnTo>
                <a:lnTo>
                  <a:pt x="201153" y="76865"/>
                </a:lnTo>
                <a:lnTo>
                  <a:pt x="147158" y="118427"/>
                </a:lnTo>
                <a:lnTo>
                  <a:pt x="115408" y="143581"/>
                </a:lnTo>
                <a:lnTo>
                  <a:pt x="106380" y="149904"/>
                </a:lnTo>
                <a:lnTo>
                  <a:pt x="99319" y="153833"/>
                </a:lnTo>
                <a:lnTo>
                  <a:pt x="93850" y="155608"/>
                </a:lnTo>
                <a:lnTo>
                  <a:pt x="89665" y="156287"/>
                </a:lnTo>
                <a:lnTo>
                  <a:pt x="88750" y="155793"/>
                </a:lnTo>
                <a:lnTo>
                  <a:pt x="81417" y="148886"/>
                </a:lnTo>
                <a:lnTo>
                  <a:pt x="63600" y="133162"/>
                </a:lnTo>
                <a:lnTo>
                  <a:pt x="48946" y="123229"/>
                </a:lnTo>
                <a:lnTo>
                  <a:pt x="34869" y="117695"/>
                </a:lnTo>
                <a:lnTo>
                  <a:pt x="18784" y="115167"/>
                </a:lnTo>
                <a:lnTo>
                  <a:pt x="8978" y="114353"/>
                </a:lnTo>
                <a:lnTo>
                  <a:pt x="7805" y="114506"/>
                </a:lnTo>
                <a:lnTo>
                  <a:pt x="153" y="120536"/>
                </a:lnTo>
                <a:lnTo>
                  <a:pt x="0" y="126038"/>
                </a:lnTo>
                <a:lnTo>
                  <a:pt x="6901" y="132940"/>
                </a:lnTo>
                <a:lnTo>
                  <a:pt x="8524" y="133387"/>
                </a:lnTo>
                <a:lnTo>
                  <a:pt x="15470" y="133387"/>
                </a:lnTo>
                <a:lnTo>
                  <a:pt x="27674" y="134733"/>
                </a:lnTo>
                <a:lnTo>
                  <a:pt x="39367" y="139166"/>
                </a:lnTo>
                <a:lnTo>
                  <a:pt x="51677" y="147275"/>
                </a:lnTo>
                <a:lnTo>
                  <a:pt x="65733" y="159649"/>
                </a:lnTo>
                <a:lnTo>
                  <a:pt x="77289" y="170750"/>
                </a:lnTo>
                <a:lnTo>
                  <a:pt x="79357" y="172216"/>
                </a:lnTo>
                <a:lnTo>
                  <a:pt x="94375" y="175436"/>
                </a:lnTo>
                <a:lnTo>
                  <a:pt x="95793" y="175317"/>
                </a:lnTo>
                <a:lnTo>
                  <a:pt x="104247" y="171881"/>
                </a:lnTo>
                <a:lnTo>
                  <a:pt x="110940" y="168767"/>
                </a:lnTo>
                <a:lnTo>
                  <a:pt x="118201" y="164276"/>
                </a:lnTo>
                <a:lnTo>
                  <a:pt x="127937" y="157099"/>
                </a:lnTo>
                <a:lnTo>
                  <a:pt x="162836" y="129497"/>
                </a:lnTo>
                <a:lnTo>
                  <a:pt x="210574" y="92704"/>
                </a:lnTo>
                <a:lnTo>
                  <a:pt x="256839" y="60248"/>
                </a:lnTo>
                <a:lnTo>
                  <a:pt x="314232" y="28614"/>
                </a:lnTo>
                <a:lnTo>
                  <a:pt x="343484" y="17366"/>
                </a:lnTo>
                <a:lnTo>
                  <a:pt x="347651" y="15193"/>
                </a:lnTo>
                <a:lnTo>
                  <a:pt x="351879" y="7293"/>
                </a:lnTo>
                <a:lnTo>
                  <a:pt x="347702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5852" y="392949"/>
            <a:ext cx="372745" cy="92710"/>
          </a:xfrm>
          <a:custGeom>
            <a:avLst/>
            <a:gdLst/>
            <a:ahLst/>
            <a:cxnLst/>
            <a:rect l="l" t="t" r="r" b="b"/>
            <a:pathLst>
              <a:path w="372744" h="92709">
                <a:moveTo>
                  <a:pt x="230339" y="0"/>
                </a:moveTo>
                <a:lnTo>
                  <a:pt x="180730" y="6125"/>
                </a:lnTo>
                <a:lnTo>
                  <a:pt x="135376" y="17781"/>
                </a:lnTo>
                <a:lnTo>
                  <a:pt x="78047" y="36756"/>
                </a:lnTo>
                <a:lnTo>
                  <a:pt x="27826" y="59944"/>
                </a:lnTo>
                <a:lnTo>
                  <a:pt x="0" y="81166"/>
                </a:lnTo>
                <a:lnTo>
                  <a:pt x="24" y="85123"/>
                </a:lnTo>
                <a:lnTo>
                  <a:pt x="7899" y="92521"/>
                </a:lnTo>
                <a:lnTo>
                  <a:pt x="12851" y="92054"/>
                </a:lnTo>
                <a:lnTo>
                  <a:pt x="18239" y="87197"/>
                </a:lnTo>
                <a:lnTo>
                  <a:pt x="26985" y="81499"/>
                </a:lnTo>
                <a:lnTo>
                  <a:pt x="77513" y="56638"/>
                </a:lnTo>
                <a:lnTo>
                  <a:pt x="144570" y="34099"/>
                </a:lnTo>
                <a:lnTo>
                  <a:pt x="207033" y="20245"/>
                </a:lnTo>
                <a:lnTo>
                  <a:pt x="255062" y="17570"/>
                </a:lnTo>
                <a:lnTo>
                  <a:pt x="265787" y="18252"/>
                </a:lnTo>
                <a:lnTo>
                  <a:pt x="275342" y="20188"/>
                </a:lnTo>
                <a:lnTo>
                  <a:pt x="284557" y="23691"/>
                </a:lnTo>
                <a:lnTo>
                  <a:pt x="295873" y="29916"/>
                </a:lnTo>
                <a:lnTo>
                  <a:pt x="330864" y="52302"/>
                </a:lnTo>
                <a:lnTo>
                  <a:pt x="345144" y="60826"/>
                </a:lnTo>
                <a:lnTo>
                  <a:pt x="354928" y="65793"/>
                </a:lnTo>
                <a:lnTo>
                  <a:pt x="360574" y="67404"/>
                </a:lnTo>
                <a:lnTo>
                  <a:pt x="368419" y="67404"/>
                </a:lnTo>
                <a:lnTo>
                  <a:pt x="372244" y="57919"/>
                </a:lnTo>
                <a:lnTo>
                  <a:pt x="364958" y="51246"/>
                </a:lnTo>
                <a:lnTo>
                  <a:pt x="358307" y="47088"/>
                </a:lnTo>
                <a:lnTo>
                  <a:pt x="345655" y="39891"/>
                </a:lnTo>
                <a:lnTo>
                  <a:pt x="329570" y="29870"/>
                </a:lnTo>
                <a:lnTo>
                  <a:pt x="292164" y="6552"/>
                </a:lnTo>
                <a:lnTo>
                  <a:pt x="265310" y="330"/>
                </a:lnTo>
                <a:lnTo>
                  <a:pt x="230339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7048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Non-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data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Harder:</a:t>
            </a:r>
            <a:r>
              <a:rPr spc="415" dirty="0"/>
              <a:t> </a:t>
            </a:r>
            <a:r>
              <a:rPr spc="335" dirty="0"/>
              <a:t>C++,</a:t>
            </a:r>
            <a:r>
              <a:rPr spc="225" dirty="0"/>
              <a:t> </a:t>
            </a:r>
            <a:r>
              <a:rPr spc="305" dirty="0"/>
              <a:t>C#,</a:t>
            </a:r>
            <a:r>
              <a:rPr spc="229" dirty="0"/>
              <a:t> </a:t>
            </a:r>
            <a:r>
              <a:rPr spc="90" dirty="0"/>
              <a:t>Java,</a:t>
            </a:r>
            <a:r>
              <a:rPr spc="225" dirty="0"/>
              <a:t> </a:t>
            </a:r>
            <a:r>
              <a:rPr spc="60" dirty="0"/>
              <a:t>Scala,</a:t>
            </a:r>
            <a:r>
              <a:rPr spc="225" dirty="0"/>
              <a:t> </a:t>
            </a:r>
            <a:r>
              <a:rPr spc="110" dirty="0"/>
              <a:t>ML,</a:t>
            </a:r>
            <a:r>
              <a:rPr spc="225" dirty="0"/>
              <a:t> </a:t>
            </a:r>
            <a:r>
              <a:rPr dirty="0"/>
              <a:t>Haskell,</a:t>
            </a:r>
            <a:r>
              <a:rPr spc="225" dirty="0"/>
              <a:t> </a:t>
            </a:r>
            <a:r>
              <a:rPr spc="-305" dirty="0"/>
              <a:t>…</a:t>
            </a:r>
            <a:endParaRPr spc="-30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1558709"/>
            <a:ext cx="63296" cy="632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395486"/>
            <a:ext cx="2540000" cy="5137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Has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nested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procedures.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Uses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(“static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link”)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display.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1802790"/>
            <a:ext cx="63296" cy="6329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4750" y="1900987"/>
            <a:ext cx="1612900" cy="102870"/>
          </a:xfrm>
          <a:custGeom>
            <a:avLst/>
            <a:gdLst/>
            <a:ahLst/>
            <a:cxnLst/>
            <a:rect l="l" t="t" r="r" b="b"/>
            <a:pathLst>
              <a:path w="1612900" h="102869">
                <a:moveTo>
                  <a:pt x="1230168" y="0"/>
                </a:moveTo>
                <a:lnTo>
                  <a:pt x="1175856" y="100"/>
                </a:lnTo>
                <a:lnTo>
                  <a:pt x="1105975" y="5673"/>
                </a:lnTo>
                <a:lnTo>
                  <a:pt x="1035791" y="15339"/>
                </a:lnTo>
                <a:lnTo>
                  <a:pt x="931545" y="34677"/>
                </a:lnTo>
                <a:lnTo>
                  <a:pt x="881471" y="44601"/>
                </a:lnTo>
                <a:lnTo>
                  <a:pt x="754931" y="75297"/>
                </a:lnTo>
                <a:lnTo>
                  <a:pt x="735031" y="80034"/>
                </a:lnTo>
                <a:lnTo>
                  <a:pt x="718560" y="83169"/>
                </a:lnTo>
                <a:lnTo>
                  <a:pt x="705512" y="84702"/>
                </a:lnTo>
                <a:lnTo>
                  <a:pt x="695880" y="84634"/>
                </a:lnTo>
                <a:lnTo>
                  <a:pt x="684958" y="82786"/>
                </a:lnTo>
                <a:lnTo>
                  <a:pt x="605012" y="64986"/>
                </a:lnTo>
                <a:lnTo>
                  <a:pt x="553806" y="52903"/>
                </a:lnTo>
                <a:lnTo>
                  <a:pt x="523934" y="47150"/>
                </a:lnTo>
                <a:lnTo>
                  <a:pt x="463727" y="39221"/>
                </a:lnTo>
                <a:lnTo>
                  <a:pt x="419927" y="36920"/>
                </a:lnTo>
                <a:lnTo>
                  <a:pt x="335163" y="35803"/>
                </a:lnTo>
                <a:lnTo>
                  <a:pt x="182161" y="35510"/>
                </a:lnTo>
                <a:lnTo>
                  <a:pt x="5629" y="35510"/>
                </a:lnTo>
                <a:lnTo>
                  <a:pt x="0" y="42463"/>
                </a:lnTo>
                <a:lnTo>
                  <a:pt x="178" y="47677"/>
                </a:lnTo>
                <a:lnTo>
                  <a:pt x="6481" y="53594"/>
                </a:lnTo>
                <a:lnTo>
                  <a:pt x="358923" y="54700"/>
                </a:lnTo>
                <a:lnTo>
                  <a:pt x="404262" y="55091"/>
                </a:lnTo>
                <a:lnTo>
                  <a:pt x="448004" y="56102"/>
                </a:lnTo>
                <a:lnTo>
                  <a:pt x="510063" y="63516"/>
                </a:lnTo>
                <a:lnTo>
                  <a:pt x="568133" y="75112"/>
                </a:lnTo>
                <a:lnTo>
                  <a:pt x="644219" y="92907"/>
                </a:lnTo>
                <a:lnTo>
                  <a:pt x="669891" y="98651"/>
                </a:lnTo>
                <a:lnTo>
                  <a:pt x="688923" y="102481"/>
                </a:lnTo>
                <a:lnTo>
                  <a:pt x="699112" y="102742"/>
                </a:lnTo>
                <a:lnTo>
                  <a:pt x="707760" y="102371"/>
                </a:lnTo>
                <a:lnTo>
                  <a:pt x="721526" y="101175"/>
                </a:lnTo>
                <a:lnTo>
                  <a:pt x="738150" y="98233"/>
                </a:lnTo>
                <a:lnTo>
                  <a:pt x="761279" y="92775"/>
                </a:lnTo>
                <a:lnTo>
                  <a:pt x="794555" y="84031"/>
                </a:lnTo>
                <a:lnTo>
                  <a:pt x="829815" y="75106"/>
                </a:lnTo>
                <a:lnTo>
                  <a:pt x="870864" y="65761"/>
                </a:lnTo>
                <a:lnTo>
                  <a:pt x="918184" y="55896"/>
                </a:lnTo>
                <a:lnTo>
                  <a:pt x="972255" y="45412"/>
                </a:lnTo>
                <a:lnTo>
                  <a:pt x="1033556" y="34208"/>
                </a:lnTo>
                <a:lnTo>
                  <a:pt x="1095063" y="25518"/>
                </a:lnTo>
                <a:lnTo>
                  <a:pt x="1158389" y="18527"/>
                </a:lnTo>
                <a:lnTo>
                  <a:pt x="1226140" y="17570"/>
                </a:lnTo>
                <a:lnTo>
                  <a:pt x="1349877" y="17375"/>
                </a:lnTo>
                <a:lnTo>
                  <a:pt x="1461912" y="17945"/>
                </a:lnTo>
                <a:lnTo>
                  <a:pt x="1519424" y="19928"/>
                </a:lnTo>
                <a:lnTo>
                  <a:pt x="1572624" y="27510"/>
                </a:lnTo>
                <a:lnTo>
                  <a:pt x="1604891" y="39451"/>
                </a:lnTo>
                <a:lnTo>
                  <a:pt x="1609048" y="39382"/>
                </a:lnTo>
                <a:lnTo>
                  <a:pt x="1612624" y="34569"/>
                </a:lnTo>
                <a:lnTo>
                  <a:pt x="1612353" y="24875"/>
                </a:lnTo>
                <a:lnTo>
                  <a:pt x="1597912" y="15820"/>
                </a:lnTo>
                <a:lnTo>
                  <a:pt x="1570749" y="7991"/>
                </a:lnTo>
                <a:lnTo>
                  <a:pt x="1532314" y="1977"/>
                </a:lnTo>
                <a:lnTo>
                  <a:pt x="1508115" y="1410"/>
                </a:lnTo>
                <a:lnTo>
                  <a:pt x="1381186" y="438"/>
                </a:lnTo>
                <a:lnTo>
                  <a:pt x="1230168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2850553" y="514439"/>
            <a:ext cx="1652270" cy="1674495"/>
            <a:chOff x="2850553" y="514439"/>
            <a:chExt cx="1652270" cy="1674495"/>
          </a:xfrm>
        </p:grpSpPr>
        <p:sp>
          <p:nvSpPr>
            <p:cNvPr id="11" name="object 11"/>
            <p:cNvSpPr/>
            <p:nvPr/>
          </p:nvSpPr>
          <p:spPr>
            <a:xfrm>
              <a:off x="3406609" y="1358494"/>
              <a:ext cx="223520" cy="352425"/>
            </a:xfrm>
            <a:custGeom>
              <a:avLst/>
              <a:gdLst/>
              <a:ahLst/>
              <a:cxnLst/>
              <a:rect l="l" t="t" r="r" b="b"/>
              <a:pathLst>
                <a:path w="223520" h="352425">
                  <a:moveTo>
                    <a:pt x="15536" y="0"/>
                  </a:moveTo>
                  <a:lnTo>
                    <a:pt x="8007" y="0"/>
                  </a:lnTo>
                  <a:lnTo>
                    <a:pt x="6086" y="953"/>
                  </a:lnTo>
                  <a:lnTo>
                    <a:pt x="4229" y="3314"/>
                  </a:lnTo>
                  <a:lnTo>
                    <a:pt x="0" y="8691"/>
                  </a:lnTo>
                  <a:lnTo>
                    <a:pt x="878" y="11985"/>
                  </a:lnTo>
                  <a:lnTo>
                    <a:pt x="50091" y="32098"/>
                  </a:lnTo>
                  <a:lnTo>
                    <a:pt x="139199" y="33514"/>
                  </a:lnTo>
                  <a:lnTo>
                    <a:pt x="162574" y="35148"/>
                  </a:lnTo>
                  <a:lnTo>
                    <a:pt x="171352" y="38849"/>
                  </a:lnTo>
                  <a:lnTo>
                    <a:pt x="172689" y="45806"/>
                  </a:lnTo>
                  <a:lnTo>
                    <a:pt x="171136" y="55580"/>
                  </a:lnTo>
                  <a:lnTo>
                    <a:pt x="165840" y="68468"/>
                  </a:lnTo>
                  <a:lnTo>
                    <a:pt x="155840" y="86404"/>
                  </a:lnTo>
                  <a:lnTo>
                    <a:pt x="135695" y="118242"/>
                  </a:lnTo>
                  <a:lnTo>
                    <a:pt x="130421" y="127331"/>
                  </a:lnTo>
                  <a:lnTo>
                    <a:pt x="124928" y="139295"/>
                  </a:lnTo>
                  <a:lnTo>
                    <a:pt x="126738" y="145392"/>
                  </a:lnTo>
                  <a:lnTo>
                    <a:pt x="128549" y="149931"/>
                  </a:lnTo>
                  <a:lnTo>
                    <a:pt x="131573" y="154138"/>
                  </a:lnTo>
                  <a:lnTo>
                    <a:pt x="136677" y="158977"/>
                  </a:lnTo>
                  <a:lnTo>
                    <a:pt x="144727" y="165412"/>
                  </a:lnTo>
                  <a:lnTo>
                    <a:pt x="158709" y="179131"/>
                  </a:lnTo>
                  <a:lnTo>
                    <a:pt x="182903" y="218426"/>
                  </a:lnTo>
                  <a:lnTo>
                    <a:pt x="194995" y="258846"/>
                  </a:lnTo>
                  <a:lnTo>
                    <a:pt x="202227" y="306063"/>
                  </a:lnTo>
                  <a:lnTo>
                    <a:pt x="204701" y="342741"/>
                  </a:lnTo>
                  <a:lnTo>
                    <a:pt x="205196" y="346135"/>
                  </a:lnTo>
                  <a:lnTo>
                    <a:pt x="210370" y="351853"/>
                  </a:lnTo>
                  <a:lnTo>
                    <a:pt x="217118" y="351806"/>
                  </a:lnTo>
                  <a:lnTo>
                    <a:pt x="223277" y="345647"/>
                  </a:lnTo>
                  <a:lnTo>
                    <a:pt x="220012" y="298215"/>
                  </a:lnTo>
                  <a:lnTo>
                    <a:pt x="209241" y="239191"/>
                  </a:lnTo>
                  <a:lnTo>
                    <a:pt x="193136" y="197506"/>
                  </a:lnTo>
                  <a:lnTo>
                    <a:pt x="167963" y="162058"/>
                  </a:lnTo>
                  <a:lnTo>
                    <a:pt x="147126" y="143732"/>
                  </a:lnTo>
                  <a:lnTo>
                    <a:pt x="145687" y="141980"/>
                  </a:lnTo>
                  <a:lnTo>
                    <a:pt x="146005" y="137419"/>
                  </a:lnTo>
                  <a:lnTo>
                    <a:pt x="150602" y="128970"/>
                  </a:lnTo>
                  <a:lnTo>
                    <a:pt x="172619" y="94084"/>
                  </a:lnTo>
                  <a:lnTo>
                    <a:pt x="183108" y="74920"/>
                  </a:lnTo>
                  <a:lnTo>
                    <a:pt x="188819" y="60365"/>
                  </a:lnTo>
                  <a:lnTo>
                    <a:pt x="191009" y="47800"/>
                  </a:lnTo>
                  <a:lnTo>
                    <a:pt x="191591" y="39269"/>
                  </a:lnTo>
                  <a:lnTo>
                    <a:pt x="191317" y="37703"/>
                  </a:lnTo>
                  <a:lnTo>
                    <a:pt x="184996" y="25234"/>
                  </a:lnTo>
                  <a:lnTo>
                    <a:pt x="183740" y="24080"/>
                  </a:lnTo>
                  <a:lnTo>
                    <a:pt x="167028" y="15742"/>
                  </a:lnTo>
                  <a:lnTo>
                    <a:pt x="70368" y="14539"/>
                  </a:lnTo>
                  <a:lnTo>
                    <a:pt x="48743" y="14028"/>
                  </a:lnTo>
                  <a:lnTo>
                    <a:pt x="17674" y="1435"/>
                  </a:lnTo>
                  <a:lnTo>
                    <a:pt x="15536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0553" y="514439"/>
              <a:ext cx="1651736" cy="1674267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3983202" y="2327450"/>
            <a:ext cx="193675" cy="367665"/>
          </a:xfrm>
          <a:custGeom>
            <a:avLst/>
            <a:gdLst/>
            <a:ahLst/>
            <a:cxnLst/>
            <a:rect l="l" t="t" r="r" b="b"/>
            <a:pathLst>
              <a:path w="193675" h="367664">
                <a:moveTo>
                  <a:pt x="11745" y="0"/>
                </a:moveTo>
                <a:lnTo>
                  <a:pt x="5305" y="884"/>
                </a:lnTo>
                <a:lnTo>
                  <a:pt x="3015" y="3415"/>
                </a:lnTo>
                <a:lnTo>
                  <a:pt x="0" y="6747"/>
                </a:lnTo>
                <a:lnTo>
                  <a:pt x="101" y="12781"/>
                </a:lnTo>
                <a:lnTo>
                  <a:pt x="24079" y="40330"/>
                </a:lnTo>
                <a:lnTo>
                  <a:pt x="40250" y="60004"/>
                </a:lnTo>
                <a:lnTo>
                  <a:pt x="66497" y="92206"/>
                </a:lnTo>
                <a:lnTo>
                  <a:pt x="96488" y="120783"/>
                </a:lnTo>
                <a:lnTo>
                  <a:pt x="108956" y="122898"/>
                </a:lnTo>
                <a:lnTo>
                  <a:pt x="116130" y="122336"/>
                </a:lnTo>
                <a:lnTo>
                  <a:pt x="123134" y="120662"/>
                </a:lnTo>
                <a:lnTo>
                  <a:pt x="129924" y="117888"/>
                </a:lnTo>
                <a:lnTo>
                  <a:pt x="136456" y="114030"/>
                </a:lnTo>
                <a:lnTo>
                  <a:pt x="139423" y="111990"/>
                </a:lnTo>
                <a:lnTo>
                  <a:pt x="142404" y="110320"/>
                </a:lnTo>
                <a:lnTo>
                  <a:pt x="143082" y="110320"/>
                </a:lnTo>
                <a:lnTo>
                  <a:pt x="144528" y="114607"/>
                </a:lnTo>
                <a:lnTo>
                  <a:pt x="145365" y="128777"/>
                </a:lnTo>
                <a:lnTo>
                  <a:pt x="145649" y="154788"/>
                </a:lnTo>
                <a:lnTo>
                  <a:pt x="145081" y="222525"/>
                </a:lnTo>
                <a:lnTo>
                  <a:pt x="144616" y="243600"/>
                </a:lnTo>
                <a:lnTo>
                  <a:pt x="144045" y="257628"/>
                </a:lnTo>
                <a:lnTo>
                  <a:pt x="143374" y="264412"/>
                </a:lnTo>
                <a:lnTo>
                  <a:pt x="140294" y="284606"/>
                </a:lnTo>
                <a:lnTo>
                  <a:pt x="142276" y="302418"/>
                </a:lnTo>
                <a:lnTo>
                  <a:pt x="165578" y="346176"/>
                </a:lnTo>
                <a:lnTo>
                  <a:pt x="189167" y="367138"/>
                </a:lnTo>
                <a:lnTo>
                  <a:pt x="193598" y="363344"/>
                </a:lnTo>
                <a:lnTo>
                  <a:pt x="193598" y="358239"/>
                </a:lnTo>
                <a:lnTo>
                  <a:pt x="192631" y="355460"/>
                </a:lnTo>
                <a:lnTo>
                  <a:pt x="189870" y="350293"/>
                </a:lnTo>
                <a:lnTo>
                  <a:pt x="185527" y="343104"/>
                </a:lnTo>
                <a:lnTo>
                  <a:pt x="169020" y="317502"/>
                </a:lnTo>
                <a:lnTo>
                  <a:pt x="162752" y="306070"/>
                </a:lnTo>
                <a:lnTo>
                  <a:pt x="159836" y="297404"/>
                </a:lnTo>
                <a:lnTo>
                  <a:pt x="159102" y="288941"/>
                </a:lnTo>
                <a:lnTo>
                  <a:pt x="159084" y="283752"/>
                </a:lnTo>
                <a:lnTo>
                  <a:pt x="160064" y="273362"/>
                </a:lnTo>
                <a:lnTo>
                  <a:pt x="161281" y="265851"/>
                </a:lnTo>
                <a:lnTo>
                  <a:pt x="162438" y="256338"/>
                </a:lnTo>
                <a:lnTo>
                  <a:pt x="163101" y="242439"/>
                </a:lnTo>
                <a:lnTo>
                  <a:pt x="163394" y="219358"/>
                </a:lnTo>
                <a:lnTo>
                  <a:pt x="163332" y="154802"/>
                </a:lnTo>
                <a:lnTo>
                  <a:pt x="162706" y="115162"/>
                </a:lnTo>
                <a:lnTo>
                  <a:pt x="162267" y="107900"/>
                </a:lnTo>
                <a:lnTo>
                  <a:pt x="159385" y="95588"/>
                </a:lnTo>
                <a:lnTo>
                  <a:pt x="150491" y="88935"/>
                </a:lnTo>
                <a:lnTo>
                  <a:pt x="142345" y="88935"/>
                </a:lnTo>
                <a:lnTo>
                  <a:pt x="136365" y="91947"/>
                </a:lnTo>
                <a:lnTo>
                  <a:pt x="122227" y="101133"/>
                </a:lnTo>
                <a:lnTo>
                  <a:pt x="117625" y="103267"/>
                </a:lnTo>
                <a:lnTo>
                  <a:pt x="110178" y="105436"/>
                </a:lnTo>
                <a:lnTo>
                  <a:pt x="108570" y="105343"/>
                </a:lnTo>
                <a:lnTo>
                  <a:pt x="103703" y="103485"/>
                </a:lnTo>
                <a:lnTo>
                  <a:pt x="98295" y="99919"/>
                </a:lnTo>
                <a:lnTo>
                  <a:pt x="89728" y="91175"/>
                </a:lnTo>
                <a:lnTo>
                  <a:pt x="76022" y="75043"/>
                </a:lnTo>
                <a:lnTo>
                  <a:pt x="43441" y="34976"/>
                </a:lnTo>
                <a:lnTo>
                  <a:pt x="30622" y="19833"/>
                </a:lnTo>
                <a:lnTo>
                  <a:pt x="19903" y="7563"/>
                </a:lnTo>
                <a:lnTo>
                  <a:pt x="14444" y="1845"/>
                </a:lnTo>
                <a:lnTo>
                  <a:pt x="11745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8703" y="2620069"/>
            <a:ext cx="20320" cy="19685"/>
          </a:xfrm>
          <a:custGeom>
            <a:avLst/>
            <a:gdLst/>
            <a:ahLst/>
            <a:cxnLst/>
            <a:rect l="l" t="t" r="r" b="b"/>
            <a:pathLst>
              <a:path w="20320" h="19685">
                <a:moveTo>
                  <a:pt x="10468" y="0"/>
                </a:moveTo>
                <a:lnTo>
                  <a:pt x="4254" y="3410"/>
                </a:lnTo>
                <a:lnTo>
                  <a:pt x="0" y="8820"/>
                </a:lnTo>
                <a:lnTo>
                  <a:pt x="993" y="14137"/>
                </a:lnTo>
                <a:lnTo>
                  <a:pt x="11195" y="19413"/>
                </a:lnTo>
                <a:lnTo>
                  <a:pt x="16095" y="18426"/>
                </a:lnTo>
                <a:lnTo>
                  <a:pt x="18658" y="14767"/>
                </a:lnTo>
                <a:lnTo>
                  <a:pt x="20229" y="7695"/>
                </a:lnTo>
                <a:lnTo>
                  <a:pt x="16646" y="2100"/>
                </a:lnTo>
                <a:lnTo>
                  <a:pt x="10468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138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105515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55" y="1026323"/>
            <a:ext cx="1273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Storage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organization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514017"/>
            <a:ext cx="155257" cy="1552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969897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675" y="1482203"/>
            <a:ext cx="1741805" cy="647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9FBFC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Stack</a:t>
            </a:r>
            <a:r>
              <a:rPr sz="1100" spc="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Allocation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of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Space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F9FBFC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F9FBFC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6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Non-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local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data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425776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2393961"/>
            <a:ext cx="1326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r>
              <a:rPr sz="1200" b="1" spc="600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Heap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Management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9112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400" b="1" spc="1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3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Heap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78048" y="925750"/>
          <a:ext cx="1268095" cy="1823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060"/>
                <a:gridCol w="959485"/>
              </a:tblGrid>
              <a:tr h="260350">
                <a:tc row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Static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20" dirty="0">
                          <a:latin typeface="Palatino Linotype" panose="02040502050505030304"/>
                          <a:cs typeface="Palatino Linotype" panose="02040502050505030304"/>
                        </a:rPr>
                        <a:t>Code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350">
                <a:tc vMerge="1"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Static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350">
                <a:tc rowSpan="3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Dynamic</a:t>
                      </a:r>
                      <a:endParaRPr sz="11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b="1" spc="-2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Heap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1685">
                <a:tc vMerge="1"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↓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Free</a:t>
                      </a:r>
                      <a:r>
                        <a:rPr sz="1100" spc="-15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1100" spc="-1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Memory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↑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350">
                <a:tc vMerge="1">
                  <a:tcPr marL="0" marR="0" marT="30480" marB="0" vert="vert27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Stack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66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432723" y="983524"/>
            <a:ext cx="8807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 panose="02040502050505030304"/>
                <a:cs typeface="Palatino Linotype" panose="02040502050505030304"/>
              </a:rPr>
              <a:t>lowest</a:t>
            </a:r>
            <a:r>
              <a:rPr sz="1100" i="1" spc="1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10" dirty="0">
                <a:latin typeface="Palatino Linotype" panose="02040502050505030304"/>
                <a:cs typeface="Palatino Linotype" panose="02040502050505030304"/>
              </a:rPr>
              <a:t>address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2723" y="2547377"/>
            <a:ext cx="930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Palatino Linotype" panose="02040502050505030304"/>
                <a:cs typeface="Palatino Linotype" panose="02040502050505030304"/>
              </a:rPr>
              <a:t>highest</a:t>
            </a:r>
            <a:r>
              <a:rPr sz="1100" i="1" spc="20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10" dirty="0">
                <a:latin typeface="Palatino Linotype" panose="02040502050505030304"/>
                <a:cs typeface="Palatino Linotype" panose="02040502050505030304"/>
              </a:rPr>
              <a:t>address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60153" y="1988082"/>
            <a:ext cx="238581" cy="1108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065" y="2165209"/>
            <a:ext cx="219735" cy="11083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302444" y="2165209"/>
            <a:ext cx="354330" cy="111125"/>
          </a:xfrm>
          <a:custGeom>
            <a:avLst/>
            <a:gdLst/>
            <a:ahLst/>
            <a:cxnLst/>
            <a:rect l="l" t="t" r="r" b="b"/>
            <a:pathLst>
              <a:path w="354329" h="111125">
                <a:moveTo>
                  <a:pt x="326278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70"/>
                </a:lnTo>
                <a:lnTo>
                  <a:pt x="0" y="55419"/>
                </a:lnTo>
                <a:lnTo>
                  <a:pt x="2381" y="75769"/>
                </a:lnTo>
                <a:lnTo>
                  <a:pt x="8659" y="93520"/>
                </a:lnTo>
                <a:lnTo>
                  <a:pt x="17534" y="106076"/>
                </a:lnTo>
                <a:lnTo>
                  <a:pt x="27709" y="110839"/>
                </a:lnTo>
                <a:lnTo>
                  <a:pt x="326278" y="110839"/>
                </a:lnTo>
                <a:lnTo>
                  <a:pt x="336452" y="106076"/>
                </a:lnTo>
                <a:lnTo>
                  <a:pt x="345328" y="93520"/>
                </a:lnTo>
                <a:lnTo>
                  <a:pt x="351606" y="75769"/>
                </a:lnTo>
                <a:lnTo>
                  <a:pt x="353987" y="55419"/>
                </a:lnTo>
                <a:lnTo>
                  <a:pt x="351606" y="35070"/>
                </a:lnTo>
                <a:lnTo>
                  <a:pt x="345328" y="17318"/>
                </a:lnTo>
                <a:lnTo>
                  <a:pt x="336452" y="4762"/>
                </a:lnTo>
                <a:lnTo>
                  <a:pt x="326278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98012" y="1810942"/>
            <a:ext cx="363220" cy="111125"/>
          </a:xfrm>
          <a:custGeom>
            <a:avLst/>
            <a:gdLst/>
            <a:ahLst/>
            <a:cxnLst/>
            <a:rect l="l" t="t" r="r" b="b"/>
            <a:pathLst>
              <a:path w="363220" h="111125">
                <a:moveTo>
                  <a:pt x="335142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69"/>
                </a:lnTo>
                <a:lnTo>
                  <a:pt x="0" y="55417"/>
                </a:lnTo>
                <a:lnTo>
                  <a:pt x="2381" y="75766"/>
                </a:lnTo>
                <a:lnTo>
                  <a:pt x="8659" y="93517"/>
                </a:lnTo>
                <a:lnTo>
                  <a:pt x="17534" y="106072"/>
                </a:lnTo>
                <a:lnTo>
                  <a:pt x="27709" y="110835"/>
                </a:lnTo>
                <a:lnTo>
                  <a:pt x="335142" y="110835"/>
                </a:lnTo>
                <a:lnTo>
                  <a:pt x="345317" y="106072"/>
                </a:lnTo>
                <a:lnTo>
                  <a:pt x="354192" y="93517"/>
                </a:lnTo>
                <a:lnTo>
                  <a:pt x="360470" y="75766"/>
                </a:lnTo>
                <a:lnTo>
                  <a:pt x="362851" y="55417"/>
                </a:lnTo>
                <a:lnTo>
                  <a:pt x="360470" y="35069"/>
                </a:lnTo>
                <a:lnTo>
                  <a:pt x="354192" y="17318"/>
                </a:lnTo>
                <a:lnTo>
                  <a:pt x="345317" y="4762"/>
                </a:lnTo>
                <a:lnTo>
                  <a:pt x="33514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4736" y="1988082"/>
            <a:ext cx="396875" cy="111125"/>
          </a:xfrm>
          <a:custGeom>
            <a:avLst/>
            <a:gdLst/>
            <a:ahLst/>
            <a:cxnLst/>
            <a:rect l="l" t="t" r="r" b="b"/>
            <a:pathLst>
              <a:path w="396875" h="111125">
                <a:moveTo>
                  <a:pt x="368671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69"/>
                </a:lnTo>
                <a:lnTo>
                  <a:pt x="0" y="55417"/>
                </a:lnTo>
                <a:lnTo>
                  <a:pt x="2381" y="75766"/>
                </a:lnTo>
                <a:lnTo>
                  <a:pt x="8659" y="93517"/>
                </a:lnTo>
                <a:lnTo>
                  <a:pt x="17534" y="106073"/>
                </a:lnTo>
                <a:lnTo>
                  <a:pt x="27709" y="110835"/>
                </a:lnTo>
                <a:lnTo>
                  <a:pt x="368671" y="110835"/>
                </a:lnTo>
                <a:lnTo>
                  <a:pt x="378845" y="106073"/>
                </a:lnTo>
                <a:lnTo>
                  <a:pt x="387721" y="93517"/>
                </a:lnTo>
                <a:lnTo>
                  <a:pt x="393998" y="75766"/>
                </a:lnTo>
                <a:lnTo>
                  <a:pt x="396380" y="55417"/>
                </a:lnTo>
                <a:lnTo>
                  <a:pt x="393998" y="35069"/>
                </a:lnTo>
                <a:lnTo>
                  <a:pt x="387721" y="17318"/>
                </a:lnTo>
                <a:lnTo>
                  <a:pt x="378845" y="4762"/>
                </a:lnTo>
                <a:lnTo>
                  <a:pt x="368671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71738" y="2165209"/>
            <a:ext cx="616585" cy="111125"/>
          </a:xfrm>
          <a:custGeom>
            <a:avLst/>
            <a:gdLst/>
            <a:ahLst/>
            <a:cxnLst/>
            <a:rect l="l" t="t" r="r" b="b"/>
            <a:pathLst>
              <a:path w="616585" h="111125">
                <a:moveTo>
                  <a:pt x="588405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70"/>
                </a:lnTo>
                <a:lnTo>
                  <a:pt x="0" y="55419"/>
                </a:lnTo>
                <a:lnTo>
                  <a:pt x="2381" y="75769"/>
                </a:lnTo>
                <a:lnTo>
                  <a:pt x="8659" y="93520"/>
                </a:lnTo>
                <a:lnTo>
                  <a:pt x="17534" y="106076"/>
                </a:lnTo>
                <a:lnTo>
                  <a:pt x="27709" y="110839"/>
                </a:lnTo>
                <a:lnTo>
                  <a:pt x="588405" y="110839"/>
                </a:lnTo>
                <a:lnTo>
                  <a:pt x="598580" y="106076"/>
                </a:lnTo>
                <a:lnTo>
                  <a:pt x="607455" y="93520"/>
                </a:lnTo>
                <a:lnTo>
                  <a:pt x="613733" y="75769"/>
                </a:lnTo>
                <a:lnTo>
                  <a:pt x="616114" y="55419"/>
                </a:lnTo>
                <a:lnTo>
                  <a:pt x="613733" y="35070"/>
                </a:lnTo>
                <a:lnTo>
                  <a:pt x="607455" y="17318"/>
                </a:lnTo>
                <a:lnTo>
                  <a:pt x="598580" y="4762"/>
                </a:lnTo>
                <a:lnTo>
                  <a:pt x="588405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25802" y="1810942"/>
            <a:ext cx="308610" cy="111125"/>
          </a:xfrm>
          <a:custGeom>
            <a:avLst/>
            <a:gdLst/>
            <a:ahLst/>
            <a:cxnLst/>
            <a:rect l="l" t="t" r="r" b="b"/>
            <a:pathLst>
              <a:path w="308610" h="111125">
                <a:moveTo>
                  <a:pt x="280418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69"/>
                </a:lnTo>
                <a:lnTo>
                  <a:pt x="0" y="55417"/>
                </a:lnTo>
                <a:lnTo>
                  <a:pt x="2381" y="75766"/>
                </a:lnTo>
                <a:lnTo>
                  <a:pt x="8659" y="93517"/>
                </a:lnTo>
                <a:lnTo>
                  <a:pt x="17534" y="106072"/>
                </a:lnTo>
                <a:lnTo>
                  <a:pt x="27709" y="110835"/>
                </a:lnTo>
                <a:lnTo>
                  <a:pt x="280418" y="110835"/>
                </a:lnTo>
                <a:lnTo>
                  <a:pt x="290593" y="106072"/>
                </a:lnTo>
                <a:lnTo>
                  <a:pt x="299468" y="93517"/>
                </a:lnTo>
                <a:lnTo>
                  <a:pt x="305746" y="75766"/>
                </a:lnTo>
                <a:lnTo>
                  <a:pt x="308127" y="55417"/>
                </a:lnTo>
                <a:lnTo>
                  <a:pt x="305746" y="35069"/>
                </a:lnTo>
                <a:lnTo>
                  <a:pt x="299468" y="17318"/>
                </a:lnTo>
                <a:lnTo>
                  <a:pt x="290593" y="4762"/>
                </a:lnTo>
                <a:lnTo>
                  <a:pt x="280418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14" name="object 14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7" name="object 17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21" name="object 21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6" name="object 26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35" dirty="0"/>
              <a:t>Heap</a:t>
            </a:r>
            <a:endParaRPr spc="35" dirty="0"/>
          </a:p>
        </p:txBody>
      </p:sp>
      <p:grpSp>
        <p:nvGrpSpPr>
          <p:cNvPr id="33" name="object 33"/>
          <p:cNvGrpSpPr/>
          <p:nvPr/>
        </p:nvGrpSpPr>
        <p:grpSpPr>
          <a:xfrm>
            <a:off x="87743" y="1193985"/>
            <a:ext cx="4483735" cy="425450"/>
            <a:chOff x="87743" y="1193985"/>
            <a:chExt cx="4483735" cy="42545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1517307"/>
              <a:ext cx="101600" cy="1016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1504606"/>
              <a:ext cx="4381767" cy="11430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311" y="1200124"/>
              <a:ext cx="50800" cy="31718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7743" y="1193985"/>
              <a:ext cx="4432935" cy="374650"/>
            </a:xfrm>
            <a:custGeom>
              <a:avLst/>
              <a:gdLst/>
              <a:ahLst/>
              <a:cxnLst/>
              <a:rect l="l" t="t" r="r" b="b"/>
              <a:pathLst>
                <a:path w="4432935" h="374650">
                  <a:moveTo>
                    <a:pt x="4432567" y="0"/>
                  </a:moveTo>
                  <a:lnTo>
                    <a:pt x="0" y="0"/>
                  </a:lnTo>
                  <a:lnTo>
                    <a:pt x="0" y="323321"/>
                  </a:lnTo>
                  <a:lnTo>
                    <a:pt x="4008" y="343046"/>
                  </a:lnTo>
                  <a:lnTo>
                    <a:pt x="14922" y="359199"/>
                  </a:lnTo>
                  <a:lnTo>
                    <a:pt x="31075" y="370113"/>
                  </a:lnTo>
                  <a:lnTo>
                    <a:pt x="50800" y="374122"/>
                  </a:lnTo>
                  <a:lnTo>
                    <a:pt x="4381767" y="374122"/>
                  </a:lnTo>
                  <a:lnTo>
                    <a:pt x="4401492" y="370113"/>
                  </a:lnTo>
                  <a:lnTo>
                    <a:pt x="4417644" y="359199"/>
                  </a:lnTo>
                  <a:lnTo>
                    <a:pt x="4428558" y="343046"/>
                  </a:lnTo>
                  <a:lnTo>
                    <a:pt x="4432567" y="32332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20311" y="1238223"/>
              <a:ext cx="0" cy="298450"/>
            </a:xfrm>
            <a:custGeom>
              <a:avLst/>
              <a:gdLst/>
              <a:ahLst/>
              <a:cxnLst/>
              <a:rect l="l" t="t" r="r" b="b"/>
              <a:pathLst>
                <a:path h="298450">
                  <a:moveTo>
                    <a:pt x="0" y="2981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20311" y="12255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20311" y="12128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20311" y="12001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125844" y="1165718"/>
            <a:ext cx="35852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Heap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objects</a:t>
            </a:r>
            <a:r>
              <a:rPr sz="1100"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may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live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2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indefinite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ly.</a:t>
            </a:r>
            <a:r>
              <a:rPr sz="1100" spc="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“Life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span”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managed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automatically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or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(memory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manager).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66165" y="1785772"/>
            <a:ext cx="2875915" cy="351790"/>
          </a:xfrm>
          <a:custGeom>
            <a:avLst/>
            <a:gdLst/>
            <a:ahLst/>
            <a:cxnLst/>
            <a:rect l="l" t="t" r="r" b="b"/>
            <a:pathLst>
              <a:path w="2875915" h="351789">
                <a:moveTo>
                  <a:pt x="0" y="0"/>
                </a:moveTo>
                <a:lnTo>
                  <a:pt x="2875673" y="0"/>
                </a:lnTo>
              </a:path>
              <a:path w="2875915" h="351789">
                <a:moveTo>
                  <a:pt x="2527" y="174612"/>
                </a:moveTo>
                <a:lnTo>
                  <a:pt x="2527" y="2540"/>
                </a:lnTo>
              </a:path>
              <a:path w="2875915" h="351789">
                <a:moveTo>
                  <a:pt x="1027125" y="174612"/>
                </a:moveTo>
                <a:lnTo>
                  <a:pt x="1027125" y="2540"/>
                </a:lnTo>
              </a:path>
              <a:path w="2875915" h="351789">
                <a:moveTo>
                  <a:pt x="1800136" y="174612"/>
                </a:moveTo>
                <a:lnTo>
                  <a:pt x="1800136" y="2540"/>
                </a:lnTo>
              </a:path>
              <a:path w="2875915" h="351789">
                <a:moveTo>
                  <a:pt x="2353398" y="174612"/>
                </a:moveTo>
                <a:lnTo>
                  <a:pt x="2353398" y="2540"/>
                </a:lnTo>
              </a:path>
              <a:path w="2875915" h="351789">
                <a:moveTo>
                  <a:pt x="2873146" y="174612"/>
                </a:moveTo>
                <a:lnTo>
                  <a:pt x="2873146" y="2540"/>
                </a:lnTo>
              </a:path>
              <a:path w="2875915" h="351789">
                <a:moveTo>
                  <a:pt x="0" y="177139"/>
                </a:moveTo>
                <a:lnTo>
                  <a:pt x="2875673" y="177139"/>
                </a:lnTo>
              </a:path>
              <a:path w="2875915" h="351789">
                <a:moveTo>
                  <a:pt x="2527" y="351751"/>
                </a:moveTo>
                <a:lnTo>
                  <a:pt x="2527" y="179666"/>
                </a:lnTo>
              </a:path>
              <a:path w="2875915" h="351789">
                <a:moveTo>
                  <a:pt x="1027125" y="351751"/>
                </a:moveTo>
                <a:lnTo>
                  <a:pt x="1027125" y="17966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2113102" y="1746628"/>
            <a:ext cx="334010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Java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46990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new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66301" y="1965439"/>
            <a:ext cx="553720" cy="172085"/>
          </a:xfrm>
          <a:custGeom>
            <a:avLst/>
            <a:gdLst/>
            <a:ahLst/>
            <a:cxnLst/>
            <a:rect l="l" t="t" r="r" b="b"/>
            <a:pathLst>
              <a:path w="553719" h="172085">
                <a:moveTo>
                  <a:pt x="0" y="172085"/>
                </a:moveTo>
                <a:lnTo>
                  <a:pt x="0" y="0"/>
                </a:lnTo>
              </a:path>
              <a:path w="553719" h="172085">
                <a:moveTo>
                  <a:pt x="553262" y="172085"/>
                </a:moveTo>
                <a:lnTo>
                  <a:pt x="553262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732036" y="1746628"/>
            <a:ext cx="941705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175"/>
              </a:spcBef>
              <a:tabLst>
                <a:tab pos="565785" algn="l"/>
              </a:tabLst>
            </a:pP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b="1" spc="290" dirty="0">
                <a:latin typeface="Palatino Linotype" panose="02040502050505030304"/>
                <a:cs typeface="Palatino Linotype" panose="02040502050505030304"/>
              </a:rPr>
              <a:t>C++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628015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malloc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new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66165" y="1965439"/>
            <a:ext cx="2875915" cy="349250"/>
          </a:xfrm>
          <a:custGeom>
            <a:avLst/>
            <a:gdLst/>
            <a:ahLst/>
            <a:cxnLst/>
            <a:rect l="l" t="t" r="r" b="b"/>
            <a:pathLst>
              <a:path w="2875915" h="349250">
                <a:moveTo>
                  <a:pt x="2873146" y="172085"/>
                </a:moveTo>
                <a:lnTo>
                  <a:pt x="2873146" y="0"/>
                </a:lnTo>
              </a:path>
              <a:path w="2875915" h="349250">
                <a:moveTo>
                  <a:pt x="0" y="174612"/>
                </a:moveTo>
                <a:lnTo>
                  <a:pt x="2875673" y="174612"/>
                </a:lnTo>
              </a:path>
              <a:path w="2875915" h="349250">
                <a:moveTo>
                  <a:pt x="2527" y="349211"/>
                </a:moveTo>
                <a:lnTo>
                  <a:pt x="2527" y="177139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34440" y="1923781"/>
            <a:ext cx="893444" cy="37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565">
              <a:lnSpc>
                <a:spcPct val="106000"/>
              </a:lnSpc>
              <a:spcBef>
                <a:spcPts val="100"/>
              </a:spcBef>
            </a:pPr>
            <a:r>
              <a:rPr sz="1100" b="1" spc="-10" dirty="0">
                <a:latin typeface="Palatino Linotype" panose="02040502050505030304"/>
                <a:cs typeface="Palatino Linotype" panose="02040502050505030304"/>
              </a:rPr>
              <a:t>Allocation Deallocation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893290" y="2142578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959038" y="2111780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garbage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666301" y="2142578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820365" y="2111780"/>
            <a:ext cx="245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free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219564" y="2142578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289744" y="2111780"/>
            <a:ext cx="379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delete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66165" y="1872970"/>
            <a:ext cx="2933700" cy="640715"/>
            <a:chOff x="866165" y="1872970"/>
            <a:chExt cx="2933700" cy="640715"/>
          </a:xfrm>
        </p:grpSpPr>
        <p:sp>
          <p:nvSpPr>
            <p:cNvPr id="56" name="object 56"/>
            <p:cNvSpPr/>
            <p:nvPr/>
          </p:nvSpPr>
          <p:spPr>
            <a:xfrm>
              <a:off x="866165" y="2142578"/>
              <a:ext cx="2875915" cy="174625"/>
            </a:xfrm>
            <a:custGeom>
              <a:avLst/>
              <a:gdLst/>
              <a:ahLst/>
              <a:cxnLst/>
              <a:rect l="l" t="t" r="r" b="b"/>
              <a:pathLst>
                <a:path w="2875915" h="174625">
                  <a:moveTo>
                    <a:pt x="2873146" y="172072"/>
                  </a:moveTo>
                  <a:lnTo>
                    <a:pt x="2873146" y="0"/>
                  </a:lnTo>
                </a:path>
                <a:path w="2875915" h="174625">
                  <a:moveTo>
                    <a:pt x="0" y="174599"/>
                  </a:moveTo>
                  <a:lnTo>
                    <a:pt x="2875673" y="17459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29218" y="1992402"/>
              <a:ext cx="230923" cy="8151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6218" y="1872970"/>
              <a:ext cx="200215" cy="16925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921726" y="1873453"/>
              <a:ext cx="1878330" cy="640080"/>
            </a:xfrm>
            <a:custGeom>
              <a:avLst/>
              <a:gdLst/>
              <a:ahLst/>
              <a:cxnLst/>
              <a:rect l="l" t="t" r="r" b="b"/>
              <a:pathLst>
                <a:path w="1878329" h="640080">
                  <a:moveTo>
                    <a:pt x="693445" y="370890"/>
                  </a:moveTo>
                  <a:lnTo>
                    <a:pt x="673950" y="328472"/>
                  </a:lnTo>
                  <a:lnTo>
                    <a:pt x="635482" y="305904"/>
                  </a:lnTo>
                  <a:lnTo>
                    <a:pt x="611314" y="299326"/>
                  </a:lnTo>
                  <a:lnTo>
                    <a:pt x="600113" y="295033"/>
                  </a:lnTo>
                  <a:lnTo>
                    <a:pt x="592912" y="290487"/>
                  </a:lnTo>
                  <a:lnTo>
                    <a:pt x="588886" y="285280"/>
                  </a:lnTo>
                  <a:lnTo>
                    <a:pt x="585825" y="278892"/>
                  </a:lnTo>
                  <a:lnTo>
                    <a:pt x="584098" y="277571"/>
                  </a:lnTo>
                  <a:lnTo>
                    <a:pt x="571258" y="277507"/>
                  </a:lnTo>
                  <a:lnTo>
                    <a:pt x="568680" y="284784"/>
                  </a:lnTo>
                  <a:lnTo>
                    <a:pt x="572757" y="294665"/>
                  </a:lnTo>
                  <a:lnTo>
                    <a:pt x="578624" y="302768"/>
                  </a:lnTo>
                  <a:lnTo>
                    <a:pt x="589102" y="310032"/>
                  </a:lnTo>
                  <a:lnTo>
                    <a:pt x="603948" y="316344"/>
                  </a:lnTo>
                  <a:lnTo>
                    <a:pt x="637273" y="325310"/>
                  </a:lnTo>
                  <a:lnTo>
                    <a:pt x="647573" y="329679"/>
                  </a:lnTo>
                  <a:lnTo>
                    <a:pt x="655726" y="335737"/>
                  </a:lnTo>
                  <a:lnTo>
                    <a:pt x="663600" y="344563"/>
                  </a:lnTo>
                  <a:lnTo>
                    <a:pt x="672934" y="358787"/>
                  </a:lnTo>
                  <a:lnTo>
                    <a:pt x="674687" y="371513"/>
                  </a:lnTo>
                  <a:lnTo>
                    <a:pt x="668223" y="386588"/>
                  </a:lnTo>
                  <a:lnTo>
                    <a:pt x="631024" y="435419"/>
                  </a:lnTo>
                  <a:lnTo>
                    <a:pt x="589927" y="483273"/>
                  </a:lnTo>
                  <a:lnTo>
                    <a:pt x="546989" y="528154"/>
                  </a:lnTo>
                  <a:lnTo>
                    <a:pt x="509981" y="562203"/>
                  </a:lnTo>
                  <a:lnTo>
                    <a:pt x="466686" y="594639"/>
                  </a:lnTo>
                  <a:lnTo>
                    <a:pt x="428548" y="614629"/>
                  </a:lnTo>
                  <a:lnTo>
                    <a:pt x="389877" y="621093"/>
                  </a:lnTo>
                  <a:lnTo>
                    <a:pt x="371017" y="621398"/>
                  </a:lnTo>
                  <a:lnTo>
                    <a:pt x="305777" y="621245"/>
                  </a:lnTo>
                  <a:lnTo>
                    <a:pt x="256540" y="618794"/>
                  </a:lnTo>
                  <a:lnTo>
                    <a:pt x="208572" y="613473"/>
                  </a:lnTo>
                  <a:lnTo>
                    <a:pt x="161925" y="604431"/>
                  </a:lnTo>
                  <a:lnTo>
                    <a:pt x="123253" y="593331"/>
                  </a:lnTo>
                  <a:lnTo>
                    <a:pt x="67005" y="564426"/>
                  </a:lnTo>
                  <a:lnTo>
                    <a:pt x="35140" y="533615"/>
                  </a:lnTo>
                  <a:lnTo>
                    <a:pt x="18491" y="476313"/>
                  </a:lnTo>
                  <a:lnTo>
                    <a:pt x="20231" y="436905"/>
                  </a:lnTo>
                  <a:lnTo>
                    <a:pt x="24612" y="397230"/>
                  </a:lnTo>
                  <a:lnTo>
                    <a:pt x="40944" y="352120"/>
                  </a:lnTo>
                  <a:lnTo>
                    <a:pt x="87668" y="303809"/>
                  </a:lnTo>
                  <a:lnTo>
                    <a:pt x="132245" y="276377"/>
                  </a:lnTo>
                  <a:lnTo>
                    <a:pt x="192760" y="266865"/>
                  </a:lnTo>
                  <a:lnTo>
                    <a:pt x="237820" y="265950"/>
                  </a:lnTo>
                  <a:lnTo>
                    <a:pt x="259194" y="265214"/>
                  </a:lnTo>
                  <a:lnTo>
                    <a:pt x="326085" y="261823"/>
                  </a:lnTo>
                  <a:lnTo>
                    <a:pt x="374230" y="258572"/>
                  </a:lnTo>
                  <a:lnTo>
                    <a:pt x="427875" y="251104"/>
                  </a:lnTo>
                  <a:lnTo>
                    <a:pt x="445401" y="249275"/>
                  </a:lnTo>
                  <a:lnTo>
                    <a:pt x="464121" y="248437"/>
                  </a:lnTo>
                  <a:lnTo>
                    <a:pt x="488353" y="248272"/>
                  </a:lnTo>
                  <a:lnTo>
                    <a:pt x="519950" y="248716"/>
                  </a:lnTo>
                  <a:lnTo>
                    <a:pt x="543242" y="251460"/>
                  </a:lnTo>
                  <a:lnTo>
                    <a:pt x="569709" y="258826"/>
                  </a:lnTo>
                  <a:lnTo>
                    <a:pt x="610819" y="273126"/>
                  </a:lnTo>
                  <a:lnTo>
                    <a:pt x="622693" y="276809"/>
                  </a:lnTo>
                  <a:lnTo>
                    <a:pt x="634250" y="279488"/>
                  </a:lnTo>
                  <a:lnTo>
                    <a:pt x="643801" y="280860"/>
                  </a:lnTo>
                  <a:lnTo>
                    <a:pt x="649668" y="280568"/>
                  </a:lnTo>
                  <a:lnTo>
                    <a:pt x="658355" y="277520"/>
                  </a:lnTo>
                  <a:lnTo>
                    <a:pt x="657834" y="266103"/>
                  </a:lnTo>
                  <a:lnTo>
                    <a:pt x="646391" y="263093"/>
                  </a:lnTo>
                  <a:lnTo>
                    <a:pt x="625627" y="258279"/>
                  </a:lnTo>
                  <a:lnTo>
                    <a:pt x="610552" y="253619"/>
                  </a:lnTo>
                  <a:lnTo>
                    <a:pt x="562000" y="236931"/>
                  </a:lnTo>
                  <a:lnTo>
                    <a:pt x="512800" y="230212"/>
                  </a:lnTo>
                  <a:lnTo>
                    <a:pt x="486549" y="229933"/>
                  </a:lnTo>
                  <a:lnTo>
                    <a:pt x="459981" y="230212"/>
                  </a:lnTo>
                  <a:lnTo>
                    <a:pt x="441185" y="231051"/>
                  </a:lnTo>
                  <a:lnTo>
                    <a:pt x="418642" y="233921"/>
                  </a:lnTo>
                  <a:lnTo>
                    <a:pt x="391007" y="238036"/>
                  </a:lnTo>
                  <a:lnTo>
                    <a:pt x="376440" y="239877"/>
                  </a:lnTo>
                  <a:lnTo>
                    <a:pt x="362331" y="241147"/>
                  </a:lnTo>
                  <a:lnTo>
                    <a:pt x="289496" y="245478"/>
                  </a:lnTo>
                  <a:lnTo>
                    <a:pt x="193357" y="248742"/>
                  </a:lnTo>
                  <a:lnTo>
                    <a:pt x="164998" y="250672"/>
                  </a:lnTo>
                  <a:lnTo>
                    <a:pt x="110807" y="264922"/>
                  </a:lnTo>
                  <a:lnTo>
                    <a:pt x="78714" y="287134"/>
                  </a:lnTo>
                  <a:lnTo>
                    <a:pt x="38315" y="327012"/>
                  </a:lnTo>
                  <a:lnTo>
                    <a:pt x="12941" y="365493"/>
                  </a:lnTo>
                  <a:lnTo>
                    <a:pt x="4775" y="406781"/>
                  </a:lnTo>
                  <a:lnTo>
                    <a:pt x="0" y="467728"/>
                  </a:lnTo>
                  <a:lnTo>
                    <a:pt x="406" y="492467"/>
                  </a:lnTo>
                  <a:lnTo>
                    <a:pt x="13004" y="534009"/>
                  </a:lnTo>
                  <a:lnTo>
                    <a:pt x="48971" y="573582"/>
                  </a:lnTo>
                  <a:lnTo>
                    <a:pt x="90690" y="600189"/>
                  </a:lnTo>
                  <a:lnTo>
                    <a:pt x="133273" y="615734"/>
                  </a:lnTo>
                  <a:lnTo>
                    <a:pt x="184569" y="628319"/>
                  </a:lnTo>
                  <a:lnTo>
                    <a:pt x="224180" y="633755"/>
                  </a:lnTo>
                  <a:lnTo>
                    <a:pt x="271995" y="638492"/>
                  </a:lnTo>
                  <a:lnTo>
                    <a:pt x="342760" y="639762"/>
                  </a:lnTo>
                  <a:lnTo>
                    <a:pt x="382612" y="639432"/>
                  </a:lnTo>
                  <a:lnTo>
                    <a:pt x="426542" y="634352"/>
                  </a:lnTo>
                  <a:lnTo>
                    <a:pt x="465937" y="616915"/>
                  </a:lnTo>
                  <a:lnTo>
                    <a:pt x="505117" y="589762"/>
                  </a:lnTo>
                  <a:lnTo>
                    <a:pt x="543077" y="557072"/>
                  </a:lnTo>
                  <a:lnTo>
                    <a:pt x="577824" y="522681"/>
                  </a:lnTo>
                  <a:lnTo>
                    <a:pt x="611225" y="486778"/>
                  </a:lnTo>
                  <a:lnTo>
                    <a:pt x="643610" y="448995"/>
                  </a:lnTo>
                  <a:lnTo>
                    <a:pt x="675335" y="408978"/>
                  </a:lnTo>
                  <a:lnTo>
                    <a:pt x="688289" y="388645"/>
                  </a:lnTo>
                  <a:lnTo>
                    <a:pt x="693445" y="370890"/>
                  </a:lnTo>
                  <a:close/>
                </a:path>
                <a:path w="1878329" h="640080">
                  <a:moveTo>
                    <a:pt x="1153160" y="280314"/>
                  </a:moveTo>
                  <a:lnTo>
                    <a:pt x="1149400" y="276263"/>
                  </a:lnTo>
                  <a:lnTo>
                    <a:pt x="1142631" y="276263"/>
                  </a:lnTo>
                  <a:lnTo>
                    <a:pt x="1106512" y="301320"/>
                  </a:lnTo>
                  <a:lnTo>
                    <a:pt x="1002004" y="396963"/>
                  </a:lnTo>
                  <a:lnTo>
                    <a:pt x="981824" y="415061"/>
                  </a:lnTo>
                  <a:lnTo>
                    <a:pt x="951077" y="439699"/>
                  </a:lnTo>
                  <a:lnTo>
                    <a:pt x="915162" y="459905"/>
                  </a:lnTo>
                  <a:lnTo>
                    <a:pt x="910424" y="459867"/>
                  </a:lnTo>
                  <a:lnTo>
                    <a:pt x="909193" y="458279"/>
                  </a:lnTo>
                  <a:lnTo>
                    <a:pt x="906297" y="441998"/>
                  </a:lnTo>
                  <a:lnTo>
                    <a:pt x="903351" y="438531"/>
                  </a:lnTo>
                  <a:lnTo>
                    <a:pt x="889596" y="438531"/>
                  </a:lnTo>
                  <a:lnTo>
                    <a:pt x="887260" y="445566"/>
                  </a:lnTo>
                  <a:lnTo>
                    <a:pt x="893318" y="468833"/>
                  </a:lnTo>
                  <a:lnTo>
                    <a:pt x="894372" y="470395"/>
                  </a:lnTo>
                  <a:lnTo>
                    <a:pt x="907656" y="478917"/>
                  </a:lnTo>
                  <a:lnTo>
                    <a:pt x="908380" y="479082"/>
                  </a:lnTo>
                  <a:lnTo>
                    <a:pt x="916228" y="478282"/>
                  </a:lnTo>
                  <a:lnTo>
                    <a:pt x="965720" y="451700"/>
                  </a:lnTo>
                  <a:lnTo>
                    <a:pt x="1005459" y="418553"/>
                  </a:lnTo>
                  <a:lnTo>
                    <a:pt x="1035126" y="391566"/>
                  </a:lnTo>
                  <a:lnTo>
                    <a:pt x="1075740" y="353720"/>
                  </a:lnTo>
                  <a:lnTo>
                    <a:pt x="1097661" y="333578"/>
                  </a:lnTo>
                  <a:lnTo>
                    <a:pt x="1117244" y="316395"/>
                  </a:lnTo>
                  <a:lnTo>
                    <a:pt x="1132700" y="303695"/>
                  </a:lnTo>
                  <a:lnTo>
                    <a:pt x="1142263" y="296976"/>
                  </a:lnTo>
                  <a:lnTo>
                    <a:pt x="1151521" y="292036"/>
                  </a:lnTo>
                  <a:lnTo>
                    <a:pt x="1153160" y="290309"/>
                  </a:lnTo>
                  <a:lnTo>
                    <a:pt x="1153160" y="280314"/>
                  </a:lnTo>
                  <a:close/>
                </a:path>
                <a:path w="1878329" h="640080">
                  <a:moveTo>
                    <a:pt x="1422933" y="549833"/>
                  </a:moveTo>
                  <a:lnTo>
                    <a:pt x="1422628" y="549554"/>
                  </a:lnTo>
                  <a:lnTo>
                    <a:pt x="1421574" y="549833"/>
                  </a:lnTo>
                  <a:lnTo>
                    <a:pt x="1422933" y="549833"/>
                  </a:lnTo>
                  <a:close/>
                </a:path>
                <a:path w="1878329" h="640080">
                  <a:moveTo>
                    <a:pt x="1624863" y="8089"/>
                  </a:moveTo>
                  <a:lnTo>
                    <a:pt x="1623237" y="2832"/>
                  </a:lnTo>
                  <a:lnTo>
                    <a:pt x="1618488" y="114"/>
                  </a:lnTo>
                  <a:lnTo>
                    <a:pt x="1610791" y="0"/>
                  </a:lnTo>
                  <a:lnTo>
                    <a:pt x="1600327" y="2501"/>
                  </a:lnTo>
                  <a:lnTo>
                    <a:pt x="1579219" y="12992"/>
                  </a:lnTo>
                  <a:lnTo>
                    <a:pt x="1550606" y="33515"/>
                  </a:lnTo>
                  <a:lnTo>
                    <a:pt x="1513192" y="65100"/>
                  </a:lnTo>
                  <a:lnTo>
                    <a:pt x="1465732" y="108750"/>
                  </a:lnTo>
                  <a:lnTo>
                    <a:pt x="1455648" y="117805"/>
                  </a:lnTo>
                  <a:lnTo>
                    <a:pt x="1447393" y="124129"/>
                  </a:lnTo>
                  <a:lnTo>
                    <a:pt x="1440789" y="127850"/>
                  </a:lnTo>
                  <a:lnTo>
                    <a:pt x="1435684" y="129070"/>
                  </a:lnTo>
                  <a:lnTo>
                    <a:pt x="1433690" y="129082"/>
                  </a:lnTo>
                  <a:lnTo>
                    <a:pt x="1426337" y="126771"/>
                  </a:lnTo>
                  <a:lnTo>
                    <a:pt x="1399514" y="116268"/>
                  </a:lnTo>
                  <a:lnTo>
                    <a:pt x="1386928" y="112483"/>
                  </a:lnTo>
                  <a:lnTo>
                    <a:pt x="1379321" y="112141"/>
                  </a:lnTo>
                  <a:lnTo>
                    <a:pt x="1374381" y="114757"/>
                  </a:lnTo>
                  <a:lnTo>
                    <a:pt x="1368907" y="119722"/>
                  </a:lnTo>
                  <a:lnTo>
                    <a:pt x="1373149" y="130340"/>
                  </a:lnTo>
                  <a:lnTo>
                    <a:pt x="1380604" y="130340"/>
                  </a:lnTo>
                  <a:lnTo>
                    <a:pt x="1385011" y="131051"/>
                  </a:lnTo>
                  <a:lnTo>
                    <a:pt x="1392186" y="133223"/>
                  </a:lnTo>
                  <a:lnTo>
                    <a:pt x="1402270" y="136880"/>
                  </a:lnTo>
                  <a:lnTo>
                    <a:pt x="1428305" y="147370"/>
                  </a:lnTo>
                  <a:lnTo>
                    <a:pt x="1429842" y="147726"/>
                  </a:lnTo>
                  <a:lnTo>
                    <a:pt x="1520050" y="83413"/>
                  </a:lnTo>
                  <a:lnTo>
                    <a:pt x="1537589" y="67906"/>
                  </a:lnTo>
                  <a:lnTo>
                    <a:pt x="1569034" y="42748"/>
                  </a:lnTo>
                  <a:lnTo>
                    <a:pt x="1602892" y="21310"/>
                  </a:lnTo>
                  <a:lnTo>
                    <a:pt x="1622336" y="15798"/>
                  </a:lnTo>
                  <a:lnTo>
                    <a:pt x="1624863" y="13817"/>
                  </a:lnTo>
                  <a:lnTo>
                    <a:pt x="1624863" y="8089"/>
                  </a:lnTo>
                  <a:close/>
                </a:path>
                <a:path w="1878329" h="640080">
                  <a:moveTo>
                    <a:pt x="1877707" y="133705"/>
                  </a:moveTo>
                  <a:lnTo>
                    <a:pt x="1872729" y="129082"/>
                  </a:lnTo>
                  <a:lnTo>
                    <a:pt x="1867077" y="129082"/>
                  </a:lnTo>
                  <a:lnTo>
                    <a:pt x="1808962" y="165976"/>
                  </a:lnTo>
                  <a:lnTo>
                    <a:pt x="1771561" y="196011"/>
                  </a:lnTo>
                  <a:lnTo>
                    <a:pt x="1732191" y="229184"/>
                  </a:lnTo>
                  <a:lnTo>
                    <a:pt x="1697824" y="259791"/>
                  </a:lnTo>
                  <a:lnTo>
                    <a:pt x="1602422" y="353606"/>
                  </a:lnTo>
                  <a:lnTo>
                    <a:pt x="1516583" y="439851"/>
                  </a:lnTo>
                  <a:lnTo>
                    <a:pt x="1461363" y="496201"/>
                  </a:lnTo>
                  <a:lnTo>
                    <a:pt x="1444396" y="513308"/>
                  </a:lnTo>
                  <a:lnTo>
                    <a:pt x="1432661" y="524865"/>
                  </a:lnTo>
                  <a:lnTo>
                    <a:pt x="1427924" y="529107"/>
                  </a:lnTo>
                  <a:lnTo>
                    <a:pt x="1422476" y="519620"/>
                  </a:lnTo>
                  <a:lnTo>
                    <a:pt x="1413802" y="498068"/>
                  </a:lnTo>
                  <a:lnTo>
                    <a:pt x="1405750" y="474814"/>
                  </a:lnTo>
                  <a:lnTo>
                    <a:pt x="1402207" y="460235"/>
                  </a:lnTo>
                  <a:lnTo>
                    <a:pt x="1402207" y="456120"/>
                  </a:lnTo>
                  <a:lnTo>
                    <a:pt x="1396834" y="451116"/>
                  </a:lnTo>
                  <a:lnTo>
                    <a:pt x="1388122" y="451116"/>
                  </a:lnTo>
                  <a:lnTo>
                    <a:pt x="1383347" y="455688"/>
                  </a:lnTo>
                  <a:lnTo>
                    <a:pt x="1396441" y="503415"/>
                  </a:lnTo>
                  <a:lnTo>
                    <a:pt x="1412341" y="539457"/>
                  </a:lnTo>
                  <a:lnTo>
                    <a:pt x="1422628" y="549554"/>
                  </a:lnTo>
                  <a:lnTo>
                    <a:pt x="1434287" y="546519"/>
                  </a:lnTo>
                  <a:lnTo>
                    <a:pt x="1437944" y="544741"/>
                  </a:lnTo>
                  <a:lnTo>
                    <a:pt x="1443685" y="540016"/>
                  </a:lnTo>
                  <a:lnTo>
                    <a:pt x="1453210" y="530771"/>
                  </a:lnTo>
                  <a:lnTo>
                    <a:pt x="1454848" y="529107"/>
                  </a:lnTo>
                  <a:lnTo>
                    <a:pt x="1625155" y="356387"/>
                  </a:lnTo>
                  <a:lnTo>
                    <a:pt x="1652981" y="328574"/>
                  </a:lnTo>
                  <a:lnTo>
                    <a:pt x="1689557" y="292976"/>
                  </a:lnTo>
                  <a:lnTo>
                    <a:pt x="1722666" y="262191"/>
                  </a:lnTo>
                  <a:lnTo>
                    <a:pt x="1755419" y="233413"/>
                  </a:lnTo>
                  <a:lnTo>
                    <a:pt x="1790903" y="203835"/>
                  </a:lnTo>
                  <a:lnTo>
                    <a:pt x="1837537" y="167322"/>
                  </a:lnTo>
                  <a:lnTo>
                    <a:pt x="1876094" y="144335"/>
                  </a:lnTo>
                  <a:lnTo>
                    <a:pt x="1877707" y="142697"/>
                  </a:lnTo>
                  <a:lnTo>
                    <a:pt x="1877707" y="133705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27823" y="922399"/>
            <a:ext cx="184681" cy="11083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4950" y="922399"/>
            <a:ext cx="624205" cy="111125"/>
          </a:xfrm>
          <a:custGeom>
            <a:avLst/>
            <a:gdLst/>
            <a:ahLst/>
            <a:cxnLst/>
            <a:rect l="l" t="t" r="r" b="b"/>
            <a:pathLst>
              <a:path w="624205" h="111125">
                <a:moveTo>
                  <a:pt x="595884" y="0"/>
                </a:moveTo>
                <a:lnTo>
                  <a:pt x="27709" y="0"/>
                </a:lnTo>
                <a:lnTo>
                  <a:pt x="17534" y="4762"/>
                </a:lnTo>
                <a:lnTo>
                  <a:pt x="8659" y="17318"/>
                </a:lnTo>
                <a:lnTo>
                  <a:pt x="2381" y="35069"/>
                </a:lnTo>
                <a:lnTo>
                  <a:pt x="0" y="55417"/>
                </a:lnTo>
                <a:lnTo>
                  <a:pt x="2381" y="75766"/>
                </a:lnTo>
                <a:lnTo>
                  <a:pt x="8659" y="93517"/>
                </a:lnTo>
                <a:lnTo>
                  <a:pt x="17534" y="106072"/>
                </a:lnTo>
                <a:lnTo>
                  <a:pt x="27709" y="110835"/>
                </a:lnTo>
                <a:lnTo>
                  <a:pt x="595884" y="110835"/>
                </a:lnTo>
                <a:lnTo>
                  <a:pt x="606058" y="106072"/>
                </a:lnTo>
                <a:lnTo>
                  <a:pt x="614934" y="93517"/>
                </a:lnTo>
                <a:lnTo>
                  <a:pt x="621212" y="75766"/>
                </a:lnTo>
                <a:lnTo>
                  <a:pt x="623593" y="55417"/>
                </a:lnTo>
                <a:lnTo>
                  <a:pt x="621212" y="35069"/>
                </a:lnTo>
                <a:lnTo>
                  <a:pt x="614934" y="17318"/>
                </a:lnTo>
                <a:lnTo>
                  <a:pt x="606058" y="4762"/>
                </a:lnTo>
                <a:lnTo>
                  <a:pt x="595884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9" name="object 9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2" name="object 12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6" name="object 16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1" name="object 21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Memory</a:t>
            </a:r>
            <a:r>
              <a:rPr spc="265" dirty="0"/>
              <a:t> </a:t>
            </a:r>
            <a:r>
              <a:rPr spc="75" dirty="0"/>
              <a:t>Manager:</a:t>
            </a:r>
            <a:r>
              <a:rPr spc="470" dirty="0"/>
              <a:t> </a:t>
            </a:r>
            <a:r>
              <a:rPr dirty="0"/>
              <a:t>function</a:t>
            </a:r>
            <a:r>
              <a:rPr spc="265" dirty="0"/>
              <a:t> </a:t>
            </a:r>
            <a:r>
              <a:rPr spc="55" dirty="0"/>
              <a:t>and</a:t>
            </a:r>
            <a:r>
              <a:rPr spc="265" dirty="0"/>
              <a:t> </a:t>
            </a:r>
            <a:r>
              <a:rPr spc="45" dirty="0"/>
              <a:t>properties</a:t>
            </a:r>
            <a:endParaRPr spc="45" dirty="0"/>
          </a:p>
        </p:txBody>
      </p:sp>
      <p:grpSp>
        <p:nvGrpSpPr>
          <p:cNvPr id="28" name="object 28"/>
          <p:cNvGrpSpPr/>
          <p:nvPr/>
        </p:nvGrpSpPr>
        <p:grpSpPr>
          <a:xfrm>
            <a:off x="87743" y="1652322"/>
            <a:ext cx="4483735" cy="1233805"/>
            <a:chOff x="87743" y="1652322"/>
            <a:chExt cx="4483735" cy="1233805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784195"/>
              <a:ext cx="101600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771495"/>
              <a:ext cx="4381767" cy="1143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658455"/>
              <a:ext cx="50800" cy="112574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7743" y="1652322"/>
              <a:ext cx="4432935" cy="1183005"/>
            </a:xfrm>
            <a:custGeom>
              <a:avLst/>
              <a:gdLst/>
              <a:ahLst/>
              <a:cxnLst/>
              <a:rect l="l" t="t" r="r" b="b"/>
              <a:pathLst>
                <a:path w="4432935" h="1183005">
                  <a:moveTo>
                    <a:pt x="4432567" y="0"/>
                  </a:moveTo>
                  <a:lnTo>
                    <a:pt x="0" y="0"/>
                  </a:lnTo>
                  <a:lnTo>
                    <a:pt x="0" y="1131873"/>
                  </a:lnTo>
                  <a:lnTo>
                    <a:pt x="4008" y="1151598"/>
                  </a:lnTo>
                  <a:lnTo>
                    <a:pt x="14922" y="1167751"/>
                  </a:lnTo>
                  <a:lnTo>
                    <a:pt x="31075" y="1178665"/>
                  </a:lnTo>
                  <a:lnTo>
                    <a:pt x="50800" y="1182673"/>
                  </a:lnTo>
                  <a:lnTo>
                    <a:pt x="4381767" y="1182673"/>
                  </a:lnTo>
                  <a:lnTo>
                    <a:pt x="4401492" y="1178665"/>
                  </a:lnTo>
                  <a:lnTo>
                    <a:pt x="4417644" y="1167751"/>
                  </a:lnTo>
                  <a:lnTo>
                    <a:pt x="4428558" y="1151598"/>
                  </a:lnTo>
                  <a:lnTo>
                    <a:pt x="4432567" y="113187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20311" y="1696560"/>
              <a:ext cx="0" cy="1106805"/>
            </a:xfrm>
            <a:custGeom>
              <a:avLst/>
              <a:gdLst/>
              <a:ahLst/>
              <a:cxnLst/>
              <a:rect l="l" t="t" r="r" b="b"/>
              <a:pathLst>
                <a:path h="1106805">
                  <a:moveTo>
                    <a:pt x="0" y="11066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20311" y="16838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520311" y="16711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20311" y="16584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25844" y="868970"/>
            <a:ext cx="3789045" cy="19589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01370" marR="5080" indent="-69342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Allocation</a:t>
            </a:r>
            <a:r>
              <a:rPr sz="1100" spc="1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get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contiguous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chunk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(sometimes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virtual memory).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Deallocation</a:t>
            </a:r>
            <a:r>
              <a:rPr sz="1100" spc="1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release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previously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allocated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chunk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reuse.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Desired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properties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manager: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801370" marR="492125" indent="-789305">
              <a:lnSpc>
                <a:spcPct val="103000"/>
              </a:lnSpc>
              <a:spcBef>
                <a:spcPts val="600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efficiency</a:t>
            </a:r>
            <a:r>
              <a:rPr sz="1100" spc="1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available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well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(avoid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fragmentation).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801370" marR="41910" indent="-789305">
              <a:lnSpc>
                <a:spcPct val="103000"/>
              </a:lnSpc>
              <a:spcBef>
                <a:spcPts val="300"/>
              </a:spcBef>
            </a:pPr>
            <a:r>
              <a:rPr sz="1100" spc="-10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10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efficiency</a:t>
            </a:r>
            <a:r>
              <a:rPr sz="1100" spc="160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Make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allocated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fast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(use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locality</a:t>
            </a:r>
            <a:r>
              <a:rPr sz="1100" spc="-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aspects).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35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Low</a:t>
            </a:r>
            <a:r>
              <a:rPr sz="1100" spc="15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overhead</a:t>
            </a:r>
            <a:r>
              <a:rPr sz="1100" spc="165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Reduce</a:t>
            </a:r>
            <a:r>
              <a:rPr sz="1100" spc="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administrative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cost</a:t>
            </a:r>
            <a:r>
              <a:rPr sz="1100" spc="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60204" y="1737120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2078" y="0"/>
                </a:moveTo>
                <a:lnTo>
                  <a:pt x="8493" y="0"/>
                </a:lnTo>
                <a:lnTo>
                  <a:pt x="5637" y="1389"/>
                </a:lnTo>
                <a:lnTo>
                  <a:pt x="3939" y="3088"/>
                </a:lnTo>
                <a:lnTo>
                  <a:pt x="165" y="6861"/>
                </a:lnTo>
                <a:lnTo>
                  <a:pt x="0" y="11159"/>
                </a:lnTo>
                <a:lnTo>
                  <a:pt x="6867" y="19889"/>
                </a:lnTo>
                <a:lnTo>
                  <a:pt x="12431" y="19985"/>
                </a:lnTo>
                <a:lnTo>
                  <a:pt x="18331" y="14085"/>
                </a:lnTo>
                <a:lnTo>
                  <a:pt x="19721" y="11228"/>
                </a:lnTo>
                <a:lnTo>
                  <a:pt x="19721" y="7642"/>
                </a:lnTo>
                <a:lnTo>
                  <a:pt x="18331" y="4786"/>
                </a:lnTo>
                <a:lnTo>
                  <a:pt x="14935" y="1389"/>
                </a:lnTo>
                <a:lnTo>
                  <a:pt x="12078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Memory</a:t>
            </a:r>
            <a:r>
              <a:rPr spc="265" dirty="0"/>
              <a:t> </a:t>
            </a:r>
            <a:r>
              <a:rPr spc="75" dirty="0"/>
              <a:t>Manager:</a:t>
            </a:r>
            <a:r>
              <a:rPr spc="470" dirty="0"/>
              <a:t> </a:t>
            </a:r>
            <a:r>
              <a:rPr dirty="0"/>
              <a:t>function</a:t>
            </a:r>
            <a:r>
              <a:rPr spc="265" dirty="0"/>
              <a:t> </a:t>
            </a:r>
            <a:r>
              <a:rPr spc="55" dirty="0"/>
              <a:t>and</a:t>
            </a:r>
            <a:r>
              <a:rPr spc="265" dirty="0"/>
              <a:t> </a:t>
            </a:r>
            <a:r>
              <a:rPr spc="45" dirty="0"/>
              <a:t>properties</a:t>
            </a:r>
            <a:endParaRPr spc="45" dirty="0"/>
          </a:p>
        </p:txBody>
      </p:sp>
      <p:grpSp>
        <p:nvGrpSpPr>
          <p:cNvPr id="6" name="object 6"/>
          <p:cNvGrpSpPr/>
          <p:nvPr/>
        </p:nvGrpSpPr>
        <p:grpSpPr>
          <a:xfrm>
            <a:off x="87743" y="1652322"/>
            <a:ext cx="4483735" cy="1233805"/>
            <a:chOff x="87743" y="1652322"/>
            <a:chExt cx="4483735" cy="12338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78419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771495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1658455"/>
              <a:ext cx="50800" cy="112574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652322"/>
              <a:ext cx="4432935" cy="1183005"/>
            </a:xfrm>
            <a:custGeom>
              <a:avLst/>
              <a:gdLst/>
              <a:ahLst/>
              <a:cxnLst/>
              <a:rect l="l" t="t" r="r" b="b"/>
              <a:pathLst>
                <a:path w="4432935" h="1183005">
                  <a:moveTo>
                    <a:pt x="4432567" y="0"/>
                  </a:moveTo>
                  <a:lnTo>
                    <a:pt x="0" y="0"/>
                  </a:lnTo>
                  <a:lnTo>
                    <a:pt x="0" y="1131873"/>
                  </a:lnTo>
                  <a:lnTo>
                    <a:pt x="4008" y="1151598"/>
                  </a:lnTo>
                  <a:lnTo>
                    <a:pt x="14922" y="1167751"/>
                  </a:lnTo>
                  <a:lnTo>
                    <a:pt x="31075" y="1178665"/>
                  </a:lnTo>
                  <a:lnTo>
                    <a:pt x="50800" y="1182673"/>
                  </a:lnTo>
                  <a:lnTo>
                    <a:pt x="4381767" y="1182673"/>
                  </a:lnTo>
                  <a:lnTo>
                    <a:pt x="4401492" y="1178665"/>
                  </a:lnTo>
                  <a:lnTo>
                    <a:pt x="4417644" y="1167751"/>
                  </a:lnTo>
                  <a:lnTo>
                    <a:pt x="4428558" y="1151598"/>
                  </a:lnTo>
                  <a:lnTo>
                    <a:pt x="4432567" y="113187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696560"/>
              <a:ext cx="0" cy="1106805"/>
            </a:xfrm>
            <a:custGeom>
              <a:avLst/>
              <a:gdLst/>
              <a:ahLst/>
              <a:cxnLst/>
              <a:rect l="l" t="t" r="r" b="b"/>
              <a:pathLst>
                <a:path h="1106805">
                  <a:moveTo>
                    <a:pt x="0" y="11066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6838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6711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6584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5844" y="868970"/>
            <a:ext cx="3789045" cy="19589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01370" marR="5080" indent="-69342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Allocation</a:t>
            </a:r>
            <a:r>
              <a:rPr sz="1100" spc="1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get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contiguous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chunk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(sometimes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virtual memory).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Deallocation</a:t>
            </a:r>
            <a:r>
              <a:rPr sz="1100" spc="1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release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previously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allocated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chunk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reuse.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Desired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properties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manager: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801370" marR="492125" indent="-789305">
              <a:lnSpc>
                <a:spcPct val="103000"/>
              </a:lnSpc>
              <a:spcBef>
                <a:spcPts val="600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efficiency</a:t>
            </a:r>
            <a:r>
              <a:rPr sz="1100" spc="1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available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well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(avoid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fragmentation).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801370" marR="41910" indent="-789305">
              <a:lnSpc>
                <a:spcPct val="103000"/>
              </a:lnSpc>
              <a:spcBef>
                <a:spcPts val="300"/>
              </a:spcBef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efficiency</a:t>
            </a:r>
            <a:r>
              <a:rPr sz="1100" spc="1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Make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allocated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fast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(use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locality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aspects).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35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Low</a:t>
            </a:r>
            <a:r>
              <a:rPr sz="1100" spc="15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overhead</a:t>
            </a:r>
            <a:r>
              <a:rPr sz="1100" spc="165" dirty="0">
                <a:solidFill>
                  <a:srgbClr val="D8E8ED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Reduce</a:t>
            </a:r>
            <a:r>
              <a:rPr sz="1100" spc="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administrative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cost</a:t>
            </a:r>
            <a:r>
              <a:rPr sz="1100" spc="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allocation.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cap="small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E,</a:t>
            </a:r>
            <a:r>
              <a:rPr sz="600" b="1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cap="small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399296" y="3329513"/>
            <a:ext cx="9093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56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Memory</a:t>
            </a:r>
            <a:r>
              <a:rPr spc="265" dirty="0"/>
              <a:t> </a:t>
            </a:r>
            <a:r>
              <a:rPr spc="75" dirty="0"/>
              <a:t>Manager:</a:t>
            </a:r>
            <a:r>
              <a:rPr spc="470" dirty="0"/>
              <a:t> </a:t>
            </a:r>
            <a:r>
              <a:rPr dirty="0"/>
              <a:t>function</a:t>
            </a:r>
            <a:r>
              <a:rPr spc="265" dirty="0"/>
              <a:t> </a:t>
            </a:r>
            <a:r>
              <a:rPr spc="55" dirty="0"/>
              <a:t>and</a:t>
            </a:r>
            <a:r>
              <a:rPr spc="265" dirty="0"/>
              <a:t> </a:t>
            </a:r>
            <a:r>
              <a:rPr spc="45" dirty="0"/>
              <a:t>properties</a:t>
            </a:r>
            <a:endParaRPr spc="45" dirty="0"/>
          </a:p>
        </p:txBody>
      </p:sp>
      <p:grpSp>
        <p:nvGrpSpPr>
          <p:cNvPr id="6" name="object 6"/>
          <p:cNvGrpSpPr/>
          <p:nvPr/>
        </p:nvGrpSpPr>
        <p:grpSpPr>
          <a:xfrm>
            <a:off x="87743" y="1652322"/>
            <a:ext cx="4483735" cy="1233805"/>
            <a:chOff x="87743" y="1652322"/>
            <a:chExt cx="4483735" cy="12338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78419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771495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1658455"/>
              <a:ext cx="50800" cy="112574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652322"/>
              <a:ext cx="4432935" cy="1183005"/>
            </a:xfrm>
            <a:custGeom>
              <a:avLst/>
              <a:gdLst/>
              <a:ahLst/>
              <a:cxnLst/>
              <a:rect l="l" t="t" r="r" b="b"/>
              <a:pathLst>
                <a:path w="4432935" h="1183005">
                  <a:moveTo>
                    <a:pt x="4432567" y="0"/>
                  </a:moveTo>
                  <a:lnTo>
                    <a:pt x="0" y="0"/>
                  </a:lnTo>
                  <a:lnTo>
                    <a:pt x="0" y="1131873"/>
                  </a:lnTo>
                  <a:lnTo>
                    <a:pt x="4008" y="1151598"/>
                  </a:lnTo>
                  <a:lnTo>
                    <a:pt x="14922" y="1167751"/>
                  </a:lnTo>
                  <a:lnTo>
                    <a:pt x="31075" y="1178665"/>
                  </a:lnTo>
                  <a:lnTo>
                    <a:pt x="50800" y="1182673"/>
                  </a:lnTo>
                  <a:lnTo>
                    <a:pt x="4381767" y="1182673"/>
                  </a:lnTo>
                  <a:lnTo>
                    <a:pt x="4401492" y="1178665"/>
                  </a:lnTo>
                  <a:lnTo>
                    <a:pt x="4417644" y="1167751"/>
                  </a:lnTo>
                  <a:lnTo>
                    <a:pt x="4428558" y="1151598"/>
                  </a:lnTo>
                  <a:lnTo>
                    <a:pt x="4432567" y="113187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696560"/>
              <a:ext cx="0" cy="1106805"/>
            </a:xfrm>
            <a:custGeom>
              <a:avLst/>
              <a:gdLst/>
              <a:ahLst/>
              <a:cxnLst/>
              <a:rect l="l" t="t" r="r" b="b"/>
              <a:pathLst>
                <a:path h="1106805">
                  <a:moveTo>
                    <a:pt x="0" y="11066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6838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6711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6584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5844" y="868970"/>
            <a:ext cx="3789045" cy="19589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01370" marR="5080" indent="-69342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Allocation</a:t>
            </a:r>
            <a:r>
              <a:rPr sz="1100" spc="1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get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contiguous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chunk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(sometimes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virtual memory).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Deallocation</a:t>
            </a:r>
            <a:r>
              <a:rPr sz="1100" spc="1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release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previously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allocated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chunk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reuse.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Desired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properties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manager: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801370" marR="492125" indent="-789305">
              <a:lnSpc>
                <a:spcPct val="103000"/>
              </a:lnSpc>
              <a:spcBef>
                <a:spcPts val="600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Space</a:t>
            </a:r>
            <a:r>
              <a:rPr sz="1100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efficiency</a:t>
            </a:r>
            <a:r>
              <a:rPr sz="1100" spc="1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available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well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(avoid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fragmentation).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801370" marR="41910" indent="-789305">
              <a:lnSpc>
                <a:spcPct val="103000"/>
              </a:lnSpc>
              <a:spcBef>
                <a:spcPts val="300"/>
              </a:spcBef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efficiency</a:t>
            </a:r>
            <a:r>
              <a:rPr sz="1100" spc="1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Make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access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allocated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fast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(use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locality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aspects).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3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Low</a:t>
            </a:r>
            <a:r>
              <a:rPr sz="1100" spc="1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overhead</a:t>
            </a:r>
            <a:r>
              <a:rPr sz="1100" spc="1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Reduce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administrative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cost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allocation.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557" y="2038941"/>
            <a:ext cx="454659" cy="118110"/>
          </a:xfrm>
          <a:custGeom>
            <a:avLst/>
            <a:gdLst/>
            <a:ahLst/>
            <a:cxnLst/>
            <a:rect l="l" t="t" r="r" b="b"/>
            <a:pathLst>
              <a:path w="454659" h="118110">
                <a:moveTo>
                  <a:pt x="425087" y="0"/>
                </a:moveTo>
                <a:lnTo>
                  <a:pt x="29480" y="0"/>
                </a:lnTo>
                <a:lnTo>
                  <a:pt x="18655" y="5066"/>
                </a:lnTo>
                <a:lnTo>
                  <a:pt x="9212" y="18424"/>
                </a:lnTo>
                <a:lnTo>
                  <a:pt x="2533" y="37309"/>
                </a:lnTo>
                <a:lnTo>
                  <a:pt x="0" y="58958"/>
                </a:lnTo>
                <a:lnTo>
                  <a:pt x="2533" y="80607"/>
                </a:lnTo>
                <a:lnTo>
                  <a:pt x="9212" y="99492"/>
                </a:lnTo>
                <a:lnTo>
                  <a:pt x="18655" y="112850"/>
                </a:lnTo>
                <a:lnTo>
                  <a:pt x="29480" y="117917"/>
                </a:lnTo>
                <a:lnTo>
                  <a:pt x="425087" y="117917"/>
                </a:lnTo>
                <a:lnTo>
                  <a:pt x="435912" y="112850"/>
                </a:lnTo>
                <a:lnTo>
                  <a:pt x="445355" y="99492"/>
                </a:lnTo>
                <a:lnTo>
                  <a:pt x="452034" y="80607"/>
                </a:lnTo>
                <a:lnTo>
                  <a:pt x="454567" y="58958"/>
                </a:lnTo>
                <a:lnTo>
                  <a:pt x="452034" y="37309"/>
                </a:lnTo>
                <a:lnTo>
                  <a:pt x="445355" y="18424"/>
                </a:lnTo>
                <a:lnTo>
                  <a:pt x="435912" y="5066"/>
                </a:lnTo>
                <a:lnTo>
                  <a:pt x="425087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7739" y="1828909"/>
            <a:ext cx="501015" cy="118110"/>
          </a:xfrm>
          <a:custGeom>
            <a:avLst/>
            <a:gdLst/>
            <a:ahLst/>
            <a:cxnLst/>
            <a:rect l="l" t="t" r="r" b="b"/>
            <a:pathLst>
              <a:path w="501015" h="118110">
                <a:moveTo>
                  <a:pt x="471222" y="0"/>
                </a:moveTo>
                <a:lnTo>
                  <a:pt x="29480" y="0"/>
                </a:lnTo>
                <a:lnTo>
                  <a:pt x="18655" y="5066"/>
                </a:lnTo>
                <a:lnTo>
                  <a:pt x="9212" y="18424"/>
                </a:lnTo>
                <a:lnTo>
                  <a:pt x="2533" y="37309"/>
                </a:lnTo>
                <a:lnTo>
                  <a:pt x="0" y="58958"/>
                </a:lnTo>
                <a:lnTo>
                  <a:pt x="2533" y="80607"/>
                </a:lnTo>
                <a:lnTo>
                  <a:pt x="9212" y="99492"/>
                </a:lnTo>
                <a:lnTo>
                  <a:pt x="18655" y="112850"/>
                </a:lnTo>
                <a:lnTo>
                  <a:pt x="29480" y="117917"/>
                </a:lnTo>
                <a:lnTo>
                  <a:pt x="471222" y="117917"/>
                </a:lnTo>
                <a:lnTo>
                  <a:pt x="482047" y="112850"/>
                </a:lnTo>
                <a:lnTo>
                  <a:pt x="491491" y="99492"/>
                </a:lnTo>
                <a:lnTo>
                  <a:pt x="498170" y="80607"/>
                </a:lnTo>
                <a:lnTo>
                  <a:pt x="500703" y="58958"/>
                </a:lnTo>
                <a:lnTo>
                  <a:pt x="498170" y="37309"/>
                </a:lnTo>
                <a:lnTo>
                  <a:pt x="491491" y="18424"/>
                </a:lnTo>
                <a:lnTo>
                  <a:pt x="482047" y="5066"/>
                </a:lnTo>
                <a:lnTo>
                  <a:pt x="47122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9" name="object 9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2" name="object 12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6" name="object 16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1" name="object 21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Memory</a:t>
            </a:r>
            <a:r>
              <a:rPr spc="200" dirty="0"/>
              <a:t> </a:t>
            </a:r>
            <a:r>
              <a:rPr spc="45" dirty="0"/>
              <a:t>Hierarchy</a:t>
            </a:r>
            <a:endParaRPr spc="45" dirty="0"/>
          </a:p>
        </p:txBody>
      </p:sp>
      <p:sp>
        <p:nvSpPr>
          <p:cNvPr id="28" name="object 28"/>
          <p:cNvSpPr txBox="1"/>
          <p:nvPr/>
        </p:nvSpPr>
        <p:spPr>
          <a:xfrm>
            <a:off x="100444" y="1109571"/>
            <a:ext cx="2434590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444500" indent="-21590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Registers</a:t>
            </a:r>
            <a:r>
              <a:rPr sz="1100" spc="1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200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3</a:t>
            </a:r>
            <a:r>
              <a:rPr sz="1200" spc="165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100" spc="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ns.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L1</a:t>
            </a:r>
            <a:r>
              <a:rPr sz="1100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cache</a:t>
            </a:r>
            <a:r>
              <a:rPr sz="1100" spc="2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200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5</a:t>
            </a:r>
            <a:r>
              <a:rPr sz="1200" spc="187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100" spc="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ns.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L2</a:t>
            </a:r>
            <a:r>
              <a:rPr sz="1100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cache</a:t>
            </a:r>
            <a:r>
              <a:rPr sz="1100" spc="2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200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7</a:t>
            </a:r>
            <a:r>
              <a:rPr sz="1200" spc="179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1100" spc="4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8100" marR="30480">
              <a:lnSpc>
                <a:spcPct val="125000"/>
              </a:lnSpc>
            </a:pPr>
            <a:r>
              <a:rPr sz="1100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Physical</a:t>
            </a:r>
            <a:r>
              <a:rPr sz="1100" spc="3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2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200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10</a:t>
            </a:r>
            <a:r>
              <a:rPr sz="1200" spc="172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100</a:t>
            </a:r>
            <a:r>
              <a:rPr sz="1100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ns.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Flash</a:t>
            </a:r>
            <a:r>
              <a:rPr sz="1100" spc="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Storage</a:t>
            </a:r>
            <a:r>
              <a:rPr sz="1100" spc="21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200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12</a:t>
            </a:r>
            <a:r>
              <a:rPr sz="1200" spc="187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100" spc="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485775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Disk</a:t>
            </a:r>
            <a:r>
              <a:rPr sz="1100" spc="204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200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14</a:t>
            </a:r>
            <a:r>
              <a:rPr sz="1200" spc="172" baseline="28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bytes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100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91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Heap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Management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Locality</a:t>
            </a:r>
            <a:endParaRPr spc="5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70" y="1401749"/>
            <a:ext cx="63296" cy="632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70" y="1645831"/>
            <a:ext cx="63296" cy="63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70" y="1869656"/>
            <a:ext cx="63296" cy="63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465" y="2059101"/>
            <a:ext cx="50990" cy="5099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1882" rIns="0" bIns="0" rtlCol="0">
            <a:spAutoFit/>
          </a:bodyPr>
          <a:lstStyle/>
          <a:p>
            <a:pPr marL="110490">
              <a:lnSpc>
                <a:spcPct val="100000"/>
              </a:lnSpc>
              <a:spcBef>
                <a:spcPts val="700"/>
              </a:spcBef>
            </a:pPr>
            <a:r>
              <a:rPr spc="-30" dirty="0"/>
              <a:t>Memory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30" dirty="0"/>
              <a:t>loaded</a:t>
            </a:r>
            <a:r>
              <a:rPr spc="15" dirty="0"/>
              <a:t> </a:t>
            </a:r>
            <a:r>
              <a:rPr dirty="0"/>
              <a:t>into</a:t>
            </a:r>
            <a:r>
              <a:rPr spc="10" dirty="0"/>
              <a:t> </a:t>
            </a:r>
            <a:r>
              <a:rPr spc="-10" dirty="0"/>
              <a:t>cache</a:t>
            </a:r>
            <a:r>
              <a:rPr spc="1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chunks.</a:t>
            </a:r>
            <a:endParaRPr spc="-10" dirty="0"/>
          </a:p>
          <a:p>
            <a:pPr marL="110490" marR="5080">
              <a:lnSpc>
                <a:spcPct val="134000"/>
              </a:lnSpc>
              <a:spcBef>
                <a:spcPts val="160"/>
              </a:spcBef>
            </a:pPr>
            <a:r>
              <a:rPr spc="-20" dirty="0"/>
              <a:t>Multiple</a:t>
            </a:r>
            <a:r>
              <a:rPr spc="5" dirty="0"/>
              <a:t> </a:t>
            </a:r>
            <a:r>
              <a:rPr dirty="0"/>
              <a:t>access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10" dirty="0"/>
              <a:t>same</a:t>
            </a:r>
            <a:r>
              <a:rPr spc="10" dirty="0"/>
              <a:t> </a:t>
            </a:r>
            <a:r>
              <a:rPr spc="-30" dirty="0"/>
              <a:t>chunk</a:t>
            </a:r>
            <a:r>
              <a:rPr spc="10" dirty="0"/>
              <a:t> </a:t>
            </a:r>
            <a:r>
              <a:rPr spc="-40" dirty="0"/>
              <a:t>improves</a:t>
            </a:r>
            <a:r>
              <a:rPr spc="10" dirty="0"/>
              <a:t> </a:t>
            </a:r>
            <a:r>
              <a:rPr spc="-10" dirty="0"/>
              <a:t>cache</a:t>
            </a:r>
            <a:r>
              <a:rPr spc="10" dirty="0"/>
              <a:t> </a:t>
            </a:r>
            <a:r>
              <a:rPr spc="-10" dirty="0"/>
              <a:t>rate. </a:t>
            </a:r>
            <a:r>
              <a:rPr spc="-30" dirty="0"/>
              <a:t>Reorganizing</a:t>
            </a:r>
            <a:r>
              <a:rPr spc="25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can</a:t>
            </a:r>
            <a:r>
              <a:rPr spc="25" dirty="0"/>
              <a:t> </a:t>
            </a:r>
            <a:r>
              <a:rPr spc="-10" dirty="0"/>
              <a:t>drastically</a:t>
            </a:r>
            <a:r>
              <a:rPr spc="30" dirty="0"/>
              <a:t> </a:t>
            </a:r>
            <a:r>
              <a:rPr spc="-40" dirty="0"/>
              <a:t>improve</a:t>
            </a:r>
            <a:r>
              <a:rPr spc="25" dirty="0"/>
              <a:t> </a:t>
            </a:r>
            <a:r>
              <a:rPr spc="-25" dirty="0"/>
              <a:t>performance.</a:t>
            </a:r>
            <a:endParaRPr spc="-25" dirty="0"/>
          </a:p>
          <a:p>
            <a:pPr marL="387350">
              <a:lnSpc>
                <a:spcPct val="100000"/>
              </a:lnSpc>
              <a:spcBef>
                <a:spcPts val="175"/>
              </a:spcBef>
            </a:pPr>
            <a:r>
              <a:rPr sz="1000" dirty="0"/>
              <a:t>Allocator</a:t>
            </a:r>
            <a:r>
              <a:rPr sz="1000" spc="-10" dirty="0"/>
              <a:t> </a:t>
            </a:r>
            <a:r>
              <a:rPr sz="1000" dirty="0"/>
              <a:t>and</a:t>
            </a:r>
            <a:r>
              <a:rPr sz="1000" spc="-5" dirty="0"/>
              <a:t> </a:t>
            </a:r>
            <a:r>
              <a:rPr sz="1000" spc="-10" dirty="0"/>
              <a:t>garbage</a:t>
            </a:r>
            <a:r>
              <a:rPr sz="1000" spc="-5" dirty="0"/>
              <a:t> </a:t>
            </a:r>
            <a:r>
              <a:rPr sz="1000" spc="-10" dirty="0"/>
              <a:t>collector</a:t>
            </a:r>
            <a:r>
              <a:rPr sz="1000" spc="-5" dirty="0"/>
              <a:t> </a:t>
            </a:r>
            <a:r>
              <a:rPr sz="1000" dirty="0"/>
              <a:t>can</a:t>
            </a:r>
            <a:r>
              <a:rPr sz="1000" spc="-5" dirty="0"/>
              <a:t> </a:t>
            </a:r>
            <a:r>
              <a:rPr sz="1000" spc="-10" dirty="0"/>
              <a:t>help!</a:t>
            </a:r>
            <a:endParaRPr sz="1000"/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21921"/>
            <a:ext cx="909319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untime</a:t>
            </a:r>
            <a:r>
              <a:rPr sz="600" spc="1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</a:t>
            </a:r>
            <a:r>
              <a:rPr sz="600" cap="small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nvironments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20360</Words>
  <Application>WPS Presentation</Application>
  <PresentationFormat>On-screen Show (4:3)</PresentationFormat>
  <Paragraphs>1320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91" baseType="lpstr">
      <vt:lpstr>Arial</vt:lpstr>
      <vt:lpstr>SimSun</vt:lpstr>
      <vt:lpstr>Wingdings</vt:lpstr>
      <vt:lpstr>Palatino Linotype</vt:lpstr>
      <vt:lpstr>Georgia</vt:lpstr>
      <vt:lpstr>Comic Sans MS</vt:lpstr>
      <vt:lpstr>Microsoft YaHei</vt:lpstr>
      <vt:lpstr>Arial Unicode MS</vt:lpstr>
      <vt:lpstr>Calibri</vt:lpstr>
      <vt:lpstr>Bookman Old Style</vt:lpstr>
      <vt:lpstr>Times New Roman</vt:lpstr>
      <vt:lpstr>Trebuchet MS</vt:lpstr>
      <vt:lpstr>Office Theme</vt:lpstr>
      <vt:lpstr>Runtime Environments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Runtime Environment</vt:lpstr>
      <vt:lpstr>Runtime Environment</vt:lpstr>
      <vt:lpstr>Runtime Environment</vt:lpstr>
      <vt:lpstr>Scanner (lexical analysis)</vt:lpstr>
      <vt:lpstr>PowerPoint 演示文稿</vt:lpstr>
      <vt:lpstr>Outline</vt:lpstr>
      <vt:lpstr>Static vs Dynamic Storage Allocation</vt:lpstr>
      <vt:lpstr>Static vs Dynamic Storage Allocation</vt:lpstr>
      <vt:lpstr>Static vs Dynamic Storage Allocation</vt:lpstr>
      <vt:lpstr>Static vs Dynamic Storage Allocation</vt:lpstr>
      <vt:lpstr>Static vs Dynamic Storage Allocation</vt:lpstr>
      <vt:lpstr>Static vs Dynamic Storage Allocation</vt:lpstr>
      <vt:lpstr>Static vs Dynamic Storage Allocation</vt:lpstr>
      <vt:lpstr>Garbage Collector</vt:lpstr>
      <vt:lpstr>Storage Organization</vt:lpstr>
      <vt:lpstr>PowerPoint 演示文稿</vt:lpstr>
      <vt:lpstr>Storage Organization</vt:lpstr>
      <vt:lpstr>Outline</vt:lpstr>
      <vt:lpstr>PowerPoint 演示文稿</vt:lpstr>
      <vt:lpstr>PowerPoint 演示文稿</vt:lpstr>
      <vt:lpstr>Activation Tree</vt:lpstr>
      <vt:lpstr>Activation Tree</vt:lpstr>
      <vt:lpstr>Activation Tree</vt:lpstr>
      <vt:lpstr>Activation Tree Example - QuickSort</vt:lpstr>
      <vt:lpstr>Activation Tree Example</vt:lpstr>
      <vt:lpstr>Activation Tree Example</vt:lpstr>
      <vt:lpstr>Contents of Activation Record</vt:lpstr>
      <vt:lpstr>Contents of Activation Record</vt:lpstr>
      <vt:lpstr>Contents of Activation Record</vt:lpstr>
      <vt:lpstr>Contents of Activation Record</vt:lpstr>
      <vt:lpstr>Contents of Activation Record</vt:lpstr>
      <vt:lpstr>Contents of Activation Record</vt:lpstr>
      <vt:lpstr>Contents of Activation Record</vt:lpstr>
      <vt:lpstr>PowerPoint 演示文稿</vt:lpstr>
      <vt:lpstr>Activation Record or “Frame”</vt:lpstr>
      <vt:lpstr>Snapshot of run-time stack for ’quicksort’</vt:lpstr>
      <vt:lpstr>Snapshot of run-time stack for ’quicksort’</vt:lpstr>
      <vt:lpstr>Where Is My Activation Record?</vt:lpstr>
      <vt:lpstr>Where Is My Activation Record?</vt:lpstr>
      <vt:lpstr>Where Is My Activation Record?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Calling Sequence</vt:lpstr>
      <vt:lpstr>Calling Sequence</vt:lpstr>
      <vt:lpstr>Calling Sequence</vt:lpstr>
      <vt:lpstr>Calling Sequence</vt:lpstr>
      <vt:lpstr>Calling Sequence</vt:lpstr>
      <vt:lpstr>Calling Sequence</vt:lpstr>
      <vt:lpstr>Calling Sequence</vt:lpstr>
      <vt:lpstr>Calling Sequence, continued.</vt:lpstr>
      <vt:lpstr>Calling Sequence, continued.</vt:lpstr>
      <vt:lpstr>Outline</vt:lpstr>
      <vt:lpstr>Easy: C (no nested procedures, static scoping)</vt:lpstr>
      <vt:lpstr>Harder: C++, C#, Java, Scala, ML, Haskell, …</vt:lpstr>
      <vt:lpstr>Outline</vt:lpstr>
      <vt:lpstr>PowerPoint 演示文稿</vt:lpstr>
      <vt:lpstr>The Heap</vt:lpstr>
      <vt:lpstr>Memory Manager: function and properties</vt:lpstr>
      <vt:lpstr>Memory Manager: function and properties</vt:lpstr>
      <vt:lpstr>Memory Manager: function and properties</vt:lpstr>
      <vt:lpstr>Memory Hierarchy</vt:lpstr>
      <vt:lpstr>Locality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Environments</dc:title>
  <dc:creator>Rokan Uddin Faruqui </dc:creator>
  <cp:lastModifiedBy>Sharifunnaher Snigdha</cp:lastModifiedBy>
  <cp:revision>4</cp:revision>
  <dcterms:created xsi:type="dcterms:W3CDTF">2025-12-02T13:28:58Z</dcterms:created>
  <dcterms:modified xsi:type="dcterms:W3CDTF">2025-12-02T17:02:22Z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2019-07-22T06:00:00Z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2025-12-02T06:00:00Z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D8FB0F87E32D4D79B1C26F63F8EB4BBA_12</vt:lpwstr>
  </property>
  <property fmtid="{D5CDD505-2E9C-101B-9397-08002B2CF9AE}" pid="7" name="KSOProductBuildVer">
    <vt:lpwstr>1033-12.2.0.23155</vt:lpwstr>
  </property>
</Properties>
</file>