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4" r:id="rId36"/>
    <p:sldId id="289" r:id="rId37"/>
    <p:sldId id="290" r:id="rId38"/>
    <p:sldId id="291" r:id="rId39"/>
    <p:sldId id="292" r:id="rId40"/>
    <p:sldId id="293" r:id="rId4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27952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227" y="599730"/>
            <a:ext cx="4379645" cy="2348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6531" y="3318429"/>
            <a:ext cx="1943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7.xml"/><Relationship Id="rId6" Type="http://schemas.openxmlformats.org/officeDocument/2006/relationships/slide" Target="slide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slideLayout" Target="../slideLayouts/slideLayout5.xml"/><Relationship Id="rId11" Type="http://schemas.openxmlformats.org/officeDocument/2006/relationships/slide" Target="slide1.xml"/><Relationship Id="rId10" Type="http://schemas.openxmlformats.org/officeDocument/2006/relationships/slide" Target="slide3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5.xml"/><Relationship Id="rId7" Type="http://schemas.openxmlformats.org/officeDocument/2006/relationships/image" Target="../media/image13.png"/><Relationship Id="rId6" Type="http://schemas.openxmlformats.org/officeDocument/2006/relationships/slide" Target="slide27.xml"/><Relationship Id="rId5" Type="http://schemas.openxmlformats.org/officeDocument/2006/relationships/slide" Target="slide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38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0.png"/><Relationship Id="rId7" Type="http://schemas.openxmlformats.org/officeDocument/2006/relationships/tags" Target="../tags/tag4.xml"/><Relationship Id="rId6" Type="http://schemas.openxmlformats.org/officeDocument/2006/relationships/slide" Target="slide3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9.png"/><Relationship Id="rId22" Type="http://schemas.openxmlformats.org/officeDocument/2006/relationships/slideLayout" Target="../slideLayouts/slideLayout2.xml"/><Relationship Id="rId21" Type="http://schemas.openxmlformats.org/officeDocument/2006/relationships/slide" Target="slide1.xml"/><Relationship Id="rId20" Type="http://schemas.openxmlformats.org/officeDocument/2006/relationships/slide" Target="slide38.xml"/><Relationship Id="rId2" Type="http://schemas.openxmlformats.org/officeDocument/2006/relationships/tags" Target="../tags/tag1.xml"/><Relationship Id="rId19" Type="http://schemas.openxmlformats.org/officeDocument/2006/relationships/image" Target="../media/image14.png"/><Relationship Id="rId18" Type="http://schemas.openxmlformats.org/officeDocument/2006/relationships/slide" Target="slide35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image" Target="../media/image13.png"/><Relationship Id="rId14" Type="http://schemas.openxmlformats.org/officeDocument/2006/relationships/tags" Target="../tags/tag8.xml"/><Relationship Id="rId13" Type="http://schemas.openxmlformats.org/officeDocument/2006/relationships/slide" Target="slide27.xml"/><Relationship Id="rId12" Type="http://schemas.openxmlformats.org/officeDocument/2006/relationships/tags" Target="../tags/tag7.xml"/><Relationship Id="rId11" Type="http://schemas.openxmlformats.org/officeDocument/2006/relationships/image" Target="../media/image12.png"/><Relationship Id="rId10" Type="http://schemas.openxmlformats.org/officeDocument/2006/relationships/tags" Target="../tags/tag6.xml"/><Relationship Id="rId1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7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6.png"/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" Target="slide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" Target="slide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11.png"/><Relationship Id="rId7" Type="http://schemas.openxmlformats.org/officeDocument/2006/relationships/tags" Target="../tags/tag14.xml"/><Relationship Id="rId6" Type="http://schemas.openxmlformats.org/officeDocument/2006/relationships/slide" Target="slide3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19.png"/><Relationship Id="rId22" Type="http://schemas.openxmlformats.org/officeDocument/2006/relationships/slideLayout" Target="../slideLayouts/slideLayout2.xml"/><Relationship Id="rId21" Type="http://schemas.openxmlformats.org/officeDocument/2006/relationships/slide" Target="slide1.xml"/><Relationship Id="rId20" Type="http://schemas.openxmlformats.org/officeDocument/2006/relationships/slide" Target="slide38.xml"/><Relationship Id="rId2" Type="http://schemas.openxmlformats.org/officeDocument/2006/relationships/tags" Target="../tags/tag11.xml"/><Relationship Id="rId19" Type="http://schemas.openxmlformats.org/officeDocument/2006/relationships/image" Target="../media/image14.png"/><Relationship Id="rId18" Type="http://schemas.openxmlformats.org/officeDocument/2006/relationships/slide" Target="slide35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image" Target="../media/image13.png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image" Target="../media/image43.png"/><Relationship Id="rId11" Type="http://schemas.openxmlformats.org/officeDocument/2006/relationships/tags" Target="../tags/tag16.xml"/><Relationship Id="rId10" Type="http://schemas.openxmlformats.org/officeDocument/2006/relationships/slide" Target="slide7.xml"/><Relationship Id="rId1" Type="http://schemas.openxmlformats.org/officeDocument/2006/relationships/slide" Target="slide2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3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3" Type="http://schemas.openxmlformats.org/officeDocument/2006/relationships/slideLayout" Target="../slideLayouts/slideLayout2.xml"/><Relationship Id="rId12" Type="http://schemas.openxmlformats.org/officeDocument/2006/relationships/slide" Target="slide1.xml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slide" Target="slide2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60.png"/><Relationship Id="rId1" Type="http://schemas.openxmlformats.org/officeDocument/2006/relationships/slide" Target="slide2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39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2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39.png"/><Relationship Id="rId1" Type="http://schemas.openxmlformats.org/officeDocument/2006/relationships/slide" Target="slide2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.xml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52.png"/><Relationship Id="rId1" Type="http://schemas.openxmlformats.org/officeDocument/2006/relationships/slide" Target="slide2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28.png"/><Relationship Id="rId1" Type="http://schemas.openxmlformats.org/officeDocument/2006/relationships/slide" Target="slide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77.png"/><Relationship Id="rId7" Type="http://schemas.openxmlformats.org/officeDocument/2006/relationships/slide" Target="slide27.xml"/><Relationship Id="rId6" Type="http://schemas.openxmlformats.org/officeDocument/2006/relationships/slide" Target="slide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slide" Target="slide38.xml"/><Relationship Id="rId1" Type="http://schemas.openxmlformats.org/officeDocument/2006/relationships/slide" Target="slide35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" Target="slide35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39.png"/><Relationship Id="rId1" Type="http://schemas.openxmlformats.org/officeDocument/2006/relationships/slide" Target="slide3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image" Target="../media/image13.png"/><Relationship Id="rId7" Type="http://schemas.openxmlformats.org/officeDocument/2006/relationships/slide" Target="slide27.xml"/><Relationship Id="rId6" Type="http://schemas.openxmlformats.org/officeDocument/2006/relationships/slide" Target="slide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1.xml"/><Relationship Id="rId10" Type="http://schemas.openxmlformats.org/officeDocument/2006/relationships/image" Target="../media/image85.png"/><Relationship Id="rId1" Type="http://schemas.openxmlformats.org/officeDocument/2006/relationships/slide" Target="slide38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slide" Target="slide1.xml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52.png"/><Relationship Id="rId1" Type="http://schemas.openxmlformats.org/officeDocument/2006/relationships/slide" Target="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4930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93721"/>
            <a:ext cx="4483735" cy="844550"/>
            <a:chOff x="87743" y="593721"/>
            <a:chExt cx="4483735" cy="8445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36116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23416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99859"/>
              <a:ext cx="50800" cy="73625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93721"/>
              <a:ext cx="4432935" cy="793750"/>
            </a:xfrm>
            <a:custGeom>
              <a:avLst/>
              <a:gdLst/>
              <a:ahLst/>
              <a:cxnLst/>
              <a:rect l="l" t="t" r="r" b="b"/>
              <a:pathLst>
                <a:path w="4432935" h="793750">
                  <a:moveTo>
                    <a:pt x="4432567" y="0"/>
                  </a:moveTo>
                  <a:lnTo>
                    <a:pt x="0" y="0"/>
                  </a:lnTo>
                  <a:lnTo>
                    <a:pt x="0" y="742395"/>
                  </a:lnTo>
                  <a:lnTo>
                    <a:pt x="4008" y="762119"/>
                  </a:lnTo>
                  <a:lnTo>
                    <a:pt x="14922" y="778272"/>
                  </a:lnTo>
                  <a:lnTo>
                    <a:pt x="31075" y="789186"/>
                  </a:lnTo>
                  <a:lnTo>
                    <a:pt x="50800" y="793195"/>
                  </a:lnTo>
                  <a:lnTo>
                    <a:pt x="4381767" y="793195"/>
                  </a:lnTo>
                  <a:lnTo>
                    <a:pt x="4401492" y="789186"/>
                  </a:lnTo>
                  <a:lnTo>
                    <a:pt x="4417644" y="778272"/>
                  </a:lnTo>
                  <a:lnTo>
                    <a:pt x="4428558" y="762119"/>
                  </a:lnTo>
                  <a:lnTo>
                    <a:pt x="4432567" y="74239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37957"/>
              <a:ext cx="0" cy="717550"/>
            </a:xfrm>
            <a:custGeom>
              <a:avLst/>
              <a:gdLst/>
              <a:ahLst/>
              <a:cxnLst/>
              <a:rect l="l" t="t" r="r" b="b"/>
              <a:pathLst>
                <a:path h="717550">
                  <a:moveTo>
                    <a:pt x="0" y="7172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252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12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5998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427238" y="653628"/>
            <a:ext cx="1753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Recognition</a:t>
            </a:r>
            <a:r>
              <a:rPr b="0" spc="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b="0" spc="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Tokens</a:t>
            </a:r>
            <a:endParaRPr b="0" spc="-25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0321" y="914906"/>
            <a:ext cx="68770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Lecture</a:t>
            </a:r>
            <a:r>
              <a:rPr sz="1100" spc="-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2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sz="1100" spc="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3.3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595423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779" y="656513"/>
            <a:ext cx="155257" cy="1552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104049"/>
            <a:ext cx="155257" cy="155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51584"/>
            <a:ext cx="155257" cy="1552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999107"/>
            <a:ext cx="155257" cy="1552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2446642"/>
            <a:ext cx="155257" cy="1552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675" y="624711"/>
            <a:ext cx="1434465" cy="1981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Class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Input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Transition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Writing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4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Class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Class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of</a:t>
            </a:r>
            <a:r>
              <a:rPr sz="1100" spc="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143446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The</a:t>
            </a:r>
            <a:r>
              <a:rPr sz="1100" spc="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Input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Transition</a:t>
            </a:r>
            <a:r>
              <a:rPr sz="1100" spc="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09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Writing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the</a:t>
            </a:r>
            <a:r>
              <a:rPr sz="1100" spc="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460" y="2527935"/>
            <a:ext cx="142113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4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Class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30" dirty="0"/>
              <a:t>A</a:t>
            </a:r>
            <a:r>
              <a:rPr spc="254" dirty="0"/>
              <a:t> </a:t>
            </a:r>
            <a:r>
              <a:rPr dirty="0"/>
              <a:t>Class</a:t>
            </a:r>
            <a:r>
              <a:rPr spc="254" dirty="0"/>
              <a:t> </a:t>
            </a:r>
            <a:r>
              <a:rPr dirty="0"/>
              <a:t>of</a:t>
            </a:r>
            <a:r>
              <a:rPr spc="254" dirty="0"/>
              <a:t> </a:t>
            </a:r>
            <a:r>
              <a:rPr spc="-10" dirty="0"/>
              <a:t>Tokens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683247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0355" marR="17780">
              <a:lnSpc>
                <a:spcPct val="103000"/>
              </a:lnSpc>
              <a:spcBef>
                <a:spcPts val="55"/>
              </a:spcBef>
            </a:pPr>
            <a:r>
              <a:rPr spc="-10" dirty="0"/>
              <a:t>We</a:t>
            </a:r>
            <a:r>
              <a:rPr spc="-5" dirty="0"/>
              <a:t> </a:t>
            </a:r>
            <a:r>
              <a:rPr spc="-30" dirty="0"/>
              <a:t>will</a:t>
            </a:r>
            <a:r>
              <a:rPr spc="-5" dirty="0"/>
              <a:t> </a:t>
            </a:r>
            <a:r>
              <a:rPr spc="-20" dirty="0"/>
              <a:t>explore</a:t>
            </a:r>
            <a:r>
              <a:rPr spc="-5" dirty="0"/>
              <a:t> </a:t>
            </a:r>
            <a:r>
              <a:rPr dirty="0"/>
              <a:t>and </a:t>
            </a:r>
            <a:r>
              <a:rPr spc="-20" dirty="0"/>
              <a:t>demonstrate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concepts</a:t>
            </a:r>
            <a:r>
              <a:rPr dirty="0"/>
              <a:t> of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lexer by</a:t>
            </a:r>
            <a:r>
              <a:rPr spc="-5" dirty="0"/>
              <a:t> </a:t>
            </a:r>
            <a:r>
              <a:rPr spc="-25" dirty="0"/>
              <a:t>using</a:t>
            </a:r>
            <a:r>
              <a:rPr spc="-5" dirty="0"/>
              <a:t> </a:t>
            </a:r>
            <a:r>
              <a:rPr spc="-50" dirty="0"/>
              <a:t>a </a:t>
            </a:r>
            <a:r>
              <a:rPr spc="-30" dirty="0"/>
              <a:t>simple</a:t>
            </a:r>
            <a:r>
              <a:rPr spc="-10" dirty="0"/>
              <a:t> </a:t>
            </a:r>
            <a:r>
              <a:rPr dirty="0"/>
              <a:t>class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tokens.</a:t>
            </a:r>
            <a:endParaRPr spc="-10" dirty="0"/>
          </a:p>
          <a:p>
            <a:pPr marL="1140460">
              <a:lnSpc>
                <a:spcPct val="100000"/>
              </a:lnSpc>
              <a:spcBef>
                <a:spcPts val="1075"/>
              </a:spcBef>
            </a:pP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</a:t>
            </a:r>
            <a:r>
              <a:rPr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pc="50" dirty="0">
                <a:solidFill>
                  <a:srgbClr val="0000CC"/>
                </a:solidFill>
              </a:rPr>
              <a:t>0-</a:t>
            </a:r>
            <a:r>
              <a:rPr spc="-25" dirty="0">
                <a:solidFill>
                  <a:srgbClr val="0000CC"/>
                </a:solidFill>
              </a:rPr>
              <a:t>9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]</a:t>
            </a:r>
            <a:endParaRPr spc="-25" dirty="0">
              <a:solidFill>
                <a:srgbClr val="0000CC"/>
              </a:solidFill>
              <a:latin typeface="Arial" panose="020B0604020202020204"/>
              <a:cs typeface="Arial" panose="020B0604020202020204"/>
            </a:endParaRPr>
          </a:p>
          <a:p>
            <a:pPr marL="1075690">
              <a:lnSpc>
                <a:spcPct val="100000"/>
              </a:lnSpc>
              <a:spcBef>
                <a:spcPts val="335"/>
              </a:spcBef>
            </a:pP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i="1" spc="-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</a:t>
            </a:r>
            <a:r>
              <a:rPr sz="1200" spc="-15" baseline="3100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+</a:t>
            </a:r>
            <a:endParaRPr sz="1200" baseline="31000">
              <a:latin typeface="Verdana" panose="020B0604030504040204"/>
              <a:cs typeface="Verdana" panose="020B0604030504040204"/>
            </a:endParaRPr>
          </a:p>
          <a:p>
            <a:pPr marL="1089660" marR="671830" indent="-135255">
              <a:lnSpc>
                <a:spcPct val="125000"/>
              </a:lnSpc>
            </a:pPr>
            <a:r>
              <a:rPr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number</a:t>
            </a:r>
            <a:r>
              <a:rPr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pc="175" dirty="0">
                <a:solidFill>
                  <a:srgbClr val="0000CC"/>
                </a:solidFill>
              </a:rPr>
              <a:t>.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)?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6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pc="60" dirty="0">
                <a:solidFill>
                  <a:srgbClr val="0000CC"/>
                </a:solidFill>
              </a:rPr>
              <a:t>E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spc="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pc="75" dirty="0">
                <a:solidFill>
                  <a:srgbClr val="0000CC"/>
                </a:solidFill>
              </a:rPr>
              <a:t>+-</a:t>
            </a:r>
            <a:r>
              <a:rPr spc="-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]?</a:t>
            </a:r>
            <a:r>
              <a:rPr spc="-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)?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letter</a:t>
            </a:r>
            <a:r>
              <a:rPr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dirty="0">
                <a:solidFill>
                  <a:srgbClr val="0000CC"/>
                </a:solidFill>
              </a:rPr>
              <a:t>A-Za-</a:t>
            </a:r>
            <a:r>
              <a:rPr spc="-25" dirty="0">
                <a:solidFill>
                  <a:srgbClr val="0000CC"/>
                </a:solidFill>
              </a:rPr>
              <a:t>z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]</a:t>
            </a:r>
            <a:endParaRPr spc="-25" dirty="0">
              <a:solidFill>
                <a:srgbClr val="0000CC"/>
              </a:solidFill>
              <a:latin typeface="Arial" panose="020B0604020202020204"/>
              <a:cs typeface="Arial" panose="020B0604020202020204"/>
            </a:endParaRPr>
          </a:p>
          <a:p>
            <a:pPr marL="1298575" marR="1443355" indent="10160">
              <a:lnSpc>
                <a:spcPct val="125000"/>
              </a:lnSpc>
            </a:pP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id</a:t>
            </a:r>
            <a:r>
              <a:rPr i="1" spc="-5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letter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letter</a:t>
            </a:r>
            <a:r>
              <a:rPr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200" spc="-1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z="1200" spc="165" baseline="310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if</a:t>
            </a:r>
            <a:r>
              <a:rPr sz="1100" i="1" spc="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200" dirty="0">
                <a:solidFill>
                  <a:srgbClr val="0000CC"/>
                </a:solidFill>
              </a:rPr>
              <a:t>if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151890">
              <a:lnSpc>
                <a:spcPct val="100000"/>
              </a:lnSpc>
              <a:spcBef>
                <a:spcPts val="330"/>
              </a:spcBef>
            </a:pP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then</a:t>
            </a:r>
            <a:r>
              <a:rPr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0" dirty="0">
                <a:solidFill>
                  <a:srgbClr val="0000CC"/>
                </a:solidFill>
              </a:rPr>
              <a:t>then</a:t>
            </a:r>
            <a:endParaRPr spc="-20" dirty="0">
              <a:solidFill>
                <a:srgbClr val="0000CC"/>
              </a:solidFill>
            </a:endParaRPr>
          </a:p>
          <a:p>
            <a:pPr marL="1191260">
              <a:lnSpc>
                <a:spcPct val="100000"/>
              </a:lnSpc>
              <a:spcBef>
                <a:spcPts val="335"/>
              </a:spcBef>
            </a:pPr>
            <a:r>
              <a:rPr i="1" spc="-7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else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90" dirty="0">
                <a:solidFill>
                  <a:srgbClr val="0000CC"/>
                </a:solidFill>
              </a:rPr>
              <a:t>else</a:t>
            </a:r>
            <a:endParaRPr spc="90" dirty="0">
              <a:solidFill>
                <a:srgbClr val="0000CC"/>
              </a:solidFill>
            </a:endParaRPr>
          </a:p>
          <a:p>
            <a:pPr marL="1117600">
              <a:lnSpc>
                <a:spcPct val="100000"/>
              </a:lnSpc>
              <a:spcBef>
                <a:spcPts val="335"/>
              </a:spcBef>
            </a:pPr>
            <a:r>
              <a:rPr i="1" spc="-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relop</a:t>
            </a:r>
            <a:r>
              <a:rPr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&lt;</a:t>
            </a:r>
            <a:r>
              <a:rPr spc="40" dirty="0">
                <a:solidFill>
                  <a:srgbClr val="0000CC"/>
                </a:solidFill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&gt;</a:t>
            </a:r>
            <a:r>
              <a:rPr spc="40" dirty="0">
                <a:solidFill>
                  <a:srgbClr val="0000CC"/>
                </a:solidFill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&lt;=</a:t>
            </a:r>
            <a:r>
              <a:rPr spc="40" dirty="0">
                <a:solidFill>
                  <a:srgbClr val="0000CC"/>
                </a:solidFill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&gt;=</a:t>
            </a:r>
            <a:r>
              <a:rPr spc="40" dirty="0">
                <a:solidFill>
                  <a:srgbClr val="0000CC"/>
                </a:solidFill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=</a:t>
            </a:r>
            <a:r>
              <a:rPr spc="35" dirty="0">
                <a:solidFill>
                  <a:srgbClr val="0000CC"/>
                </a:solidFill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5" dirty="0">
                <a:solidFill>
                  <a:srgbClr val="0000CC"/>
                </a:solidFill>
              </a:rPr>
              <a:t>&lt;&gt;</a:t>
            </a:r>
            <a:endParaRPr spc="-25" dirty="0">
              <a:solidFill>
                <a:srgbClr val="0000CC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4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Class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Whitespace</a:t>
            </a:r>
            <a:endParaRPr spc="6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52829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567" rIns="0" bIns="0" rtlCol="0">
            <a:spAutoFit/>
          </a:bodyPr>
          <a:lstStyle/>
          <a:p>
            <a:pPr marL="300355" marR="43815">
              <a:lnSpc>
                <a:spcPct val="103000"/>
              </a:lnSpc>
              <a:spcBef>
                <a:spcPts val="55"/>
              </a:spcBef>
            </a:pPr>
            <a:r>
              <a:rPr dirty="0"/>
              <a:t>In</a:t>
            </a:r>
            <a:r>
              <a:rPr spc="35" dirty="0"/>
              <a:t> </a:t>
            </a:r>
            <a:r>
              <a:rPr spc="-25" dirty="0"/>
              <a:t>addition</a:t>
            </a:r>
            <a:r>
              <a:rPr spc="3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40" dirty="0"/>
              <a:t>recognizing</a:t>
            </a:r>
            <a:r>
              <a:rPr spc="35" dirty="0"/>
              <a:t> </a:t>
            </a:r>
            <a:r>
              <a:rPr spc="-10" dirty="0"/>
              <a:t>tokens,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spc="-10" dirty="0"/>
              <a:t>must</a:t>
            </a:r>
            <a:r>
              <a:rPr spc="35" dirty="0"/>
              <a:t> </a:t>
            </a:r>
            <a:r>
              <a:rPr dirty="0"/>
              <a:t>strip</a:t>
            </a:r>
            <a:r>
              <a:rPr spc="35" dirty="0"/>
              <a:t> </a:t>
            </a:r>
            <a:r>
              <a:rPr spc="-25" dirty="0"/>
              <a:t>whitespace </a:t>
            </a:r>
            <a:r>
              <a:rPr spc="-20" dirty="0"/>
              <a:t>from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10" dirty="0"/>
              <a:t>input.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0"/>
              </a:spcBef>
            </a:pPr>
            <a:r>
              <a:rPr spc="-10" dirty="0">
                <a:solidFill>
                  <a:srgbClr val="D8D8D8"/>
                </a:solidFill>
              </a:rPr>
              <a:t>Whitespace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is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not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token,</a:t>
            </a:r>
            <a:r>
              <a:rPr spc="3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but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it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must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35" dirty="0">
                <a:solidFill>
                  <a:srgbClr val="D8D8D8"/>
                </a:solidFill>
              </a:rPr>
              <a:t>recognized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by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lexer.</a:t>
            </a:r>
            <a:endParaRPr spc="-10" dirty="0">
              <a:solidFill>
                <a:srgbClr val="D8D8D8"/>
              </a:solidFill>
            </a:endParaRPr>
          </a:p>
          <a:p>
            <a:pPr marL="1352550">
              <a:lnSpc>
                <a:spcPct val="100000"/>
              </a:lnSpc>
              <a:spcBef>
                <a:spcPts val="1135"/>
              </a:spcBef>
            </a:pPr>
            <a:r>
              <a:rPr i="1" spc="-130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ws</a:t>
            </a:r>
            <a:r>
              <a:rPr i="1" spc="25" dirty="0">
                <a:solidFill>
                  <a:srgbClr val="D8D8F7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80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D8D8F7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b="1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blank</a:t>
            </a:r>
            <a:r>
              <a:rPr b="1" spc="114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75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tab</a:t>
            </a:r>
            <a:r>
              <a:rPr b="1" spc="114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80" dirty="0">
                <a:solidFill>
                  <a:srgbClr val="D8D8F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solidFill>
                  <a:srgbClr val="D8D8F7"/>
                </a:solidFill>
                <a:latin typeface="Cambria" panose="02040503050406030204"/>
                <a:cs typeface="Cambria" panose="02040503050406030204"/>
              </a:rPr>
              <a:t>newline</a:t>
            </a:r>
            <a:r>
              <a:rPr spc="-10" dirty="0">
                <a:solidFill>
                  <a:srgbClr val="D8D8F7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200" spc="-15" baseline="31000" dirty="0">
                <a:solidFill>
                  <a:srgbClr val="D8D8F7"/>
                </a:solidFill>
                <a:latin typeface="Verdana" panose="020B0604030504040204"/>
                <a:cs typeface="Verdana" panose="020B0604030504040204"/>
              </a:rPr>
              <a:t>+</a:t>
            </a:r>
            <a:endParaRPr sz="1200" baseline="31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68983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4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</a:t>
            </a:r>
            <a:r>
              <a:rPr sz="600" b="1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Class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Whitespace</a:t>
            </a:r>
            <a:endParaRPr spc="6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52829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567" rIns="0" bIns="0" rtlCol="0">
            <a:spAutoFit/>
          </a:bodyPr>
          <a:lstStyle/>
          <a:p>
            <a:pPr marL="300355" marR="43815">
              <a:lnSpc>
                <a:spcPct val="103000"/>
              </a:lnSpc>
              <a:spcBef>
                <a:spcPts val="55"/>
              </a:spcBef>
            </a:pPr>
            <a:r>
              <a:rPr dirty="0"/>
              <a:t>In</a:t>
            </a:r>
            <a:r>
              <a:rPr spc="35" dirty="0"/>
              <a:t> </a:t>
            </a:r>
            <a:r>
              <a:rPr spc="-25" dirty="0"/>
              <a:t>addition</a:t>
            </a:r>
            <a:r>
              <a:rPr spc="3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40" dirty="0"/>
              <a:t>recognizing</a:t>
            </a:r>
            <a:r>
              <a:rPr spc="35" dirty="0"/>
              <a:t> </a:t>
            </a:r>
            <a:r>
              <a:rPr spc="-10" dirty="0"/>
              <a:t>tokens,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spc="-10" dirty="0"/>
              <a:t>must</a:t>
            </a:r>
            <a:r>
              <a:rPr spc="35" dirty="0"/>
              <a:t> </a:t>
            </a:r>
            <a:r>
              <a:rPr dirty="0"/>
              <a:t>strip</a:t>
            </a:r>
            <a:r>
              <a:rPr spc="35" dirty="0"/>
              <a:t> </a:t>
            </a:r>
            <a:r>
              <a:rPr spc="-25" dirty="0"/>
              <a:t>whitespace </a:t>
            </a:r>
            <a:r>
              <a:rPr spc="-20" dirty="0"/>
              <a:t>from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10" dirty="0"/>
              <a:t>input.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0"/>
              </a:spcBef>
            </a:pPr>
            <a:r>
              <a:rPr spc="-10" dirty="0"/>
              <a:t>Whitespace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not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token,</a:t>
            </a:r>
            <a:r>
              <a:rPr spc="30" dirty="0"/>
              <a:t> </a:t>
            </a:r>
            <a:r>
              <a:rPr dirty="0"/>
              <a:t>but</a:t>
            </a:r>
            <a:r>
              <a:rPr spc="20" dirty="0"/>
              <a:t> </a:t>
            </a:r>
            <a:r>
              <a:rPr dirty="0"/>
              <a:t>it</a:t>
            </a:r>
            <a:r>
              <a:rPr spc="25" dirty="0"/>
              <a:t> </a:t>
            </a:r>
            <a:r>
              <a:rPr spc="-10" dirty="0"/>
              <a:t>must</a:t>
            </a:r>
            <a:r>
              <a:rPr spc="25" dirty="0"/>
              <a:t> </a:t>
            </a:r>
            <a:r>
              <a:rPr dirty="0"/>
              <a:t>be</a:t>
            </a:r>
            <a:r>
              <a:rPr spc="20" dirty="0"/>
              <a:t> </a:t>
            </a:r>
            <a:r>
              <a:rPr spc="-35" dirty="0"/>
              <a:t>recognized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lexer.</a:t>
            </a:r>
            <a:endParaRPr spc="-10" dirty="0"/>
          </a:p>
          <a:p>
            <a:pPr marL="1352550">
              <a:lnSpc>
                <a:spcPct val="100000"/>
              </a:lnSpc>
              <a:spcBef>
                <a:spcPts val="1135"/>
              </a:spcBef>
            </a:pPr>
            <a:r>
              <a:rPr i="1" spc="-1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ws</a:t>
            </a:r>
            <a:r>
              <a:rPr i="1" spc="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b="1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blank</a:t>
            </a:r>
            <a:r>
              <a:rPr b="1" spc="114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tab</a:t>
            </a:r>
            <a:r>
              <a:rPr b="1" spc="114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|</a:t>
            </a:r>
            <a:r>
              <a:rPr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newline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200" spc="-15" baseline="3100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+</a:t>
            </a:r>
            <a:endParaRPr sz="1200" baseline="31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68983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>
            <p:custDataLst>
              <p:tags r:id="rId4"/>
            </p:custDataLst>
          </p:nvPr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>
            <p:custDataLst>
              <p:tags r:id="rId5"/>
            </p:custDataLst>
          </p:nvPr>
        </p:nvSpPr>
        <p:spPr>
          <a:xfrm>
            <a:off x="290055" y="919059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Class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>
            <p:custDataLst>
              <p:tags r:id="rId9"/>
            </p:custDataLst>
          </p:nvPr>
        </p:nvSpPr>
        <p:spPr>
          <a:xfrm>
            <a:off x="124460" y="1321435"/>
            <a:ext cx="227774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60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The</a:t>
            </a:r>
            <a:r>
              <a:rPr sz="1100" spc="7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Input</a:t>
            </a:r>
            <a:r>
              <a:rPr sz="1100" spc="7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>
            <p:custDataLst>
              <p:tags r:id="rId10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>
            <p:custDataLst>
              <p:tags r:id="rId12"/>
            </p:custDataLst>
          </p:nvPr>
        </p:nvSpPr>
        <p:spPr>
          <a:xfrm>
            <a:off x="124460" y="1723390"/>
            <a:ext cx="292989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63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3" action="ppaction://hlinksldjump"/>
              </a:rPr>
              <a:t>Transition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3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>
            <p:custDataLst>
              <p:tags r:id="rId1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>
            <p:custDataLst>
              <p:tags r:id="rId16"/>
            </p:custDataLst>
          </p:nvPr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>
            <p:custDataLst>
              <p:tags r:id="rId17"/>
            </p:custDataLst>
          </p:nvPr>
        </p:nvSpPr>
        <p:spPr>
          <a:xfrm>
            <a:off x="290055" y="2125801"/>
            <a:ext cx="1109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Writing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the</a:t>
            </a:r>
            <a:r>
              <a:rPr sz="1100" spc="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460" y="2527935"/>
            <a:ext cx="179895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2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58939" rIns="0" bIns="0" rtlCol="0">
            <a:spAutoFit/>
          </a:bodyPr>
          <a:lstStyle/>
          <a:p>
            <a:pPr marL="811530" marR="5080" indent="-789305">
              <a:lnSpc>
                <a:spcPct val="103000"/>
              </a:lnSpc>
              <a:spcBef>
                <a:spcPts val="55"/>
              </a:spcBef>
            </a:pPr>
            <a:r>
              <a:rPr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r>
              <a:rPr b="1" spc="13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1" spc="5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Pairs</a:t>
            </a:r>
            <a:r>
              <a:rPr b="1" spc="254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dirty="0"/>
              <a:t>–</a:t>
            </a:r>
            <a:r>
              <a:rPr spc="75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spc="-55" dirty="0"/>
              <a:t>two-</a:t>
            </a:r>
            <a:r>
              <a:rPr spc="-20" dirty="0"/>
              <a:t>buffer</a:t>
            </a:r>
            <a:r>
              <a:rPr spc="80" dirty="0"/>
              <a:t> </a:t>
            </a:r>
            <a:r>
              <a:rPr spc="-30" dirty="0"/>
              <a:t>scheme</a:t>
            </a:r>
            <a:r>
              <a:rPr spc="75" dirty="0"/>
              <a:t> </a:t>
            </a:r>
            <a:r>
              <a:rPr dirty="0"/>
              <a:t>that</a:t>
            </a:r>
            <a:r>
              <a:rPr spc="80" dirty="0"/>
              <a:t> </a:t>
            </a:r>
            <a:r>
              <a:rPr spc="-30" dirty="0"/>
              <a:t>handles</a:t>
            </a:r>
            <a:r>
              <a:rPr spc="75" dirty="0"/>
              <a:t> </a:t>
            </a:r>
            <a:r>
              <a:rPr spc="-10" dirty="0"/>
              <a:t>large</a:t>
            </a:r>
            <a:r>
              <a:rPr spc="80" dirty="0"/>
              <a:t> </a:t>
            </a:r>
            <a:r>
              <a:rPr spc="-25" dirty="0"/>
              <a:t>lookaheads </a:t>
            </a:r>
            <a:r>
              <a:rPr spc="-10" dirty="0"/>
              <a:t>safely</a:t>
            </a:r>
            <a:endParaRPr spc="-10" dirty="0"/>
          </a:p>
          <a:p>
            <a:pPr marL="811530" marR="79375" indent="-690245">
              <a:lnSpc>
                <a:spcPct val="103000"/>
              </a:lnSpc>
              <a:spcBef>
                <a:spcPts val="295"/>
              </a:spcBef>
            </a:pPr>
            <a:r>
              <a:rPr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Sentinels</a:t>
            </a:r>
            <a:r>
              <a:rPr b="1" spc="25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dirty="0"/>
              <a:t>–</a:t>
            </a:r>
            <a:r>
              <a:rPr spc="80" dirty="0"/>
              <a:t> </a:t>
            </a:r>
            <a:r>
              <a:rPr dirty="0"/>
              <a:t>an</a:t>
            </a:r>
            <a:r>
              <a:rPr spc="75" dirty="0"/>
              <a:t> </a:t>
            </a:r>
            <a:r>
              <a:rPr spc="-40" dirty="0"/>
              <a:t>improvement</a:t>
            </a:r>
            <a:r>
              <a:rPr spc="80" dirty="0"/>
              <a:t> </a:t>
            </a:r>
            <a:r>
              <a:rPr spc="-40" dirty="0"/>
              <a:t>involving</a:t>
            </a:r>
            <a:r>
              <a:rPr spc="75" dirty="0"/>
              <a:t> </a:t>
            </a:r>
            <a:r>
              <a:rPr spc="-20" dirty="0"/>
              <a:t>sentinels</a:t>
            </a:r>
            <a:r>
              <a:rPr spc="80" dirty="0"/>
              <a:t> </a:t>
            </a:r>
            <a:r>
              <a:rPr dirty="0"/>
              <a:t>that</a:t>
            </a:r>
            <a:r>
              <a:rPr spc="75" dirty="0"/>
              <a:t> </a:t>
            </a:r>
            <a:r>
              <a:rPr spc="-30" dirty="0"/>
              <a:t>saves</a:t>
            </a:r>
            <a:r>
              <a:rPr spc="80" dirty="0"/>
              <a:t> </a:t>
            </a:r>
            <a:r>
              <a:rPr spc="-20" dirty="0"/>
              <a:t>time </a:t>
            </a:r>
            <a:r>
              <a:rPr spc="-35" dirty="0"/>
              <a:t>checking</a:t>
            </a:r>
            <a:r>
              <a:rPr spc="10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ends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buffers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>
                <a:solidFill>
                  <a:srgbClr val="D8D8D8"/>
                </a:solidFill>
              </a:rPr>
              <a:t>Characters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reside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in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buffer.</a:t>
            </a:r>
            <a:endParaRPr spc="-10" dirty="0">
              <a:solidFill>
                <a:srgbClr val="D8D8D8"/>
              </a:solidFill>
            </a:endParaRPr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>
                <a:solidFill>
                  <a:srgbClr val="D8D8D8"/>
                </a:solidFill>
              </a:rPr>
              <a:t>Mark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30" dirty="0">
                <a:solidFill>
                  <a:srgbClr val="D8D8D8"/>
                </a:solidFill>
              </a:rPr>
              <a:t>two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positions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in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buffer.</a:t>
            </a:r>
            <a:endParaRPr spc="-10" dirty="0">
              <a:solidFill>
                <a:srgbClr val="D8D8D8"/>
              </a:solidFill>
            </a:endParaRPr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holds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starting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position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 token.</a:t>
            </a:r>
            <a:endParaRPr spc="-10" dirty="0">
              <a:solidFill>
                <a:srgbClr val="D8D8D8"/>
              </a:solidFill>
            </a:endParaRPr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points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symbol.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/>
              <a:t>Characters</a:t>
            </a:r>
            <a:r>
              <a:rPr spc="20" dirty="0"/>
              <a:t> </a:t>
            </a:r>
            <a:r>
              <a:rPr spc="-25" dirty="0"/>
              <a:t>reside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buffer.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>
                <a:solidFill>
                  <a:srgbClr val="D8D8D8"/>
                </a:solidFill>
              </a:rPr>
              <a:t>Mark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30" dirty="0">
                <a:solidFill>
                  <a:srgbClr val="D8D8D8"/>
                </a:solidFill>
              </a:rPr>
              <a:t>two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positions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in</a:t>
            </a:r>
            <a:r>
              <a:rPr spc="2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buffer.</a:t>
            </a:r>
            <a:endParaRPr spc="-10" dirty="0">
              <a:solidFill>
                <a:srgbClr val="D8D8D8"/>
              </a:solidFill>
            </a:endParaRPr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holds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starting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position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 token.</a:t>
            </a:r>
            <a:endParaRPr spc="-10" dirty="0">
              <a:solidFill>
                <a:srgbClr val="D8D8D8"/>
              </a:solidFill>
            </a:endParaRPr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points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symbol.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CSE,</a:t>
            </a:r>
            <a:r>
              <a:rPr sz="600" b="1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99296" y="3329513"/>
            <a:ext cx="10483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10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/>
              <a:t>Characters</a:t>
            </a:r>
            <a:r>
              <a:rPr spc="20" dirty="0"/>
              <a:t> </a:t>
            </a:r>
            <a:r>
              <a:rPr spc="-25" dirty="0"/>
              <a:t>reside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buffer.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/>
              <a:t>Mark</a:t>
            </a:r>
            <a:r>
              <a:rPr spc="20" dirty="0"/>
              <a:t> </a:t>
            </a:r>
            <a:r>
              <a:rPr spc="-30" dirty="0"/>
              <a:t>two</a:t>
            </a:r>
            <a:r>
              <a:rPr spc="20" dirty="0"/>
              <a:t> </a:t>
            </a:r>
            <a:r>
              <a:rPr spc="-20" dirty="0"/>
              <a:t>positions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buffer.</a:t>
            </a:r>
            <a:endParaRPr spc="-10" dirty="0"/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holds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starting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position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 token.</a:t>
            </a:r>
            <a:endParaRPr spc="-10" dirty="0">
              <a:solidFill>
                <a:srgbClr val="D8D8D8"/>
              </a:solidFill>
            </a:endParaRPr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points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symbol.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CSE,</a:t>
            </a:r>
            <a:r>
              <a:rPr sz="600" b="1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99296" y="3329513"/>
            <a:ext cx="10483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/>
              <a:t>Characters</a:t>
            </a:r>
            <a:r>
              <a:rPr spc="20" dirty="0"/>
              <a:t> </a:t>
            </a:r>
            <a:r>
              <a:rPr spc="-25" dirty="0"/>
              <a:t>reside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buffer.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/>
              <a:t>Mark</a:t>
            </a:r>
            <a:r>
              <a:rPr spc="20" dirty="0"/>
              <a:t> </a:t>
            </a:r>
            <a:r>
              <a:rPr spc="-30" dirty="0"/>
              <a:t>two</a:t>
            </a:r>
            <a:r>
              <a:rPr spc="20" dirty="0"/>
              <a:t> </a:t>
            </a:r>
            <a:r>
              <a:rPr spc="-20" dirty="0"/>
              <a:t>positions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buffer.</a:t>
            </a:r>
            <a:endParaRPr spc="-10" dirty="0"/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/>
              <a:t>pointer</a:t>
            </a:r>
            <a:r>
              <a:rPr spc="60" dirty="0"/>
              <a:t> </a:t>
            </a:r>
            <a:r>
              <a:rPr dirty="0"/>
              <a:t>–</a:t>
            </a:r>
            <a:r>
              <a:rPr spc="60" dirty="0"/>
              <a:t> </a:t>
            </a:r>
            <a:r>
              <a:rPr spc="-25" dirty="0"/>
              <a:t>holds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starting</a:t>
            </a:r>
            <a:r>
              <a:rPr spc="60" dirty="0"/>
              <a:t> </a:t>
            </a:r>
            <a:r>
              <a:rPr spc="-10" dirty="0"/>
              <a:t>position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current token.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pointer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–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points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6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</a:t>
            </a:r>
            <a:r>
              <a:rPr spc="6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symbol.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CSE,</a:t>
            </a:r>
            <a:r>
              <a:rPr sz="600" b="1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99296" y="3329513"/>
            <a:ext cx="10483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/>
              <a:t>Characters</a:t>
            </a:r>
            <a:r>
              <a:rPr spc="20" dirty="0"/>
              <a:t> </a:t>
            </a:r>
            <a:r>
              <a:rPr spc="-25" dirty="0"/>
              <a:t>reside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buffer.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/>
              <a:t>Mark</a:t>
            </a:r>
            <a:r>
              <a:rPr spc="20" dirty="0"/>
              <a:t> </a:t>
            </a:r>
            <a:r>
              <a:rPr spc="-30" dirty="0"/>
              <a:t>two</a:t>
            </a:r>
            <a:r>
              <a:rPr spc="20" dirty="0"/>
              <a:t> </a:t>
            </a:r>
            <a:r>
              <a:rPr spc="-20" dirty="0"/>
              <a:t>positions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buffer.</a:t>
            </a:r>
            <a:endParaRPr spc="-10" dirty="0"/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/>
              <a:t>pointer</a:t>
            </a:r>
            <a:r>
              <a:rPr spc="60" dirty="0"/>
              <a:t> </a:t>
            </a:r>
            <a:r>
              <a:rPr dirty="0"/>
              <a:t>–</a:t>
            </a:r>
            <a:r>
              <a:rPr spc="60" dirty="0"/>
              <a:t> </a:t>
            </a:r>
            <a:r>
              <a:rPr spc="-25" dirty="0"/>
              <a:t>holds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starting</a:t>
            </a:r>
            <a:r>
              <a:rPr spc="60" dirty="0"/>
              <a:t> </a:t>
            </a:r>
            <a:r>
              <a:rPr spc="-10" dirty="0"/>
              <a:t>position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current token.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/>
              <a:t>pointer</a:t>
            </a:r>
            <a:r>
              <a:rPr spc="60" dirty="0"/>
              <a:t> </a:t>
            </a:r>
            <a:r>
              <a:rPr dirty="0"/>
              <a:t>–</a:t>
            </a:r>
            <a:r>
              <a:rPr spc="65" dirty="0"/>
              <a:t> </a:t>
            </a:r>
            <a:r>
              <a:rPr spc="-10" dirty="0"/>
              <a:t>points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current</a:t>
            </a:r>
            <a:r>
              <a:rPr spc="65" dirty="0"/>
              <a:t> </a:t>
            </a:r>
            <a:r>
              <a:rPr spc="-10" dirty="0"/>
              <a:t>symbol.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5300" y="3329513"/>
            <a:ext cx="1379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6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600" spc="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6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6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aruqui</a:t>
            </a:r>
            <a:r>
              <a:rPr sz="600" spc="2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600" b="1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CSE,</a:t>
            </a:r>
            <a:r>
              <a:rPr sz="600" b="1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CU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03995" y="3333864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4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99296" y="3329513"/>
            <a:ext cx="10483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1931" y="3329513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315" dirty="0"/>
              <a:t> </a:t>
            </a:r>
            <a:r>
              <a:rPr spc="70" dirty="0"/>
              <a:t>Input</a:t>
            </a:r>
            <a:r>
              <a:rPr spc="320" dirty="0"/>
              <a:t> </a:t>
            </a:r>
            <a:r>
              <a:rPr dirty="0"/>
              <a:t>Buffer:</a:t>
            </a:r>
            <a:r>
              <a:rPr spc="95" dirty="0"/>
              <a:t>  </a:t>
            </a:r>
            <a:r>
              <a:rPr dirty="0"/>
              <a:t>Buffer</a:t>
            </a:r>
            <a:r>
              <a:rPr spc="320" dirty="0"/>
              <a:t> </a:t>
            </a:r>
            <a:r>
              <a:rPr spc="65" dirty="0"/>
              <a:t>Pairs</a:t>
            </a:r>
            <a:endParaRPr spc="6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4529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8936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1319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03006"/>
            <a:ext cx="52527" cy="52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26831"/>
            <a:ext cx="52527" cy="525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937" rIns="0" bIns="0" rtlCol="0">
            <a:spAutoFit/>
          </a:bodyPr>
          <a:lstStyle/>
          <a:p>
            <a:pPr marL="300355" marR="1179195">
              <a:lnSpc>
                <a:spcPct val="146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lexer</a:t>
            </a:r>
            <a:r>
              <a:rPr spc="3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stream</a:t>
            </a:r>
            <a:r>
              <a:rPr spc="3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10" dirty="0"/>
              <a:t>characters. </a:t>
            </a:r>
            <a:r>
              <a:rPr dirty="0"/>
              <a:t>Characters</a:t>
            </a:r>
            <a:r>
              <a:rPr spc="20" dirty="0"/>
              <a:t> </a:t>
            </a:r>
            <a:r>
              <a:rPr spc="-25" dirty="0"/>
              <a:t>reside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buffer.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445"/>
              </a:spcBef>
            </a:pPr>
            <a:r>
              <a:rPr dirty="0"/>
              <a:t>Mark</a:t>
            </a:r>
            <a:r>
              <a:rPr spc="20" dirty="0"/>
              <a:t> </a:t>
            </a:r>
            <a:r>
              <a:rPr spc="-30" dirty="0"/>
              <a:t>two</a:t>
            </a:r>
            <a:r>
              <a:rPr spc="20" dirty="0"/>
              <a:t> </a:t>
            </a:r>
            <a:r>
              <a:rPr spc="-20" dirty="0"/>
              <a:t>positions</a:t>
            </a:r>
            <a:r>
              <a:rPr spc="2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buffer.</a:t>
            </a:r>
            <a:endParaRPr spc="-10" dirty="0"/>
          </a:p>
          <a:p>
            <a:pPr marL="577215">
              <a:lnSpc>
                <a:spcPct val="100000"/>
              </a:lnSpc>
              <a:spcBef>
                <a:spcPts val="170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lexemeBegin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300355" marR="5080">
              <a:lnSpc>
                <a:spcPct val="103000"/>
              </a:lnSpc>
              <a:spcBef>
                <a:spcPts val="585"/>
              </a:spcBef>
            </a:pP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/>
              <a:t>pointer</a:t>
            </a:r>
            <a:r>
              <a:rPr spc="60" dirty="0"/>
              <a:t> </a:t>
            </a:r>
            <a:r>
              <a:rPr dirty="0"/>
              <a:t>–</a:t>
            </a:r>
            <a:r>
              <a:rPr spc="60" dirty="0"/>
              <a:t> </a:t>
            </a:r>
            <a:r>
              <a:rPr spc="-25" dirty="0"/>
              <a:t>holds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starting</a:t>
            </a:r>
            <a:r>
              <a:rPr spc="60" dirty="0"/>
              <a:t> </a:t>
            </a:r>
            <a:r>
              <a:rPr spc="-10" dirty="0"/>
              <a:t>position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current token.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5"/>
              </a:spcBef>
            </a:pPr>
            <a:r>
              <a:rPr i="1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i="1" spc="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pc="-10" dirty="0"/>
              <a:t>pointer</a:t>
            </a:r>
            <a:r>
              <a:rPr spc="60" dirty="0"/>
              <a:t> </a:t>
            </a:r>
            <a:r>
              <a:rPr dirty="0"/>
              <a:t>–</a:t>
            </a:r>
            <a:r>
              <a:rPr spc="65" dirty="0"/>
              <a:t> </a:t>
            </a:r>
            <a:r>
              <a:rPr spc="-10" dirty="0"/>
              <a:t>points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current</a:t>
            </a:r>
            <a:r>
              <a:rPr spc="65" dirty="0"/>
              <a:t> </a:t>
            </a:r>
            <a:r>
              <a:rPr spc="-10" dirty="0"/>
              <a:t>symbol.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15823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574378"/>
            <a:ext cx="65201" cy="652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4622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8360" rIns="0" bIns="0" rtlCol="0">
            <a:spAutoFit/>
          </a:bodyPr>
          <a:lstStyle/>
          <a:p>
            <a:pPr marL="300355" marR="433705">
              <a:lnSpc>
                <a:spcPct val="103000"/>
              </a:lnSpc>
              <a:spcBef>
                <a:spcPts val="55"/>
              </a:spcBef>
            </a:pPr>
            <a:r>
              <a:rPr dirty="0"/>
              <a:t>The</a:t>
            </a:r>
            <a:r>
              <a:rPr spc="50" dirty="0"/>
              <a:t> </a:t>
            </a:r>
            <a:r>
              <a:rPr dirty="0"/>
              <a:t>lexer</a:t>
            </a:r>
            <a:r>
              <a:rPr spc="50" dirty="0"/>
              <a:t> </a:t>
            </a:r>
            <a:r>
              <a:rPr spc="-10" dirty="0"/>
              <a:t>begins</a:t>
            </a:r>
            <a:r>
              <a:rPr spc="5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start</a:t>
            </a:r>
            <a:r>
              <a:rPr spc="55" dirty="0"/>
              <a:t> </a:t>
            </a:r>
            <a:r>
              <a:rPr dirty="0"/>
              <a:t>state</a:t>
            </a:r>
            <a:r>
              <a:rPr spc="50" dirty="0"/>
              <a:t> </a:t>
            </a:r>
            <a:r>
              <a:rPr spc="-10" dirty="0"/>
              <a:t>with</a:t>
            </a:r>
            <a:r>
              <a:rPr spc="50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10" dirty="0"/>
              <a:t>current</a:t>
            </a:r>
            <a:r>
              <a:rPr spc="50" dirty="0"/>
              <a:t> </a:t>
            </a:r>
            <a:r>
              <a:rPr spc="-30" dirty="0"/>
              <a:t>symbol </a:t>
            </a:r>
            <a:r>
              <a:rPr spc="-10" dirty="0"/>
              <a:t>(pointed</a:t>
            </a:r>
            <a:r>
              <a:rPr spc="85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by</a:t>
            </a:r>
            <a:r>
              <a:rPr spc="90" dirty="0"/>
              <a:t> </a:t>
            </a:r>
            <a:r>
              <a:rPr dirty="0"/>
              <a:t>both</a:t>
            </a:r>
            <a:r>
              <a:rPr spc="85" dirty="0"/>
              <a:t> </a:t>
            </a: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/>
              <a:t>).</a:t>
            </a:r>
            <a:endParaRPr spc="-10" dirty="0"/>
          </a:p>
          <a:p>
            <a:pPr marL="300355" marR="5080">
              <a:lnSpc>
                <a:spcPct val="103000"/>
              </a:lnSpc>
              <a:spcBef>
                <a:spcPts val="570"/>
              </a:spcBef>
            </a:pPr>
            <a:r>
              <a:rPr dirty="0">
                <a:solidFill>
                  <a:srgbClr val="D8D8D8"/>
                </a:solidFill>
              </a:rPr>
              <a:t>The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process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45" dirty="0">
                <a:solidFill>
                  <a:srgbClr val="D8D8D8"/>
                </a:solidFill>
              </a:rPr>
              <a:t>moves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from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state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state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by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45" dirty="0">
                <a:solidFill>
                  <a:srgbClr val="D8D8D8"/>
                </a:solidFill>
              </a:rPr>
              <a:t>following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5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transitions </a:t>
            </a:r>
            <a:r>
              <a:rPr spc="-45" dirty="0">
                <a:solidFill>
                  <a:srgbClr val="D8D8D8"/>
                </a:solidFill>
              </a:rPr>
              <a:t>whose</a:t>
            </a:r>
            <a:r>
              <a:rPr spc="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labels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match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current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symbol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(</a:t>
            </a:r>
            <a:r>
              <a:rPr i="1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>
                <a:solidFill>
                  <a:srgbClr val="D8D8D8"/>
                </a:solidFill>
              </a:rPr>
              <a:t>).</a:t>
            </a:r>
            <a:endParaRPr spc="-10" dirty="0">
              <a:solidFill>
                <a:srgbClr val="D8D8D8"/>
              </a:solidFill>
            </a:endParaRPr>
          </a:p>
          <a:p>
            <a:pPr marL="300355">
              <a:lnSpc>
                <a:spcPct val="100000"/>
              </a:lnSpc>
              <a:spcBef>
                <a:spcPts val="600"/>
              </a:spcBef>
            </a:pPr>
            <a:r>
              <a:rPr dirty="0">
                <a:solidFill>
                  <a:srgbClr val="D8D8D8"/>
                </a:solidFill>
              </a:rPr>
              <a:t>This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continues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until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no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further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45" dirty="0">
                <a:solidFill>
                  <a:srgbClr val="D8D8D8"/>
                </a:solidFill>
              </a:rPr>
              <a:t>moves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are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possible.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4076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56917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4622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8360" rIns="0" bIns="0" rtlCol="0">
            <a:spAutoFit/>
          </a:bodyPr>
          <a:lstStyle/>
          <a:p>
            <a:pPr marL="300355" marR="433705">
              <a:lnSpc>
                <a:spcPct val="103000"/>
              </a:lnSpc>
              <a:spcBef>
                <a:spcPts val="55"/>
              </a:spcBef>
            </a:pPr>
            <a:r>
              <a:rPr dirty="0"/>
              <a:t>The</a:t>
            </a:r>
            <a:r>
              <a:rPr spc="50" dirty="0"/>
              <a:t> </a:t>
            </a:r>
            <a:r>
              <a:rPr dirty="0"/>
              <a:t>lexer</a:t>
            </a:r>
            <a:r>
              <a:rPr spc="50" dirty="0"/>
              <a:t> </a:t>
            </a:r>
            <a:r>
              <a:rPr spc="-10" dirty="0"/>
              <a:t>begins</a:t>
            </a:r>
            <a:r>
              <a:rPr spc="5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start</a:t>
            </a:r>
            <a:r>
              <a:rPr spc="55" dirty="0"/>
              <a:t> </a:t>
            </a:r>
            <a:r>
              <a:rPr dirty="0"/>
              <a:t>state</a:t>
            </a:r>
            <a:r>
              <a:rPr spc="50" dirty="0"/>
              <a:t> </a:t>
            </a:r>
            <a:r>
              <a:rPr spc="-10" dirty="0"/>
              <a:t>with</a:t>
            </a:r>
            <a:r>
              <a:rPr spc="50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10" dirty="0"/>
              <a:t>current</a:t>
            </a:r>
            <a:r>
              <a:rPr spc="50" dirty="0"/>
              <a:t> </a:t>
            </a:r>
            <a:r>
              <a:rPr spc="-30" dirty="0"/>
              <a:t>symbol </a:t>
            </a:r>
            <a:r>
              <a:rPr spc="-10" dirty="0"/>
              <a:t>(pointed</a:t>
            </a:r>
            <a:r>
              <a:rPr spc="85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by</a:t>
            </a:r>
            <a:r>
              <a:rPr spc="90" dirty="0"/>
              <a:t> </a:t>
            </a:r>
            <a:r>
              <a:rPr dirty="0"/>
              <a:t>both</a:t>
            </a:r>
            <a:r>
              <a:rPr spc="85" dirty="0"/>
              <a:t> </a:t>
            </a: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/>
              <a:t>).</a:t>
            </a:r>
            <a:endParaRPr spc="-10" dirty="0"/>
          </a:p>
          <a:p>
            <a:pPr marL="300355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The</a:t>
            </a:r>
            <a:r>
              <a:rPr spc="55" dirty="0"/>
              <a:t> </a:t>
            </a:r>
            <a:r>
              <a:rPr spc="-20" dirty="0"/>
              <a:t>process</a:t>
            </a:r>
            <a:r>
              <a:rPr spc="55" dirty="0"/>
              <a:t> </a:t>
            </a:r>
            <a:r>
              <a:rPr spc="-45" dirty="0"/>
              <a:t>moves</a:t>
            </a:r>
            <a:r>
              <a:rPr spc="55" dirty="0"/>
              <a:t> </a:t>
            </a:r>
            <a:r>
              <a:rPr spc="-20" dirty="0"/>
              <a:t>from</a:t>
            </a:r>
            <a:r>
              <a:rPr spc="55" dirty="0"/>
              <a:t> </a:t>
            </a:r>
            <a:r>
              <a:rPr dirty="0"/>
              <a:t>state</a:t>
            </a:r>
            <a:r>
              <a:rPr spc="5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state</a:t>
            </a:r>
            <a:r>
              <a:rPr spc="55" dirty="0"/>
              <a:t> </a:t>
            </a:r>
            <a:r>
              <a:rPr dirty="0"/>
              <a:t>by</a:t>
            </a:r>
            <a:r>
              <a:rPr spc="55" dirty="0"/>
              <a:t> </a:t>
            </a:r>
            <a:r>
              <a:rPr spc="-45" dirty="0"/>
              <a:t>following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10" dirty="0"/>
              <a:t>transitions </a:t>
            </a:r>
            <a:r>
              <a:rPr spc="-45" dirty="0"/>
              <a:t>whose</a:t>
            </a:r>
            <a:r>
              <a:rPr spc="5" dirty="0"/>
              <a:t> </a:t>
            </a:r>
            <a:r>
              <a:rPr dirty="0"/>
              <a:t>labels</a:t>
            </a:r>
            <a:r>
              <a:rPr spc="10" dirty="0"/>
              <a:t> </a:t>
            </a:r>
            <a:r>
              <a:rPr dirty="0"/>
              <a:t>match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current</a:t>
            </a:r>
            <a:r>
              <a:rPr spc="10" dirty="0"/>
              <a:t> </a:t>
            </a:r>
            <a:r>
              <a:rPr spc="-25" dirty="0"/>
              <a:t>symbol</a:t>
            </a:r>
            <a:r>
              <a:rPr spc="10" dirty="0"/>
              <a:t> </a:t>
            </a:r>
            <a:r>
              <a:rPr spc="-10" dirty="0"/>
              <a:t>(</a:t>
            </a:r>
            <a:r>
              <a:rPr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/>
              <a:t>).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0"/>
              </a:spcBef>
            </a:pPr>
            <a:r>
              <a:rPr dirty="0">
                <a:solidFill>
                  <a:srgbClr val="D8D8D8"/>
                </a:solidFill>
              </a:rPr>
              <a:t>This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continues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until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no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further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45" dirty="0">
                <a:solidFill>
                  <a:srgbClr val="D8D8D8"/>
                </a:solidFill>
              </a:rPr>
              <a:t>moves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are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possible.</a:t>
            </a:r>
            <a:endParaRPr spc="-10" dirty="0">
              <a:solidFill>
                <a:srgbClr val="D8D8D8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4076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56917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4622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8360" rIns="0" bIns="0" rtlCol="0">
            <a:spAutoFit/>
          </a:bodyPr>
          <a:lstStyle/>
          <a:p>
            <a:pPr marL="300355" marR="433705">
              <a:lnSpc>
                <a:spcPct val="103000"/>
              </a:lnSpc>
              <a:spcBef>
                <a:spcPts val="55"/>
              </a:spcBef>
            </a:pPr>
            <a:r>
              <a:rPr dirty="0"/>
              <a:t>The</a:t>
            </a:r>
            <a:r>
              <a:rPr spc="50" dirty="0"/>
              <a:t> </a:t>
            </a:r>
            <a:r>
              <a:rPr dirty="0"/>
              <a:t>lexer</a:t>
            </a:r>
            <a:r>
              <a:rPr spc="50" dirty="0"/>
              <a:t> </a:t>
            </a:r>
            <a:r>
              <a:rPr spc="-10" dirty="0"/>
              <a:t>begins</a:t>
            </a:r>
            <a:r>
              <a:rPr spc="5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start</a:t>
            </a:r>
            <a:r>
              <a:rPr spc="55" dirty="0"/>
              <a:t> </a:t>
            </a:r>
            <a:r>
              <a:rPr dirty="0"/>
              <a:t>state</a:t>
            </a:r>
            <a:r>
              <a:rPr spc="50" dirty="0"/>
              <a:t> </a:t>
            </a:r>
            <a:r>
              <a:rPr spc="-10" dirty="0"/>
              <a:t>with</a:t>
            </a:r>
            <a:r>
              <a:rPr spc="50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10" dirty="0"/>
              <a:t>current</a:t>
            </a:r>
            <a:r>
              <a:rPr spc="50" dirty="0"/>
              <a:t> </a:t>
            </a:r>
            <a:r>
              <a:rPr spc="-30" dirty="0"/>
              <a:t>symbol </a:t>
            </a:r>
            <a:r>
              <a:rPr spc="-10" dirty="0"/>
              <a:t>(pointed</a:t>
            </a:r>
            <a:r>
              <a:rPr spc="85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by</a:t>
            </a:r>
            <a:r>
              <a:rPr spc="90" dirty="0"/>
              <a:t> </a:t>
            </a:r>
            <a:r>
              <a:rPr dirty="0"/>
              <a:t>both</a:t>
            </a:r>
            <a:r>
              <a:rPr spc="85" dirty="0"/>
              <a:t> </a:t>
            </a:r>
            <a:r>
              <a:rPr i="1" dirty="0">
                <a:latin typeface="Palatino Linotype" panose="02040502050505030304"/>
                <a:cs typeface="Palatino Linotype" panose="02040502050505030304"/>
              </a:rPr>
              <a:t>lexemeBegin</a:t>
            </a:r>
            <a:r>
              <a:rPr i="1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/>
              <a:t>).</a:t>
            </a:r>
            <a:endParaRPr spc="-10" dirty="0"/>
          </a:p>
          <a:p>
            <a:pPr marL="300355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The</a:t>
            </a:r>
            <a:r>
              <a:rPr spc="55" dirty="0"/>
              <a:t> </a:t>
            </a:r>
            <a:r>
              <a:rPr spc="-20" dirty="0"/>
              <a:t>process</a:t>
            </a:r>
            <a:r>
              <a:rPr spc="55" dirty="0"/>
              <a:t> </a:t>
            </a:r>
            <a:r>
              <a:rPr spc="-45" dirty="0"/>
              <a:t>moves</a:t>
            </a:r>
            <a:r>
              <a:rPr spc="55" dirty="0"/>
              <a:t> </a:t>
            </a:r>
            <a:r>
              <a:rPr spc="-20" dirty="0"/>
              <a:t>from</a:t>
            </a:r>
            <a:r>
              <a:rPr spc="55" dirty="0"/>
              <a:t> </a:t>
            </a:r>
            <a:r>
              <a:rPr dirty="0"/>
              <a:t>state</a:t>
            </a:r>
            <a:r>
              <a:rPr spc="5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state</a:t>
            </a:r>
            <a:r>
              <a:rPr spc="55" dirty="0"/>
              <a:t> </a:t>
            </a:r>
            <a:r>
              <a:rPr dirty="0"/>
              <a:t>by</a:t>
            </a:r>
            <a:r>
              <a:rPr spc="55" dirty="0"/>
              <a:t> </a:t>
            </a:r>
            <a:r>
              <a:rPr spc="-45" dirty="0"/>
              <a:t>following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spc="-10" dirty="0"/>
              <a:t>transitions </a:t>
            </a:r>
            <a:r>
              <a:rPr spc="-45" dirty="0"/>
              <a:t>whose</a:t>
            </a:r>
            <a:r>
              <a:rPr spc="5" dirty="0"/>
              <a:t> </a:t>
            </a:r>
            <a:r>
              <a:rPr dirty="0"/>
              <a:t>labels</a:t>
            </a:r>
            <a:r>
              <a:rPr spc="10" dirty="0"/>
              <a:t> </a:t>
            </a:r>
            <a:r>
              <a:rPr dirty="0"/>
              <a:t>match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current</a:t>
            </a:r>
            <a:r>
              <a:rPr spc="10" dirty="0"/>
              <a:t> </a:t>
            </a:r>
            <a:r>
              <a:rPr spc="-25" dirty="0"/>
              <a:t>symbol</a:t>
            </a:r>
            <a:r>
              <a:rPr spc="10" dirty="0"/>
              <a:t> </a:t>
            </a:r>
            <a:r>
              <a:rPr spc="-10" dirty="0"/>
              <a:t>(</a:t>
            </a:r>
            <a:r>
              <a:rPr i="1" spc="-10" dirty="0">
                <a:latin typeface="Palatino Linotype" panose="02040502050505030304"/>
                <a:cs typeface="Palatino Linotype" panose="02040502050505030304"/>
              </a:rPr>
              <a:t>forward</a:t>
            </a:r>
            <a:r>
              <a:rPr spc="-10" dirty="0"/>
              <a:t>).</a:t>
            </a:r>
            <a:endParaRPr spc="-10" dirty="0"/>
          </a:p>
          <a:p>
            <a:pPr marL="300355">
              <a:lnSpc>
                <a:spcPct val="100000"/>
              </a:lnSpc>
              <a:spcBef>
                <a:spcPts val="600"/>
              </a:spcBef>
            </a:pPr>
            <a:r>
              <a:rPr dirty="0"/>
              <a:t>This</a:t>
            </a:r>
            <a:r>
              <a:rPr spc="15" dirty="0"/>
              <a:t> </a:t>
            </a:r>
            <a:r>
              <a:rPr spc="-25" dirty="0"/>
              <a:t>continues</a:t>
            </a:r>
            <a:r>
              <a:rPr spc="15" dirty="0"/>
              <a:t> </a:t>
            </a:r>
            <a:r>
              <a:rPr dirty="0"/>
              <a:t>until</a:t>
            </a:r>
            <a:r>
              <a:rPr spc="20" dirty="0"/>
              <a:t> </a:t>
            </a:r>
            <a:r>
              <a:rPr dirty="0"/>
              <a:t>no</a:t>
            </a:r>
            <a:r>
              <a:rPr spc="15" dirty="0"/>
              <a:t> </a:t>
            </a:r>
            <a:r>
              <a:rPr spc="-10" dirty="0"/>
              <a:t>further</a:t>
            </a:r>
            <a:r>
              <a:rPr spc="20" dirty="0"/>
              <a:t> </a:t>
            </a:r>
            <a:r>
              <a:rPr spc="-45" dirty="0"/>
              <a:t>moves</a:t>
            </a:r>
            <a:r>
              <a:rPr spc="15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spc="-10" dirty="0"/>
              <a:t>possible.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4076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56917"/>
            <a:ext cx="65201" cy="6520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919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1935" y="1582983"/>
            <a:ext cx="30480" cy="246379"/>
            <a:chOff x="12419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2571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9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5844" y="608074"/>
            <a:ext cx="212915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4945" algn="ctr">
              <a:lnSpc>
                <a:spcPct val="100000"/>
              </a:lnSpc>
              <a:spcBef>
                <a:spcPts val="5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41935" y="1186743"/>
            <a:ext cx="30480" cy="243840"/>
            <a:chOff x="124193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25717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4193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788795" y="2686848"/>
            <a:ext cx="1030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919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1935" y="1582983"/>
            <a:ext cx="30480" cy="246379"/>
            <a:chOff x="12419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2571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9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215963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171575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24815" y="1186743"/>
            <a:ext cx="30480" cy="243840"/>
            <a:chOff x="142481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44005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2481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671383" y="2669253"/>
            <a:ext cx="1265555" cy="222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Advance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one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919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1935" y="1582983"/>
            <a:ext cx="30480" cy="246379"/>
            <a:chOff x="12419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2571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9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215963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354455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607695" y="1186743"/>
            <a:ext cx="30480" cy="243840"/>
            <a:chOff x="160769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62293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0769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99642" y="2669253"/>
            <a:ext cx="2609215" cy="222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identifier;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keyword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20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919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1935" y="1582983"/>
            <a:ext cx="30480" cy="246379"/>
            <a:chOff x="12419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2571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9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215963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207010" algn="r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90575" y="1186743"/>
            <a:ext cx="30480" cy="243840"/>
            <a:chOff x="179057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80581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9057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658835" y="2668422"/>
            <a:ext cx="1290955" cy="2235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keyword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5" dirty="0">
                <a:latin typeface="Palatino Linotype" panose="02040502050505030304"/>
                <a:cs typeface="Palatino Linotype" panose="02040502050505030304"/>
              </a:rPr>
              <a:t>int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919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41935" y="1582983"/>
            <a:ext cx="30480" cy="246379"/>
            <a:chOff x="12419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2571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9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215963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24130" algn="r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73455" y="1186743"/>
            <a:ext cx="30480" cy="243840"/>
            <a:chOff x="197345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98869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7345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807921" y="2669253"/>
            <a:ext cx="992505" cy="222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Skip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whitespace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62344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73455" y="1582983"/>
            <a:ext cx="30480" cy="246379"/>
            <a:chOff x="197345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98869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345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215963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24130" algn="r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73455" y="1186743"/>
            <a:ext cx="30480" cy="243840"/>
            <a:chOff x="197345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198869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7345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99642" y="2669253"/>
            <a:ext cx="2609215" cy="222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identifier;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could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keyword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62344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73455" y="1582983"/>
            <a:ext cx="30480" cy="246379"/>
            <a:chOff x="197345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198869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345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300" y="182191"/>
            <a:ext cx="305435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400" b="1" spc="19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7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400" b="1" spc="1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Buffer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163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5080" algn="r">
              <a:lnSpc>
                <a:spcPct val="100000"/>
              </a:lnSpc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87855" y="1186743"/>
            <a:ext cx="30480" cy="243840"/>
            <a:chOff x="288785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290309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8785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82698" y="2669253"/>
            <a:ext cx="1043305" cy="222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identifier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27207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70735" y="1582983"/>
            <a:ext cx="30480" cy="246379"/>
            <a:chOff x="3070735" y="1582983"/>
            <a:chExt cx="30480" cy="246379"/>
          </a:xfrm>
        </p:grpSpPr>
        <p:sp>
          <p:nvSpPr>
            <p:cNvPr id="18" name="object 18"/>
            <p:cNvSpPr/>
            <p:nvPr/>
          </p:nvSpPr>
          <p:spPr>
            <a:xfrm>
              <a:off x="30859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707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5844" y="608074"/>
            <a:ext cx="320675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70735" y="1186743"/>
            <a:ext cx="30480" cy="243840"/>
            <a:chOff x="3070735" y="1186743"/>
            <a:chExt cx="30480" cy="243840"/>
          </a:xfrm>
        </p:grpSpPr>
        <p:sp>
          <p:nvSpPr>
            <p:cNvPr id="22" name="object 22"/>
            <p:cNvSpPr/>
            <p:nvPr/>
          </p:nvSpPr>
          <p:spPr>
            <a:xfrm>
              <a:off x="308597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7073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206766" y="2686848"/>
            <a:ext cx="2194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operator,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which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one?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931" y="3318429"/>
            <a:ext cx="130810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172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Input</a:t>
            </a:r>
            <a:r>
              <a:rPr sz="600" b="1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Buffer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The</a:t>
            </a:r>
            <a:r>
              <a:rPr spc="190" dirty="0"/>
              <a:t> </a:t>
            </a:r>
            <a:r>
              <a:rPr spc="70" dirty="0"/>
              <a:t>Input</a:t>
            </a:r>
            <a:r>
              <a:rPr spc="195" dirty="0"/>
              <a:t> </a:t>
            </a:r>
            <a:r>
              <a:rPr spc="-10" dirty="0"/>
              <a:t>Buffer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608074"/>
            <a:ext cx="2129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(Processing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661517"/>
            <a:ext cx="4483735" cy="2608580"/>
            <a:chOff x="87743" y="661517"/>
            <a:chExt cx="4483735" cy="26085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06602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8472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55772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1517"/>
              <a:ext cx="50800" cy="25069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850861"/>
              <a:ext cx="4432935" cy="2368550"/>
            </a:xfrm>
            <a:custGeom>
              <a:avLst/>
              <a:gdLst/>
              <a:ahLst/>
              <a:cxnLst/>
              <a:rect l="l" t="t" r="r" b="b"/>
              <a:pathLst>
                <a:path w="4432935" h="2368550">
                  <a:moveTo>
                    <a:pt x="4432567" y="0"/>
                  </a:moveTo>
                  <a:lnTo>
                    <a:pt x="0" y="0"/>
                  </a:lnTo>
                  <a:lnTo>
                    <a:pt x="0" y="2317610"/>
                  </a:lnTo>
                  <a:lnTo>
                    <a:pt x="4008" y="2337335"/>
                  </a:lnTo>
                  <a:lnTo>
                    <a:pt x="14922" y="2353487"/>
                  </a:lnTo>
                  <a:lnTo>
                    <a:pt x="31075" y="2364402"/>
                  </a:lnTo>
                  <a:lnTo>
                    <a:pt x="50800" y="2368410"/>
                  </a:lnTo>
                  <a:lnTo>
                    <a:pt x="4381767" y="2368410"/>
                  </a:lnTo>
                  <a:lnTo>
                    <a:pt x="4401492" y="2364402"/>
                  </a:lnTo>
                  <a:lnTo>
                    <a:pt x="4417644" y="2353487"/>
                  </a:lnTo>
                  <a:lnTo>
                    <a:pt x="4428558" y="2337335"/>
                  </a:lnTo>
                  <a:lnTo>
                    <a:pt x="4432567" y="23176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99617"/>
              <a:ext cx="0" cy="2487930"/>
            </a:xfrm>
            <a:custGeom>
              <a:avLst/>
              <a:gdLst/>
              <a:ahLst/>
              <a:cxnLst/>
              <a:rect l="l" t="t" r="r" b="b"/>
              <a:pathLst>
                <a:path h="2487930">
                  <a:moveTo>
                    <a:pt x="0" y="24879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86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742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6615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163195" y="1428043"/>
          <a:ext cx="2641600" cy="15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"/>
                <a:gridCol w="182880"/>
                <a:gridCol w="182880"/>
                <a:gridCol w="182879"/>
                <a:gridCol w="182879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152400">
                <a:tc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u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n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endParaRPr sz="9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720723" y="1833427"/>
            <a:ext cx="730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lexemeBegin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70735" y="1582983"/>
            <a:ext cx="30480" cy="246379"/>
            <a:chOff x="3070735" y="1582983"/>
            <a:chExt cx="30480" cy="246379"/>
          </a:xfrm>
        </p:grpSpPr>
        <p:sp>
          <p:nvSpPr>
            <p:cNvPr id="19" name="object 19"/>
            <p:cNvSpPr/>
            <p:nvPr/>
          </p:nvSpPr>
          <p:spPr>
            <a:xfrm>
              <a:off x="3085975" y="162362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70735" y="158298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80" h="45719">
                  <a:moveTo>
                    <a:pt x="15240" y="0"/>
                  </a:moveTo>
                  <a:lnTo>
                    <a:pt x="0" y="4572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80" h="45719">
                  <a:moveTo>
                    <a:pt x="15240" y="0"/>
                  </a:moveTo>
                  <a:lnTo>
                    <a:pt x="15240" y="45720"/>
                  </a:lnTo>
                  <a:lnTo>
                    <a:pt x="30480" y="4572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083435" y="979987"/>
            <a:ext cx="432434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spc="-10" dirty="0">
                <a:latin typeface="Arial" panose="020B0604020202020204"/>
                <a:cs typeface="Arial" panose="020B0604020202020204"/>
              </a:rPr>
              <a:t>forward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53615" y="1186743"/>
            <a:ext cx="30480" cy="243840"/>
            <a:chOff x="3253615" y="1186743"/>
            <a:chExt cx="30480" cy="243840"/>
          </a:xfrm>
        </p:grpSpPr>
        <p:sp>
          <p:nvSpPr>
            <p:cNvPr id="23" name="object 23"/>
            <p:cNvSpPr/>
            <p:nvPr/>
          </p:nvSpPr>
          <p:spPr>
            <a:xfrm>
              <a:off x="3268855" y="1186743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203200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53615" y="1384863"/>
              <a:ext cx="30480" cy="45720"/>
            </a:xfrm>
            <a:custGeom>
              <a:avLst/>
              <a:gdLst/>
              <a:ahLst/>
              <a:cxnLst/>
              <a:rect l="l" t="t" r="r" b="b"/>
              <a:pathLst>
                <a:path w="30479" h="45719">
                  <a:moveTo>
                    <a:pt x="15240" y="0"/>
                  </a:moveTo>
                  <a:lnTo>
                    <a:pt x="0" y="0"/>
                  </a:lnTo>
                  <a:lnTo>
                    <a:pt x="15240" y="45720"/>
                  </a:lnTo>
                  <a:lnTo>
                    <a:pt x="15240" y="0"/>
                  </a:lnTo>
                  <a:close/>
                </a:path>
                <a:path w="30479" h="45719">
                  <a:moveTo>
                    <a:pt x="30480" y="0"/>
                  </a:moveTo>
                  <a:lnTo>
                    <a:pt x="15240" y="0"/>
                  </a:lnTo>
                  <a:lnTo>
                    <a:pt x="15240" y="4572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414310" y="2686848"/>
            <a:ext cx="17799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assignment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operator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>
            <p:custDataLst>
              <p:tags r:id="rId4"/>
            </p:custDataLst>
          </p:nvPr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>
            <p:custDataLst>
              <p:tags r:id="rId5"/>
            </p:custDataLst>
          </p:nvPr>
        </p:nvSpPr>
        <p:spPr>
          <a:xfrm>
            <a:off x="290055" y="919059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A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Class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of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>
            <p:custDataLst>
              <p:tags r:id="rId9"/>
            </p:custDataLst>
          </p:nvPr>
        </p:nvSpPr>
        <p:spPr>
          <a:xfrm>
            <a:off x="124460" y="1321435"/>
            <a:ext cx="193230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660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The</a:t>
            </a:r>
            <a:r>
              <a:rPr sz="1100" spc="7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Input</a:t>
            </a:r>
            <a:r>
              <a:rPr sz="1100" spc="7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>
            <p:custDataLst>
              <p:tags r:id="rId1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>
            <p:custDataLst>
              <p:tags r:id="rId13"/>
            </p:custDataLst>
          </p:nvPr>
        </p:nvSpPr>
        <p:spPr>
          <a:xfrm>
            <a:off x="124460" y="1723390"/>
            <a:ext cx="1859280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63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Transition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>
            <p:custDataLst>
              <p:tags r:id="rId1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>
            <p:custDataLst>
              <p:tags r:id="rId16"/>
            </p:custDataLst>
          </p:nvPr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>
            <p:custDataLst>
              <p:tags r:id="rId17"/>
            </p:custDataLst>
          </p:nvPr>
        </p:nvSpPr>
        <p:spPr>
          <a:xfrm>
            <a:off x="290055" y="2125801"/>
            <a:ext cx="1109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Writing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the</a:t>
            </a:r>
            <a:r>
              <a:rPr sz="1100" spc="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8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460" y="2527935"/>
            <a:ext cx="1586865" cy="180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2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04074"/>
            <a:ext cx="4483735" cy="2002155"/>
            <a:chOff x="87743" y="904074"/>
            <a:chExt cx="4483735" cy="20021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49159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04629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91929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04074"/>
              <a:ext cx="50800" cy="19005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93419"/>
              <a:ext cx="4432935" cy="1762125"/>
            </a:xfrm>
            <a:custGeom>
              <a:avLst/>
              <a:gdLst/>
              <a:ahLst/>
              <a:cxnLst/>
              <a:rect l="l" t="t" r="r" b="b"/>
              <a:pathLst>
                <a:path w="4432935" h="1762125">
                  <a:moveTo>
                    <a:pt x="4432567" y="0"/>
                  </a:moveTo>
                  <a:lnTo>
                    <a:pt x="0" y="0"/>
                  </a:lnTo>
                  <a:lnTo>
                    <a:pt x="0" y="1711210"/>
                  </a:lnTo>
                  <a:lnTo>
                    <a:pt x="4008" y="1730935"/>
                  </a:lnTo>
                  <a:lnTo>
                    <a:pt x="14922" y="1747088"/>
                  </a:lnTo>
                  <a:lnTo>
                    <a:pt x="31075" y="1758002"/>
                  </a:lnTo>
                  <a:lnTo>
                    <a:pt x="50800" y="1762011"/>
                  </a:lnTo>
                  <a:lnTo>
                    <a:pt x="4381767" y="1762011"/>
                  </a:lnTo>
                  <a:lnTo>
                    <a:pt x="4401492" y="1758002"/>
                  </a:lnTo>
                  <a:lnTo>
                    <a:pt x="4417644" y="1747088"/>
                  </a:lnTo>
                  <a:lnTo>
                    <a:pt x="4428558" y="1730935"/>
                  </a:lnTo>
                  <a:lnTo>
                    <a:pt x="4432567" y="171121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942174"/>
              <a:ext cx="0" cy="1881505"/>
            </a:xfrm>
            <a:custGeom>
              <a:avLst/>
              <a:gdLst/>
              <a:ahLst/>
              <a:cxnLst/>
              <a:rect l="l" t="t" r="r" b="b"/>
              <a:pathLst>
                <a:path h="1881505">
                  <a:moveTo>
                    <a:pt x="0" y="18815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294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167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040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50213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394294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638363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1882444"/>
              <a:ext cx="65201" cy="652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165" y="2126513"/>
              <a:ext cx="65201" cy="652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165" y="2542667"/>
              <a:ext cx="65201" cy="652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5844" y="800808"/>
            <a:ext cx="4107179" cy="20224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Definition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(Transition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Diagram)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8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transition</a:t>
            </a:r>
            <a:r>
              <a:rPr sz="1100" spc="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diagram</a:t>
            </a:r>
            <a:r>
              <a:rPr sz="1100" spc="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directed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graph.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941070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consists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finite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nodes,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designated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start</a:t>
            </a:r>
            <a:r>
              <a:rPr sz="1100" spc="6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directed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edges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between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represent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transitions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19050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transition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labeled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possibly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regular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expression).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subset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designated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accepting</a:t>
            </a:r>
            <a:r>
              <a:rPr sz="1100" spc="3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remaining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rejecting</a:t>
            </a:r>
            <a:r>
              <a:rPr sz="1100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states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002309"/>
            <a:ext cx="4483735" cy="1757045"/>
            <a:chOff x="87743" y="1002309"/>
            <a:chExt cx="4483735" cy="17570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4740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5727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4457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02322"/>
              <a:ext cx="50800" cy="16549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91666"/>
              <a:ext cx="4432935" cy="1517015"/>
            </a:xfrm>
            <a:custGeom>
              <a:avLst/>
              <a:gdLst/>
              <a:ahLst/>
              <a:cxnLst/>
              <a:rect l="l" t="t" r="r" b="b"/>
              <a:pathLst>
                <a:path w="4432935" h="1517014">
                  <a:moveTo>
                    <a:pt x="4432567" y="0"/>
                  </a:moveTo>
                  <a:lnTo>
                    <a:pt x="0" y="0"/>
                  </a:lnTo>
                  <a:lnTo>
                    <a:pt x="0" y="1465605"/>
                  </a:lnTo>
                  <a:lnTo>
                    <a:pt x="4008" y="1485330"/>
                  </a:lnTo>
                  <a:lnTo>
                    <a:pt x="14922" y="1501483"/>
                  </a:lnTo>
                  <a:lnTo>
                    <a:pt x="31075" y="1512397"/>
                  </a:lnTo>
                  <a:lnTo>
                    <a:pt x="50800" y="1516405"/>
                  </a:lnTo>
                  <a:lnTo>
                    <a:pt x="4381767" y="1516405"/>
                  </a:lnTo>
                  <a:lnTo>
                    <a:pt x="4401492" y="1512397"/>
                  </a:lnTo>
                  <a:lnTo>
                    <a:pt x="4417644" y="1501483"/>
                  </a:lnTo>
                  <a:lnTo>
                    <a:pt x="4428558" y="1485330"/>
                  </a:lnTo>
                  <a:lnTo>
                    <a:pt x="4432567" y="146560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40409"/>
              <a:ext cx="0" cy="1636395"/>
            </a:xfrm>
            <a:custGeom>
              <a:avLst/>
              <a:gdLst/>
              <a:ahLst/>
              <a:cxnLst/>
              <a:rect l="l" t="t" r="r" b="b"/>
              <a:pathLst>
                <a:path h="1636395">
                  <a:moveTo>
                    <a:pt x="0" y="16359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277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150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023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46936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491005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735086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151227"/>
              <a:ext cx="65201" cy="652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165" y="2567381"/>
              <a:ext cx="65201" cy="65201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0526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470"/>
              </a:spcBef>
            </a:pPr>
            <a:r>
              <a:rPr spc="-10" dirty="0"/>
              <a:t>Example</a:t>
            </a:r>
            <a:r>
              <a:rPr spc="25" dirty="0"/>
              <a:t> </a:t>
            </a:r>
            <a:r>
              <a:rPr dirty="0"/>
              <a:t>(Relational</a:t>
            </a:r>
            <a:r>
              <a:rPr spc="30" dirty="0"/>
              <a:t> </a:t>
            </a:r>
            <a:r>
              <a:rPr spc="-10" dirty="0"/>
              <a:t>Operators)</a:t>
            </a:r>
            <a:endParaRPr spc="-10" dirty="0"/>
          </a:p>
          <a:p>
            <a:pPr marL="299720">
              <a:lnSpc>
                <a:spcPct val="100000"/>
              </a:lnSpc>
              <a:spcBef>
                <a:spcPts val="370"/>
              </a:spcBef>
            </a:pPr>
            <a:r>
              <a:rPr spc="-25" dirty="0"/>
              <a:t>Consider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relational</a:t>
            </a:r>
            <a:r>
              <a:rPr spc="75" dirty="0"/>
              <a:t> </a:t>
            </a:r>
            <a:r>
              <a:rPr spc="-10" dirty="0"/>
              <a:t>operators</a:t>
            </a:r>
            <a:r>
              <a:rPr spc="75" dirty="0"/>
              <a:t> </a:t>
            </a:r>
            <a:r>
              <a:rPr dirty="0"/>
              <a:t>&lt;,</a:t>
            </a:r>
            <a:r>
              <a:rPr spc="75" dirty="0"/>
              <a:t> </a:t>
            </a:r>
            <a:r>
              <a:rPr dirty="0"/>
              <a:t>&gt;,</a:t>
            </a:r>
            <a:r>
              <a:rPr spc="75" dirty="0"/>
              <a:t> </a:t>
            </a:r>
            <a:r>
              <a:rPr dirty="0"/>
              <a:t>&lt;=,</a:t>
            </a:r>
            <a:r>
              <a:rPr spc="80" dirty="0"/>
              <a:t> </a:t>
            </a:r>
            <a:r>
              <a:rPr dirty="0"/>
              <a:t>&gt;=,</a:t>
            </a:r>
            <a:r>
              <a:rPr spc="75" dirty="0"/>
              <a:t> </a:t>
            </a:r>
            <a:r>
              <a:rPr dirty="0"/>
              <a:t>=,</a:t>
            </a:r>
            <a:r>
              <a:rPr spc="7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spc="-25" dirty="0"/>
              <a:t>&lt;&gt;.</a:t>
            </a:r>
            <a:endParaRPr spc="-25" dirty="0"/>
          </a:p>
          <a:p>
            <a:pPr marL="299720">
              <a:lnSpc>
                <a:spcPct val="100000"/>
              </a:lnSpc>
              <a:spcBef>
                <a:spcPts val="600"/>
              </a:spcBef>
            </a:pPr>
            <a:r>
              <a:rPr dirty="0"/>
              <a:t>The</a:t>
            </a:r>
            <a:r>
              <a:rPr spc="60" dirty="0"/>
              <a:t> </a:t>
            </a:r>
            <a:r>
              <a:rPr dirty="0"/>
              <a:t>first</a:t>
            </a:r>
            <a:r>
              <a:rPr spc="65" dirty="0"/>
              <a:t> </a:t>
            </a:r>
            <a:r>
              <a:rPr spc="-25" dirty="0"/>
              <a:t>symbol</a:t>
            </a:r>
            <a:r>
              <a:rPr spc="60" dirty="0"/>
              <a:t> </a:t>
            </a:r>
            <a:r>
              <a:rPr spc="-10" dirty="0"/>
              <a:t>may</a:t>
            </a:r>
            <a:r>
              <a:rPr spc="65" dirty="0"/>
              <a:t> </a:t>
            </a:r>
            <a:r>
              <a:rPr dirty="0"/>
              <a:t>be</a:t>
            </a:r>
            <a:r>
              <a:rPr spc="60" dirty="0"/>
              <a:t> </a:t>
            </a:r>
            <a:r>
              <a:rPr dirty="0"/>
              <a:t>&lt;,</a:t>
            </a:r>
            <a:r>
              <a:rPr spc="65" dirty="0"/>
              <a:t> </a:t>
            </a:r>
            <a:r>
              <a:rPr dirty="0"/>
              <a:t>&gt;,</a:t>
            </a:r>
            <a:r>
              <a:rPr spc="60" dirty="0"/>
              <a:t> </a:t>
            </a:r>
            <a:r>
              <a:rPr dirty="0"/>
              <a:t>=,</a:t>
            </a:r>
            <a:r>
              <a:rPr spc="65" dirty="0"/>
              <a:t> </a:t>
            </a:r>
            <a:r>
              <a:rPr dirty="0"/>
              <a:t>or</a:t>
            </a:r>
            <a:r>
              <a:rPr spc="60" dirty="0"/>
              <a:t> </a:t>
            </a:r>
            <a:r>
              <a:rPr spc="-30" dirty="0"/>
              <a:t>something</a:t>
            </a:r>
            <a:r>
              <a:rPr spc="65" dirty="0"/>
              <a:t> </a:t>
            </a:r>
            <a:r>
              <a:rPr spc="-10" dirty="0"/>
              <a:t>else.</a:t>
            </a:r>
            <a:endParaRPr spc="-10" dirty="0"/>
          </a:p>
          <a:p>
            <a:pPr marL="299720" marR="134620">
              <a:lnSpc>
                <a:spcPct val="103000"/>
              </a:lnSpc>
              <a:spcBef>
                <a:spcPts val="570"/>
              </a:spcBef>
            </a:pPr>
            <a:r>
              <a:rPr dirty="0"/>
              <a:t>If</a:t>
            </a:r>
            <a:r>
              <a:rPr spc="5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first</a:t>
            </a:r>
            <a:r>
              <a:rPr spc="55" dirty="0"/>
              <a:t> </a:t>
            </a:r>
            <a:r>
              <a:rPr spc="-25" dirty="0"/>
              <a:t>symbol</a:t>
            </a:r>
            <a:r>
              <a:rPr spc="6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&lt;,</a:t>
            </a:r>
            <a:r>
              <a:rPr spc="60" dirty="0"/>
              <a:t> </a:t>
            </a:r>
            <a:r>
              <a:rPr dirty="0"/>
              <a:t>then</a:t>
            </a:r>
            <a:r>
              <a:rPr spc="5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next</a:t>
            </a:r>
            <a:r>
              <a:rPr spc="55" dirty="0"/>
              <a:t> </a:t>
            </a:r>
            <a:r>
              <a:rPr spc="-25" dirty="0"/>
              <a:t>symbol</a:t>
            </a:r>
            <a:r>
              <a:rPr spc="60" dirty="0"/>
              <a:t> </a:t>
            </a:r>
            <a:r>
              <a:rPr spc="-10" dirty="0"/>
              <a:t>may</a:t>
            </a:r>
            <a:r>
              <a:rPr spc="55" dirty="0"/>
              <a:t> </a:t>
            </a:r>
            <a:r>
              <a:rPr dirty="0"/>
              <a:t>be</a:t>
            </a:r>
            <a:r>
              <a:rPr spc="60" dirty="0"/>
              <a:t> </a:t>
            </a:r>
            <a:r>
              <a:rPr dirty="0"/>
              <a:t>=,</a:t>
            </a:r>
            <a:r>
              <a:rPr spc="55" dirty="0"/>
              <a:t> </a:t>
            </a:r>
            <a:r>
              <a:rPr dirty="0"/>
              <a:t>&gt;,</a:t>
            </a:r>
            <a:r>
              <a:rPr spc="60" dirty="0"/>
              <a:t> </a:t>
            </a:r>
            <a:r>
              <a:rPr spc="-25" dirty="0"/>
              <a:t>or </a:t>
            </a:r>
            <a:r>
              <a:rPr spc="-30" dirty="0"/>
              <a:t>something</a:t>
            </a:r>
            <a:r>
              <a:rPr spc="45" dirty="0"/>
              <a:t> </a:t>
            </a:r>
            <a:r>
              <a:rPr spc="-10" dirty="0"/>
              <a:t>else.</a:t>
            </a:r>
            <a:endParaRPr spc="-10" dirty="0"/>
          </a:p>
          <a:p>
            <a:pPr marL="299720" marR="330200">
              <a:lnSpc>
                <a:spcPct val="103000"/>
              </a:lnSpc>
              <a:spcBef>
                <a:spcPts val="565"/>
              </a:spcBef>
            </a:pPr>
            <a:r>
              <a:rPr dirty="0"/>
              <a:t>If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first</a:t>
            </a:r>
            <a:r>
              <a:rPr spc="50" dirty="0"/>
              <a:t> </a:t>
            </a:r>
            <a:r>
              <a:rPr spc="-25" dirty="0"/>
              <a:t>symbol</a:t>
            </a:r>
            <a:r>
              <a:rPr spc="5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&gt;,</a:t>
            </a:r>
            <a:r>
              <a:rPr spc="50" dirty="0"/>
              <a:t> </a:t>
            </a:r>
            <a:r>
              <a:rPr dirty="0"/>
              <a:t>then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next</a:t>
            </a:r>
            <a:r>
              <a:rPr spc="50" dirty="0"/>
              <a:t> </a:t>
            </a:r>
            <a:r>
              <a:rPr spc="-25" dirty="0"/>
              <a:t>symbol</a:t>
            </a:r>
            <a:r>
              <a:rPr spc="50" dirty="0"/>
              <a:t> </a:t>
            </a:r>
            <a:r>
              <a:rPr spc="-10" dirty="0"/>
              <a:t>may</a:t>
            </a:r>
            <a:r>
              <a:rPr spc="50" dirty="0"/>
              <a:t> </a:t>
            </a:r>
            <a:r>
              <a:rPr dirty="0"/>
              <a:t>be</a:t>
            </a:r>
            <a:r>
              <a:rPr spc="45" dirty="0"/>
              <a:t> </a:t>
            </a:r>
            <a:r>
              <a:rPr dirty="0"/>
              <a:t>=</a:t>
            </a:r>
            <a:r>
              <a:rPr spc="50" dirty="0"/>
              <a:t> </a:t>
            </a:r>
            <a:r>
              <a:rPr spc="-25" dirty="0"/>
              <a:t>or </a:t>
            </a:r>
            <a:r>
              <a:rPr spc="-30" dirty="0"/>
              <a:t>something</a:t>
            </a:r>
            <a:r>
              <a:rPr spc="45" dirty="0"/>
              <a:t> </a:t>
            </a:r>
            <a:r>
              <a:rPr spc="-10" dirty="0"/>
              <a:t>else.</a:t>
            </a:r>
            <a:endParaRPr spc="-10" dirty="0"/>
          </a:p>
          <a:p>
            <a:pPr marL="299720">
              <a:lnSpc>
                <a:spcPct val="100000"/>
              </a:lnSpc>
              <a:spcBef>
                <a:spcPts val="600"/>
              </a:spcBef>
            </a:pPr>
            <a:r>
              <a:rPr dirty="0"/>
              <a:t>If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first</a:t>
            </a:r>
            <a:r>
              <a:rPr spc="45" dirty="0"/>
              <a:t> </a:t>
            </a:r>
            <a:r>
              <a:rPr spc="-25" dirty="0"/>
              <a:t>symbol</a:t>
            </a:r>
            <a:r>
              <a:rPr spc="5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dirty="0"/>
              <a:t>=,</a:t>
            </a:r>
            <a:r>
              <a:rPr spc="50" dirty="0"/>
              <a:t> </a:t>
            </a:r>
            <a:r>
              <a:rPr dirty="0"/>
              <a:t>then</a:t>
            </a:r>
            <a:r>
              <a:rPr spc="5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next</a:t>
            </a:r>
            <a:r>
              <a:rPr spc="50" dirty="0"/>
              <a:t> </a:t>
            </a:r>
            <a:r>
              <a:rPr spc="-25" dirty="0"/>
              <a:t>symbol</a:t>
            </a:r>
            <a:r>
              <a:rPr spc="4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spc="-30" dirty="0"/>
              <a:t>something</a:t>
            </a:r>
            <a:r>
              <a:rPr spc="45" dirty="0"/>
              <a:t> </a:t>
            </a:r>
            <a:r>
              <a:rPr spc="-10" dirty="0"/>
              <a:t>else.</a:t>
            </a:r>
            <a:endParaRPr spc="-10" dirty="0"/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613129"/>
            <a:ext cx="1978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(Relational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Operators)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666572"/>
            <a:ext cx="4483735" cy="2596515"/>
            <a:chOff x="87743" y="666572"/>
            <a:chExt cx="4483735" cy="2596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11669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160877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148177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66572"/>
              <a:ext cx="50800" cy="24943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855916"/>
              <a:ext cx="4432935" cy="2355850"/>
            </a:xfrm>
            <a:custGeom>
              <a:avLst/>
              <a:gdLst/>
              <a:ahLst/>
              <a:cxnLst/>
              <a:rect l="l" t="t" r="r" b="b"/>
              <a:pathLst>
                <a:path w="4432935" h="2355850">
                  <a:moveTo>
                    <a:pt x="4432567" y="0"/>
                  </a:moveTo>
                  <a:lnTo>
                    <a:pt x="0" y="0"/>
                  </a:lnTo>
                  <a:lnTo>
                    <a:pt x="0" y="2304961"/>
                  </a:lnTo>
                  <a:lnTo>
                    <a:pt x="4008" y="2324685"/>
                  </a:lnTo>
                  <a:lnTo>
                    <a:pt x="14922" y="2340838"/>
                  </a:lnTo>
                  <a:lnTo>
                    <a:pt x="31075" y="2351752"/>
                  </a:lnTo>
                  <a:lnTo>
                    <a:pt x="50800" y="2355761"/>
                  </a:lnTo>
                  <a:lnTo>
                    <a:pt x="4381767" y="2355761"/>
                  </a:lnTo>
                  <a:lnTo>
                    <a:pt x="4401492" y="2351752"/>
                  </a:lnTo>
                  <a:lnTo>
                    <a:pt x="4417644" y="2340838"/>
                  </a:lnTo>
                  <a:lnTo>
                    <a:pt x="4428558" y="2324685"/>
                  </a:lnTo>
                  <a:lnTo>
                    <a:pt x="4432567" y="230496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704672"/>
              <a:ext cx="0" cy="2475865"/>
            </a:xfrm>
            <a:custGeom>
              <a:avLst/>
              <a:gdLst/>
              <a:ahLst/>
              <a:cxnLst/>
              <a:rect l="l" t="t" r="r" b="b"/>
              <a:pathLst>
                <a:path h="2475865">
                  <a:moveTo>
                    <a:pt x="0" y="24752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919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792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6665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95185" y="2618806"/>
              <a:ext cx="569595" cy="0"/>
            </a:xfrm>
            <a:custGeom>
              <a:avLst/>
              <a:gdLst/>
              <a:ahLst/>
              <a:cxnLst/>
              <a:rect l="l" t="t" r="r" b="b"/>
              <a:pathLst>
                <a:path w="569594">
                  <a:moveTo>
                    <a:pt x="0" y="0"/>
                  </a:moveTo>
                  <a:lnTo>
                    <a:pt x="569504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60679" y="2606774"/>
              <a:ext cx="36195" cy="24130"/>
            </a:xfrm>
            <a:custGeom>
              <a:avLst/>
              <a:gdLst/>
              <a:ahLst/>
              <a:cxnLst/>
              <a:rect l="l" t="t" r="r" b="b"/>
              <a:pathLst>
                <a:path w="36194" h="24130">
                  <a:moveTo>
                    <a:pt x="0" y="0"/>
                  </a:moveTo>
                  <a:lnTo>
                    <a:pt x="0" y="24063"/>
                  </a:lnTo>
                  <a:lnTo>
                    <a:pt x="36095" y="12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95185" y="1415627"/>
              <a:ext cx="569595" cy="0"/>
            </a:xfrm>
            <a:custGeom>
              <a:avLst/>
              <a:gdLst/>
              <a:ahLst/>
              <a:cxnLst/>
              <a:rect l="l" t="t" r="r" b="b"/>
              <a:pathLst>
                <a:path w="569594">
                  <a:moveTo>
                    <a:pt x="0" y="0"/>
                  </a:moveTo>
                  <a:lnTo>
                    <a:pt x="569504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60679" y="1403596"/>
              <a:ext cx="36195" cy="24130"/>
            </a:xfrm>
            <a:custGeom>
              <a:avLst/>
              <a:gdLst/>
              <a:ahLst/>
              <a:cxnLst/>
              <a:rect l="l" t="t" r="r" b="b"/>
              <a:pathLst>
                <a:path w="36194" h="24130">
                  <a:moveTo>
                    <a:pt x="0" y="0"/>
                  </a:moveTo>
                  <a:lnTo>
                    <a:pt x="0" y="24063"/>
                  </a:lnTo>
                  <a:lnTo>
                    <a:pt x="36095" y="12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95185" y="2618806"/>
              <a:ext cx="573405" cy="298450"/>
            </a:xfrm>
            <a:custGeom>
              <a:avLst/>
              <a:gdLst/>
              <a:ahLst/>
              <a:cxnLst/>
              <a:rect l="l" t="t" r="r" b="b"/>
              <a:pathLst>
                <a:path w="573405" h="298450">
                  <a:moveTo>
                    <a:pt x="0" y="0"/>
                  </a:moveTo>
                  <a:lnTo>
                    <a:pt x="573122" y="298027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59195" y="2904305"/>
              <a:ext cx="38100" cy="27940"/>
            </a:xfrm>
            <a:custGeom>
              <a:avLst/>
              <a:gdLst/>
              <a:ahLst/>
              <a:cxnLst/>
              <a:rect l="l" t="t" r="r" b="b"/>
              <a:pathLst>
                <a:path w="38100" h="27939">
                  <a:moveTo>
                    <a:pt x="5558" y="10676"/>
                  </a:moveTo>
                  <a:lnTo>
                    <a:pt x="0" y="21352"/>
                  </a:lnTo>
                  <a:lnTo>
                    <a:pt x="37579" y="27328"/>
                  </a:lnTo>
                  <a:lnTo>
                    <a:pt x="5558" y="10676"/>
                  </a:lnTo>
                  <a:close/>
                </a:path>
                <a:path w="38100" h="27939">
                  <a:moveTo>
                    <a:pt x="11109" y="0"/>
                  </a:moveTo>
                  <a:lnTo>
                    <a:pt x="5558" y="10676"/>
                  </a:lnTo>
                  <a:lnTo>
                    <a:pt x="37579" y="27328"/>
                  </a:lnTo>
                  <a:lnTo>
                    <a:pt x="111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95185" y="1415627"/>
              <a:ext cx="573405" cy="298450"/>
            </a:xfrm>
            <a:custGeom>
              <a:avLst/>
              <a:gdLst/>
              <a:ahLst/>
              <a:cxnLst/>
              <a:rect l="l" t="t" r="r" b="b"/>
              <a:pathLst>
                <a:path w="573405" h="298450">
                  <a:moveTo>
                    <a:pt x="0" y="0"/>
                  </a:moveTo>
                  <a:lnTo>
                    <a:pt x="573122" y="298027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659195" y="1701126"/>
              <a:ext cx="38100" cy="27940"/>
            </a:xfrm>
            <a:custGeom>
              <a:avLst/>
              <a:gdLst/>
              <a:ahLst/>
              <a:cxnLst/>
              <a:rect l="l" t="t" r="r" b="b"/>
              <a:pathLst>
                <a:path w="38100" h="27939">
                  <a:moveTo>
                    <a:pt x="5558" y="10676"/>
                  </a:moveTo>
                  <a:lnTo>
                    <a:pt x="0" y="21352"/>
                  </a:lnTo>
                  <a:lnTo>
                    <a:pt x="37579" y="27328"/>
                  </a:lnTo>
                  <a:lnTo>
                    <a:pt x="5558" y="10676"/>
                  </a:lnTo>
                  <a:close/>
                </a:path>
                <a:path w="38100" h="27939">
                  <a:moveTo>
                    <a:pt x="11109" y="0"/>
                  </a:moveTo>
                  <a:lnTo>
                    <a:pt x="5558" y="10676"/>
                  </a:lnTo>
                  <a:lnTo>
                    <a:pt x="37579" y="27328"/>
                  </a:lnTo>
                  <a:lnTo>
                    <a:pt x="111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95185" y="1117600"/>
              <a:ext cx="573405" cy="298450"/>
            </a:xfrm>
            <a:custGeom>
              <a:avLst/>
              <a:gdLst/>
              <a:ahLst/>
              <a:cxnLst/>
              <a:rect l="l" t="t" r="r" b="b"/>
              <a:pathLst>
                <a:path w="573405" h="298450">
                  <a:moveTo>
                    <a:pt x="0" y="298027"/>
                  </a:moveTo>
                  <a:lnTo>
                    <a:pt x="573122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59195" y="1102801"/>
              <a:ext cx="38100" cy="27940"/>
            </a:xfrm>
            <a:custGeom>
              <a:avLst/>
              <a:gdLst/>
              <a:ahLst/>
              <a:cxnLst/>
              <a:rect l="l" t="t" r="r" b="b"/>
              <a:pathLst>
                <a:path w="38100" h="27940">
                  <a:moveTo>
                    <a:pt x="37579" y="0"/>
                  </a:moveTo>
                  <a:lnTo>
                    <a:pt x="5558" y="16651"/>
                  </a:lnTo>
                  <a:lnTo>
                    <a:pt x="11109" y="27328"/>
                  </a:lnTo>
                  <a:lnTo>
                    <a:pt x="37579" y="0"/>
                  </a:lnTo>
                  <a:close/>
                </a:path>
                <a:path w="38100" h="27940">
                  <a:moveTo>
                    <a:pt x="37579" y="0"/>
                  </a:moveTo>
                  <a:lnTo>
                    <a:pt x="0" y="5975"/>
                  </a:lnTo>
                  <a:lnTo>
                    <a:pt x="5558" y="16651"/>
                  </a:lnTo>
                  <a:lnTo>
                    <a:pt x="375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73278" y="2137535"/>
              <a:ext cx="575945" cy="414655"/>
            </a:xfrm>
            <a:custGeom>
              <a:avLst/>
              <a:gdLst/>
              <a:ahLst/>
              <a:cxnLst/>
              <a:rect l="l" t="t" r="r" b="b"/>
              <a:pathLst>
                <a:path w="575944" h="414655">
                  <a:moveTo>
                    <a:pt x="0" y="0"/>
                  </a:moveTo>
                  <a:lnTo>
                    <a:pt x="575552" y="414398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938547" y="2539822"/>
              <a:ext cx="36830" cy="31115"/>
            </a:xfrm>
            <a:custGeom>
              <a:avLst/>
              <a:gdLst/>
              <a:ahLst/>
              <a:cxnLst/>
              <a:rect l="l" t="t" r="r" b="b"/>
              <a:pathLst>
                <a:path w="36830" h="31114">
                  <a:moveTo>
                    <a:pt x="7026" y="9769"/>
                  </a:moveTo>
                  <a:lnTo>
                    <a:pt x="0" y="19531"/>
                  </a:lnTo>
                  <a:lnTo>
                    <a:pt x="36319" y="30857"/>
                  </a:lnTo>
                  <a:lnTo>
                    <a:pt x="7026" y="9769"/>
                  </a:lnTo>
                  <a:close/>
                </a:path>
                <a:path w="36830" h="31114">
                  <a:moveTo>
                    <a:pt x="14061" y="0"/>
                  </a:moveTo>
                  <a:lnTo>
                    <a:pt x="7026" y="9769"/>
                  </a:lnTo>
                  <a:lnTo>
                    <a:pt x="36319" y="30857"/>
                  </a:lnTo>
                  <a:lnTo>
                    <a:pt x="14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12324" y="2137535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>
                  <a:moveTo>
                    <a:pt x="0" y="0"/>
                  </a:moveTo>
                  <a:lnTo>
                    <a:pt x="208551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16865" y="2125503"/>
              <a:ext cx="36195" cy="24130"/>
            </a:xfrm>
            <a:custGeom>
              <a:avLst/>
              <a:gdLst/>
              <a:ahLst/>
              <a:cxnLst/>
              <a:rect l="l" t="t" r="r" b="b"/>
              <a:pathLst>
                <a:path w="36194" h="24130">
                  <a:moveTo>
                    <a:pt x="0" y="0"/>
                  </a:moveTo>
                  <a:lnTo>
                    <a:pt x="0" y="24063"/>
                  </a:lnTo>
                  <a:lnTo>
                    <a:pt x="36095" y="12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1086" y="2033436"/>
              <a:ext cx="208198" cy="20819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086" y="1311528"/>
              <a:ext cx="208198" cy="20819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056015" y="1345977"/>
            <a:ext cx="7937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1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69179" y="1535945"/>
            <a:ext cx="930910" cy="1187450"/>
            <a:chOff x="1269179" y="1535945"/>
            <a:chExt cx="930910" cy="1187450"/>
          </a:xfrm>
        </p:grpSpPr>
        <p:sp>
          <p:nvSpPr>
            <p:cNvPr id="34" name="object 34"/>
            <p:cNvSpPr/>
            <p:nvPr/>
          </p:nvSpPr>
          <p:spPr>
            <a:xfrm>
              <a:off x="1993092" y="2516712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373278" y="2137535"/>
              <a:ext cx="824230" cy="583565"/>
            </a:xfrm>
            <a:custGeom>
              <a:avLst/>
              <a:gdLst/>
              <a:ahLst/>
              <a:cxnLst/>
              <a:rect l="l" t="t" r="r" b="b"/>
              <a:pathLst>
                <a:path w="824230" h="583564">
                  <a:moveTo>
                    <a:pt x="824001" y="481271"/>
                  </a:moveTo>
                  <a:lnTo>
                    <a:pt x="815977" y="441533"/>
                  </a:lnTo>
                  <a:lnTo>
                    <a:pt x="794097" y="409081"/>
                  </a:lnTo>
                  <a:lnTo>
                    <a:pt x="761645" y="387201"/>
                  </a:lnTo>
                  <a:lnTo>
                    <a:pt x="721907" y="379177"/>
                  </a:lnTo>
                  <a:lnTo>
                    <a:pt x="682169" y="387201"/>
                  </a:lnTo>
                  <a:lnTo>
                    <a:pt x="649717" y="409081"/>
                  </a:lnTo>
                  <a:lnTo>
                    <a:pt x="627837" y="441533"/>
                  </a:lnTo>
                  <a:lnTo>
                    <a:pt x="619813" y="481271"/>
                  </a:lnTo>
                  <a:lnTo>
                    <a:pt x="627837" y="521009"/>
                  </a:lnTo>
                  <a:lnTo>
                    <a:pt x="649717" y="553461"/>
                  </a:lnTo>
                  <a:lnTo>
                    <a:pt x="682169" y="575341"/>
                  </a:lnTo>
                  <a:lnTo>
                    <a:pt x="721907" y="583365"/>
                  </a:lnTo>
                  <a:lnTo>
                    <a:pt x="761645" y="575341"/>
                  </a:lnTo>
                  <a:lnTo>
                    <a:pt x="794097" y="553461"/>
                  </a:lnTo>
                  <a:lnTo>
                    <a:pt x="815977" y="521009"/>
                  </a:lnTo>
                  <a:lnTo>
                    <a:pt x="824001" y="481271"/>
                  </a:lnTo>
                  <a:close/>
                </a:path>
                <a:path w="824230" h="583564">
                  <a:moveTo>
                    <a:pt x="0" y="0"/>
                  </a:moveTo>
                  <a:lnTo>
                    <a:pt x="569504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38772" y="2125503"/>
              <a:ext cx="36195" cy="24130"/>
            </a:xfrm>
            <a:custGeom>
              <a:avLst/>
              <a:gdLst/>
              <a:ahLst/>
              <a:cxnLst/>
              <a:rect l="l" t="t" r="r" b="b"/>
              <a:pathLst>
                <a:path w="36194" h="24130">
                  <a:moveTo>
                    <a:pt x="0" y="0"/>
                  </a:moveTo>
                  <a:lnTo>
                    <a:pt x="0" y="24063"/>
                  </a:lnTo>
                  <a:lnTo>
                    <a:pt x="36095" y="12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373278" y="1558629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19" h="579119">
                  <a:moveTo>
                    <a:pt x="0" y="578905"/>
                  </a:moveTo>
                  <a:lnTo>
                    <a:pt x="578905" y="0"/>
                  </a:lnTo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40833" y="1535945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90">
                  <a:moveTo>
                    <a:pt x="34033" y="0"/>
                  </a:moveTo>
                  <a:lnTo>
                    <a:pt x="8510" y="25523"/>
                  </a:lnTo>
                  <a:lnTo>
                    <a:pt x="17020" y="34033"/>
                  </a:lnTo>
                  <a:lnTo>
                    <a:pt x="34033" y="0"/>
                  </a:lnTo>
                  <a:close/>
                </a:path>
                <a:path w="34289" h="34290">
                  <a:moveTo>
                    <a:pt x="34033" y="0"/>
                  </a:moveTo>
                  <a:lnTo>
                    <a:pt x="0" y="17012"/>
                  </a:lnTo>
                  <a:lnTo>
                    <a:pt x="8510" y="25523"/>
                  </a:lnTo>
                  <a:lnTo>
                    <a:pt x="34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9179" y="2033436"/>
              <a:ext cx="208198" cy="208198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334108" y="2067884"/>
            <a:ext cx="7937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0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15365" y="2476965"/>
            <a:ext cx="8191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=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21267" y="2356647"/>
            <a:ext cx="8191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&gt;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21267" y="1658803"/>
            <a:ext cx="8191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&lt;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15365" y="1273786"/>
            <a:ext cx="8191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&gt;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93457" y="1995694"/>
            <a:ext cx="8191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=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37294" y="1586613"/>
            <a:ext cx="24511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latin typeface="Arial" panose="020B0604020202020204"/>
                <a:cs typeface="Arial" panose="020B0604020202020204"/>
              </a:rPr>
              <a:t>other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025120" y="950575"/>
            <a:ext cx="896619" cy="2133600"/>
            <a:chOff x="2025120" y="950575"/>
            <a:chExt cx="896619" cy="2133600"/>
          </a:xfrm>
        </p:grpSpPr>
        <p:sp>
          <p:nvSpPr>
            <p:cNvPr id="48" name="object 48"/>
            <p:cNvSpPr/>
            <p:nvPr/>
          </p:nvSpPr>
          <p:spPr>
            <a:xfrm>
              <a:off x="2714999" y="1313534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14999" y="1313534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204187" y="102093"/>
                  </a:move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14999" y="952580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14999" y="952580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204187" y="102093"/>
                  </a:move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14999" y="1674487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14999" y="1674487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204187" y="102093"/>
                  </a:move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714999" y="2516713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714999" y="2516713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204187" y="102093"/>
                  </a:move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714999" y="2877666"/>
              <a:ext cx="204470" cy="204470"/>
            </a:xfrm>
            <a:custGeom>
              <a:avLst/>
              <a:gdLst/>
              <a:ahLst/>
              <a:cxnLst/>
              <a:rect l="l" t="t" r="r" b="b"/>
              <a:pathLst>
                <a:path w="204469" h="204469">
                  <a:moveTo>
                    <a:pt x="102093" y="0"/>
                  </a:moveTo>
                  <a:lnTo>
                    <a:pt x="62355" y="8023"/>
                  </a:lnTo>
                  <a:lnTo>
                    <a:pt x="29904" y="29904"/>
                  </a:lnTo>
                  <a:lnTo>
                    <a:pt x="8023" y="62355"/>
                  </a:lnTo>
                  <a:lnTo>
                    <a:pt x="0" y="102093"/>
                  </a:lnTo>
                  <a:lnTo>
                    <a:pt x="8023" y="141831"/>
                  </a:lnTo>
                  <a:lnTo>
                    <a:pt x="29904" y="174283"/>
                  </a:lnTo>
                  <a:lnTo>
                    <a:pt x="62355" y="196163"/>
                  </a:lnTo>
                  <a:lnTo>
                    <a:pt x="102093" y="204187"/>
                  </a:lnTo>
                  <a:lnTo>
                    <a:pt x="141831" y="196163"/>
                  </a:lnTo>
                  <a:lnTo>
                    <a:pt x="174283" y="174283"/>
                  </a:lnTo>
                  <a:lnTo>
                    <a:pt x="196163" y="141831"/>
                  </a:lnTo>
                  <a:lnTo>
                    <a:pt x="204187" y="102093"/>
                  </a:lnTo>
                  <a:lnTo>
                    <a:pt x="196163" y="62355"/>
                  </a:lnTo>
                  <a:lnTo>
                    <a:pt x="174283" y="29904"/>
                  </a:lnTo>
                  <a:lnTo>
                    <a:pt x="141831" y="8023"/>
                  </a:lnTo>
                  <a:lnTo>
                    <a:pt x="102093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714999" y="2550747"/>
              <a:ext cx="204470" cy="531495"/>
            </a:xfrm>
            <a:custGeom>
              <a:avLst/>
              <a:gdLst/>
              <a:ahLst/>
              <a:cxnLst/>
              <a:rect l="l" t="t" r="r" b="b"/>
              <a:pathLst>
                <a:path w="204469" h="531494">
                  <a:moveTo>
                    <a:pt x="204187" y="429013"/>
                  </a:moveTo>
                  <a:lnTo>
                    <a:pt x="196163" y="389275"/>
                  </a:lnTo>
                  <a:lnTo>
                    <a:pt x="174283" y="356823"/>
                  </a:lnTo>
                  <a:lnTo>
                    <a:pt x="141831" y="334943"/>
                  </a:lnTo>
                  <a:lnTo>
                    <a:pt x="102093" y="326919"/>
                  </a:lnTo>
                  <a:lnTo>
                    <a:pt x="62355" y="334943"/>
                  </a:lnTo>
                  <a:lnTo>
                    <a:pt x="29904" y="356823"/>
                  </a:lnTo>
                  <a:lnTo>
                    <a:pt x="8023" y="389275"/>
                  </a:lnTo>
                  <a:lnTo>
                    <a:pt x="0" y="429013"/>
                  </a:lnTo>
                  <a:lnTo>
                    <a:pt x="8023" y="468751"/>
                  </a:lnTo>
                  <a:lnTo>
                    <a:pt x="29904" y="501203"/>
                  </a:lnTo>
                  <a:lnTo>
                    <a:pt x="62355" y="523083"/>
                  </a:lnTo>
                  <a:lnTo>
                    <a:pt x="102093" y="531107"/>
                  </a:lnTo>
                  <a:lnTo>
                    <a:pt x="141831" y="523083"/>
                  </a:lnTo>
                  <a:lnTo>
                    <a:pt x="174283" y="501203"/>
                  </a:lnTo>
                  <a:lnTo>
                    <a:pt x="196163" y="468751"/>
                  </a:lnTo>
                  <a:lnTo>
                    <a:pt x="204187" y="429013"/>
                  </a:lnTo>
                  <a:close/>
                </a:path>
                <a:path w="204469" h="531494">
                  <a:moveTo>
                    <a:pt x="170153" y="429013"/>
                  </a:moveTo>
                  <a:lnTo>
                    <a:pt x="164804" y="402522"/>
                  </a:lnTo>
                  <a:lnTo>
                    <a:pt x="150218" y="380888"/>
                  </a:lnTo>
                  <a:lnTo>
                    <a:pt x="128585" y="366302"/>
                  </a:lnTo>
                  <a:lnTo>
                    <a:pt x="102093" y="360953"/>
                  </a:lnTo>
                  <a:lnTo>
                    <a:pt x="75602" y="366302"/>
                  </a:lnTo>
                  <a:lnTo>
                    <a:pt x="53968" y="380888"/>
                  </a:lnTo>
                  <a:lnTo>
                    <a:pt x="39382" y="402522"/>
                  </a:lnTo>
                  <a:lnTo>
                    <a:pt x="34033" y="429013"/>
                  </a:lnTo>
                  <a:lnTo>
                    <a:pt x="39382" y="455505"/>
                  </a:lnTo>
                  <a:lnTo>
                    <a:pt x="53968" y="477138"/>
                  </a:lnTo>
                  <a:lnTo>
                    <a:pt x="75602" y="491724"/>
                  </a:lnTo>
                  <a:lnTo>
                    <a:pt x="102093" y="497073"/>
                  </a:lnTo>
                  <a:lnTo>
                    <a:pt x="128585" y="491724"/>
                  </a:lnTo>
                  <a:lnTo>
                    <a:pt x="150218" y="477138"/>
                  </a:lnTo>
                  <a:lnTo>
                    <a:pt x="164804" y="455505"/>
                  </a:lnTo>
                  <a:lnTo>
                    <a:pt x="170153" y="429013"/>
                  </a:lnTo>
                  <a:close/>
                </a:path>
                <a:path w="204469" h="531494">
                  <a:moveTo>
                    <a:pt x="170153" y="68059"/>
                  </a:moveTo>
                  <a:lnTo>
                    <a:pt x="164804" y="41568"/>
                  </a:lnTo>
                  <a:lnTo>
                    <a:pt x="150218" y="19934"/>
                  </a:lnTo>
                  <a:lnTo>
                    <a:pt x="128585" y="5348"/>
                  </a:lnTo>
                  <a:lnTo>
                    <a:pt x="102093" y="0"/>
                  </a:lnTo>
                  <a:lnTo>
                    <a:pt x="75602" y="5348"/>
                  </a:lnTo>
                  <a:lnTo>
                    <a:pt x="53968" y="19934"/>
                  </a:lnTo>
                  <a:lnTo>
                    <a:pt x="39382" y="41568"/>
                  </a:lnTo>
                  <a:lnTo>
                    <a:pt x="34033" y="68059"/>
                  </a:lnTo>
                  <a:lnTo>
                    <a:pt x="39382" y="94551"/>
                  </a:lnTo>
                  <a:lnTo>
                    <a:pt x="53968" y="116184"/>
                  </a:lnTo>
                  <a:lnTo>
                    <a:pt x="75602" y="130771"/>
                  </a:lnTo>
                  <a:lnTo>
                    <a:pt x="102093" y="136119"/>
                  </a:lnTo>
                  <a:lnTo>
                    <a:pt x="128585" y="130771"/>
                  </a:lnTo>
                  <a:lnTo>
                    <a:pt x="150218" y="116184"/>
                  </a:lnTo>
                  <a:lnTo>
                    <a:pt x="164804" y="94551"/>
                  </a:lnTo>
                  <a:lnTo>
                    <a:pt x="170153" y="68059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5120" y="2067470"/>
              <a:ext cx="140130" cy="14013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749033" y="986614"/>
              <a:ext cx="136525" cy="858519"/>
            </a:xfrm>
            <a:custGeom>
              <a:avLst/>
              <a:gdLst/>
              <a:ahLst/>
              <a:cxnLst/>
              <a:rect l="l" t="t" r="r" b="b"/>
              <a:pathLst>
                <a:path w="136525" h="858519">
                  <a:moveTo>
                    <a:pt x="136119" y="789967"/>
                  </a:moveTo>
                  <a:lnTo>
                    <a:pt x="130771" y="763475"/>
                  </a:lnTo>
                  <a:lnTo>
                    <a:pt x="116184" y="741842"/>
                  </a:lnTo>
                  <a:lnTo>
                    <a:pt x="94551" y="727256"/>
                  </a:lnTo>
                  <a:lnTo>
                    <a:pt x="68059" y="721907"/>
                  </a:lnTo>
                  <a:lnTo>
                    <a:pt x="41568" y="727256"/>
                  </a:lnTo>
                  <a:lnTo>
                    <a:pt x="19934" y="741842"/>
                  </a:lnTo>
                  <a:lnTo>
                    <a:pt x="5348" y="763475"/>
                  </a:lnTo>
                  <a:lnTo>
                    <a:pt x="0" y="789967"/>
                  </a:lnTo>
                  <a:lnTo>
                    <a:pt x="5348" y="816458"/>
                  </a:lnTo>
                  <a:lnTo>
                    <a:pt x="19934" y="838092"/>
                  </a:lnTo>
                  <a:lnTo>
                    <a:pt x="41568" y="852678"/>
                  </a:lnTo>
                  <a:lnTo>
                    <a:pt x="68059" y="858027"/>
                  </a:lnTo>
                  <a:lnTo>
                    <a:pt x="94551" y="852678"/>
                  </a:lnTo>
                  <a:lnTo>
                    <a:pt x="116184" y="838092"/>
                  </a:lnTo>
                  <a:lnTo>
                    <a:pt x="130771" y="816458"/>
                  </a:lnTo>
                  <a:lnTo>
                    <a:pt x="136119" y="789967"/>
                  </a:lnTo>
                  <a:close/>
                </a:path>
                <a:path w="136525" h="858519">
                  <a:moveTo>
                    <a:pt x="136119" y="429013"/>
                  </a:moveTo>
                  <a:lnTo>
                    <a:pt x="130771" y="402522"/>
                  </a:lnTo>
                  <a:lnTo>
                    <a:pt x="116184" y="380888"/>
                  </a:lnTo>
                  <a:lnTo>
                    <a:pt x="94551" y="366302"/>
                  </a:lnTo>
                  <a:lnTo>
                    <a:pt x="68059" y="360953"/>
                  </a:lnTo>
                  <a:lnTo>
                    <a:pt x="41568" y="366302"/>
                  </a:lnTo>
                  <a:lnTo>
                    <a:pt x="19934" y="380888"/>
                  </a:lnTo>
                  <a:lnTo>
                    <a:pt x="5348" y="402522"/>
                  </a:lnTo>
                  <a:lnTo>
                    <a:pt x="0" y="429013"/>
                  </a:lnTo>
                  <a:lnTo>
                    <a:pt x="5348" y="455505"/>
                  </a:lnTo>
                  <a:lnTo>
                    <a:pt x="19934" y="477138"/>
                  </a:lnTo>
                  <a:lnTo>
                    <a:pt x="41568" y="491724"/>
                  </a:lnTo>
                  <a:lnTo>
                    <a:pt x="68059" y="497073"/>
                  </a:lnTo>
                  <a:lnTo>
                    <a:pt x="94551" y="491724"/>
                  </a:lnTo>
                  <a:lnTo>
                    <a:pt x="116184" y="477138"/>
                  </a:lnTo>
                  <a:lnTo>
                    <a:pt x="130771" y="455505"/>
                  </a:lnTo>
                  <a:lnTo>
                    <a:pt x="136119" y="429013"/>
                  </a:lnTo>
                  <a:close/>
                </a:path>
                <a:path w="136525" h="858519">
                  <a:moveTo>
                    <a:pt x="136119" y="68059"/>
                  </a:moveTo>
                  <a:lnTo>
                    <a:pt x="130771" y="41568"/>
                  </a:lnTo>
                  <a:lnTo>
                    <a:pt x="116184" y="19934"/>
                  </a:lnTo>
                  <a:lnTo>
                    <a:pt x="94551" y="5348"/>
                  </a:lnTo>
                  <a:lnTo>
                    <a:pt x="68059" y="0"/>
                  </a:lnTo>
                  <a:lnTo>
                    <a:pt x="41568" y="5348"/>
                  </a:lnTo>
                  <a:lnTo>
                    <a:pt x="19934" y="19934"/>
                  </a:lnTo>
                  <a:lnTo>
                    <a:pt x="5348" y="41568"/>
                  </a:lnTo>
                  <a:lnTo>
                    <a:pt x="0" y="68059"/>
                  </a:lnTo>
                  <a:lnTo>
                    <a:pt x="5348" y="94551"/>
                  </a:lnTo>
                  <a:lnTo>
                    <a:pt x="19934" y="116184"/>
                  </a:lnTo>
                  <a:lnTo>
                    <a:pt x="41568" y="130771"/>
                  </a:lnTo>
                  <a:lnTo>
                    <a:pt x="68059" y="136119"/>
                  </a:lnTo>
                  <a:lnTo>
                    <a:pt x="94551" y="130771"/>
                  </a:lnTo>
                  <a:lnTo>
                    <a:pt x="116184" y="116184"/>
                  </a:lnTo>
                  <a:lnTo>
                    <a:pt x="130771" y="94551"/>
                  </a:lnTo>
                  <a:lnTo>
                    <a:pt x="136119" y="68059"/>
                  </a:lnTo>
                  <a:close/>
                </a:path>
              </a:pathLst>
            </a:custGeom>
            <a:ln w="4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2056015" y="2549156"/>
            <a:ext cx="7937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3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43174" y="985023"/>
            <a:ext cx="772795" cy="261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5"/>
              </a:spcBef>
              <a:tabLst>
                <a:tab pos="641985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4</a:t>
            </a:r>
            <a:r>
              <a:rPr sz="750" dirty="0">
                <a:latin typeface="Arial" panose="020B0604020202020204"/>
                <a:cs typeface="Arial" panose="020B0604020202020204"/>
              </a:rPr>
              <a:t>	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LE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750" spc="-50" dirty="0">
                <a:latin typeface="Arial" panose="020B0604020202020204"/>
                <a:cs typeface="Arial" panose="020B0604020202020204"/>
              </a:rPr>
              <a:t>=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777923" y="1345977"/>
            <a:ext cx="35433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010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5</a:t>
            </a:r>
            <a:r>
              <a:rPr sz="750" dirty="0">
                <a:latin typeface="Arial" panose="020B0604020202020204"/>
                <a:cs typeface="Arial" panose="020B0604020202020204"/>
              </a:rPr>
              <a:t>	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NE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77923" y="1706931"/>
            <a:ext cx="81978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010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6</a:t>
            </a:r>
            <a:r>
              <a:rPr sz="750" dirty="0">
                <a:latin typeface="Arial" panose="020B0604020202020204"/>
                <a:cs typeface="Arial" panose="020B0604020202020204"/>
              </a:rPr>
              <a:t>	LT</a:t>
            </a:r>
            <a:r>
              <a:rPr sz="7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and</a:t>
            </a:r>
            <a:r>
              <a:rPr sz="7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retract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56015" y="2067884"/>
            <a:ext cx="35941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010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2</a:t>
            </a:r>
            <a:r>
              <a:rPr sz="750" dirty="0">
                <a:latin typeface="Arial" panose="020B0604020202020204"/>
                <a:cs typeface="Arial" panose="020B0604020202020204"/>
              </a:rPr>
              <a:t>	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EQ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77923" y="2549156"/>
            <a:ext cx="35941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010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7</a:t>
            </a:r>
            <a:r>
              <a:rPr sz="750" dirty="0">
                <a:latin typeface="Arial" panose="020B0604020202020204"/>
                <a:cs typeface="Arial" panose="020B0604020202020204"/>
              </a:rPr>
              <a:t>	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GE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237294" y="2789792"/>
            <a:ext cx="1381760" cy="261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latin typeface="Arial" panose="020B0604020202020204"/>
                <a:cs typeface="Arial" panose="020B0604020202020204"/>
              </a:rPr>
              <a:t>other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553085">
              <a:lnSpc>
                <a:spcPct val="100000"/>
              </a:lnSpc>
              <a:spcBef>
                <a:spcPts val="50"/>
              </a:spcBef>
              <a:tabLst>
                <a:tab pos="748030" algn="l"/>
              </a:tabLst>
            </a:pPr>
            <a:r>
              <a:rPr sz="750" spc="-50" dirty="0">
                <a:latin typeface="Arial" panose="020B0604020202020204"/>
                <a:cs typeface="Arial" panose="020B0604020202020204"/>
              </a:rPr>
              <a:t>8</a:t>
            </a:r>
            <a:r>
              <a:rPr sz="750" dirty="0">
                <a:latin typeface="Arial" panose="020B0604020202020204"/>
                <a:cs typeface="Arial" panose="020B0604020202020204"/>
              </a:rPr>
              <a:t>	GT</a:t>
            </a:r>
            <a:r>
              <a:rPr sz="7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and</a:t>
            </a:r>
            <a:r>
              <a:rPr sz="7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retract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47433" y="1229417"/>
            <a:ext cx="404495" cy="3810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b="1" dirty="0">
                <a:latin typeface="Book Antiqua" panose="02040602050305030304"/>
                <a:cs typeface="Book Antiqua" panose="02040602050305030304"/>
              </a:rPr>
              <a:t>&lt;&gt;</a:t>
            </a:r>
            <a:r>
              <a:rPr sz="1100" b="1" spc="32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-25" dirty="0">
                <a:latin typeface="Book Antiqua" panose="02040602050305030304"/>
                <a:cs typeface="Book Antiqua" panose="02040602050305030304"/>
              </a:rPr>
              <a:t>!=</a:t>
            </a:r>
            <a:endParaRPr sz="1100">
              <a:latin typeface="Book Antiqua" panose="02040602050305030304"/>
              <a:cs typeface="Book Antiqua" panose="02040602050305030304"/>
            </a:endParaRPr>
          </a:p>
          <a:p>
            <a:pPr marL="25400">
              <a:lnSpc>
                <a:spcPct val="100000"/>
              </a:lnSpc>
              <a:spcBef>
                <a:spcPts val="80"/>
              </a:spcBef>
              <a:tabLst>
                <a:tab pos="236220" algn="l"/>
              </a:tabLst>
            </a:pPr>
            <a:r>
              <a:rPr sz="1100" b="1" spc="-50" dirty="0">
                <a:latin typeface="Book Antiqua" panose="02040602050305030304"/>
                <a:cs typeface="Book Antiqua" panose="02040602050305030304"/>
              </a:rPr>
              <a:t>=</a:t>
            </a:r>
            <a:r>
              <a:rPr sz="1100" b="1" dirty="0">
                <a:latin typeface="Book Antiqua" panose="02040602050305030304"/>
                <a:cs typeface="Book Antiqua" panose="02040602050305030304"/>
              </a:rPr>
              <a:t>	</a:t>
            </a:r>
            <a:r>
              <a:rPr sz="1100" b="1" spc="-35" dirty="0">
                <a:latin typeface="Book Antiqua" panose="02040602050305030304"/>
                <a:cs typeface="Book Antiqua" panose="02040602050305030304"/>
              </a:rPr>
              <a:t>==</a:t>
            </a:r>
            <a:endParaRPr sz="11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223352"/>
            <a:ext cx="4483735" cy="1204595"/>
            <a:chOff x="87743" y="1223352"/>
            <a:chExt cx="4483735" cy="12045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36843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32572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313025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223352"/>
              <a:ext cx="50800" cy="11023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412701"/>
              <a:ext cx="4432935" cy="963930"/>
            </a:xfrm>
            <a:custGeom>
              <a:avLst/>
              <a:gdLst/>
              <a:ahLst/>
              <a:cxnLst/>
              <a:rect l="l" t="t" r="r" b="b"/>
              <a:pathLst>
                <a:path w="4432935" h="963930">
                  <a:moveTo>
                    <a:pt x="4432567" y="0"/>
                  </a:moveTo>
                  <a:lnTo>
                    <a:pt x="0" y="0"/>
                  </a:lnTo>
                  <a:lnTo>
                    <a:pt x="0" y="913024"/>
                  </a:lnTo>
                  <a:lnTo>
                    <a:pt x="4008" y="932749"/>
                  </a:lnTo>
                  <a:lnTo>
                    <a:pt x="14922" y="948902"/>
                  </a:lnTo>
                  <a:lnTo>
                    <a:pt x="31075" y="959816"/>
                  </a:lnTo>
                  <a:lnTo>
                    <a:pt x="50800" y="963824"/>
                  </a:lnTo>
                  <a:lnTo>
                    <a:pt x="4381767" y="963824"/>
                  </a:lnTo>
                  <a:lnTo>
                    <a:pt x="4401492" y="959816"/>
                  </a:lnTo>
                  <a:lnTo>
                    <a:pt x="4417644" y="948902"/>
                  </a:lnTo>
                  <a:lnTo>
                    <a:pt x="4428558" y="932749"/>
                  </a:lnTo>
                  <a:lnTo>
                    <a:pt x="4432567" y="91302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261454"/>
              <a:ext cx="0" cy="1083945"/>
            </a:xfrm>
            <a:custGeom>
              <a:avLst/>
              <a:gdLst/>
              <a:ahLst/>
              <a:cxnLst/>
              <a:rect l="l" t="t" r="r" b="b"/>
              <a:pathLst>
                <a:path h="1083945">
                  <a:moveTo>
                    <a:pt x="0" y="10833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2487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2360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2233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56335" y="2080506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60">
                  <a:moveTo>
                    <a:pt x="0" y="0"/>
                  </a:moveTo>
                  <a:lnTo>
                    <a:pt x="72136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72615" y="2065266"/>
              <a:ext cx="45720" cy="30480"/>
            </a:xfrm>
            <a:custGeom>
              <a:avLst/>
              <a:gdLst/>
              <a:ahLst/>
              <a:cxnLst/>
              <a:rect l="l" t="t" r="r" b="b"/>
              <a:pathLst>
                <a:path w="45719" h="30480">
                  <a:moveTo>
                    <a:pt x="0" y="0"/>
                  </a:moveTo>
                  <a:lnTo>
                    <a:pt x="0" y="30480"/>
                  </a:lnTo>
                  <a:lnTo>
                    <a:pt x="4572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41419" y="19511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316" y="0"/>
                  </a:move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41419" y="19511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258632" y="129316"/>
                  </a:move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27019" y="19511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316" y="0"/>
                  </a:move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84735" y="1951189"/>
              <a:ext cx="1501140" cy="259079"/>
            </a:xfrm>
            <a:custGeom>
              <a:avLst/>
              <a:gdLst/>
              <a:ahLst/>
              <a:cxnLst/>
              <a:rect l="l" t="t" r="r" b="b"/>
              <a:pathLst>
                <a:path w="1501139" h="259080">
                  <a:moveTo>
                    <a:pt x="1500916" y="129316"/>
                  </a:moveTo>
                  <a:lnTo>
                    <a:pt x="1490753" y="78982"/>
                  </a:lnTo>
                  <a:lnTo>
                    <a:pt x="1463038" y="37877"/>
                  </a:lnTo>
                  <a:lnTo>
                    <a:pt x="1421933" y="10163"/>
                  </a:lnTo>
                  <a:lnTo>
                    <a:pt x="1371600" y="0"/>
                  </a:lnTo>
                  <a:lnTo>
                    <a:pt x="1321266" y="10163"/>
                  </a:lnTo>
                  <a:lnTo>
                    <a:pt x="1280161" y="37877"/>
                  </a:lnTo>
                  <a:lnTo>
                    <a:pt x="1252446" y="78982"/>
                  </a:lnTo>
                  <a:lnTo>
                    <a:pt x="1242283" y="129316"/>
                  </a:lnTo>
                  <a:lnTo>
                    <a:pt x="1252446" y="179650"/>
                  </a:lnTo>
                  <a:lnTo>
                    <a:pt x="1280161" y="220755"/>
                  </a:lnTo>
                  <a:lnTo>
                    <a:pt x="1321266" y="248469"/>
                  </a:lnTo>
                  <a:lnTo>
                    <a:pt x="1371600" y="258632"/>
                  </a:lnTo>
                  <a:lnTo>
                    <a:pt x="1421933" y="248469"/>
                  </a:lnTo>
                  <a:lnTo>
                    <a:pt x="1463038" y="220755"/>
                  </a:lnTo>
                  <a:lnTo>
                    <a:pt x="1490753" y="179650"/>
                  </a:lnTo>
                  <a:lnTo>
                    <a:pt x="1500916" y="129316"/>
                  </a:lnTo>
                  <a:close/>
                </a:path>
                <a:path w="1501139" h="259080">
                  <a:moveTo>
                    <a:pt x="0" y="129316"/>
                  </a:moveTo>
                  <a:lnTo>
                    <a:pt x="264160" y="129316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43815" y="2065266"/>
              <a:ext cx="45720" cy="30480"/>
            </a:xfrm>
            <a:custGeom>
              <a:avLst/>
              <a:gdLst/>
              <a:ahLst/>
              <a:cxnLst/>
              <a:rect l="l" t="t" r="r" b="b"/>
              <a:pathLst>
                <a:path w="45719" h="30480">
                  <a:moveTo>
                    <a:pt x="0" y="0"/>
                  </a:moveTo>
                  <a:lnTo>
                    <a:pt x="0" y="30480"/>
                  </a:lnTo>
                  <a:lnTo>
                    <a:pt x="4572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41935" y="2080506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60">
                  <a:moveTo>
                    <a:pt x="0" y="0"/>
                  </a:moveTo>
                  <a:lnTo>
                    <a:pt x="721360" y="0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58215" y="2065266"/>
              <a:ext cx="45720" cy="30480"/>
            </a:xfrm>
            <a:custGeom>
              <a:avLst/>
              <a:gdLst/>
              <a:ahLst/>
              <a:cxnLst/>
              <a:rect l="l" t="t" r="r" b="b"/>
              <a:pathLst>
                <a:path w="45719" h="30480">
                  <a:moveTo>
                    <a:pt x="0" y="0"/>
                  </a:moveTo>
                  <a:lnTo>
                    <a:pt x="0" y="30480"/>
                  </a:lnTo>
                  <a:lnTo>
                    <a:pt x="4572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12619" y="19511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316" y="0"/>
                  </a:move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12619" y="19511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258632" y="129316"/>
                  </a:moveTo>
                  <a:lnTo>
                    <a:pt x="248469" y="78982"/>
                  </a:lnTo>
                  <a:lnTo>
                    <a:pt x="220755" y="37877"/>
                  </a:lnTo>
                  <a:lnTo>
                    <a:pt x="179650" y="10163"/>
                  </a:lnTo>
                  <a:lnTo>
                    <a:pt x="129316" y="0"/>
                  </a:lnTo>
                  <a:lnTo>
                    <a:pt x="78982" y="10163"/>
                  </a:lnTo>
                  <a:lnTo>
                    <a:pt x="37877" y="37877"/>
                  </a:lnTo>
                  <a:lnTo>
                    <a:pt x="10163" y="78982"/>
                  </a:lnTo>
                  <a:lnTo>
                    <a:pt x="0" y="129316"/>
                  </a:lnTo>
                  <a:lnTo>
                    <a:pt x="10163" y="179650"/>
                  </a:lnTo>
                  <a:lnTo>
                    <a:pt x="37877" y="220755"/>
                  </a:lnTo>
                  <a:lnTo>
                    <a:pt x="78982" y="248469"/>
                  </a:lnTo>
                  <a:lnTo>
                    <a:pt x="129316" y="258632"/>
                  </a:lnTo>
                  <a:lnTo>
                    <a:pt x="179650" y="248469"/>
                  </a:lnTo>
                  <a:lnTo>
                    <a:pt x="220755" y="220755"/>
                  </a:lnTo>
                  <a:lnTo>
                    <a:pt x="248469" y="179650"/>
                  </a:lnTo>
                  <a:lnTo>
                    <a:pt x="258632" y="129316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195707" y="1995670"/>
            <a:ext cx="933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latin typeface="Arial" panose="020B0604020202020204"/>
                <a:cs typeface="Arial" panose="020B0604020202020204"/>
              </a:rPr>
              <a:t>9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1307" y="1904230"/>
            <a:ext cx="2965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10" dirty="0">
                <a:latin typeface="Arial" panose="020B0604020202020204"/>
                <a:cs typeface="Arial" panose="020B0604020202020204"/>
              </a:rPr>
              <a:t>letter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61643" y="1904230"/>
            <a:ext cx="3035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10" dirty="0">
                <a:latin typeface="Arial" panose="020B0604020202020204"/>
                <a:cs typeface="Arial" panose="020B0604020202020204"/>
              </a:rPr>
              <a:t>other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5563" y="1995670"/>
            <a:ext cx="1612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25" dirty="0">
                <a:latin typeface="Arial" panose="020B0604020202020204"/>
                <a:cs typeface="Arial" panose="020B0604020202020204"/>
              </a:rPr>
              <a:t>10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89963" y="1995670"/>
            <a:ext cx="1612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25" dirty="0">
                <a:latin typeface="Arial" panose="020B0604020202020204"/>
                <a:cs typeface="Arial" panose="020B0604020202020204"/>
              </a:rPr>
              <a:t>11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81386" y="1692188"/>
            <a:ext cx="1178560" cy="477520"/>
            <a:chOff x="1981386" y="1692188"/>
            <a:chExt cx="1178560" cy="47752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1988" y="1991758"/>
              <a:ext cx="177495" cy="1774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83926" y="1694728"/>
              <a:ext cx="345440" cy="294640"/>
            </a:xfrm>
            <a:custGeom>
              <a:avLst/>
              <a:gdLst/>
              <a:ahLst/>
              <a:cxnLst/>
              <a:rect l="l" t="t" r="r" b="b"/>
              <a:pathLst>
                <a:path w="345439" h="294639">
                  <a:moveTo>
                    <a:pt x="294328" y="294337"/>
                  </a:moveTo>
                  <a:lnTo>
                    <a:pt x="322383" y="257572"/>
                  </a:lnTo>
                  <a:lnTo>
                    <a:pt x="339215" y="216157"/>
                  </a:lnTo>
                  <a:lnTo>
                    <a:pt x="344826" y="172417"/>
                  </a:lnTo>
                  <a:lnTo>
                    <a:pt x="339215" y="128677"/>
                  </a:lnTo>
                  <a:lnTo>
                    <a:pt x="322383" y="87262"/>
                  </a:lnTo>
                  <a:lnTo>
                    <a:pt x="294328" y="50497"/>
                  </a:lnTo>
                  <a:lnTo>
                    <a:pt x="257563" y="22443"/>
                  </a:lnTo>
                  <a:lnTo>
                    <a:pt x="216148" y="5610"/>
                  </a:lnTo>
                  <a:lnTo>
                    <a:pt x="172408" y="0"/>
                  </a:lnTo>
                  <a:lnTo>
                    <a:pt x="128668" y="5610"/>
                  </a:lnTo>
                  <a:lnTo>
                    <a:pt x="87253" y="22443"/>
                  </a:lnTo>
                  <a:lnTo>
                    <a:pt x="50488" y="50497"/>
                  </a:lnTo>
                  <a:lnTo>
                    <a:pt x="22235" y="87665"/>
                  </a:lnTo>
                  <a:lnTo>
                    <a:pt x="5309" y="129896"/>
                  </a:lnTo>
                  <a:lnTo>
                    <a:pt x="0" y="174743"/>
                  </a:lnTo>
                  <a:lnTo>
                    <a:pt x="6594" y="219759"/>
                  </a:lnTo>
                  <a:lnTo>
                    <a:pt x="25383" y="262496"/>
                  </a:lnTo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96427" y="1942543"/>
              <a:ext cx="38100" cy="46990"/>
            </a:xfrm>
            <a:custGeom>
              <a:avLst/>
              <a:gdLst/>
              <a:ahLst/>
              <a:cxnLst/>
              <a:rect l="l" t="t" r="r" b="b"/>
              <a:pathLst>
                <a:path w="38100" h="46989">
                  <a:moveTo>
                    <a:pt x="12700" y="8432"/>
                  </a:moveTo>
                  <a:lnTo>
                    <a:pt x="0" y="16865"/>
                  </a:lnTo>
                  <a:lnTo>
                    <a:pt x="37988" y="46522"/>
                  </a:lnTo>
                  <a:lnTo>
                    <a:pt x="12700" y="8432"/>
                  </a:lnTo>
                  <a:close/>
                </a:path>
                <a:path w="38100" h="46989">
                  <a:moveTo>
                    <a:pt x="25389" y="0"/>
                  </a:moveTo>
                  <a:lnTo>
                    <a:pt x="12700" y="8432"/>
                  </a:lnTo>
                  <a:lnTo>
                    <a:pt x="37988" y="46522"/>
                  </a:lnTo>
                  <a:lnTo>
                    <a:pt x="253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240915" y="1934710"/>
            <a:ext cx="608330" cy="3041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225"/>
              </a:spcBef>
            </a:pPr>
            <a:r>
              <a:rPr sz="950" spc="-10" dirty="0">
                <a:latin typeface="Arial" panose="020B0604020202020204"/>
                <a:cs typeface="Arial" panose="020B0604020202020204"/>
              </a:rPr>
              <a:t>identifier </a:t>
            </a:r>
            <a:r>
              <a:rPr sz="950" dirty="0">
                <a:latin typeface="Arial" panose="020B0604020202020204"/>
                <a:cs typeface="Arial" panose="020B0604020202020204"/>
              </a:rPr>
              <a:t>and</a:t>
            </a:r>
            <a:r>
              <a:rPr sz="9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950" spc="-10" dirty="0">
                <a:latin typeface="Arial" panose="020B0604020202020204"/>
                <a:cs typeface="Arial" panose="020B0604020202020204"/>
              </a:rPr>
              <a:t>retract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5844" y="1169897"/>
            <a:ext cx="2341245" cy="509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(Identifiers)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5080" algn="r">
              <a:lnSpc>
                <a:spcPct val="100000"/>
              </a:lnSpc>
              <a:spcBef>
                <a:spcPts val="1360"/>
              </a:spcBef>
            </a:pPr>
            <a:r>
              <a:rPr sz="950" dirty="0">
                <a:latin typeface="Arial" panose="020B0604020202020204"/>
                <a:cs typeface="Arial" panose="020B0604020202020204"/>
              </a:rPr>
              <a:t>letter</a:t>
            </a:r>
            <a:r>
              <a:rPr sz="9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950" dirty="0">
                <a:latin typeface="Arial" panose="020B0604020202020204"/>
                <a:cs typeface="Arial" panose="020B0604020202020204"/>
              </a:rPr>
              <a:t>|</a:t>
            </a:r>
            <a:r>
              <a:rPr sz="9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950" spc="-10" dirty="0">
                <a:latin typeface="Arial" panose="020B0604020202020204"/>
                <a:cs typeface="Arial" panose="020B0604020202020204"/>
              </a:rPr>
              <a:t>digit</a:t>
            </a:r>
            <a:endParaRPr sz="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1106905"/>
            <a:ext cx="1303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(Keywords)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160360"/>
            <a:ext cx="4483735" cy="1362075"/>
            <a:chOff x="87743" y="1160360"/>
            <a:chExt cx="4483735" cy="13620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305432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20226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07526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60360"/>
              <a:ext cx="50800" cy="12598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349712"/>
              <a:ext cx="4432935" cy="1121410"/>
            </a:xfrm>
            <a:custGeom>
              <a:avLst/>
              <a:gdLst/>
              <a:ahLst/>
              <a:cxnLst/>
              <a:rect l="l" t="t" r="r" b="b"/>
              <a:pathLst>
                <a:path w="4432935" h="1121410">
                  <a:moveTo>
                    <a:pt x="4432567" y="0"/>
                  </a:moveTo>
                  <a:lnTo>
                    <a:pt x="0" y="0"/>
                  </a:lnTo>
                  <a:lnTo>
                    <a:pt x="0" y="1070513"/>
                  </a:lnTo>
                  <a:lnTo>
                    <a:pt x="4008" y="1090238"/>
                  </a:lnTo>
                  <a:lnTo>
                    <a:pt x="14922" y="1106391"/>
                  </a:lnTo>
                  <a:lnTo>
                    <a:pt x="31075" y="1117305"/>
                  </a:lnTo>
                  <a:lnTo>
                    <a:pt x="50800" y="1121313"/>
                  </a:lnTo>
                  <a:lnTo>
                    <a:pt x="4381767" y="1121313"/>
                  </a:lnTo>
                  <a:lnTo>
                    <a:pt x="4401492" y="1117305"/>
                  </a:lnTo>
                  <a:lnTo>
                    <a:pt x="4417644" y="1106391"/>
                  </a:lnTo>
                  <a:lnTo>
                    <a:pt x="4428558" y="1090238"/>
                  </a:lnTo>
                  <a:lnTo>
                    <a:pt x="4432567" y="107051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98466"/>
              <a:ext cx="0" cy="1241425"/>
            </a:xfrm>
            <a:custGeom>
              <a:avLst/>
              <a:gdLst/>
              <a:ahLst/>
              <a:cxnLst/>
              <a:rect l="l" t="t" r="r" b="b"/>
              <a:pathLst>
                <a:path h="1241425">
                  <a:moveTo>
                    <a:pt x="0" y="12408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857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173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1603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93773" y="1905159"/>
              <a:ext cx="454659" cy="281305"/>
            </a:xfrm>
            <a:custGeom>
              <a:avLst/>
              <a:gdLst/>
              <a:ahLst/>
              <a:cxnLst/>
              <a:rect l="l" t="t" r="r" b="b"/>
              <a:pathLst>
                <a:path w="454659" h="281305">
                  <a:moveTo>
                    <a:pt x="0" y="0"/>
                  </a:moveTo>
                  <a:lnTo>
                    <a:pt x="454144" y="281139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38659" y="2174572"/>
              <a:ext cx="35560" cy="27940"/>
            </a:xfrm>
            <a:custGeom>
              <a:avLst/>
              <a:gdLst/>
              <a:ahLst/>
              <a:cxnLst/>
              <a:rect l="l" t="t" r="r" b="b"/>
              <a:pathLst>
                <a:path w="35559" h="27939">
                  <a:moveTo>
                    <a:pt x="6019" y="9715"/>
                  </a:moveTo>
                  <a:lnTo>
                    <a:pt x="0" y="19438"/>
                  </a:lnTo>
                  <a:lnTo>
                    <a:pt x="35173" y="27767"/>
                  </a:lnTo>
                  <a:lnTo>
                    <a:pt x="6019" y="9715"/>
                  </a:lnTo>
                  <a:close/>
                </a:path>
                <a:path w="35559" h="27939">
                  <a:moveTo>
                    <a:pt x="12031" y="0"/>
                  </a:moveTo>
                  <a:lnTo>
                    <a:pt x="6019" y="9715"/>
                  </a:lnTo>
                  <a:lnTo>
                    <a:pt x="35173" y="27767"/>
                  </a:lnTo>
                  <a:lnTo>
                    <a:pt x="120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28213" y="156225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373983" y="15508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59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10993" y="156225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56763" y="15508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59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9240" y="1463367"/>
              <a:ext cx="197784" cy="1977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3773" y="1624020"/>
              <a:ext cx="454659" cy="281305"/>
            </a:xfrm>
            <a:custGeom>
              <a:avLst/>
              <a:gdLst/>
              <a:ahLst/>
              <a:cxnLst/>
              <a:rect l="l" t="t" r="r" b="b"/>
              <a:pathLst>
                <a:path w="454659" h="281305">
                  <a:moveTo>
                    <a:pt x="0" y="281139"/>
                  </a:moveTo>
                  <a:lnTo>
                    <a:pt x="454144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38659" y="1607979"/>
              <a:ext cx="35560" cy="27940"/>
            </a:xfrm>
            <a:custGeom>
              <a:avLst/>
              <a:gdLst/>
              <a:ahLst/>
              <a:cxnLst/>
              <a:rect l="l" t="t" r="r" b="b"/>
              <a:pathLst>
                <a:path w="35559" h="27939">
                  <a:moveTo>
                    <a:pt x="35173" y="0"/>
                  </a:moveTo>
                  <a:lnTo>
                    <a:pt x="6019" y="18051"/>
                  </a:lnTo>
                  <a:lnTo>
                    <a:pt x="12031" y="27767"/>
                  </a:lnTo>
                  <a:lnTo>
                    <a:pt x="35173" y="0"/>
                  </a:lnTo>
                  <a:close/>
                </a:path>
                <a:path w="35559" h="27939">
                  <a:moveTo>
                    <a:pt x="35173" y="0"/>
                  </a:moveTo>
                  <a:lnTo>
                    <a:pt x="0" y="8328"/>
                  </a:lnTo>
                  <a:lnTo>
                    <a:pt x="6019" y="18051"/>
                  </a:lnTo>
                  <a:lnTo>
                    <a:pt x="35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6460" y="1463367"/>
              <a:ext cx="197784" cy="19778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05101" y="155718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i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68041" y="14200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f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23680" y="1463367"/>
            <a:ext cx="198120" cy="198120"/>
            <a:chOff x="2423680" y="1463367"/>
            <a:chExt cx="198120" cy="198120"/>
          </a:xfrm>
        </p:grpSpPr>
        <p:sp>
          <p:nvSpPr>
            <p:cNvPr id="29" name="object 29"/>
            <p:cNvSpPr/>
            <p:nvPr/>
          </p:nvSpPr>
          <p:spPr>
            <a:xfrm>
              <a:off x="2457917" y="14976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25585" y="14652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96987" y="0"/>
                  </a:move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425585" y="14652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193974" y="96987"/>
                  </a:move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457917" y="14976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64655" y="0"/>
                  </a:move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457917" y="14976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2108299" y="1426878"/>
            <a:ext cx="23431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other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47033" y="1426878"/>
            <a:ext cx="462915" cy="2343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1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keyword</a:t>
            </a:r>
            <a:r>
              <a:rPr sz="70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00" dirty="0">
                <a:latin typeface="Arial" panose="020B0604020202020204"/>
                <a:cs typeface="Arial" panose="020B0604020202020204"/>
              </a:rPr>
              <a:t>and</a:t>
            </a:r>
            <a:r>
              <a:rPr sz="7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retract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48968" y="1806267"/>
            <a:ext cx="3225165" cy="198120"/>
            <a:chOff x="348968" y="1806267"/>
            <a:chExt cx="3225165" cy="198120"/>
          </a:xfrm>
        </p:grpSpPr>
        <p:sp>
          <p:nvSpPr>
            <p:cNvPr id="37" name="object 37"/>
            <p:cNvSpPr/>
            <p:nvPr/>
          </p:nvSpPr>
          <p:spPr>
            <a:xfrm>
              <a:off x="3094073" y="19051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53984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310993" y="19051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75676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05353" y="19051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35112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99713" y="19051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94548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50873" y="1905160"/>
              <a:ext cx="198120" cy="0"/>
            </a:xfrm>
            <a:custGeom>
              <a:avLst/>
              <a:gdLst/>
              <a:ahLst/>
              <a:cxnLst/>
              <a:rect l="l" t="t" r="r" b="b"/>
              <a:pathLst>
                <a:path w="198120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518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90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9240" y="1806267"/>
              <a:ext cx="197784" cy="19778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93773" y="19051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139543" y="18937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90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881" y="1806267"/>
              <a:ext cx="197783" cy="19778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6460" y="1806267"/>
              <a:ext cx="197784" cy="19778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029417" y="18405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950821" y="17629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t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68041" y="17629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h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400820" y="1806267"/>
            <a:ext cx="1386840" cy="198120"/>
            <a:chOff x="2400820" y="1806267"/>
            <a:chExt cx="1386840" cy="198120"/>
          </a:xfrm>
        </p:grpSpPr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0820" y="1806267"/>
              <a:ext cx="197784" cy="19778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997085" y="18081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96987" y="0"/>
                  </a:move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97085" y="1808172"/>
              <a:ext cx="756285" cy="194310"/>
            </a:xfrm>
            <a:custGeom>
              <a:avLst/>
              <a:gdLst/>
              <a:ahLst/>
              <a:cxnLst/>
              <a:rect l="l" t="t" r="r" b="b"/>
              <a:pathLst>
                <a:path w="756285" h="194310">
                  <a:moveTo>
                    <a:pt x="193974" y="96987"/>
                  </a:move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close/>
                </a:path>
                <a:path w="756285" h="194310">
                  <a:moveTo>
                    <a:pt x="756003" y="96987"/>
                  </a:moveTo>
                  <a:lnTo>
                    <a:pt x="750921" y="71820"/>
                  </a:lnTo>
                  <a:lnTo>
                    <a:pt x="737065" y="51269"/>
                  </a:lnTo>
                  <a:lnTo>
                    <a:pt x="716513" y="37412"/>
                  </a:lnTo>
                  <a:lnTo>
                    <a:pt x="691347" y="32331"/>
                  </a:lnTo>
                  <a:lnTo>
                    <a:pt x="666180" y="37412"/>
                  </a:lnTo>
                  <a:lnTo>
                    <a:pt x="645629" y="51269"/>
                  </a:lnTo>
                  <a:lnTo>
                    <a:pt x="631772" y="71820"/>
                  </a:lnTo>
                  <a:lnTo>
                    <a:pt x="626691" y="96987"/>
                  </a:lnTo>
                  <a:lnTo>
                    <a:pt x="631772" y="122153"/>
                  </a:lnTo>
                  <a:lnTo>
                    <a:pt x="645629" y="142705"/>
                  </a:lnTo>
                  <a:lnTo>
                    <a:pt x="666180" y="156561"/>
                  </a:lnTo>
                  <a:lnTo>
                    <a:pt x="691347" y="161643"/>
                  </a:lnTo>
                  <a:lnTo>
                    <a:pt x="716513" y="156561"/>
                  </a:lnTo>
                  <a:lnTo>
                    <a:pt x="737065" y="142705"/>
                  </a:lnTo>
                  <a:lnTo>
                    <a:pt x="750921" y="122153"/>
                  </a:lnTo>
                  <a:lnTo>
                    <a:pt x="756003" y="96987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91445" y="18081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96987" y="0"/>
                  </a:move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91445" y="18081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193974" y="96987"/>
                  </a:move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23777" y="18405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64655" y="0"/>
                  </a:move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23777" y="18405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2162401" y="17629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e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56760" y="17629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n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274159" y="1769778"/>
            <a:ext cx="23431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other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812893" y="1769778"/>
            <a:ext cx="462915" cy="2343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1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keyword</a:t>
            </a:r>
            <a:r>
              <a:rPr sz="70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00" dirty="0">
                <a:latin typeface="Arial" panose="020B0604020202020204"/>
                <a:cs typeface="Arial" panose="020B0604020202020204"/>
              </a:rPr>
              <a:t>and</a:t>
            </a:r>
            <a:r>
              <a:rPr sz="7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retract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89240" y="2149167"/>
            <a:ext cx="2385060" cy="198120"/>
            <a:chOff x="1189240" y="2149167"/>
            <a:chExt cx="2385060" cy="198120"/>
          </a:xfrm>
        </p:grpSpPr>
        <p:sp>
          <p:nvSpPr>
            <p:cNvPr id="68" name="object 68"/>
            <p:cNvSpPr/>
            <p:nvPr/>
          </p:nvSpPr>
          <p:spPr>
            <a:xfrm>
              <a:off x="3094073" y="22480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539843" y="22366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310993" y="22480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756763" y="22366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905353" y="22480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51123" y="22366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499713" y="224806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580" y="0"/>
                  </a:lnTo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45483" y="2236629"/>
              <a:ext cx="34290" cy="22860"/>
            </a:xfrm>
            <a:custGeom>
              <a:avLst/>
              <a:gdLst/>
              <a:ahLst/>
              <a:cxnLst/>
              <a:rect l="l" t="t" r="r" b="b"/>
              <a:pathLst>
                <a:path w="34289" h="22860">
                  <a:moveTo>
                    <a:pt x="0" y="0"/>
                  </a:moveTo>
                  <a:lnTo>
                    <a:pt x="0" y="22860"/>
                  </a:lnTo>
                  <a:lnTo>
                    <a:pt x="34290" y="11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9240" y="2149167"/>
              <a:ext cx="197784" cy="19778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6460" y="2149167"/>
              <a:ext cx="197784" cy="19778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029417" y="21834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905101" y="208296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e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68041" y="21058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l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400820" y="2149167"/>
            <a:ext cx="1386840" cy="198120"/>
            <a:chOff x="2400820" y="2149167"/>
            <a:chExt cx="1386840" cy="198120"/>
          </a:xfrm>
        </p:grpSpPr>
        <p:pic>
          <p:nvPicPr>
            <p:cNvPr id="82" name="object 8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0820" y="2149167"/>
              <a:ext cx="197784" cy="197784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997085" y="21510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96987" y="0"/>
                  </a:move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997085" y="2151072"/>
              <a:ext cx="756285" cy="194310"/>
            </a:xfrm>
            <a:custGeom>
              <a:avLst/>
              <a:gdLst/>
              <a:ahLst/>
              <a:cxnLst/>
              <a:rect l="l" t="t" r="r" b="b"/>
              <a:pathLst>
                <a:path w="756285" h="194310">
                  <a:moveTo>
                    <a:pt x="193974" y="96987"/>
                  </a:move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close/>
                </a:path>
                <a:path w="756285" h="194310">
                  <a:moveTo>
                    <a:pt x="756003" y="96987"/>
                  </a:moveTo>
                  <a:lnTo>
                    <a:pt x="750921" y="71820"/>
                  </a:lnTo>
                  <a:lnTo>
                    <a:pt x="737065" y="51269"/>
                  </a:lnTo>
                  <a:lnTo>
                    <a:pt x="716513" y="37412"/>
                  </a:lnTo>
                  <a:lnTo>
                    <a:pt x="691347" y="32331"/>
                  </a:lnTo>
                  <a:lnTo>
                    <a:pt x="666180" y="37412"/>
                  </a:lnTo>
                  <a:lnTo>
                    <a:pt x="645629" y="51269"/>
                  </a:lnTo>
                  <a:lnTo>
                    <a:pt x="631772" y="71820"/>
                  </a:lnTo>
                  <a:lnTo>
                    <a:pt x="626691" y="96987"/>
                  </a:lnTo>
                  <a:lnTo>
                    <a:pt x="631772" y="122153"/>
                  </a:lnTo>
                  <a:lnTo>
                    <a:pt x="645629" y="142705"/>
                  </a:lnTo>
                  <a:lnTo>
                    <a:pt x="666180" y="156561"/>
                  </a:lnTo>
                  <a:lnTo>
                    <a:pt x="691347" y="161643"/>
                  </a:lnTo>
                  <a:lnTo>
                    <a:pt x="716513" y="156561"/>
                  </a:lnTo>
                  <a:lnTo>
                    <a:pt x="737065" y="142705"/>
                  </a:lnTo>
                  <a:lnTo>
                    <a:pt x="750921" y="122153"/>
                  </a:lnTo>
                  <a:lnTo>
                    <a:pt x="756003" y="96987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591445" y="21510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96987" y="0"/>
                  </a:move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591445" y="2151072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193974" y="96987"/>
                  </a:moveTo>
                  <a:lnTo>
                    <a:pt x="186352" y="59237"/>
                  </a:lnTo>
                  <a:lnTo>
                    <a:pt x="165566" y="28408"/>
                  </a:lnTo>
                  <a:lnTo>
                    <a:pt x="134737" y="7622"/>
                  </a:lnTo>
                  <a:lnTo>
                    <a:pt x="96987" y="0"/>
                  </a:lnTo>
                  <a:lnTo>
                    <a:pt x="59237" y="7622"/>
                  </a:lnTo>
                  <a:lnTo>
                    <a:pt x="28408" y="28408"/>
                  </a:lnTo>
                  <a:lnTo>
                    <a:pt x="7622" y="59237"/>
                  </a:lnTo>
                  <a:lnTo>
                    <a:pt x="0" y="96987"/>
                  </a:lnTo>
                  <a:lnTo>
                    <a:pt x="7622" y="134737"/>
                  </a:lnTo>
                  <a:lnTo>
                    <a:pt x="28408" y="165566"/>
                  </a:lnTo>
                  <a:lnTo>
                    <a:pt x="59237" y="186352"/>
                  </a:lnTo>
                  <a:lnTo>
                    <a:pt x="96987" y="193974"/>
                  </a:lnTo>
                  <a:lnTo>
                    <a:pt x="134737" y="186352"/>
                  </a:lnTo>
                  <a:lnTo>
                    <a:pt x="165566" y="165566"/>
                  </a:lnTo>
                  <a:lnTo>
                    <a:pt x="186352" y="134737"/>
                  </a:lnTo>
                  <a:lnTo>
                    <a:pt x="193974" y="96987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23777" y="21834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64655" y="0"/>
                  </a:move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623777" y="2183404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311" y="64655"/>
                  </a:moveTo>
                  <a:lnTo>
                    <a:pt x="124230" y="39489"/>
                  </a:lnTo>
                  <a:lnTo>
                    <a:pt x="110373" y="18937"/>
                  </a:lnTo>
                  <a:lnTo>
                    <a:pt x="89822" y="5081"/>
                  </a:lnTo>
                  <a:lnTo>
                    <a:pt x="64655" y="0"/>
                  </a:lnTo>
                  <a:lnTo>
                    <a:pt x="39489" y="5081"/>
                  </a:lnTo>
                  <a:lnTo>
                    <a:pt x="18937" y="18937"/>
                  </a:lnTo>
                  <a:lnTo>
                    <a:pt x="5081" y="39489"/>
                  </a:lnTo>
                  <a:lnTo>
                    <a:pt x="0" y="64655"/>
                  </a:lnTo>
                  <a:lnTo>
                    <a:pt x="5081" y="89822"/>
                  </a:lnTo>
                  <a:lnTo>
                    <a:pt x="18937" y="110373"/>
                  </a:lnTo>
                  <a:lnTo>
                    <a:pt x="39489" y="124230"/>
                  </a:lnTo>
                  <a:lnTo>
                    <a:pt x="64655" y="129311"/>
                  </a:lnTo>
                  <a:lnTo>
                    <a:pt x="89822" y="124230"/>
                  </a:lnTo>
                  <a:lnTo>
                    <a:pt x="110373" y="110373"/>
                  </a:lnTo>
                  <a:lnTo>
                    <a:pt x="124230" y="89822"/>
                  </a:lnTo>
                  <a:lnTo>
                    <a:pt x="129311" y="64655"/>
                  </a:lnTo>
                  <a:close/>
                </a:path>
              </a:pathLst>
            </a:custGeom>
            <a:ln w="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2162401" y="21058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s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756760" y="2105820"/>
            <a:ext cx="806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Courier New" panose="02070309020205020404"/>
                <a:cs typeface="Courier New" panose="02070309020205020404"/>
              </a:rPr>
              <a:t>e</a:t>
            </a:r>
            <a:endParaRPr sz="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274159" y="2112678"/>
            <a:ext cx="23431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other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812893" y="2112678"/>
            <a:ext cx="462915" cy="2343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195"/>
              </a:spcBef>
            </a:pPr>
            <a:r>
              <a:rPr sz="700" spc="-10" dirty="0">
                <a:latin typeface="Arial" panose="020B0604020202020204"/>
                <a:cs typeface="Arial" panose="020B0604020202020204"/>
              </a:rPr>
              <a:t>keyword</a:t>
            </a:r>
            <a:r>
              <a:rPr sz="70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00" dirty="0">
                <a:latin typeface="Arial" panose="020B0604020202020204"/>
                <a:cs typeface="Arial" panose="020B0604020202020204"/>
              </a:rPr>
              <a:t>and</a:t>
            </a:r>
            <a:r>
              <a:rPr sz="7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700" spc="-10" dirty="0">
                <a:latin typeface="Arial" panose="020B0604020202020204"/>
                <a:cs typeface="Arial" panose="020B0604020202020204"/>
              </a:rPr>
              <a:t>retract</a:t>
            </a:r>
            <a:endParaRPr sz="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69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Transition</a:t>
            </a:r>
            <a:r>
              <a:rPr sz="600" b="1" spc="3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Diagrams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Transition</a:t>
            </a:r>
            <a:r>
              <a:rPr spc="145" dirty="0"/>
              <a:t>  </a:t>
            </a:r>
            <a:r>
              <a:rPr spc="40" dirty="0"/>
              <a:t>Diagrams</a:t>
            </a:r>
            <a:endParaRPr spc="4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51267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9450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Draw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transition</a:t>
            </a:r>
            <a:r>
              <a:rPr spc="10" dirty="0"/>
              <a:t> </a:t>
            </a:r>
            <a:r>
              <a:rPr spc="-25" dirty="0"/>
              <a:t>diagram</a:t>
            </a:r>
            <a:r>
              <a:rPr spc="10" dirty="0"/>
              <a:t> </a:t>
            </a:r>
            <a:r>
              <a:rPr dirty="0"/>
              <a:t>for</a:t>
            </a:r>
            <a:r>
              <a:rPr spc="10" dirty="0"/>
              <a:t> </a:t>
            </a:r>
            <a:r>
              <a:rPr spc="-10" dirty="0"/>
              <a:t>numbers</a:t>
            </a:r>
            <a:endParaRPr spc="-10" dirty="0"/>
          </a:p>
          <a:p>
            <a:pPr marL="1168400">
              <a:lnSpc>
                <a:spcPct val="100000"/>
              </a:lnSpc>
              <a:spcBef>
                <a:spcPts val="1130"/>
              </a:spcBef>
            </a:pP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</a:t>
            </a:r>
            <a:r>
              <a:rPr i="1" spc="-4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pc="50" dirty="0">
                <a:solidFill>
                  <a:srgbClr val="0000CC"/>
                </a:solidFill>
              </a:rPr>
              <a:t>0-</a:t>
            </a:r>
            <a:r>
              <a:rPr spc="-25" dirty="0">
                <a:solidFill>
                  <a:srgbClr val="0000CC"/>
                </a:solidFill>
              </a:rPr>
              <a:t>9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]</a:t>
            </a:r>
            <a:endParaRPr spc="-25" dirty="0">
              <a:solidFill>
                <a:srgbClr val="0000CC"/>
              </a:solidFill>
              <a:latin typeface="Arial" panose="020B0604020202020204"/>
              <a:cs typeface="Arial" panose="020B0604020202020204"/>
            </a:endParaRPr>
          </a:p>
          <a:p>
            <a:pPr marL="1103630">
              <a:lnSpc>
                <a:spcPct val="100000"/>
              </a:lnSpc>
              <a:spcBef>
                <a:spcPts val="335"/>
              </a:spcBef>
            </a:pP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i="1" spc="-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</a:t>
            </a:r>
            <a:r>
              <a:rPr sz="1200" spc="-15" baseline="3100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+</a:t>
            </a:r>
            <a:endParaRPr sz="1200" baseline="31000">
              <a:latin typeface="Verdana" panose="020B0604030504040204"/>
              <a:cs typeface="Verdana" panose="020B0604030504040204"/>
            </a:endParaRPr>
          </a:p>
          <a:p>
            <a:pPr marL="982345">
              <a:lnSpc>
                <a:spcPct val="100000"/>
              </a:lnSpc>
              <a:spcBef>
                <a:spcPts val="335"/>
              </a:spcBef>
            </a:pPr>
            <a:r>
              <a:rPr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number</a:t>
            </a:r>
            <a:r>
              <a:rPr i="1" spc="-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i="1" spc="-3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)?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dirty="0">
                <a:solidFill>
                  <a:srgbClr val="0000CC"/>
                </a:solidFill>
              </a:rPr>
              <a:t>E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spc="7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pc="70" dirty="0">
                <a:solidFill>
                  <a:srgbClr val="0000CC"/>
                </a:solidFill>
              </a:rPr>
              <a:t>+-</a:t>
            </a:r>
            <a:r>
              <a:rPr spc="-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]?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digits</a:t>
            </a: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)?</a:t>
            </a:r>
            <a:endParaRPr spc="-10" dirty="0">
              <a:solidFill>
                <a:srgbClr val="0000CC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1395"/>
            <a:ext cx="4610100" cy="1457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5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Writing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Lexer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A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Class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of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143446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The</a:t>
            </a:r>
            <a:r>
              <a:rPr sz="1100" spc="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Input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Transition</a:t>
            </a:r>
            <a:r>
              <a:rPr sz="1100" spc="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09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Writing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5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Writing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Lexer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Writing</a:t>
            </a:r>
            <a:r>
              <a:rPr spc="195" dirty="0"/>
              <a:t> </a:t>
            </a:r>
            <a:r>
              <a:rPr spc="80" dirty="0"/>
              <a:t>the</a:t>
            </a:r>
            <a:r>
              <a:rPr spc="200" dirty="0"/>
              <a:t> </a:t>
            </a:r>
            <a:r>
              <a:rPr spc="60" dirty="0"/>
              <a:t>Lexer</a:t>
            </a:r>
            <a:endParaRPr spc="6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41781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41640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831454"/>
            <a:ext cx="52527" cy="525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055291"/>
            <a:ext cx="52527" cy="525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9685" rIns="0" bIns="0" rtlCol="0">
            <a:spAutoFit/>
          </a:bodyPr>
          <a:lstStyle/>
          <a:p>
            <a:pPr marL="300355" marR="5080">
              <a:lnSpc>
                <a:spcPct val="134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45" dirty="0"/>
              <a:t> </a:t>
            </a:r>
            <a:r>
              <a:rPr dirty="0"/>
              <a:t>lexer</a:t>
            </a:r>
            <a:r>
              <a:rPr spc="5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30" dirty="0"/>
              <a:t>program</a:t>
            </a:r>
            <a:r>
              <a:rPr spc="45" dirty="0"/>
              <a:t> </a:t>
            </a:r>
            <a:r>
              <a:rPr dirty="0"/>
              <a:t>that</a:t>
            </a:r>
            <a:r>
              <a:rPr spc="50" dirty="0"/>
              <a:t> </a:t>
            </a:r>
            <a:r>
              <a:rPr spc="-30" dirty="0"/>
              <a:t>implements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transition</a:t>
            </a:r>
            <a:r>
              <a:rPr spc="45" dirty="0"/>
              <a:t> </a:t>
            </a:r>
            <a:r>
              <a:rPr spc="-25" dirty="0"/>
              <a:t>diagram. </a:t>
            </a:r>
            <a:r>
              <a:rPr dirty="0"/>
              <a:t>We</a:t>
            </a:r>
            <a:r>
              <a:rPr spc="-25" dirty="0"/>
              <a:t> could use</a:t>
            </a:r>
            <a:endParaRPr spc="-25" dirty="0"/>
          </a:p>
          <a:p>
            <a:pPr marL="577215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A</a:t>
            </a:r>
            <a:r>
              <a:rPr sz="1000" spc="90" dirty="0"/>
              <a:t> </a:t>
            </a:r>
            <a:r>
              <a:rPr sz="1000" b="1" dirty="0">
                <a:latin typeface="Palatino Linotype" panose="02040502050505030304"/>
                <a:cs typeface="Palatino Linotype" panose="02040502050505030304"/>
              </a:rPr>
              <a:t>switch</a:t>
            </a:r>
            <a:r>
              <a:rPr sz="1000" b="1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dirty="0"/>
              <a:t>statement,</a:t>
            </a:r>
            <a:r>
              <a:rPr sz="1000" spc="95" dirty="0"/>
              <a:t> </a:t>
            </a:r>
            <a:r>
              <a:rPr sz="1000" spc="-10" dirty="0"/>
              <a:t>and/or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  <a:p>
            <a:pPr marL="577215">
              <a:lnSpc>
                <a:spcPct val="100000"/>
              </a:lnSpc>
              <a:spcBef>
                <a:spcPts val="565"/>
              </a:spcBef>
            </a:pPr>
            <a:r>
              <a:rPr sz="1000" dirty="0"/>
              <a:t>An</a:t>
            </a:r>
            <a:r>
              <a:rPr sz="1000" spc="50" dirty="0"/>
              <a:t> </a:t>
            </a:r>
            <a:r>
              <a:rPr sz="1000" b="1" spc="95" dirty="0">
                <a:latin typeface="Palatino Linotype" panose="02040502050505030304"/>
                <a:cs typeface="Palatino Linotype" panose="02040502050505030304"/>
              </a:rPr>
              <a:t>if-</a:t>
            </a:r>
            <a:r>
              <a:rPr sz="1000" b="1" spc="125" dirty="0">
                <a:latin typeface="Palatino Linotype" panose="02040502050505030304"/>
                <a:cs typeface="Palatino Linotype" panose="02040502050505030304"/>
              </a:rPr>
              <a:t>else</a:t>
            </a:r>
            <a:r>
              <a:rPr sz="1000" b="1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000" spc="-10" dirty="0"/>
              <a:t>structure.</a:t>
            </a:r>
            <a:endParaRPr sz="10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855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Writing</a:t>
            </a:r>
            <a:r>
              <a:rPr sz="600" b="1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the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Lexer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Writing</a:t>
            </a:r>
            <a:r>
              <a:rPr spc="195" dirty="0"/>
              <a:t> </a:t>
            </a:r>
            <a:r>
              <a:rPr spc="80" dirty="0"/>
              <a:t>the</a:t>
            </a:r>
            <a:r>
              <a:rPr spc="200" dirty="0"/>
              <a:t> </a:t>
            </a:r>
            <a:r>
              <a:rPr spc="60" dirty="0"/>
              <a:t>Lexer</a:t>
            </a:r>
            <a:endParaRPr spc="6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567650"/>
            <a:ext cx="2175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Lexer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Relational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Operators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627316"/>
            <a:ext cx="4483735" cy="2778760"/>
            <a:chOff x="87743" y="627316"/>
            <a:chExt cx="4483735" cy="27787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58418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3304273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3291573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27329"/>
              <a:ext cx="50800" cy="26769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802678"/>
              <a:ext cx="4432935" cy="2552700"/>
            </a:xfrm>
            <a:custGeom>
              <a:avLst/>
              <a:gdLst/>
              <a:ahLst/>
              <a:cxnLst/>
              <a:rect l="l" t="t" r="r" b="b"/>
              <a:pathLst>
                <a:path w="4432935" h="2552700">
                  <a:moveTo>
                    <a:pt x="4432567" y="0"/>
                  </a:moveTo>
                  <a:lnTo>
                    <a:pt x="0" y="0"/>
                  </a:lnTo>
                  <a:lnTo>
                    <a:pt x="0" y="2501595"/>
                  </a:lnTo>
                  <a:lnTo>
                    <a:pt x="4008" y="2521319"/>
                  </a:lnTo>
                  <a:lnTo>
                    <a:pt x="14922" y="2537472"/>
                  </a:lnTo>
                  <a:lnTo>
                    <a:pt x="31075" y="2548387"/>
                  </a:lnTo>
                  <a:lnTo>
                    <a:pt x="50800" y="2552395"/>
                  </a:lnTo>
                  <a:lnTo>
                    <a:pt x="4381767" y="2552395"/>
                  </a:lnTo>
                  <a:lnTo>
                    <a:pt x="4401492" y="2548387"/>
                  </a:lnTo>
                  <a:lnTo>
                    <a:pt x="4417644" y="2537472"/>
                  </a:lnTo>
                  <a:lnTo>
                    <a:pt x="4428558" y="2521319"/>
                  </a:lnTo>
                  <a:lnTo>
                    <a:pt x="4432567" y="250159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665416"/>
              <a:ext cx="0" cy="2658110"/>
            </a:xfrm>
            <a:custGeom>
              <a:avLst/>
              <a:gdLst/>
              <a:ahLst/>
              <a:cxnLst/>
              <a:rect l="l" t="t" r="r" b="b"/>
              <a:pathLst>
                <a:path h="2658110">
                  <a:moveTo>
                    <a:pt x="0" y="26579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6527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6400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62731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5844" y="784338"/>
            <a:ext cx="2440305" cy="255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Token</a:t>
            </a:r>
            <a:r>
              <a:rPr sz="8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40" dirty="0">
                <a:latin typeface="Palatino Linotype" panose="02040502050505030304"/>
                <a:cs typeface="Palatino Linotype" panose="02040502050505030304"/>
              </a:rPr>
              <a:t>getRelop()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94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227330">
              <a:lnSpc>
                <a:spcPts val="945"/>
              </a:lnSpc>
            </a:pPr>
            <a:r>
              <a:rPr sz="800" b="1" spc="75" dirty="0">
                <a:latin typeface="Palatino Linotype" panose="02040502050505030304"/>
                <a:cs typeface="Palatino Linotype" panose="02040502050505030304"/>
              </a:rPr>
              <a:t>int</a:t>
            </a:r>
            <a:r>
              <a:rPr sz="8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8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5" dirty="0">
                <a:latin typeface="Palatino Linotype" panose="02040502050505030304"/>
                <a:cs typeface="Palatino Linotype" panose="02040502050505030304"/>
              </a:rPr>
              <a:t>0;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227330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char</a:t>
            </a:r>
            <a:r>
              <a:rPr sz="800" b="1" spc="2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7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800" spc="2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get_next_symbol();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227330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while</a:t>
            </a:r>
            <a:r>
              <a:rPr sz="8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14" dirty="0">
                <a:latin typeface="Palatino Linotype" panose="02040502050505030304"/>
                <a:cs typeface="Palatino Linotype" panose="02040502050505030304"/>
              </a:rPr>
              <a:t>(c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'&lt;'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||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7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'='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||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70" dirty="0">
                <a:latin typeface="Palatino Linotype" panose="02040502050505030304"/>
                <a:cs typeface="Palatino Linotype" panose="02040502050505030304"/>
              </a:rPr>
              <a:t>c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55" dirty="0">
                <a:latin typeface="Palatino Linotype" panose="02040502050505030304"/>
                <a:cs typeface="Palatino Linotype" panose="02040502050505030304"/>
              </a:rPr>
              <a:t>'&gt;')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227330">
              <a:lnSpc>
                <a:spcPts val="94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442595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switch</a:t>
            </a:r>
            <a:r>
              <a:rPr sz="800" b="1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(state)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442595">
              <a:lnSpc>
                <a:spcPts val="94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{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657225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case</a:t>
            </a:r>
            <a:r>
              <a:rPr sz="800" b="1" spc="3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85" dirty="0">
                <a:latin typeface="Palatino Linotype" panose="02040502050505030304"/>
                <a:cs typeface="Palatino Linotype" panose="02040502050505030304"/>
              </a:rPr>
              <a:t>0: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872490" algn="just">
              <a:lnSpc>
                <a:spcPts val="945"/>
              </a:lnSpc>
            </a:pPr>
            <a:r>
              <a:rPr sz="800" b="1" spc="12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8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14" dirty="0">
                <a:latin typeface="Palatino Linotype" panose="02040502050505030304"/>
                <a:cs typeface="Palatino Linotype" panose="02040502050505030304"/>
              </a:rPr>
              <a:t>(c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75" dirty="0">
                <a:latin typeface="Palatino Linotype" panose="02040502050505030304"/>
                <a:cs typeface="Palatino Linotype" panose="02040502050505030304"/>
              </a:rPr>
              <a:t>'&lt;')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8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5" dirty="0">
                <a:latin typeface="Palatino Linotype" panose="02040502050505030304"/>
                <a:cs typeface="Palatino Linotype" panose="02040502050505030304"/>
              </a:rPr>
              <a:t>1;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872490" marR="5080" algn="just">
              <a:lnSpc>
                <a:spcPts val="950"/>
              </a:lnSpc>
              <a:spcBef>
                <a:spcPts val="35"/>
              </a:spcBef>
            </a:pPr>
            <a:r>
              <a:rPr sz="800" b="1" spc="60" dirty="0">
                <a:latin typeface="Palatino Linotype" panose="02040502050505030304"/>
                <a:cs typeface="Palatino Linotype" panose="02040502050505030304"/>
              </a:rPr>
              <a:t>else</a:t>
            </a:r>
            <a:r>
              <a:rPr sz="8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b="1" spc="12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8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14" dirty="0">
                <a:latin typeface="Palatino Linotype" panose="02040502050505030304"/>
                <a:cs typeface="Palatino Linotype" panose="02040502050505030304"/>
              </a:rPr>
              <a:t>(c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75" dirty="0">
                <a:latin typeface="Palatino Linotype" panose="02040502050505030304"/>
                <a:cs typeface="Palatino Linotype" panose="02040502050505030304"/>
              </a:rPr>
              <a:t>'=')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8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5" dirty="0">
                <a:latin typeface="Palatino Linotype" panose="02040502050505030304"/>
                <a:cs typeface="Palatino Linotype" panose="02040502050505030304"/>
              </a:rPr>
              <a:t>2; </a:t>
            </a:r>
            <a:r>
              <a:rPr sz="800" b="1" spc="60" dirty="0">
                <a:latin typeface="Palatino Linotype" panose="02040502050505030304"/>
                <a:cs typeface="Palatino Linotype" panose="02040502050505030304"/>
              </a:rPr>
              <a:t>else</a:t>
            </a:r>
            <a:r>
              <a:rPr sz="8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b="1" spc="125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8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14" dirty="0">
                <a:latin typeface="Palatino Linotype" panose="02040502050505030304"/>
                <a:cs typeface="Palatino Linotype" panose="02040502050505030304"/>
              </a:rPr>
              <a:t>(c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==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75" dirty="0">
                <a:latin typeface="Palatino Linotype" panose="02040502050505030304"/>
                <a:cs typeface="Palatino Linotype" panose="02040502050505030304"/>
              </a:rPr>
              <a:t>'&gt;')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0" dirty="0">
                <a:latin typeface="Palatino Linotype" panose="02040502050505030304"/>
                <a:cs typeface="Palatino Linotype" panose="02040502050505030304"/>
              </a:rPr>
              <a:t>state</a:t>
            </a:r>
            <a:r>
              <a:rPr sz="8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8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95" dirty="0">
                <a:latin typeface="Palatino Linotype" panose="02040502050505030304"/>
                <a:cs typeface="Palatino Linotype" panose="02040502050505030304"/>
              </a:rPr>
              <a:t>3; </a:t>
            </a:r>
            <a:r>
              <a:rPr sz="800" b="1" spc="60" dirty="0">
                <a:latin typeface="Palatino Linotype" panose="02040502050505030304"/>
                <a:cs typeface="Palatino Linotype" panose="02040502050505030304"/>
              </a:rPr>
              <a:t>else</a:t>
            </a:r>
            <a:r>
              <a:rPr sz="8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145" dirty="0">
                <a:latin typeface="Palatino Linotype" panose="02040502050505030304"/>
                <a:cs typeface="Palatino Linotype" panose="02040502050505030304"/>
              </a:rPr>
              <a:t>fail();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872490">
              <a:lnSpc>
                <a:spcPts val="905"/>
              </a:lnSpc>
            </a:pPr>
            <a:r>
              <a:rPr sz="800" b="1" spc="-10" dirty="0">
                <a:latin typeface="Palatino Linotype" panose="02040502050505030304"/>
                <a:cs typeface="Palatino Linotype" panose="02040502050505030304"/>
              </a:rPr>
              <a:t>break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657225">
              <a:lnSpc>
                <a:spcPts val="945"/>
              </a:lnSpc>
            </a:pPr>
            <a:r>
              <a:rPr sz="800" spc="195" dirty="0">
                <a:latin typeface="Palatino Linotype" panose="02040502050505030304"/>
                <a:cs typeface="Palatino Linotype" panose="02040502050505030304"/>
              </a:rPr>
              <a:t>...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657225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case</a:t>
            </a:r>
            <a:r>
              <a:rPr sz="800" b="1" spc="3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85" dirty="0">
                <a:latin typeface="Palatino Linotype" panose="02040502050505030304"/>
                <a:cs typeface="Palatino Linotype" panose="02040502050505030304"/>
              </a:rPr>
              <a:t>8: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872490">
              <a:lnSpc>
                <a:spcPts val="945"/>
              </a:lnSpc>
            </a:pPr>
            <a:r>
              <a:rPr sz="800" spc="110" dirty="0">
                <a:latin typeface="Palatino Linotype" panose="02040502050505030304"/>
                <a:cs typeface="Palatino Linotype" panose="02040502050505030304"/>
              </a:rPr>
              <a:t>retract();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872490">
              <a:lnSpc>
                <a:spcPts val="945"/>
              </a:lnSpc>
            </a:pPr>
            <a:r>
              <a:rPr sz="800" b="1" dirty="0">
                <a:latin typeface="Palatino Linotype" panose="02040502050505030304"/>
                <a:cs typeface="Palatino Linotype" panose="02040502050505030304"/>
              </a:rPr>
              <a:t>return</a:t>
            </a:r>
            <a:r>
              <a:rPr sz="800" b="1" spc="4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Token(GT);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442595">
              <a:lnSpc>
                <a:spcPts val="94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227330">
              <a:lnSpc>
                <a:spcPts val="94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ts val="955"/>
              </a:lnSpc>
            </a:pPr>
            <a:r>
              <a:rPr sz="800" spc="100" dirty="0">
                <a:latin typeface="Palatino Linotype" panose="02040502050505030304"/>
                <a:cs typeface="Palatino Linotype" panose="02040502050505030304"/>
              </a:rPr>
              <a:t>}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668502" y="1239635"/>
            <a:ext cx="13055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100" dirty="0">
                <a:latin typeface="Book Antiqua" panose="02040602050305030304"/>
                <a:cs typeface="Book Antiqua" panose="02040602050305030304"/>
              </a:rPr>
              <a:t>flex/lex</a:t>
            </a:r>
            <a:r>
              <a:rPr sz="1100" b="1" spc="5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-204" dirty="0">
                <a:latin typeface="Book Antiqua" panose="02040602050305030304"/>
                <a:cs typeface="Book Antiqua" panose="02040602050305030304"/>
              </a:rPr>
              <a:t>—</a:t>
            </a:r>
            <a:r>
              <a:rPr sz="1100" b="1" spc="10" dirty="0"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spc="60" dirty="0">
                <a:latin typeface="Book Antiqua" panose="02040602050305030304"/>
                <a:cs typeface="Book Antiqua" panose="02040602050305030304"/>
              </a:rPr>
              <a:t>regular</a:t>
            </a:r>
            <a:endParaRPr sz="1100">
              <a:latin typeface="Book Antiqua" panose="02040602050305030304"/>
              <a:cs typeface="Book Antiqua" panose="020406020503050303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A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Class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of</a:t>
            </a:r>
            <a:r>
              <a:rPr sz="1100" spc="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Tokens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143446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The</a:t>
            </a:r>
            <a:r>
              <a:rPr sz="1100" spc="6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Input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Buffer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Transition</a:t>
            </a:r>
            <a:r>
              <a:rPr sz="1100" spc="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Diagrams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109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Writing</a:t>
            </a:r>
            <a:r>
              <a:rPr sz="1100" spc="1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the</a:t>
            </a:r>
            <a:r>
              <a:rPr sz="1100" spc="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Lexer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1068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Assignment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447393"/>
            <a:ext cx="4483735" cy="643890"/>
            <a:chOff x="87743" y="1447393"/>
            <a:chExt cx="4483735" cy="6438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581658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89670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76970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447393"/>
              <a:ext cx="50800" cy="5422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625939"/>
              <a:ext cx="4432935" cy="414655"/>
            </a:xfrm>
            <a:custGeom>
              <a:avLst/>
              <a:gdLst/>
              <a:ahLst/>
              <a:cxnLst/>
              <a:rect l="l" t="t" r="r" b="b"/>
              <a:pathLst>
                <a:path w="4432935" h="414655">
                  <a:moveTo>
                    <a:pt x="4432567" y="0"/>
                  </a:moveTo>
                  <a:lnTo>
                    <a:pt x="0" y="0"/>
                  </a:lnTo>
                  <a:lnTo>
                    <a:pt x="0" y="363731"/>
                  </a:lnTo>
                  <a:lnTo>
                    <a:pt x="4008" y="383456"/>
                  </a:lnTo>
                  <a:lnTo>
                    <a:pt x="14922" y="399609"/>
                  </a:lnTo>
                  <a:lnTo>
                    <a:pt x="31075" y="410523"/>
                  </a:lnTo>
                  <a:lnTo>
                    <a:pt x="50800" y="414532"/>
                  </a:lnTo>
                  <a:lnTo>
                    <a:pt x="4381767" y="414532"/>
                  </a:lnTo>
                  <a:lnTo>
                    <a:pt x="4401492" y="410523"/>
                  </a:lnTo>
                  <a:lnTo>
                    <a:pt x="4417644" y="399609"/>
                  </a:lnTo>
                  <a:lnTo>
                    <a:pt x="4428558" y="383456"/>
                  </a:lnTo>
                  <a:lnTo>
                    <a:pt x="4432567" y="36373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485498"/>
              <a:ext cx="0" cy="523240"/>
            </a:xfrm>
            <a:custGeom>
              <a:avLst/>
              <a:gdLst/>
              <a:ahLst/>
              <a:cxnLst/>
              <a:rect l="l" t="t" r="r" b="b"/>
              <a:pathLst>
                <a:path h="523239">
                  <a:moveTo>
                    <a:pt x="0" y="523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4727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4600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4473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681200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925269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844" y="1347023"/>
            <a:ext cx="1610995" cy="6864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Read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3.4.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Exercises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3.4.1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3.4.2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9296" y="3318429"/>
            <a:ext cx="1048385" cy="1365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Recognition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of</a:t>
            </a:r>
            <a:r>
              <a:rPr sz="600" b="1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Tokens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2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3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4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5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6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7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8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9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10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233.3520472440945}"/>
</p:tagLst>
</file>

<file path=ppt/tags/tag11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2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3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4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5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6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7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8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19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ags/tag20.xml><?xml version="1.0" encoding="utf-8"?>
<p:tagLst xmlns:p="http://schemas.openxmlformats.org/presentationml/2006/main">
  <p:tag name="KSO_WM_DIAGRAM_VIRTUALLY_FRAME" val="{&quot;height&quot;:110.11905511811024,&quot;left&quot;:7.147952755905512,&quot;top&quot;:72.36685039370079,&quot;width&quot;:154.8020472440944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9258</Words>
  <Application>WPS Presentation</Application>
  <PresentationFormat>On-screen Show (4:3)</PresentationFormat>
  <Paragraphs>930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Arial</vt:lpstr>
      <vt:lpstr>SimSun</vt:lpstr>
      <vt:lpstr>Wingdings</vt:lpstr>
      <vt:lpstr>Palatino Linotype</vt:lpstr>
      <vt:lpstr>Georgia</vt:lpstr>
      <vt:lpstr>Comic Sans MS</vt:lpstr>
      <vt:lpstr>Bookman Old Style</vt:lpstr>
      <vt:lpstr>Times New Roman</vt:lpstr>
      <vt:lpstr>Arial</vt:lpstr>
      <vt:lpstr>Verdana</vt:lpstr>
      <vt:lpstr>Cambria</vt:lpstr>
      <vt:lpstr>Microsoft YaHei</vt:lpstr>
      <vt:lpstr>Arial Unicode MS</vt:lpstr>
      <vt:lpstr>Calibri</vt:lpstr>
      <vt:lpstr>Book Antiqua</vt:lpstr>
      <vt:lpstr>Courier New</vt:lpstr>
      <vt:lpstr>Office Theme</vt:lpstr>
      <vt:lpstr>Recognition of Tokens</vt:lpstr>
      <vt:lpstr>PowerPoint 演示文稿</vt:lpstr>
      <vt:lpstr>Outline</vt:lpstr>
      <vt:lpstr>A Class of Tokens</vt:lpstr>
      <vt:lpstr>Whitespace</vt:lpstr>
      <vt:lpstr>Whitespace</vt:lpstr>
      <vt:lpstr>Outline</vt:lpstr>
      <vt:lpstr>The Input Buffer</vt:lpstr>
      <vt:lpstr>The Input Buffer:  Buffer Pairs</vt:lpstr>
      <vt:lpstr>The Input Buffer:  Buffer Pairs</vt:lpstr>
      <vt:lpstr>The Input Buffer:  Buffer Pairs</vt:lpstr>
      <vt:lpstr>The Input Buffer:  Buffer Pairs</vt:lpstr>
      <vt:lpstr>The Input Buffer:  Buffer Pairs</vt:lpstr>
      <vt:lpstr>The Input Buffer:  Buffer Pairs</vt:lpstr>
      <vt:lpstr>The Input Buffer</vt:lpstr>
      <vt:lpstr>The Input Buffer</vt:lpstr>
      <vt:lpstr>The Input Buffer</vt:lpstr>
      <vt:lpstr>The Input Buffer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Input Buffer</vt:lpstr>
      <vt:lpstr>The Input Buffer</vt:lpstr>
      <vt:lpstr>Outline</vt:lpstr>
      <vt:lpstr>Transition  Diagrams</vt:lpstr>
      <vt:lpstr>Transition  Diagrams</vt:lpstr>
      <vt:lpstr>Transition  Diagrams</vt:lpstr>
      <vt:lpstr>Transition  Diagrams</vt:lpstr>
      <vt:lpstr>Transition  Diagrams</vt:lpstr>
      <vt:lpstr>Transition  Diagrams</vt:lpstr>
      <vt:lpstr>PowerPoint 演示文稿</vt:lpstr>
      <vt:lpstr>Outline</vt:lpstr>
      <vt:lpstr>Writing the Lexer</vt:lpstr>
      <vt:lpstr>Writing the Lexer</vt:lpstr>
      <vt:lpstr>Outline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Recognition of Tokens</dc:title>
  <dc:creator>Rokan Uddin Faruqui </dc:creator>
  <cp:lastModifiedBy>Sharifunnaher Snigdha</cp:lastModifiedBy>
  <cp:revision>3</cp:revision>
  <dcterms:created xsi:type="dcterms:W3CDTF">2025-11-25T14:26:58Z</dcterms:created>
  <dcterms:modified xsi:type="dcterms:W3CDTF">2025-11-25T16:35:01Z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2020-01-15T06:00:00Z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2025-11-25T06:00:00Z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CFA932F34B054BA2BE25CCAB92361353_12</vt:lpwstr>
  </property>
  <property fmtid="{D5CDD505-2E9C-101B-9397-08002B2CF9AE}" pid="7" name="KSOProductBuildVer">
    <vt:lpwstr>1033-12.2.0.23155</vt:lpwstr>
  </property>
</Properties>
</file>