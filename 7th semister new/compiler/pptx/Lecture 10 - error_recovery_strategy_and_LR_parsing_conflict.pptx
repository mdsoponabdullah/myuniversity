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1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1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4943"/>
            <a:ext cx="2709545" cy="4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209228"/>
            <a:ext cx="2117090" cy="1075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99203" y="3351784"/>
            <a:ext cx="2540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#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" Target="slide28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28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28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slide" Target="slide28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" Target="slide28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slide" Target="slide28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2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" Target="slide28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" Target="slide28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8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28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8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slide" Target="slide28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slide" Target="slide28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slide" Target="slide28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28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slide" Target="slide28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slide" Target="slide28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" Target="slide28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8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slide" Target="slide2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743" y="789711"/>
            <a:ext cx="4483735" cy="737870"/>
            <a:chOff x="87743" y="789711"/>
            <a:chExt cx="4483735" cy="737870"/>
          </a:xfrm>
        </p:grpSpPr>
        <p:sp>
          <p:nvSpPr>
            <p:cNvPr id="3" name="object 3" descr=""/>
            <p:cNvSpPr/>
            <p:nvPr/>
          </p:nvSpPr>
          <p:spPr>
            <a:xfrm>
              <a:off x="87743" y="789711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8544" y="852968"/>
              <a:ext cx="4432935" cy="674370"/>
            </a:xfrm>
            <a:custGeom>
              <a:avLst/>
              <a:gdLst/>
              <a:ahLst/>
              <a:cxnLst/>
              <a:rect l="l" t="t" r="r" b="b"/>
              <a:pathLst>
                <a:path w="4432935" h="674369">
                  <a:moveTo>
                    <a:pt x="4432566" y="0"/>
                  </a:moveTo>
                  <a:lnTo>
                    <a:pt x="0" y="0"/>
                  </a:lnTo>
                  <a:lnTo>
                    <a:pt x="0" y="674283"/>
                  </a:lnTo>
                  <a:lnTo>
                    <a:pt x="4432566" y="67428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743" y="834132"/>
              <a:ext cx="4432935" cy="642620"/>
            </a:xfrm>
            <a:custGeom>
              <a:avLst/>
              <a:gdLst/>
              <a:ahLst/>
              <a:cxnLst/>
              <a:rect l="l" t="t" r="r" b="b"/>
              <a:pathLst>
                <a:path w="4432935" h="642619">
                  <a:moveTo>
                    <a:pt x="4432567" y="0"/>
                  </a:moveTo>
                  <a:lnTo>
                    <a:pt x="0" y="0"/>
                  </a:lnTo>
                  <a:lnTo>
                    <a:pt x="0" y="591519"/>
                  </a:lnTo>
                  <a:lnTo>
                    <a:pt x="4008" y="611243"/>
                  </a:lnTo>
                  <a:lnTo>
                    <a:pt x="14922" y="627396"/>
                  </a:lnTo>
                  <a:lnTo>
                    <a:pt x="31075" y="638310"/>
                  </a:lnTo>
                  <a:lnTo>
                    <a:pt x="50800" y="642319"/>
                  </a:lnTo>
                  <a:lnTo>
                    <a:pt x="4381767" y="642319"/>
                  </a:lnTo>
                  <a:lnTo>
                    <a:pt x="4401492" y="638310"/>
                  </a:lnTo>
                  <a:lnTo>
                    <a:pt x="4417644" y="627396"/>
                  </a:lnTo>
                  <a:lnTo>
                    <a:pt x="4428558" y="611243"/>
                  </a:lnTo>
                  <a:lnTo>
                    <a:pt x="4432567" y="59151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38544" y="852968"/>
            <a:ext cx="4432935" cy="67437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R="94615">
              <a:lnSpc>
                <a:spcPct val="100000"/>
              </a:lnSpc>
              <a:spcBef>
                <a:spcPts val="44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Error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Recovery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Strategies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and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LR</a:t>
            </a:r>
            <a:r>
              <a:rPr dirty="0" sz="14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Parsing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Conflicts</a:t>
            </a:r>
            <a:endParaRPr sz="1400">
              <a:latin typeface="Tahoma"/>
              <a:cs typeface="Tahoma"/>
            </a:endParaRPr>
          </a:p>
          <a:p>
            <a:pPr algn="ctr" marR="93345">
              <a:lnSpc>
                <a:spcPct val="100000"/>
              </a:lnSpc>
              <a:spcBef>
                <a:spcPts val="325"/>
              </a:spcBef>
            </a:pP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Lecture 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Simplified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Version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2103" y="1686533"/>
            <a:ext cx="2444750" cy="4965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Based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lecture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Rokan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Uddin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Faruqui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800">
                <a:latin typeface="Tahoma"/>
                <a:cs typeface="Tahoma"/>
              </a:rPr>
              <a:t>Computer</a:t>
            </a:r>
            <a:r>
              <a:rPr dirty="0" sz="800" spc="-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Science</a:t>
            </a:r>
            <a:r>
              <a:rPr dirty="0" sz="800" spc="-10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and</a:t>
            </a:r>
            <a:r>
              <a:rPr dirty="0" sz="800" spc="-10">
                <a:latin typeface="Tahoma"/>
                <a:cs typeface="Tahoma"/>
              </a:rPr>
              <a:t> Engineering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56769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216034"/>
            <a:ext cx="114214" cy="11421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51929" y="120310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2932" y="1118131"/>
            <a:ext cx="2117090" cy="10756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>
                <a:latin typeface="Tahoma"/>
                <a:cs typeface="Tahoma"/>
              </a:rPr>
              <a:t>Error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Recovery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Strategies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dirty="0" sz="1100" spc="-10">
                <a:latin typeface="Tahoma"/>
                <a:cs typeface="Tahoma"/>
              </a:rPr>
              <a:t>Error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Recovery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Predictive</a:t>
            </a:r>
            <a:r>
              <a:rPr dirty="0" sz="1100" spc="-35">
                <a:latin typeface="Tahoma"/>
                <a:cs typeface="Tahoma"/>
              </a:rPr>
              <a:t> Parsing </a:t>
            </a:r>
            <a:r>
              <a:rPr dirty="0" sz="1100" spc="-20">
                <a:latin typeface="Tahoma"/>
                <a:cs typeface="Tahoma"/>
              </a:rPr>
              <a:t>Shift/Reduce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Conflicts</a:t>
            </a:r>
            <a:endParaRPr sz="1100">
              <a:latin typeface="Tahoma"/>
              <a:cs typeface="Tahoma"/>
            </a:endParaRPr>
          </a:p>
          <a:p>
            <a:pPr marL="12700" marR="422909">
              <a:lnSpc>
                <a:spcPct val="125299"/>
              </a:lnSpc>
            </a:pPr>
            <a:r>
              <a:rPr dirty="0" sz="1100" spc="-45">
                <a:latin typeface="Tahoma"/>
                <a:cs typeface="Tahoma"/>
              </a:rPr>
              <a:t>Precedence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 </a:t>
            </a:r>
            <a:r>
              <a:rPr dirty="0" sz="1100" spc="-15">
                <a:latin typeface="Tahoma"/>
                <a:cs typeface="Tahoma"/>
              </a:rPr>
              <a:t>Associativity </a:t>
            </a:r>
            <a:r>
              <a:rPr dirty="0" sz="1100" spc="-10">
                <a:latin typeface="Tahoma"/>
                <a:cs typeface="Tahoma"/>
              </a:rPr>
              <a:t>Assignment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426067"/>
            <a:ext cx="114214" cy="11421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1917" y="1413134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636099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51917" y="162316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846132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1917" y="183319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056164"/>
            <a:ext cx="114214" cy="11421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51917" y="2043232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Error</a:t>
            </a:r>
            <a:r>
              <a:rPr dirty="0" spc="-65"/>
              <a:t> </a:t>
            </a:r>
            <a:r>
              <a:rPr dirty="0" spc="-45"/>
              <a:t>Recovery</a:t>
            </a:r>
            <a:r>
              <a:rPr dirty="0" spc="-60"/>
              <a:t> </a:t>
            </a:r>
            <a:r>
              <a:rPr dirty="0" spc="-35"/>
              <a:t>Strategies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Outline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307131"/>
            <a:ext cx="114214" cy="11421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51929" y="129419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10"/>
              <a:t>Error</a:t>
            </a:r>
            <a:r>
              <a:rPr dirty="0" spc="-60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 spc="-10"/>
              <a:t>Strategies</a:t>
            </a:r>
          </a:p>
          <a:p>
            <a:pPr marL="12700" marR="5080">
              <a:lnSpc>
                <a:spcPct val="125299"/>
              </a:lnSpc>
            </a:pPr>
            <a:r>
              <a:rPr dirty="0" spc="-10"/>
              <a:t>Error</a:t>
            </a:r>
            <a:r>
              <a:rPr dirty="0" spc="-35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 spc="-20"/>
              <a:t>Predictive</a:t>
            </a:r>
            <a:r>
              <a:rPr dirty="0" spc="-35"/>
              <a:t> Parsing </a:t>
            </a:r>
            <a:r>
              <a:rPr dirty="0" spc="-20"/>
              <a:t>Shift/Reduce</a:t>
            </a:r>
            <a:r>
              <a:rPr dirty="0" spc="10"/>
              <a:t> </a:t>
            </a:r>
            <a:r>
              <a:rPr dirty="0" spc="-10"/>
              <a:t>Conflicts</a:t>
            </a:r>
          </a:p>
          <a:p>
            <a:pPr marL="12700" marR="422909">
              <a:lnSpc>
                <a:spcPct val="125299"/>
              </a:lnSpc>
            </a:pPr>
            <a:r>
              <a:rPr dirty="0" spc="-45"/>
              <a:t>Precedence</a:t>
            </a:r>
            <a:r>
              <a:rPr dirty="0" spc="-40"/>
              <a:t> </a:t>
            </a:r>
            <a:r>
              <a:rPr dirty="0" spc="-35"/>
              <a:t>and </a:t>
            </a:r>
            <a:r>
              <a:rPr dirty="0" spc="-15"/>
              <a:t>Associativity </a:t>
            </a:r>
            <a:r>
              <a:rPr dirty="0" spc="-10"/>
              <a:t>Assignment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517164"/>
            <a:ext cx="114214" cy="11421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1917" y="150423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727196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51917" y="171426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937229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1917" y="192429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147261"/>
            <a:ext cx="114214" cy="11421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51917" y="213432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Error</a:t>
            </a:r>
            <a:r>
              <a:rPr dirty="0" spc="-65"/>
              <a:t> </a:t>
            </a:r>
            <a:r>
              <a:rPr dirty="0" spc="-45"/>
              <a:t>Recovery</a:t>
            </a:r>
            <a:r>
              <a:rPr dirty="0" spc="-60"/>
              <a:t> </a:t>
            </a:r>
            <a:r>
              <a:rPr dirty="0" spc="-35"/>
              <a:t>Strategies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/>
              <a:t>Error</a:t>
            </a:r>
            <a:r>
              <a:rPr dirty="0" sz="900" spc="-20"/>
              <a:t> </a:t>
            </a:r>
            <a:r>
              <a:rPr dirty="0" sz="900" spc="-10"/>
              <a:t>Recovery</a:t>
            </a:r>
            <a:endParaRPr sz="900"/>
          </a:p>
        </p:txBody>
      </p:sp>
      <p:sp>
        <p:nvSpPr>
          <p:cNvPr id="3" name="object 3" descr=""/>
          <p:cNvSpPr txBox="1"/>
          <p:nvPr/>
        </p:nvSpPr>
        <p:spPr>
          <a:xfrm>
            <a:off x="125844" y="1523414"/>
            <a:ext cx="4210685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25" b="1">
                <a:latin typeface="Gill Sans MT"/>
                <a:cs typeface="Gill Sans MT"/>
              </a:rPr>
              <a:t>Question:</a:t>
            </a:r>
            <a:r>
              <a:rPr dirty="0" sz="1100" spc="65" b="1">
                <a:latin typeface="Gill Sans MT"/>
                <a:cs typeface="Gill Sans MT"/>
              </a:rPr>
              <a:t> </a:t>
            </a:r>
            <a:r>
              <a:rPr dirty="0" sz="1100" spc="-20">
                <a:latin typeface="Tahoma"/>
                <a:cs typeface="Tahoma"/>
              </a:rPr>
              <a:t>Once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found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during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parsing, </a:t>
            </a:r>
            <a:r>
              <a:rPr dirty="0" sz="1100" spc="-65">
                <a:latin typeface="Tahoma"/>
                <a:cs typeface="Tahoma"/>
              </a:rPr>
              <a:t>how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should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parser </a:t>
            </a:r>
            <a:r>
              <a:rPr dirty="0" sz="1100" spc="-10">
                <a:latin typeface="Tahoma"/>
                <a:cs typeface="Tahoma"/>
              </a:rPr>
              <a:t>recover?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Error</a:t>
            </a:r>
            <a:r>
              <a:rPr dirty="0" spc="-65"/>
              <a:t> </a:t>
            </a:r>
            <a:r>
              <a:rPr dirty="0" spc="-45"/>
              <a:t>Recovery</a:t>
            </a:r>
            <a:r>
              <a:rPr dirty="0" spc="-60"/>
              <a:t> </a:t>
            </a:r>
            <a:r>
              <a:rPr dirty="0" spc="-35"/>
              <a:t>Strategies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/>
              <a:t>Error</a:t>
            </a:r>
            <a:r>
              <a:rPr dirty="0" sz="900" spc="-20"/>
              <a:t> </a:t>
            </a:r>
            <a:r>
              <a:rPr dirty="0" sz="900" spc="-10"/>
              <a:t>Recovery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51432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13293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803107"/>
            <a:ext cx="52590" cy="5259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954936"/>
            <a:ext cx="52590" cy="5259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106765"/>
            <a:ext cx="52590" cy="5259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02932" y="1167979"/>
            <a:ext cx="4067810" cy="12446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30">
                <a:latin typeface="Tahoma"/>
                <a:cs typeface="Tahoma"/>
              </a:rPr>
              <a:t>Parser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quit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informative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75">
                <a:latin typeface="Tahoma"/>
                <a:cs typeface="Tahoma"/>
              </a:rPr>
              <a:t>message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when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0">
                <a:latin typeface="Tahoma"/>
                <a:cs typeface="Tahoma"/>
              </a:rPr>
              <a:t> detects </a:t>
            </a:r>
            <a:r>
              <a:rPr dirty="0" sz="1100" spc="-25">
                <a:latin typeface="Tahoma"/>
                <a:cs typeface="Tahoma"/>
              </a:rPr>
              <a:t>the </a:t>
            </a:r>
            <a:r>
              <a:rPr dirty="0" sz="1100">
                <a:latin typeface="Tahoma"/>
                <a:cs typeface="Tahoma"/>
              </a:rPr>
              <a:t>first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error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100" b="1">
                <a:latin typeface="Gill Sans MT"/>
                <a:cs typeface="Gill Sans MT"/>
              </a:rPr>
              <a:t>Benefits</a:t>
            </a:r>
            <a:r>
              <a:rPr dirty="0" sz="1100" spc="15" b="1">
                <a:latin typeface="Gill Sans MT"/>
                <a:cs typeface="Gill Sans MT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of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continuing:</a:t>
            </a:r>
            <a:endParaRPr sz="1100">
              <a:latin typeface="Gill Sans MT"/>
              <a:cs typeface="Gill Sans MT"/>
            </a:endParaRPr>
          </a:p>
          <a:p>
            <a:pPr marL="289560" marR="1653539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Tahoma"/>
                <a:cs typeface="Tahoma"/>
              </a:rPr>
              <a:t>Additional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errors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are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often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discovered </a:t>
            </a:r>
            <a:r>
              <a:rPr dirty="0" sz="1000">
                <a:latin typeface="Tahoma"/>
                <a:cs typeface="Tahoma"/>
              </a:rPr>
              <a:t>Can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restore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itself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continue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processing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dirty="0" sz="1000">
                <a:latin typeface="Tahoma"/>
                <a:cs typeface="Tahoma"/>
              </a:rPr>
              <a:t>May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provide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meaningful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diagnostic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information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pile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up,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better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compiler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40">
                <a:latin typeface="Tahoma"/>
                <a:cs typeface="Tahoma"/>
              </a:rPr>
              <a:t> give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up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304122"/>
            <a:ext cx="65265" cy="65265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Error</a:t>
            </a:r>
            <a:r>
              <a:rPr dirty="0" spc="-65"/>
              <a:t> </a:t>
            </a:r>
            <a:r>
              <a:rPr dirty="0" spc="-45"/>
              <a:t>Recovery</a:t>
            </a:r>
            <a:r>
              <a:rPr dirty="0" spc="-60"/>
              <a:t> </a:t>
            </a:r>
            <a:r>
              <a:rPr dirty="0" spc="-35"/>
              <a:t>Strategies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/>
              <a:t>Error</a:t>
            </a:r>
            <a:r>
              <a:rPr dirty="0" sz="900" spc="-10"/>
              <a:t> </a:t>
            </a:r>
            <a:r>
              <a:rPr dirty="0" sz="900" spc="-25"/>
              <a:t>Recovery</a:t>
            </a:r>
            <a:r>
              <a:rPr dirty="0" sz="900" spc="-5"/>
              <a:t> </a:t>
            </a:r>
            <a:r>
              <a:rPr dirty="0" sz="900" spc="-10"/>
              <a:t>Strategies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80376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62481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54618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264651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646756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5844" y="743112"/>
            <a:ext cx="4354830" cy="218440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96850" indent="-184150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196850" algn="l"/>
              </a:tabLst>
            </a:pPr>
            <a:r>
              <a:rPr dirty="0" sz="1100" b="1">
                <a:latin typeface="Gill Sans MT"/>
                <a:cs typeface="Gill Sans MT"/>
              </a:rPr>
              <a:t>Panic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spc="-20" b="1">
                <a:latin typeface="Gill Sans MT"/>
                <a:cs typeface="Gill Sans MT"/>
              </a:rPr>
              <a:t>Mode</a:t>
            </a:r>
            <a:endParaRPr sz="1100">
              <a:latin typeface="Gill Sans MT"/>
              <a:cs typeface="Gill Sans MT"/>
            </a:endParaRPr>
          </a:p>
          <a:p>
            <a:pPr marL="289560" marR="45085">
              <a:lnSpc>
                <a:spcPct val="102600"/>
              </a:lnSpc>
              <a:spcBef>
                <a:spcPts val="300"/>
              </a:spcBef>
            </a:pPr>
            <a:r>
              <a:rPr dirty="0" sz="1100" spc="-30">
                <a:latin typeface="Tahoma"/>
                <a:cs typeface="Tahoma"/>
              </a:rPr>
              <a:t>Parser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discards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40">
                <a:latin typeface="Tahoma"/>
                <a:cs typeface="Tahoma"/>
              </a:rPr>
              <a:t> symbols </a:t>
            </a:r>
            <a:r>
              <a:rPr dirty="0" sz="1100" spc="-45">
                <a:latin typeface="Tahoma"/>
                <a:cs typeface="Tahoma"/>
              </a:rPr>
              <a:t>one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until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one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designated </a:t>
            </a:r>
            <a:r>
              <a:rPr dirty="0" sz="1100" spc="-20">
                <a:latin typeface="Tahoma"/>
                <a:cs typeface="Tahoma"/>
              </a:rPr>
              <a:t>set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synchronizing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tokens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found</a:t>
            </a:r>
            <a:endParaRPr sz="1100">
              <a:latin typeface="Tahoma"/>
              <a:cs typeface="Tahoma"/>
            </a:endParaRPr>
          </a:p>
          <a:p>
            <a:pPr marL="289560" marR="23495">
              <a:lnSpc>
                <a:spcPct val="102600"/>
              </a:lnSpc>
              <a:spcBef>
                <a:spcPts val="300"/>
              </a:spcBef>
            </a:pPr>
            <a:r>
              <a:rPr dirty="0" sz="1100" spc="-35">
                <a:latin typeface="Tahoma"/>
                <a:cs typeface="Tahoma"/>
              </a:rPr>
              <a:t>Synchronizing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tokens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usually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delimiters,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such</a:t>
            </a:r>
            <a:r>
              <a:rPr dirty="0" sz="1100" spc="-20">
                <a:latin typeface="Tahoma"/>
                <a:cs typeface="Tahoma"/>
              </a:rPr>
              <a:t> as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;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or </a:t>
            </a:r>
            <a:r>
              <a:rPr dirty="0" sz="1100">
                <a:latin typeface="Cambria"/>
                <a:cs typeface="Cambria"/>
              </a:rPr>
              <a:t>}</a:t>
            </a:r>
            <a:r>
              <a:rPr dirty="0" sz="1100">
                <a:latin typeface="Tahoma"/>
                <a:cs typeface="Tahoma"/>
              </a:rPr>
              <a:t>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whose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role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source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program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clear</a:t>
            </a:r>
            <a:r>
              <a:rPr dirty="0" sz="1100" spc="-35">
                <a:latin typeface="Tahoma"/>
                <a:cs typeface="Tahoma"/>
              </a:rPr>
              <a:t> and </a:t>
            </a:r>
            <a:r>
              <a:rPr dirty="0" sz="1100" spc="-10">
                <a:latin typeface="Tahoma"/>
                <a:cs typeface="Tahoma"/>
              </a:rPr>
              <a:t>unambiguous</a:t>
            </a:r>
            <a:endParaRPr sz="1100">
              <a:latin typeface="Tahoma"/>
              <a:cs typeface="Tahoma"/>
            </a:endParaRPr>
          </a:p>
          <a:p>
            <a:pPr marL="196850" indent="-184150">
              <a:lnSpc>
                <a:spcPct val="100000"/>
              </a:lnSpc>
              <a:spcBef>
                <a:spcPts val="330"/>
              </a:spcBef>
              <a:buAutoNum type="arabicPeriod" startAt="2"/>
              <a:tabLst>
                <a:tab pos="196850" algn="l"/>
              </a:tabLst>
            </a:pPr>
            <a:r>
              <a:rPr dirty="0" sz="1100" spc="-35" b="1">
                <a:latin typeface="Gill Sans MT"/>
                <a:cs typeface="Gill Sans MT"/>
              </a:rPr>
              <a:t>Phrase-</a:t>
            </a:r>
            <a:r>
              <a:rPr dirty="0" sz="1100" spc="-10" b="1">
                <a:latin typeface="Gill Sans MT"/>
                <a:cs typeface="Gill Sans MT"/>
              </a:rPr>
              <a:t>Level</a:t>
            </a:r>
            <a:r>
              <a:rPr dirty="0" sz="1100" spc="5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Recovery</a:t>
            </a:r>
            <a:endParaRPr sz="1100">
              <a:latin typeface="Gill Sans MT"/>
              <a:cs typeface="Gill Sans MT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z="1100" spc="-30">
                <a:latin typeface="Tahoma"/>
                <a:cs typeface="Tahoma"/>
              </a:rPr>
              <a:t>Parser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may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perform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local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correction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remaining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May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replace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prefix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remaining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by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some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string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allows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parser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continue</a:t>
            </a:r>
            <a:endParaRPr sz="1100">
              <a:latin typeface="Tahoma"/>
              <a:cs typeface="Tahoma"/>
            </a:endParaRPr>
          </a:p>
          <a:p>
            <a:pPr marL="289560" marR="127000">
              <a:lnSpc>
                <a:spcPct val="102699"/>
              </a:lnSpc>
              <a:spcBef>
                <a:spcPts val="300"/>
              </a:spcBef>
            </a:pPr>
            <a:r>
              <a:rPr dirty="0" sz="1100" spc="-10">
                <a:latin typeface="Tahoma"/>
                <a:cs typeface="Tahoma"/>
              </a:rPr>
              <a:t>Typical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local</a:t>
            </a:r>
            <a:r>
              <a:rPr dirty="0" sz="1100" spc="-35">
                <a:latin typeface="Tahoma"/>
                <a:cs typeface="Tahoma"/>
              </a:rPr>
              <a:t> correction: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replace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comma</a:t>
            </a:r>
            <a:r>
              <a:rPr dirty="0" sz="1100" spc="-35">
                <a:latin typeface="Tahoma"/>
                <a:cs typeface="Tahoma"/>
              </a:rPr>
              <a:t> by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semicolon,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delete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 extra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semicolon, </a:t>
            </a:r>
            <a:r>
              <a:rPr dirty="0" sz="1100" spc="-20">
                <a:latin typeface="Tahoma"/>
                <a:cs typeface="Tahoma"/>
              </a:rPr>
              <a:t>or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insert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missing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semicolon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Error</a:t>
            </a:r>
            <a:r>
              <a:rPr dirty="0" spc="-65"/>
              <a:t> </a:t>
            </a:r>
            <a:r>
              <a:rPr dirty="0" spc="-45"/>
              <a:t>Recovery</a:t>
            </a:r>
            <a:r>
              <a:rPr dirty="0" spc="-60"/>
              <a:t> </a:t>
            </a:r>
            <a:r>
              <a:rPr dirty="0" spc="-35"/>
              <a:t>Strategies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/>
              <a:t>Error</a:t>
            </a:r>
            <a:r>
              <a:rPr dirty="0" sz="900" spc="-10"/>
              <a:t> </a:t>
            </a:r>
            <a:r>
              <a:rPr dirty="0" sz="900" spc="-25"/>
              <a:t>Recovery</a:t>
            </a:r>
            <a:r>
              <a:rPr dirty="0" sz="900" spc="-5"/>
              <a:t> </a:t>
            </a:r>
            <a:r>
              <a:rPr dirty="0" sz="900" spc="-10"/>
              <a:t>Strategies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64386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46491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38629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520734"/>
            <a:ext cx="65265" cy="6526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125844" y="827123"/>
            <a:ext cx="4233545" cy="197421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96850" indent="-184150">
              <a:lnSpc>
                <a:spcPct val="100000"/>
              </a:lnSpc>
              <a:spcBef>
                <a:spcPts val="434"/>
              </a:spcBef>
              <a:buAutoNum type="arabicPeriod" startAt="3"/>
              <a:tabLst>
                <a:tab pos="196850" algn="l"/>
              </a:tabLst>
            </a:pPr>
            <a:r>
              <a:rPr dirty="0" sz="1100" spc="-50" b="1">
                <a:latin typeface="Gill Sans MT"/>
                <a:cs typeface="Gill Sans MT"/>
              </a:rPr>
              <a:t>Error</a:t>
            </a:r>
            <a:r>
              <a:rPr dirty="0" sz="1100" spc="-10" b="1">
                <a:latin typeface="Gill Sans MT"/>
                <a:cs typeface="Gill Sans MT"/>
              </a:rPr>
              <a:t> Productions</a:t>
            </a:r>
            <a:endParaRPr sz="1100">
              <a:latin typeface="Gill Sans MT"/>
              <a:cs typeface="Gill Sans MT"/>
            </a:endParaRPr>
          </a:p>
          <a:p>
            <a:pPr marL="289560" marR="44323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By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anticipating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common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errors,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>
                <a:latin typeface="Tahoma"/>
                <a:cs typeface="Tahoma"/>
              </a:rPr>
              <a:t> is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augmented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with </a:t>
            </a:r>
            <a:r>
              <a:rPr dirty="0" sz="1100" spc="-35">
                <a:latin typeface="Tahoma"/>
                <a:cs typeface="Tahoma"/>
              </a:rPr>
              <a:t>productions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generate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erroneous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constructs</a:t>
            </a:r>
            <a:endParaRPr sz="1100">
              <a:latin typeface="Tahoma"/>
              <a:cs typeface="Tahoma"/>
            </a:endParaRPr>
          </a:p>
          <a:p>
            <a:pPr marL="289560" marR="199390">
              <a:lnSpc>
                <a:spcPct val="102600"/>
              </a:lnSpc>
              <a:spcBef>
                <a:spcPts val="300"/>
              </a:spcBef>
            </a:pPr>
            <a:r>
              <a:rPr dirty="0" sz="1100" spc="-30">
                <a:latin typeface="Tahoma"/>
                <a:cs typeface="Tahoma"/>
              </a:rPr>
              <a:t>Parser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 </a:t>
            </a:r>
            <a:r>
              <a:rPr dirty="0" sz="1100" spc="-55">
                <a:latin typeface="Tahoma"/>
                <a:cs typeface="Tahoma"/>
              </a:rPr>
              <a:t>generate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appropriate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diagnostics </a:t>
            </a:r>
            <a:r>
              <a:rPr dirty="0" sz="1100" spc="-20">
                <a:latin typeface="Tahoma"/>
                <a:cs typeface="Tahoma"/>
              </a:rPr>
              <a:t>about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 </a:t>
            </a:r>
            <a:r>
              <a:rPr dirty="0" sz="1100" spc="-55">
                <a:latin typeface="Tahoma"/>
                <a:cs typeface="Tahoma"/>
              </a:rPr>
              <a:t>erroneous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construct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has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been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recognized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endParaRPr sz="1100">
              <a:latin typeface="Tahoma"/>
              <a:cs typeface="Tahoma"/>
            </a:endParaRPr>
          </a:p>
          <a:p>
            <a:pPr marL="196850" indent="-184150">
              <a:lnSpc>
                <a:spcPct val="100000"/>
              </a:lnSpc>
              <a:spcBef>
                <a:spcPts val="330"/>
              </a:spcBef>
              <a:buAutoNum type="arabicPeriod" startAt="4"/>
              <a:tabLst>
                <a:tab pos="196850" algn="l"/>
              </a:tabLst>
            </a:pPr>
            <a:r>
              <a:rPr dirty="0" sz="1100" spc="-25" b="1">
                <a:latin typeface="Gill Sans MT"/>
                <a:cs typeface="Gill Sans MT"/>
              </a:rPr>
              <a:t>Global</a:t>
            </a:r>
            <a:r>
              <a:rPr dirty="0" sz="110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Correction</a:t>
            </a:r>
            <a:endParaRPr sz="1100">
              <a:latin typeface="Gill Sans MT"/>
              <a:cs typeface="Gill Sans MT"/>
            </a:endParaRPr>
          </a:p>
          <a:p>
            <a:pPr marL="289560" marR="48260">
              <a:lnSpc>
                <a:spcPct val="102699"/>
              </a:lnSpc>
              <a:spcBef>
                <a:spcPts val="300"/>
              </a:spcBef>
            </a:pPr>
            <a:r>
              <a:rPr dirty="0" sz="1100" spc="-25">
                <a:latin typeface="Tahoma"/>
                <a:cs typeface="Tahoma"/>
              </a:rPr>
              <a:t>Given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incorrect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string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sz="1100" spc="165" i="1">
                <a:latin typeface="Calibri"/>
                <a:cs typeface="Calibri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G</a:t>
            </a:r>
            <a:r>
              <a:rPr dirty="0" sz="1100" spc="-12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these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algorithms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parse</a:t>
            </a:r>
            <a:r>
              <a:rPr dirty="0" sz="1100" spc="-30">
                <a:latin typeface="Tahoma"/>
                <a:cs typeface="Tahoma"/>
              </a:rPr>
              <a:t> tree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related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string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 i="1">
                <a:latin typeface="Calibri"/>
                <a:cs typeface="Calibri"/>
              </a:rPr>
              <a:t>y</a:t>
            </a:r>
            <a:endParaRPr sz="1100">
              <a:latin typeface="Calibri"/>
              <a:cs typeface="Calibri"/>
            </a:endParaRPr>
          </a:p>
          <a:p>
            <a:pPr marL="289560" marR="508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number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insertions,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deletions,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changes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tokens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required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transform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sz="1100" spc="16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y</a:t>
            </a:r>
            <a:r>
              <a:rPr dirty="0" sz="1100" spc="17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as small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possible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Error</a:t>
            </a:r>
            <a:r>
              <a:rPr dirty="0" spc="-40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 spc="-20"/>
              <a:t>Predictive</a:t>
            </a:r>
            <a:r>
              <a:rPr dirty="0" spc="-40"/>
              <a:t> </a:t>
            </a:r>
            <a:r>
              <a:rPr dirty="0" spc="-25"/>
              <a:t>Parsing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Outline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307131"/>
            <a:ext cx="114214" cy="11421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51929" y="129419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10"/>
              <a:t>Error</a:t>
            </a:r>
            <a:r>
              <a:rPr dirty="0" spc="-60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 spc="-10"/>
              <a:t>Strategies</a:t>
            </a:r>
          </a:p>
          <a:p>
            <a:pPr marL="12700" marR="5080">
              <a:lnSpc>
                <a:spcPct val="125299"/>
              </a:lnSpc>
            </a:pPr>
            <a:r>
              <a:rPr dirty="0" spc="-10"/>
              <a:t>Error</a:t>
            </a:r>
            <a:r>
              <a:rPr dirty="0" spc="-35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 spc="-20"/>
              <a:t>Predictive</a:t>
            </a:r>
            <a:r>
              <a:rPr dirty="0" spc="-35"/>
              <a:t> Parsing </a:t>
            </a:r>
            <a:r>
              <a:rPr dirty="0" spc="-20"/>
              <a:t>Shift/Reduce</a:t>
            </a:r>
            <a:r>
              <a:rPr dirty="0" spc="10"/>
              <a:t> </a:t>
            </a:r>
            <a:r>
              <a:rPr dirty="0" spc="-10"/>
              <a:t>Conflicts</a:t>
            </a:r>
          </a:p>
          <a:p>
            <a:pPr marL="12700" marR="422909">
              <a:lnSpc>
                <a:spcPct val="125299"/>
              </a:lnSpc>
            </a:pPr>
            <a:r>
              <a:rPr dirty="0" spc="-45"/>
              <a:t>Precedence</a:t>
            </a:r>
            <a:r>
              <a:rPr dirty="0" spc="-40"/>
              <a:t> </a:t>
            </a:r>
            <a:r>
              <a:rPr dirty="0" spc="-35"/>
              <a:t>and </a:t>
            </a:r>
            <a:r>
              <a:rPr dirty="0" spc="-15"/>
              <a:t>Associativity </a:t>
            </a:r>
            <a:r>
              <a:rPr dirty="0" spc="-10"/>
              <a:t>Assignment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517164"/>
            <a:ext cx="114214" cy="11421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1917" y="150423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727196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51917" y="171426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937229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1917" y="192429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147261"/>
            <a:ext cx="114214" cy="11421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51917" y="213432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Error</a:t>
            </a:r>
            <a:r>
              <a:rPr dirty="0" spc="-40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 spc="-20"/>
              <a:t>Predictive</a:t>
            </a:r>
            <a:r>
              <a:rPr dirty="0" spc="-40"/>
              <a:t> </a:t>
            </a:r>
            <a:r>
              <a:rPr dirty="0" spc="-25"/>
              <a:t>Parsing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/>
              <a:t>Error</a:t>
            </a:r>
            <a:r>
              <a:rPr dirty="0" sz="900" spc="-5"/>
              <a:t> </a:t>
            </a:r>
            <a:r>
              <a:rPr dirty="0" sz="900" spc="-25"/>
              <a:t>Recovery</a:t>
            </a:r>
            <a:r>
              <a:rPr dirty="0" sz="900"/>
              <a:t> in Predictive</a:t>
            </a:r>
            <a:r>
              <a:rPr dirty="0" sz="900" spc="-5"/>
              <a:t> </a:t>
            </a:r>
            <a:r>
              <a:rPr dirty="0" sz="900" spc="-10"/>
              <a:t>Parsing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51000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33105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5844" y="1213749"/>
            <a:ext cx="4340225" cy="100012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detected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during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predictive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parsing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when:</a:t>
            </a:r>
            <a:endParaRPr sz="1100">
              <a:latin typeface="Tahoma"/>
              <a:cs typeface="Tahoma"/>
            </a:endParaRPr>
          </a:p>
          <a:p>
            <a:pPr marL="289560" marR="323215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terminal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top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stack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does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match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next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input </a:t>
            </a:r>
            <a:r>
              <a:rPr dirty="0" sz="1100" spc="-35">
                <a:latin typeface="Tahoma"/>
                <a:cs typeface="Tahoma"/>
              </a:rPr>
              <a:t>symbol,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OR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dirty="0" sz="1100" spc="-30">
                <a:latin typeface="Tahoma"/>
                <a:cs typeface="Tahoma"/>
              </a:rPr>
              <a:t>Nonterminal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80" i="1">
                <a:latin typeface="Calibri"/>
                <a:cs typeface="Calibri"/>
              </a:rPr>
              <a:t>A</a:t>
            </a:r>
            <a:r>
              <a:rPr dirty="0" sz="1100" spc="5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top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stack,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 spc="6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next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input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symbol,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Calibri"/>
                <a:cs typeface="Calibri"/>
              </a:rPr>
              <a:t>M</a:t>
            </a:r>
            <a:r>
              <a:rPr dirty="0" sz="1100">
                <a:latin typeface="Tahoma"/>
                <a:cs typeface="Tahoma"/>
              </a:rPr>
              <a:t>[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 i="1">
                <a:latin typeface="Arial"/>
                <a:cs typeface="Arial"/>
              </a:rPr>
              <a:t>,</a:t>
            </a:r>
            <a:r>
              <a:rPr dirty="0" sz="1100" spc="-125" i="1">
                <a:latin typeface="Arial"/>
                <a:cs typeface="Arial"/>
              </a:rPr>
              <a:t> </a:t>
            </a:r>
            <a:r>
              <a:rPr dirty="0" sz="1100" spc="-45" i="1">
                <a:latin typeface="Calibri"/>
                <a:cs typeface="Calibri"/>
              </a:rPr>
              <a:t>a</a:t>
            </a:r>
            <a:r>
              <a:rPr dirty="0" sz="1100" spc="-45">
                <a:latin typeface="Tahoma"/>
                <a:cs typeface="Tahoma"/>
              </a:rPr>
              <a:t>]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error</a:t>
            </a:r>
            <a:r>
              <a:rPr dirty="0" sz="1100" spc="-25">
                <a:latin typeface="Tahoma"/>
                <a:cs typeface="Tahoma"/>
              </a:rPr>
              <a:t> (i.e.,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parsing-</a:t>
            </a:r>
            <a:r>
              <a:rPr dirty="0" sz="1100" spc="-25">
                <a:latin typeface="Tahoma"/>
                <a:cs typeface="Tahoma"/>
              </a:rPr>
              <a:t>table entry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empty)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Error</a:t>
            </a:r>
            <a:r>
              <a:rPr dirty="0" spc="-40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 spc="-20"/>
              <a:t>Predictive</a:t>
            </a:r>
            <a:r>
              <a:rPr dirty="0" spc="-40"/>
              <a:t> </a:t>
            </a:r>
            <a:r>
              <a:rPr dirty="0" spc="-25"/>
              <a:t>Parsing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/>
              <a:t>Error </a:t>
            </a:r>
            <a:r>
              <a:rPr dirty="0" sz="900" spc="-25"/>
              <a:t>Recovery</a:t>
            </a:r>
            <a:r>
              <a:rPr dirty="0" sz="900" spc="5"/>
              <a:t> </a:t>
            </a:r>
            <a:r>
              <a:rPr dirty="0" sz="900" spc="-20"/>
              <a:t>Strategies</a:t>
            </a:r>
            <a:r>
              <a:rPr dirty="0" sz="900" spc="5"/>
              <a:t> </a:t>
            </a:r>
            <a:r>
              <a:rPr dirty="0" sz="900"/>
              <a:t>in</a:t>
            </a:r>
            <a:r>
              <a:rPr dirty="0" sz="900" spc="5"/>
              <a:t> </a:t>
            </a:r>
            <a:r>
              <a:rPr dirty="0" sz="900"/>
              <a:t>Predictive</a:t>
            </a:r>
            <a:r>
              <a:rPr dirty="0" sz="900" spc="5"/>
              <a:t> </a:t>
            </a:r>
            <a:r>
              <a:rPr dirty="0" sz="900" spc="-10"/>
              <a:t>Parsing</a:t>
            </a:r>
            <a:endParaRPr sz="900"/>
          </a:p>
        </p:txBody>
      </p:sp>
      <p:sp>
        <p:nvSpPr>
          <p:cNvPr id="4" name="object 4" descr=""/>
          <p:cNvSpPr txBox="1"/>
          <p:nvPr/>
        </p:nvSpPr>
        <p:spPr>
          <a:xfrm>
            <a:off x="125844" y="870901"/>
            <a:ext cx="830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Gill Sans MT"/>
                <a:cs typeface="Gill Sans MT"/>
              </a:rPr>
              <a:t>Panic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Mode:</a:t>
            </a:r>
            <a:endParaRPr sz="1100">
              <a:latin typeface="Gill Sans MT"/>
              <a:cs typeface="Gill Sans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135046"/>
            <a:ext cx="114214" cy="1142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51929" y="112212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02932" y="1080933"/>
            <a:ext cx="4041140" cy="1720214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8419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Place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all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symbols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FOLLOW(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10">
                <a:latin typeface="Tahoma"/>
                <a:cs typeface="Tahoma"/>
              </a:rPr>
              <a:t> the </a:t>
            </a:r>
            <a:r>
              <a:rPr dirty="0" sz="1100" spc="-40">
                <a:latin typeface="Tahoma"/>
                <a:cs typeface="Tahoma"/>
              </a:rPr>
              <a:t>synchronizing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set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for </a:t>
            </a:r>
            <a:r>
              <a:rPr dirty="0" sz="1100" spc="-35">
                <a:latin typeface="Tahoma"/>
                <a:cs typeface="Tahoma"/>
              </a:rPr>
              <a:t>nonterminal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>
                <a:latin typeface="Tahoma"/>
                <a:cs typeface="Tahoma"/>
              </a:rPr>
              <a:t>.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Skip </a:t>
            </a:r>
            <a:r>
              <a:rPr dirty="0" sz="1100" spc="-40">
                <a:latin typeface="Tahoma"/>
                <a:cs typeface="Tahoma"/>
              </a:rPr>
              <a:t>tokens</a:t>
            </a:r>
            <a:r>
              <a:rPr dirty="0" sz="1100">
                <a:latin typeface="Tahoma"/>
                <a:cs typeface="Tahoma"/>
              </a:rPr>
              <a:t> until an </a:t>
            </a:r>
            <a:r>
              <a:rPr dirty="0" sz="1100" spc="-50">
                <a:latin typeface="Tahoma"/>
                <a:cs typeface="Tahoma"/>
              </a:rPr>
              <a:t>element</a:t>
            </a:r>
            <a:r>
              <a:rPr dirty="0" sz="1100">
                <a:latin typeface="Tahoma"/>
                <a:cs typeface="Tahoma"/>
              </a:rPr>
              <a:t> of FOLLOW(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>
                <a:latin typeface="Tahoma"/>
                <a:cs typeface="Tahoma"/>
              </a:rPr>
              <a:t>) is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seen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pop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80" i="1">
                <a:latin typeface="Calibri"/>
                <a:cs typeface="Calibri"/>
              </a:rPr>
              <a:t>A</a:t>
            </a:r>
            <a:r>
              <a:rPr dirty="0" sz="1100" spc="55" i="1">
                <a:latin typeface="Calibri"/>
                <a:cs typeface="Calibri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stack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10">
                <a:latin typeface="Tahoma"/>
                <a:cs typeface="Tahoma"/>
              </a:rPr>
              <a:t>Additional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symbols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such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as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delimiters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synchronizing</a:t>
            </a:r>
            <a:r>
              <a:rPr dirty="0" sz="1100" spc="-25">
                <a:latin typeface="Tahoma"/>
                <a:cs typeface="Tahoma"/>
              </a:rPr>
              <a:t> set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100">
                <a:latin typeface="Tahoma"/>
                <a:cs typeface="Tahoma"/>
              </a:rPr>
              <a:t>Add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symbols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FIRST(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synchronizing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set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nonterminal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30" i="1">
                <a:latin typeface="Calibri"/>
                <a:cs typeface="Calibri"/>
              </a:rPr>
              <a:t>A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nonterminal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nullable,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ϵ </a:t>
            </a:r>
            <a:r>
              <a:rPr dirty="0" sz="1100" spc="-35">
                <a:latin typeface="Tahoma"/>
                <a:cs typeface="Tahoma"/>
              </a:rPr>
              <a:t>production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used</a:t>
            </a:r>
            <a:r>
              <a:rPr dirty="0" sz="1100" spc="-30">
                <a:latin typeface="Tahoma"/>
                <a:cs typeface="Tahoma"/>
              </a:rPr>
              <a:t> as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default</a:t>
            </a:r>
            <a:endParaRPr sz="1100">
              <a:latin typeface="Tahoma"/>
              <a:cs typeface="Tahoma"/>
            </a:endParaRPr>
          </a:p>
          <a:p>
            <a:pPr marL="12700" marR="19050">
              <a:lnSpc>
                <a:spcPct val="102600"/>
              </a:lnSpc>
              <a:spcBef>
                <a:spcPts val="300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terminal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top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stack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cannot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matched,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simple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idea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is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pop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terminal, </a:t>
            </a:r>
            <a:r>
              <a:rPr dirty="0" sz="1100" spc="-55">
                <a:latin typeface="Tahoma"/>
                <a:cs typeface="Tahoma"/>
              </a:rPr>
              <a:t>issue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75">
                <a:latin typeface="Tahoma"/>
                <a:cs typeface="Tahoma"/>
              </a:rPr>
              <a:t>message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saying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terminal was </a:t>
            </a:r>
            <a:r>
              <a:rPr dirty="0" sz="1100" spc="-40">
                <a:latin typeface="Tahoma"/>
                <a:cs typeface="Tahoma"/>
              </a:rPr>
              <a:t>inserted,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continue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parsing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689236"/>
            <a:ext cx="114214" cy="11421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51917" y="167630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899269"/>
            <a:ext cx="114214" cy="11421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251917" y="188633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2109301"/>
            <a:ext cx="114214" cy="114214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51917" y="209636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319334"/>
            <a:ext cx="114214" cy="11421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251917" y="230640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Error</a:t>
            </a:r>
            <a:r>
              <a:rPr dirty="0" spc="-40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 spc="-20"/>
              <a:t>Predictive</a:t>
            </a:r>
            <a:r>
              <a:rPr dirty="0" spc="-40"/>
              <a:t> </a:t>
            </a:r>
            <a:r>
              <a:rPr dirty="0" spc="-25"/>
              <a:t>Parsing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Example</a:t>
            </a:r>
            <a:endParaRPr sz="900"/>
          </a:p>
        </p:txBody>
      </p:sp>
      <p:sp>
        <p:nvSpPr>
          <p:cNvPr id="4" name="object 4" descr=""/>
          <p:cNvSpPr txBox="1"/>
          <p:nvPr/>
        </p:nvSpPr>
        <p:spPr>
          <a:xfrm>
            <a:off x="125844" y="1152384"/>
            <a:ext cx="1239520" cy="11664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 b="1">
                <a:latin typeface="Gill Sans MT"/>
                <a:cs typeface="Gill Sans MT"/>
              </a:rPr>
              <a:t>Example</a:t>
            </a:r>
            <a:r>
              <a:rPr dirty="0" sz="1100" spc="20" b="1">
                <a:latin typeface="Gill Sans MT"/>
                <a:cs typeface="Gill Sans MT"/>
              </a:rPr>
              <a:t> </a:t>
            </a:r>
            <a:r>
              <a:rPr dirty="0" sz="1100" spc="-60" b="1">
                <a:latin typeface="Gill Sans MT"/>
                <a:cs typeface="Gill Sans MT"/>
              </a:rPr>
              <a:t>Grammar:</a:t>
            </a:r>
            <a:endParaRPr sz="1100">
              <a:latin typeface="Gill Sans MT"/>
              <a:cs typeface="Gill Sans MT"/>
            </a:endParaRPr>
          </a:p>
          <a:p>
            <a:pPr marL="230504" indent="-217804">
              <a:lnSpc>
                <a:spcPct val="100000"/>
              </a:lnSpc>
              <a:spcBef>
                <a:spcPts val="930"/>
              </a:spcBef>
              <a:buFont typeface="Cambria"/>
              <a:buAutoNum type="alphaUcPeriod" startAt="5"/>
              <a:tabLst>
                <a:tab pos="230504" algn="l"/>
              </a:tabLst>
            </a:pP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T</a:t>
            </a:r>
            <a:r>
              <a:rPr dirty="0" sz="1100" spc="240">
                <a:latin typeface="Cambria"/>
                <a:cs typeface="Cambria"/>
              </a:rPr>
              <a:t> </a:t>
            </a:r>
            <a:r>
              <a:rPr dirty="0" sz="1100" spc="105">
                <a:latin typeface="Cambria"/>
                <a:cs typeface="Cambria"/>
              </a:rPr>
              <a:t>E’</a:t>
            </a:r>
            <a:endParaRPr sz="1100">
              <a:latin typeface="Cambria"/>
              <a:cs typeface="Cambria"/>
            </a:endParaRPr>
          </a:p>
          <a:p>
            <a:pPr marL="12700" marR="274320">
              <a:lnSpc>
                <a:spcPct val="102699"/>
              </a:lnSpc>
              <a:tabLst>
                <a:tab pos="230504" algn="l"/>
              </a:tabLst>
            </a:pPr>
            <a:r>
              <a:rPr dirty="0" sz="1100" spc="130">
                <a:latin typeface="Cambria"/>
                <a:cs typeface="Cambria"/>
              </a:rPr>
              <a:t>E’</a:t>
            </a:r>
            <a:r>
              <a:rPr dirty="0" sz="1100" spc="270">
                <a:latin typeface="Cambria"/>
                <a:cs typeface="Cambria"/>
              </a:rPr>
              <a:t> </a:t>
            </a: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+</a:t>
            </a:r>
            <a:r>
              <a:rPr dirty="0" sz="1100" spc="30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</a:t>
            </a:r>
            <a:r>
              <a:rPr dirty="0" sz="1100" spc="295">
                <a:latin typeface="Cambria"/>
                <a:cs typeface="Cambria"/>
              </a:rPr>
              <a:t> </a:t>
            </a:r>
            <a:r>
              <a:rPr dirty="0" sz="1100" spc="130">
                <a:latin typeface="Cambria"/>
                <a:cs typeface="Cambria"/>
              </a:rPr>
              <a:t>E’</a:t>
            </a:r>
            <a:r>
              <a:rPr dirty="0" sz="1100" spc="300">
                <a:latin typeface="Cambria"/>
                <a:cs typeface="Cambria"/>
              </a:rPr>
              <a:t> </a:t>
            </a:r>
            <a:r>
              <a:rPr dirty="0" sz="1100" spc="170">
                <a:latin typeface="Cambria"/>
                <a:cs typeface="Cambria"/>
              </a:rPr>
              <a:t>| </a:t>
            </a:r>
            <a:r>
              <a:rPr dirty="0" sz="1100" spc="-50">
                <a:latin typeface="Cambria"/>
                <a:cs typeface="Cambria"/>
              </a:rPr>
              <a:t>T</a:t>
            </a:r>
            <a:r>
              <a:rPr dirty="0" sz="1100">
                <a:latin typeface="Cambria"/>
                <a:cs typeface="Cambria"/>
              </a:rPr>
              <a:t>	</a:t>
            </a: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F</a:t>
            </a:r>
            <a:r>
              <a:rPr dirty="0" sz="1100" spc="300">
                <a:latin typeface="Cambria"/>
                <a:cs typeface="Cambria"/>
              </a:rPr>
              <a:t> </a:t>
            </a:r>
            <a:r>
              <a:rPr dirty="0" sz="1100" spc="100">
                <a:latin typeface="Cambria"/>
                <a:cs typeface="Cambria"/>
              </a:rPr>
              <a:t>T’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125">
                <a:latin typeface="Cambria"/>
                <a:cs typeface="Cambria"/>
              </a:rPr>
              <a:t>T’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 spc="95">
                <a:latin typeface="Cambria"/>
                <a:cs typeface="Cambria"/>
              </a:rPr>
              <a:t>*</a:t>
            </a:r>
            <a:r>
              <a:rPr dirty="0" sz="1100" spc="3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</a:t>
            </a:r>
            <a:r>
              <a:rPr dirty="0" sz="1100" spc="320">
                <a:latin typeface="Cambria"/>
                <a:cs typeface="Cambria"/>
              </a:rPr>
              <a:t> </a:t>
            </a:r>
            <a:r>
              <a:rPr dirty="0" sz="1100" spc="125">
                <a:latin typeface="Cambria"/>
                <a:cs typeface="Cambria"/>
              </a:rPr>
              <a:t>T’</a:t>
            </a:r>
            <a:r>
              <a:rPr dirty="0" sz="1100" spc="320">
                <a:latin typeface="Cambria"/>
                <a:cs typeface="Cambria"/>
              </a:rPr>
              <a:t> </a:t>
            </a:r>
            <a:r>
              <a:rPr dirty="0" sz="1100" spc="170">
                <a:latin typeface="Cambria"/>
                <a:cs typeface="Cambria"/>
              </a:rPr>
              <a:t>|</a:t>
            </a:r>
            <a:endParaRPr sz="1100">
              <a:latin typeface="Cambria"/>
              <a:cs typeface="Cambria"/>
            </a:endParaRPr>
          </a:p>
          <a:p>
            <a:pPr marL="230504" indent="-217804">
              <a:lnSpc>
                <a:spcPct val="100000"/>
              </a:lnSpc>
              <a:spcBef>
                <a:spcPts val="35"/>
              </a:spcBef>
              <a:buFont typeface="Cambria"/>
              <a:buAutoNum type="alphaUcPeriod" startAt="6"/>
              <a:tabLst>
                <a:tab pos="230504" algn="l"/>
              </a:tabLst>
            </a:pP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 spc="140">
                <a:latin typeface="Cambria"/>
                <a:cs typeface="Cambria"/>
              </a:rPr>
              <a:t>(</a:t>
            </a:r>
            <a:r>
              <a:rPr dirty="0" sz="1100" spc="2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E</a:t>
            </a:r>
            <a:r>
              <a:rPr dirty="0" sz="1100" spc="305">
                <a:latin typeface="Cambria"/>
                <a:cs typeface="Cambria"/>
              </a:rPr>
              <a:t> </a:t>
            </a:r>
            <a:r>
              <a:rPr dirty="0" sz="1100" spc="140">
                <a:latin typeface="Cambria"/>
                <a:cs typeface="Cambria"/>
              </a:rPr>
              <a:t>)</a:t>
            </a:r>
            <a:r>
              <a:rPr dirty="0" sz="1100" spc="310">
                <a:latin typeface="Cambria"/>
                <a:cs typeface="Cambria"/>
              </a:rPr>
              <a:t> </a:t>
            </a:r>
            <a:r>
              <a:rPr dirty="0" sz="1100" spc="220">
                <a:latin typeface="Cambria"/>
                <a:cs typeface="Cambria"/>
              </a:rPr>
              <a:t>|</a:t>
            </a:r>
            <a:r>
              <a:rPr dirty="0" sz="1100" spc="310">
                <a:latin typeface="Cambria"/>
                <a:cs typeface="Cambria"/>
              </a:rPr>
              <a:t> </a:t>
            </a:r>
            <a:r>
              <a:rPr dirty="0" sz="1100" spc="85">
                <a:latin typeface="Cambria"/>
                <a:cs typeface="Cambria"/>
              </a:rPr>
              <a:t>id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14943"/>
            <a:ext cx="270954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Error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Recovery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Predictive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Parsing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(Parse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Table)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5844" y="1125612"/>
            <a:ext cx="44767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Gill Sans MT"/>
                <a:cs typeface="Gill Sans MT"/>
              </a:rPr>
              <a:t>Recall:</a:t>
            </a:r>
            <a:endParaRPr sz="1100">
              <a:latin typeface="Gill Sans MT"/>
              <a:cs typeface="Gill Sans MT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899236" y="1403388"/>
          <a:ext cx="2886075" cy="920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7410"/>
                <a:gridCol w="622300"/>
                <a:gridCol w="529590"/>
                <a:gridCol w="784225"/>
              </a:tblGrid>
              <a:tr h="156845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 b="1">
                          <a:latin typeface="Gill Sans MT"/>
                          <a:cs typeface="Gill Sans MT"/>
                        </a:rPr>
                        <a:t>Nonterminal</a:t>
                      </a:r>
                      <a:endParaRPr sz="10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 b="1">
                          <a:latin typeface="Gill Sans MT"/>
                          <a:cs typeface="Gill Sans MT"/>
                        </a:rPr>
                        <a:t>Nullable</a:t>
                      </a:r>
                      <a:endParaRPr sz="10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10" b="1">
                          <a:latin typeface="Gill Sans MT"/>
                          <a:cs typeface="Gill Sans MT"/>
                        </a:rPr>
                        <a:t>FIRST</a:t>
                      </a:r>
                      <a:endParaRPr sz="10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1055"/>
                        </a:lnSpc>
                      </a:pPr>
                      <a:r>
                        <a:rPr dirty="0" sz="1000" spc="-10" b="1">
                          <a:latin typeface="Gill Sans MT"/>
                          <a:cs typeface="Gill Sans MT"/>
                        </a:rPr>
                        <a:t>FOLLOW</a:t>
                      </a:r>
                      <a:endParaRPr sz="10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3905">
                <a:tc>
                  <a:txBody>
                    <a:bodyPr/>
                    <a:lstStyle/>
                    <a:p>
                      <a:pPr marL="75565">
                        <a:lnSpc>
                          <a:spcPts val="1055"/>
                        </a:lnSpc>
                      </a:pPr>
                      <a:r>
                        <a:rPr dirty="0" sz="1000" spc="-50">
                          <a:latin typeface="Tahoma"/>
                          <a:cs typeface="Tahoma"/>
                        </a:rPr>
                        <a:t>E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algn="just" marL="75565" marR="662305">
                        <a:lnSpc>
                          <a:spcPts val="1200"/>
                        </a:lnSpc>
                        <a:spcBef>
                          <a:spcPts val="35"/>
                        </a:spcBef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E’ 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T </a:t>
                      </a:r>
                      <a:r>
                        <a:rPr dirty="0" sz="1000" spc="50">
                          <a:latin typeface="Tahoma"/>
                          <a:cs typeface="Tahoma"/>
                        </a:rPr>
                        <a:t>T’ </a:t>
                      </a:r>
                      <a:r>
                        <a:rPr dirty="0" sz="1000" spc="-50">
                          <a:latin typeface="Tahoma"/>
                          <a:cs typeface="Tahoma"/>
                        </a:rPr>
                        <a:t>F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55"/>
                        </a:lnSpc>
                      </a:pPr>
                      <a:r>
                        <a:rPr dirty="0" sz="1000" spc="-25">
                          <a:latin typeface="Tahoma"/>
                          <a:cs typeface="Tahoma"/>
                        </a:rPr>
                        <a:t>No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algn="just" marL="221615" marR="213995">
                        <a:lnSpc>
                          <a:spcPts val="1200"/>
                        </a:lnSpc>
                        <a:spcBef>
                          <a:spcPts val="35"/>
                        </a:spcBef>
                      </a:pPr>
                      <a:r>
                        <a:rPr dirty="0" sz="1000" spc="-70">
                          <a:latin typeface="Tahoma"/>
                          <a:cs typeface="Tahoma"/>
                        </a:rPr>
                        <a:t>Yes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No </a:t>
                      </a:r>
                      <a:r>
                        <a:rPr dirty="0" sz="1000" spc="-70">
                          <a:latin typeface="Tahoma"/>
                          <a:cs typeface="Tahoma"/>
                        </a:rPr>
                        <a:t>Yes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No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055"/>
                        </a:lnSpc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(,</a:t>
                      </a:r>
                      <a:r>
                        <a:rPr dirty="0" sz="1000" spc="1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id</a:t>
                      </a:r>
                      <a:r>
                        <a:rPr dirty="0" sz="1000" spc="-25">
                          <a:latin typeface="Cambria"/>
                          <a:cs typeface="Cambria"/>
                        </a:rPr>
                        <a:t>}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152400">
                        <a:lnSpc>
                          <a:spcPts val="1195"/>
                        </a:lnSpc>
                      </a:pPr>
                      <a:r>
                        <a:rPr dirty="0" sz="1000" spc="6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000" spc="6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60">
                          <a:latin typeface="Cambria"/>
                          <a:cs typeface="Cambria"/>
                        </a:rPr>
                        <a:t>}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90170">
                        <a:lnSpc>
                          <a:spcPts val="1195"/>
                        </a:lnSpc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(,</a:t>
                      </a:r>
                      <a:r>
                        <a:rPr dirty="0" sz="1000" spc="1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id</a:t>
                      </a:r>
                      <a:r>
                        <a:rPr dirty="0" sz="1000" spc="-25">
                          <a:latin typeface="Cambria"/>
                          <a:cs typeface="Cambria"/>
                        </a:rPr>
                        <a:t>}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169545">
                        <a:lnSpc>
                          <a:spcPts val="1195"/>
                        </a:lnSpc>
                      </a:pPr>
                      <a:r>
                        <a:rPr dirty="0" sz="1000" spc="25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000" spc="25">
                          <a:latin typeface="Tahoma"/>
                          <a:cs typeface="Tahoma"/>
                        </a:rPr>
                        <a:t>*</a:t>
                      </a:r>
                      <a:r>
                        <a:rPr dirty="0" sz="1000" spc="25">
                          <a:latin typeface="Cambria"/>
                          <a:cs typeface="Cambria"/>
                        </a:rPr>
                        <a:t>}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90170">
                        <a:lnSpc>
                          <a:spcPts val="1200"/>
                        </a:lnSpc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(,</a:t>
                      </a:r>
                      <a:r>
                        <a:rPr dirty="0" sz="1000" spc="10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-25">
                          <a:latin typeface="Tahoma"/>
                          <a:cs typeface="Tahoma"/>
                        </a:rPr>
                        <a:t>id</a:t>
                      </a:r>
                      <a:r>
                        <a:rPr dirty="0" sz="1000" spc="-25">
                          <a:latin typeface="Cambria"/>
                          <a:cs typeface="Cambria"/>
                        </a:rPr>
                        <a:t>}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ts val="1055"/>
                        </a:lnSpc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1000" spc="8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25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1000" spc="25">
                          <a:latin typeface="Cambria"/>
                          <a:cs typeface="Cambria"/>
                        </a:rPr>
                        <a:t>}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233679">
                        <a:lnSpc>
                          <a:spcPts val="1195"/>
                        </a:lnSpc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1000" spc="8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25">
                          <a:latin typeface="Tahoma"/>
                          <a:cs typeface="Tahoma"/>
                        </a:rPr>
                        <a:t>)</a:t>
                      </a:r>
                      <a:r>
                        <a:rPr dirty="0" sz="1000" spc="25">
                          <a:latin typeface="Cambria"/>
                          <a:cs typeface="Cambria"/>
                        </a:rPr>
                        <a:t>}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146050">
                        <a:lnSpc>
                          <a:spcPts val="1195"/>
                        </a:lnSpc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),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5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50">
                          <a:latin typeface="Cambria"/>
                          <a:cs typeface="Cambria"/>
                        </a:rPr>
                        <a:t>}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146050">
                        <a:lnSpc>
                          <a:spcPts val="1195"/>
                        </a:lnSpc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),</a:t>
                      </a:r>
                      <a:r>
                        <a:rPr dirty="0" sz="1000" spc="3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5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50">
                          <a:latin typeface="Cambria"/>
                          <a:cs typeface="Cambria"/>
                        </a:rPr>
                        <a:t>}</a:t>
                      </a:r>
                      <a:endParaRPr sz="1000">
                        <a:latin typeface="Cambria"/>
                        <a:cs typeface="Cambria"/>
                      </a:endParaRPr>
                    </a:p>
                    <a:p>
                      <a:pPr marL="75565">
                        <a:lnSpc>
                          <a:spcPts val="1200"/>
                        </a:lnSpc>
                      </a:pPr>
                      <a:r>
                        <a:rPr dirty="0" sz="1000">
                          <a:latin typeface="Cambria"/>
                          <a:cs typeface="Cambria"/>
                        </a:rPr>
                        <a:t>{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*,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$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,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>
                          <a:latin typeface="Tahoma"/>
                          <a:cs typeface="Tahoma"/>
                        </a:rPr>
                        <a:t>),</a:t>
                      </a:r>
                      <a:r>
                        <a:rPr dirty="0" sz="1000" spc="5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50">
                          <a:latin typeface="Tahoma"/>
                          <a:cs typeface="Tahoma"/>
                        </a:rPr>
                        <a:t>+</a:t>
                      </a:r>
                      <a:r>
                        <a:rPr dirty="0" sz="1000" spc="50">
                          <a:latin typeface="Cambria"/>
                          <a:cs typeface="Cambria"/>
                        </a:rPr>
                        <a:t>}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14943"/>
            <a:ext cx="270954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Error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Recovery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Predictive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Parsing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(Parse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Table)</a:t>
            </a:r>
            <a:endParaRPr sz="900">
              <a:latin typeface="Tahoma"/>
              <a:cs typeface="Tahoma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916876" y="1443875"/>
          <a:ext cx="2850515" cy="560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504"/>
                <a:gridCol w="500380"/>
                <a:gridCol w="482600"/>
                <a:gridCol w="419734"/>
                <a:gridCol w="358139"/>
                <a:gridCol w="419734"/>
                <a:gridCol w="358139"/>
              </a:tblGrid>
              <a:tr h="93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110" b="1">
                          <a:latin typeface="Gill Sans MT"/>
                          <a:cs typeface="Gill Sans MT"/>
                        </a:rPr>
                        <a:t>+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*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(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)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25" b="1">
                          <a:latin typeface="Gill Sans MT"/>
                          <a:cs typeface="Gill Sans MT"/>
                        </a:rPr>
                        <a:t>id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Microsoft Tai Le"/>
                          <a:cs typeface="Microsoft Tai Le"/>
                        </a:rPr>
                        <a:t>$</a:t>
                      </a:r>
                      <a:endParaRPr sz="600">
                        <a:latin typeface="Microsoft Tai Le"/>
                        <a:cs typeface="Microsoft Tai Le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algn="ctr" marR="2222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E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60"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600" spc="6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60">
                          <a:latin typeface="Tahoma"/>
                          <a:cs typeface="Tahoma"/>
                        </a:rPr>
                        <a:t>TE’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60"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600" spc="6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60">
                          <a:latin typeface="Tahoma"/>
                          <a:cs typeface="Tahoma"/>
                        </a:rPr>
                        <a:t>TE’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25" b="1">
                          <a:latin typeface="Gill Sans MT"/>
                          <a:cs typeface="Gill Sans MT"/>
                        </a:rPr>
                        <a:t>E’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55">
                          <a:latin typeface="Tahoma"/>
                          <a:cs typeface="Tahoma"/>
                        </a:rPr>
                        <a:t>E’</a:t>
                      </a:r>
                      <a:r>
                        <a:rPr dirty="0" sz="600" spc="5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55">
                          <a:latin typeface="Tahoma"/>
                          <a:cs typeface="Tahoma"/>
                        </a:rPr>
                        <a:t>+TE’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55">
                          <a:latin typeface="Tahoma"/>
                          <a:cs typeface="Tahoma"/>
                        </a:rPr>
                        <a:t>E’</a:t>
                      </a:r>
                      <a:r>
                        <a:rPr dirty="0" sz="600" spc="5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55" i="1">
                          <a:latin typeface="Arial"/>
                          <a:cs typeface="Arial"/>
                        </a:rPr>
                        <a:t>ϵ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55">
                          <a:latin typeface="Tahoma"/>
                          <a:cs typeface="Tahoma"/>
                        </a:rPr>
                        <a:t>E’</a:t>
                      </a:r>
                      <a:r>
                        <a:rPr dirty="0" sz="600" spc="5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55" i="1">
                          <a:latin typeface="Arial"/>
                          <a:cs typeface="Arial"/>
                        </a:rPr>
                        <a:t>ϵ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algn="ctr" marR="15240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T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70"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600" spc="7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70">
                          <a:latin typeface="Tahoma"/>
                          <a:cs typeface="Tahoma"/>
                        </a:rPr>
                        <a:t>FT’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70"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600" spc="7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70">
                          <a:latin typeface="Tahoma"/>
                          <a:cs typeface="Tahoma"/>
                        </a:rPr>
                        <a:t>FT’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25" b="1">
                          <a:latin typeface="Gill Sans MT"/>
                          <a:cs typeface="Gill Sans MT"/>
                        </a:rPr>
                        <a:t>T’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65">
                          <a:latin typeface="Tahoma"/>
                          <a:cs typeface="Tahoma"/>
                        </a:rPr>
                        <a:t>T’</a:t>
                      </a:r>
                      <a:r>
                        <a:rPr dirty="0" sz="600" spc="6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65" i="1">
                          <a:latin typeface="Arial"/>
                          <a:cs typeface="Arial"/>
                        </a:rPr>
                        <a:t>ϵ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55">
                          <a:latin typeface="Tahoma"/>
                          <a:cs typeface="Tahoma"/>
                        </a:rPr>
                        <a:t>T’</a:t>
                      </a:r>
                      <a:r>
                        <a:rPr dirty="0" sz="600" spc="5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55">
                          <a:latin typeface="Tahoma"/>
                          <a:cs typeface="Tahoma"/>
                        </a:rPr>
                        <a:t>*FT’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65">
                          <a:latin typeface="Tahoma"/>
                          <a:cs typeface="Tahoma"/>
                        </a:rPr>
                        <a:t>T’</a:t>
                      </a:r>
                      <a:r>
                        <a:rPr dirty="0" sz="600" spc="6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65" i="1">
                          <a:latin typeface="Arial"/>
                          <a:cs typeface="Arial"/>
                        </a:rPr>
                        <a:t>ϵ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65">
                          <a:latin typeface="Tahoma"/>
                          <a:cs typeface="Tahoma"/>
                        </a:rPr>
                        <a:t>T’</a:t>
                      </a:r>
                      <a:r>
                        <a:rPr dirty="0" sz="600" spc="6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65" i="1">
                          <a:latin typeface="Arial"/>
                          <a:cs typeface="Arial"/>
                        </a:rPr>
                        <a:t>ϵ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algn="ctr" marR="247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F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45">
                          <a:latin typeface="Tahoma"/>
                          <a:cs typeface="Tahoma"/>
                        </a:rPr>
                        <a:t>F</a:t>
                      </a:r>
                      <a:r>
                        <a:rPr dirty="0" sz="600" spc="4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45">
                          <a:latin typeface="Tahoma"/>
                          <a:cs typeface="Tahoma"/>
                        </a:rPr>
                        <a:t>(E)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30">
                          <a:latin typeface="Tahoma"/>
                          <a:cs typeface="Tahoma"/>
                        </a:rPr>
                        <a:t>F</a:t>
                      </a:r>
                      <a:r>
                        <a:rPr dirty="0" sz="600" spc="3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30">
                          <a:latin typeface="Tahoma"/>
                          <a:cs typeface="Tahoma"/>
                        </a:rPr>
                        <a:t>id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14943"/>
            <a:ext cx="270954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Error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Recovery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Predictive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Parsing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dirty="0" sz="9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(Parse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Table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Error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Recovery)</a:t>
            </a:r>
            <a:endParaRPr sz="900">
              <a:latin typeface="Tahoma"/>
              <a:cs typeface="Tahoma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916876" y="1443875"/>
          <a:ext cx="2850515" cy="560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504"/>
                <a:gridCol w="500380"/>
                <a:gridCol w="482600"/>
                <a:gridCol w="419734"/>
                <a:gridCol w="358139"/>
                <a:gridCol w="419734"/>
                <a:gridCol w="358139"/>
              </a:tblGrid>
              <a:tr h="93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110" b="1">
                          <a:latin typeface="Gill Sans MT"/>
                          <a:cs typeface="Gill Sans MT"/>
                        </a:rPr>
                        <a:t>+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*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(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)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25" b="1">
                          <a:latin typeface="Gill Sans MT"/>
                          <a:cs typeface="Gill Sans MT"/>
                        </a:rPr>
                        <a:t>id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Microsoft Tai Le"/>
                          <a:cs typeface="Microsoft Tai Le"/>
                        </a:rPr>
                        <a:t>$</a:t>
                      </a:r>
                      <a:endParaRPr sz="600">
                        <a:latin typeface="Microsoft Tai Le"/>
                        <a:cs typeface="Microsoft Tai Le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algn="ctr" marR="2222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E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60"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600" spc="6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60">
                          <a:latin typeface="Tahoma"/>
                          <a:cs typeface="Tahoma"/>
                        </a:rPr>
                        <a:t>TE’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20">
                          <a:latin typeface="Tahoma"/>
                          <a:cs typeface="Tahoma"/>
                        </a:rPr>
                        <a:t>sync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60"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600" spc="6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60">
                          <a:latin typeface="Tahoma"/>
                          <a:cs typeface="Tahoma"/>
                        </a:rPr>
                        <a:t>TE’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20">
                          <a:latin typeface="Tahoma"/>
                          <a:cs typeface="Tahoma"/>
                        </a:rPr>
                        <a:t>sync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25" b="1">
                          <a:latin typeface="Gill Sans MT"/>
                          <a:cs typeface="Gill Sans MT"/>
                        </a:rPr>
                        <a:t>E’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55">
                          <a:latin typeface="Tahoma"/>
                          <a:cs typeface="Tahoma"/>
                        </a:rPr>
                        <a:t>E’</a:t>
                      </a:r>
                      <a:r>
                        <a:rPr dirty="0" sz="600" spc="5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55">
                          <a:latin typeface="Tahoma"/>
                          <a:cs typeface="Tahoma"/>
                        </a:rPr>
                        <a:t>+TE’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55">
                          <a:latin typeface="Tahoma"/>
                          <a:cs typeface="Tahoma"/>
                        </a:rPr>
                        <a:t>E’</a:t>
                      </a:r>
                      <a:r>
                        <a:rPr dirty="0" sz="600" spc="5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55" i="1">
                          <a:latin typeface="Arial"/>
                          <a:cs typeface="Arial"/>
                        </a:rPr>
                        <a:t>ϵ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55">
                          <a:latin typeface="Tahoma"/>
                          <a:cs typeface="Tahoma"/>
                        </a:rPr>
                        <a:t>E’</a:t>
                      </a:r>
                      <a:r>
                        <a:rPr dirty="0" sz="600" spc="5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55" i="1">
                          <a:latin typeface="Arial"/>
                          <a:cs typeface="Arial"/>
                        </a:rPr>
                        <a:t>ϵ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algn="ctr" marR="15240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T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20">
                          <a:latin typeface="Tahoma"/>
                          <a:cs typeface="Tahoma"/>
                        </a:rPr>
                        <a:t>sync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70"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600" spc="7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70">
                          <a:latin typeface="Tahoma"/>
                          <a:cs typeface="Tahoma"/>
                        </a:rPr>
                        <a:t>FT’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20">
                          <a:latin typeface="Tahoma"/>
                          <a:cs typeface="Tahoma"/>
                        </a:rPr>
                        <a:t>sync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70"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600" spc="7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70">
                          <a:latin typeface="Tahoma"/>
                          <a:cs typeface="Tahoma"/>
                        </a:rPr>
                        <a:t>FT’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20">
                          <a:latin typeface="Tahoma"/>
                          <a:cs typeface="Tahoma"/>
                        </a:rPr>
                        <a:t>sync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25" b="1">
                          <a:latin typeface="Gill Sans MT"/>
                          <a:cs typeface="Gill Sans MT"/>
                        </a:rPr>
                        <a:t>T’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65">
                          <a:latin typeface="Tahoma"/>
                          <a:cs typeface="Tahoma"/>
                        </a:rPr>
                        <a:t>T’</a:t>
                      </a:r>
                      <a:r>
                        <a:rPr dirty="0" sz="600" spc="6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65" i="1">
                          <a:latin typeface="Arial"/>
                          <a:cs typeface="Arial"/>
                        </a:rPr>
                        <a:t>ϵ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55">
                          <a:latin typeface="Tahoma"/>
                          <a:cs typeface="Tahoma"/>
                        </a:rPr>
                        <a:t>T’</a:t>
                      </a:r>
                      <a:r>
                        <a:rPr dirty="0" sz="600" spc="5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55">
                          <a:latin typeface="Tahoma"/>
                          <a:cs typeface="Tahoma"/>
                        </a:rPr>
                        <a:t>*FT’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65">
                          <a:latin typeface="Tahoma"/>
                          <a:cs typeface="Tahoma"/>
                        </a:rPr>
                        <a:t>T’</a:t>
                      </a:r>
                      <a:r>
                        <a:rPr dirty="0" sz="600" spc="6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65" i="1">
                          <a:latin typeface="Arial"/>
                          <a:cs typeface="Arial"/>
                        </a:rPr>
                        <a:t>ϵ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65">
                          <a:latin typeface="Tahoma"/>
                          <a:cs typeface="Tahoma"/>
                        </a:rPr>
                        <a:t>T’</a:t>
                      </a:r>
                      <a:r>
                        <a:rPr dirty="0" sz="600" spc="6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65" i="1">
                          <a:latin typeface="Arial"/>
                          <a:cs typeface="Arial"/>
                        </a:rPr>
                        <a:t>ϵ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algn="ctr" marR="247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F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20">
                          <a:latin typeface="Tahoma"/>
                          <a:cs typeface="Tahoma"/>
                        </a:rPr>
                        <a:t>sync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20">
                          <a:latin typeface="Tahoma"/>
                          <a:cs typeface="Tahoma"/>
                        </a:rPr>
                        <a:t>sync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45">
                          <a:latin typeface="Tahoma"/>
                          <a:cs typeface="Tahoma"/>
                        </a:rPr>
                        <a:t>F</a:t>
                      </a:r>
                      <a:r>
                        <a:rPr dirty="0" sz="600" spc="45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45">
                          <a:latin typeface="Tahoma"/>
                          <a:cs typeface="Tahoma"/>
                        </a:rPr>
                        <a:t>(E)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20">
                          <a:latin typeface="Tahoma"/>
                          <a:cs typeface="Tahoma"/>
                        </a:rPr>
                        <a:t>sync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30">
                          <a:latin typeface="Tahoma"/>
                          <a:cs typeface="Tahoma"/>
                        </a:rPr>
                        <a:t>F</a:t>
                      </a:r>
                      <a:r>
                        <a:rPr dirty="0" sz="600" spc="30">
                          <a:latin typeface="Calibri"/>
                          <a:cs typeface="Calibri"/>
                        </a:rPr>
                        <a:t>→</a:t>
                      </a:r>
                      <a:r>
                        <a:rPr dirty="0" sz="600" spc="30">
                          <a:latin typeface="Tahoma"/>
                          <a:cs typeface="Tahoma"/>
                        </a:rPr>
                        <a:t>id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dirty="0" sz="600" spc="-20">
                          <a:latin typeface="Tahoma"/>
                          <a:cs typeface="Tahoma"/>
                        </a:rPr>
                        <a:t>sync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59878"/>
            <a:ext cx="270954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Error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Tahoma"/>
                <a:cs typeface="Tahoma"/>
              </a:rPr>
              <a:t>Recovery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Predictive</a:t>
            </a:r>
            <a:r>
              <a:rPr dirty="0" sz="14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Parsing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3465" y="1495447"/>
            <a:ext cx="330136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5" b="1">
                <a:latin typeface="Gill Sans MT"/>
                <a:cs typeface="Gill Sans MT"/>
              </a:rPr>
              <a:t>[Demonstration</a:t>
            </a:r>
            <a:r>
              <a:rPr dirty="0" sz="1400" spc="5" b="1">
                <a:latin typeface="Gill Sans MT"/>
                <a:cs typeface="Gill Sans MT"/>
              </a:rPr>
              <a:t> </a:t>
            </a:r>
            <a:r>
              <a:rPr dirty="0" sz="1400" spc="-10" b="1">
                <a:latin typeface="Gill Sans MT"/>
                <a:cs typeface="Gill Sans MT"/>
              </a:rPr>
              <a:t>or</a:t>
            </a:r>
            <a:r>
              <a:rPr dirty="0" sz="1400" spc="10" b="1">
                <a:latin typeface="Gill Sans MT"/>
                <a:cs typeface="Gill Sans MT"/>
              </a:rPr>
              <a:t> </a:t>
            </a:r>
            <a:r>
              <a:rPr dirty="0" sz="1400" b="1">
                <a:latin typeface="Gill Sans MT"/>
                <a:cs typeface="Gill Sans MT"/>
              </a:rPr>
              <a:t>Additional</a:t>
            </a:r>
            <a:r>
              <a:rPr dirty="0" sz="1400" spc="10" b="1">
                <a:latin typeface="Gill Sans MT"/>
                <a:cs typeface="Gill Sans MT"/>
              </a:rPr>
              <a:t> </a:t>
            </a:r>
            <a:r>
              <a:rPr dirty="0" sz="1400" spc="-25" b="1">
                <a:latin typeface="Gill Sans MT"/>
                <a:cs typeface="Gill Sans MT"/>
              </a:rPr>
              <a:t>Example]</a:t>
            </a:r>
            <a:endParaRPr sz="1400">
              <a:latin typeface="Gill Sans MT"/>
              <a:cs typeface="Gill Sans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Shift/Reduce</a:t>
            </a:r>
            <a:r>
              <a:rPr dirty="0" spc="-90"/>
              <a:t> </a:t>
            </a:r>
            <a:r>
              <a:rPr dirty="0" spc="-10"/>
              <a:t>Conflicts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Outline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307131"/>
            <a:ext cx="114214" cy="11421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51929" y="129419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10"/>
              <a:t>Error</a:t>
            </a:r>
            <a:r>
              <a:rPr dirty="0" spc="-60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 spc="-10"/>
              <a:t>Strategies</a:t>
            </a:r>
          </a:p>
          <a:p>
            <a:pPr marL="12700" marR="5080">
              <a:lnSpc>
                <a:spcPct val="125299"/>
              </a:lnSpc>
            </a:pPr>
            <a:r>
              <a:rPr dirty="0" spc="-10"/>
              <a:t>Error</a:t>
            </a:r>
            <a:r>
              <a:rPr dirty="0" spc="-35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 spc="-20"/>
              <a:t>Predictive</a:t>
            </a:r>
            <a:r>
              <a:rPr dirty="0" spc="-35"/>
              <a:t> Parsing </a:t>
            </a:r>
            <a:r>
              <a:rPr dirty="0" spc="-20"/>
              <a:t>Shift/Reduce</a:t>
            </a:r>
            <a:r>
              <a:rPr dirty="0" spc="10"/>
              <a:t> </a:t>
            </a:r>
            <a:r>
              <a:rPr dirty="0" spc="-10"/>
              <a:t>Conflicts</a:t>
            </a:r>
          </a:p>
          <a:p>
            <a:pPr marL="12700" marR="422909">
              <a:lnSpc>
                <a:spcPct val="125299"/>
              </a:lnSpc>
            </a:pPr>
            <a:r>
              <a:rPr dirty="0" spc="-45"/>
              <a:t>Precedence</a:t>
            </a:r>
            <a:r>
              <a:rPr dirty="0" spc="-40"/>
              <a:t> </a:t>
            </a:r>
            <a:r>
              <a:rPr dirty="0" spc="-35"/>
              <a:t>and </a:t>
            </a:r>
            <a:r>
              <a:rPr dirty="0" spc="-15"/>
              <a:t>Associativity </a:t>
            </a:r>
            <a:r>
              <a:rPr dirty="0" spc="-10"/>
              <a:t>Assignment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517164"/>
            <a:ext cx="114214" cy="11421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1917" y="150423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727196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51917" y="171426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937229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1917" y="192429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147261"/>
            <a:ext cx="114214" cy="11421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51917" y="213432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Shift/Reduce</a:t>
            </a:r>
            <a:r>
              <a:rPr dirty="0" spc="-90"/>
              <a:t> </a:t>
            </a:r>
            <a:r>
              <a:rPr dirty="0" spc="-10"/>
              <a:t>Conflicts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Example</a:t>
            </a:r>
            <a:r>
              <a:rPr dirty="0" sz="900" spc="15"/>
              <a:t> </a:t>
            </a:r>
            <a:r>
              <a:rPr dirty="0" sz="900"/>
              <a:t>(A</a:t>
            </a:r>
            <a:r>
              <a:rPr dirty="0" sz="900" spc="15"/>
              <a:t> </a:t>
            </a:r>
            <a:r>
              <a:rPr dirty="0" sz="900"/>
              <a:t>Simplified</a:t>
            </a:r>
            <a:r>
              <a:rPr dirty="0" sz="900" spc="15"/>
              <a:t> </a:t>
            </a:r>
            <a:r>
              <a:rPr dirty="0" sz="900" spc="-10"/>
              <a:t>Grammar)</a:t>
            </a:r>
            <a:endParaRPr sz="900"/>
          </a:p>
        </p:txBody>
      </p:sp>
      <p:sp>
        <p:nvSpPr>
          <p:cNvPr id="4" name="object 4" descr=""/>
          <p:cNvSpPr txBox="1"/>
          <p:nvPr/>
        </p:nvSpPr>
        <p:spPr>
          <a:xfrm>
            <a:off x="125844" y="1005394"/>
            <a:ext cx="4330700" cy="1631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may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simplify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our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to: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100">
                <a:latin typeface="Cambria"/>
                <a:cs typeface="Cambria"/>
              </a:rPr>
              <a:t>E</a:t>
            </a:r>
            <a:r>
              <a:rPr dirty="0" sz="1100" spc="225">
                <a:latin typeface="Cambria"/>
                <a:cs typeface="Cambria"/>
              </a:rPr>
              <a:t> </a:t>
            </a: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E</a:t>
            </a:r>
            <a:r>
              <a:rPr dirty="0" sz="1100" spc="2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+</a:t>
            </a:r>
            <a:r>
              <a:rPr dirty="0" sz="1100" spc="27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E</a:t>
            </a:r>
            <a:endParaRPr sz="1100">
              <a:latin typeface="Cambria"/>
              <a:cs typeface="Cambria"/>
            </a:endParaRPr>
          </a:p>
          <a:p>
            <a:pPr marL="12700" marR="3656329">
              <a:lnSpc>
                <a:spcPct val="102600"/>
              </a:lnSpc>
            </a:pPr>
            <a:r>
              <a:rPr dirty="0" sz="1100">
                <a:latin typeface="Cambria"/>
                <a:cs typeface="Cambria"/>
              </a:rPr>
              <a:t>E</a:t>
            </a:r>
            <a:r>
              <a:rPr dirty="0" sz="1100" spc="250">
                <a:latin typeface="Cambria"/>
                <a:cs typeface="Cambria"/>
              </a:rPr>
              <a:t> </a:t>
            </a: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E</a:t>
            </a:r>
            <a:r>
              <a:rPr dirty="0" sz="1100" spc="285">
                <a:latin typeface="Cambria"/>
                <a:cs typeface="Cambria"/>
              </a:rPr>
              <a:t> </a:t>
            </a:r>
            <a:r>
              <a:rPr dirty="0" sz="1100" spc="95">
                <a:latin typeface="Cambria"/>
                <a:cs typeface="Cambria"/>
              </a:rPr>
              <a:t>*</a:t>
            </a:r>
            <a:r>
              <a:rPr dirty="0" sz="1100" spc="28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E</a:t>
            </a:r>
            <a:r>
              <a:rPr dirty="0" sz="1100">
                <a:latin typeface="Cambria"/>
                <a:cs typeface="Cambria"/>
              </a:rPr>
              <a:t> E</a:t>
            </a:r>
            <a:r>
              <a:rPr dirty="0" sz="1100" spc="250">
                <a:latin typeface="Cambria"/>
                <a:cs typeface="Cambria"/>
              </a:rPr>
              <a:t> </a:t>
            </a: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 spc="140">
                <a:latin typeface="Cambria"/>
                <a:cs typeface="Cambria"/>
              </a:rPr>
              <a:t>(</a:t>
            </a:r>
            <a:r>
              <a:rPr dirty="0" sz="1100" spc="2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E</a:t>
            </a:r>
            <a:r>
              <a:rPr dirty="0" sz="1100" spc="290">
                <a:latin typeface="Cambria"/>
                <a:cs typeface="Cambria"/>
              </a:rPr>
              <a:t> </a:t>
            </a:r>
            <a:r>
              <a:rPr dirty="0" sz="1100" spc="90">
                <a:latin typeface="Cambria"/>
                <a:cs typeface="Cambria"/>
              </a:rPr>
              <a:t>)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Cambria"/>
                <a:cs typeface="Cambria"/>
              </a:rPr>
              <a:t>E</a:t>
            </a:r>
            <a:r>
              <a:rPr dirty="0" sz="1100" spc="250">
                <a:latin typeface="Cambria"/>
                <a:cs typeface="Cambria"/>
              </a:rPr>
              <a:t> </a:t>
            </a: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 spc="75">
                <a:latin typeface="Cambria"/>
                <a:cs typeface="Cambria"/>
              </a:rPr>
              <a:t>id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02600"/>
              </a:lnSpc>
            </a:pPr>
            <a:r>
              <a:rPr dirty="0" sz="1100" spc="-6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form,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precedence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rules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*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implicit.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must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incorporated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into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tables.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Shift/Reduce</a:t>
            </a:r>
            <a:r>
              <a:rPr dirty="0" spc="-90"/>
              <a:t> </a:t>
            </a:r>
            <a:r>
              <a:rPr dirty="0" spc="-10"/>
              <a:t>Conflicts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/>
              <a:t>Shift/Reduce</a:t>
            </a:r>
            <a:r>
              <a:rPr dirty="0" sz="900" spc="-30"/>
              <a:t> </a:t>
            </a:r>
            <a:r>
              <a:rPr dirty="0" sz="900" spc="-10"/>
              <a:t>Conflicts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20139"/>
            <a:ext cx="65265" cy="6526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2932" y="1136686"/>
            <a:ext cx="4074160" cy="13385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31242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possible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contain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both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shift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operation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 spc="-60">
                <a:latin typeface="Tahoma"/>
                <a:cs typeface="Tahoma"/>
              </a:rPr>
              <a:t>reduce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operation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called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shift/reduce</a:t>
            </a:r>
            <a:r>
              <a:rPr dirty="0" sz="1100" spc="30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conflict</a:t>
            </a:r>
            <a:endParaRPr sz="1100">
              <a:latin typeface="Gill Sans MT"/>
              <a:cs typeface="Gill Sans MT"/>
            </a:endParaRPr>
          </a:p>
          <a:p>
            <a:pPr marL="12700" marR="550545">
              <a:lnSpc>
                <a:spcPct val="102699"/>
              </a:lnSpc>
              <a:spcBef>
                <a:spcPts val="295"/>
              </a:spcBef>
            </a:pP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”shift”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0">
                <a:latin typeface="Tahoma"/>
                <a:cs typeface="Tahoma"/>
              </a:rPr>
              <a:t> ”reduce,” </a:t>
            </a:r>
            <a:r>
              <a:rPr dirty="0" sz="1100" spc="-40">
                <a:latin typeface="Tahoma"/>
                <a:cs typeface="Tahoma"/>
              </a:rPr>
              <a:t>each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case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must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be </a:t>
            </a:r>
            <a:r>
              <a:rPr dirty="0" sz="1100" spc="-50">
                <a:latin typeface="Tahoma"/>
                <a:cs typeface="Tahoma"/>
              </a:rPr>
              <a:t>considered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its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own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merit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 spc="-35">
                <a:latin typeface="Tahoma"/>
                <a:cs typeface="Tahoma"/>
              </a:rPr>
              <a:t>Consider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case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160" i="1">
                <a:latin typeface="Calibri"/>
                <a:cs typeface="Calibri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10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165" i="1">
                <a:latin typeface="Calibri"/>
                <a:cs typeface="Calibri"/>
              </a:rPr>
              <a:t> </a:t>
            </a:r>
            <a:r>
              <a:rPr dirty="0" sz="1100">
                <a:latin typeface="Cambria"/>
                <a:cs typeface="Cambria"/>
              </a:rPr>
              <a:t>|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105" i="1">
                <a:latin typeface="Calibri"/>
                <a:cs typeface="Calibri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-15">
                <a:latin typeface="Cambria"/>
                <a:cs typeface="Cambria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220" i="1">
                <a:latin typeface="Calibri"/>
                <a:cs typeface="Calibri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inputs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 spc="-1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b</a:t>
            </a:r>
            <a:r>
              <a:rPr dirty="0" sz="1100" spc="10" i="1">
                <a:latin typeface="Calibri"/>
                <a:cs typeface="Calibri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-20">
                <a:latin typeface="Cambria"/>
                <a:cs typeface="Cambria"/>
              </a:rPr>
              <a:t> </a:t>
            </a:r>
            <a:r>
              <a:rPr dirty="0" sz="1100" i="1">
                <a:latin typeface="Calibri"/>
                <a:cs typeface="Calibri"/>
              </a:rPr>
              <a:t>c</a:t>
            </a:r>
            <a:r>
              <a:rPr dirty="0" sz="1100" spc="180" i="1">
                <a:latin typeface="Calibri"/>
                <a:cs typeface="Calibri"/>
              </a:rPr>
              <a:t> </a:t>
            </a:r>
            <a:r>
              <a:rPr dirty="0" sz="1100" spc="-25"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Calibri"/>
                <a:cs typeface="Calibri"/>
              </a:rPr>
              <a:t>a</a:t>
            </a:r>
            <a:r>
              <a:rPr dirty="0" sz="1100" spc="5" i="1">
                <a:latin typeface="Calibri"/>
                <a:cs typeface="Calibri"/>
              </a:rPr>
              <a:t> </a:t>
            </a:r>
            <a:r>
              <a:rPr dirty="0" sz="1100">
                <a:latin typeface="Cambria"/>
                <a:cs typeface="Cambria"/>
              </a:rPr>
              <a:t>∗ </a:t>
            </a:r>
            <a:r>
              <a:rPr dirty="0" sz="1100" i="1">
                <a:latin typeface="Calibri"/>
                <a:cs typeface="Calibri"/>
              </a:rPr>
              <a:t>b</a:t>
            </a:r>
            <a:r>
              <a:rPr dirty="0" sz="1100" spc="3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50" i="1">
                <a:latin typeface="Calibri"/>
                <a:cs typeface="Calibri"/>
              </a:rPr>
              <a:t>c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02244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12277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94382"/>
            <a:ext cx="65265" cy="6526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6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Shift/Reduce</a:t>
            </a:r>
            <a:r>
              <a:rPr dirty="0" spc="-90"/>
              <a:t> </a:t>
            </a:r>
            <a:r>
              <a:rPr dirty="0" spc="-10"/>
              <a:t>Conflicts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20"/>
              <a:t>Reduce/Reduce</a:t>
            </a:r>
            <a:r>
              <a:rPr dirty="0" sz="900" spc="35"/>
              <a:t> </a:t>
            </a:r>
            <a:r>
              <a:rPr dirty="0" sz="900" spc="-10"/>
              <a:t>Conflicts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29969"/>
            <a:ext cx="65265" cy="6526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2932" y="1002739"/>
            <a:ext cx="3997960" cy="1591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835">
              <a:lnSpc>
                <a:spcPct val="125299"/>
              </a:lnSpc>
              <a:spcBef>
                <a:spcPts val="100"/>
              </a:spcBef>
            </a:pP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possible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contain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two </a:t>
            </a:r>
            <a:r>
              <a:rPr dirty="0" sz="1100" spc="-35">
                <a:latin typeface="Tahoma"/>
                <a:cs typeface="Tahoma"/>
              </a:rPr>
              <a:t>different </a:t>
            </a:r>
            <a:r>
              <a:rPr dirty="0" sz="1100" spc="-60">
                <a:latin typeface="Tahoma"/>
                <a:cs typeface="Tahoma"/>
              </a:rPr>
              <a:t>reduce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operations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called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 b="1">
                <a:latin typeface="Gill Sans MT"/>
                <a:cs typeface="Gill Sans MT"/>
              </a:rPr>
              <a:t>reduce/reduce</a:t>
            </a:r>
            <a:r>
              <a:rPr dirty="0" sz="1100" spc="3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conflict</a:t>
            </a:r>
            <a:endParaRPr sz="1100">
              <a:latin typeface="Gill Sans MT"/>
              <a:cs typeface="Gill Sans MT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occurs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when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sequence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tokens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matches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right-</a:t>
            </a:r>
            <a:r>
              <a:rPr dirty="0" sz="1100" spc="-25">
                <a:latin typeface="Tahoma"/>
                <a:cs typeface="Tahoma"/>
              </a:rPr>
              <a:t>hand </a:t>
            </a:r>
            <a:r>
              <a:rPr dirty="0" sz="1100" spc="-40">
                <a:latin typeface="Tahoma"/>
                <a:cs typeface="Tahoma"/>
              </a:rPr>
              <a:t>sides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two </a:t>
            </a:r>
            <a:r>
              <a:rPr dirty="0" sz="1100" spc="-35">
                <a:latin typeface="Tahoma"/>
                <a:cs typeface="Tahoma"/>
              </a:rPr>
              <a:t>different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productions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same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time</a:t>
            </a:r>
            <a:endParaRPr sz="1100">
              <a:latin typeface="Tahoma"/>
              <a:cs typeface="Tahoma"/>
            </a:endParaRPr>
          </a:p>
          <a:p>
            <a:pPr marL="12700" marR="33655">
              <a:lnSpc>
                <a:spcPct val="102699"/>
              </a:lnSpc>
              <a:spcBef>
                <a:spcPts val="300"/>
              </a:spcBef>
            </a:pP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each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such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table,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must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which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reduction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apply</a:t>
            </a:r>
            <a:endParaRPr sz="1100">
              <a:latin typeface="Tahoma"/>
              <a:cs typeface="Tahoma"/>
            </a:endParaRPr>
          </a:p>
          <a:p>
            <a:pPr marL="12700" marR="117475">
              <a:lnSpc>
                <a:spcPct val="102699"/>
              </a:lnSpc>
              <a:spcBef>
                <a:spcPts val="29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presence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reduce/reduce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indicates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you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should </a:t>
            </a:r>
            <a:r>
              <a:rPr dirty="0" sz="1100" spc="-10">
                <a:latin typeface="Tahoma"/>
                <a:cs typeface="Tahoma"/>
              </a:rPr>
              <a:t>find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another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grammar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40002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50035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2140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14244"/>
            <a:ext cx="65265" cy="65265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Shift/Reduce</a:t>
            </a:r>
            <a:r>
              <a:rPr dirty="0" spc="-90"/>
              <a:t> </a:t>
            </a:r>
            <a:r>
              <a:rPr dirty="0" spc="-10"/>
              <a:t>Conflicts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20"/>
              <a:t>Reduce/Reduce</a:t>
            </a:r>
            <a:r>
              <a:rPr dirty="0" sz="900" spc="35"/>
              <a:t> </a:t>
            </a:r>
            <a:r>
              <a:rPr dirty="0" sz="900" spc="-10"/>
              <a:t>Conflicts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29969"/>
            <a:ext cx="65265" cy="6526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02932" y="1002739"/>
            <a:ext cx="3997960" cy="1591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6835">
              <a:lnSpc>
                <a:spcPct val="125299"/>
              </a:lnSpc>
              <a:spcBef>
                <a:spcPts val="100"/>
              </a:spcBef>
            </a:pPr>
            <a:r>
              <a:rPr dirty="0" sz="1100">
                <a:latin typeface="Tahoma"/>
                <a:cs typeface="Tahoma"/>
              </a:rPr>
              <a:t>It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possible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contain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two </a:t>
            </a:r>
            <a:r>
              <a:rPr dirty="0" sz="1100" spc="-35">
                <a:latin typeface="Tahoma"/>
                <a:cs typeface="Tahoma"/>
              </a:rPr>
              <a:t>different </a:t>
            </a:r>
            <a:r>
              <a:rPr dirty="0" sz="1100" spc="-60">
                <a:latin typeface="Tahoma"/>
                <a:cs typeface="Tahoma"/>
              </a:rPr>
              <a:t>reduce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operations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called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 b="1">
                <a:latin typeface="Gill Sans MT"/>
                <a:cs typeface="Gill Sans MT"/>
              </a:rPr>
              <a:t>reduce/reduce</a:t>
            </a:r>
            <a:r>
              <a:rPr dirty="0" sz="1100" spc="35" b="1">
                <a:latin typeface="Gill Sans MT"/>
                <a:cs typeface="Gill Sans MT"/>
              </a:rPr>
              <a:t> </a:t>
            </a:r>
            <a:r>
              <a:rPr dirty="0" sz="1100" spc="-10" b="1">
                <a:latin typeface="Gill Sans MT"/>
                <a:cs typeface="Gill Sans MT"/>
              </a:rPr>
              <a:t>conflict</a:t>
            </a:r>
            <a:endParaRPr sz="1100">
              <a:latin typeface="Gill Sans MT"/>
              <a:cs typeface="Gill Sans MT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occurs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when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65">
                <a:latin typeface="Tahoma"/>
                <a:cs typeface="Tahoma"/>
              </a:rPr>
              <a:t>sequence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tokens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matches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right-</a:t>
            </a:r>
            <a:r>
              <a:rPr dirty="0" sz="1100" spc="-25">
                <a:latin typeface="Tahoma"/>
                <a:cs typeface="Tahoma"/>
              </a:rPr>
              <a:t>hand </a:t>
            </a:r>
            <a:r>
              <a:rPr dirty="0" sz="1100" spc="-40">
                <a:latin typeface="Tahoma"/>
                <a:cs typeface="Tahoma"/>
              </a:rPr>
              <a:t>sides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two </a:t>
            </a:r>
            <a:r>
              <a:rPr dirty="0" sz="1100" spc="-35">
                <a:latin typeface="Tahoma"/>
                <a:cs typeface="Tahoma"/>
              </a:rPr>
              <a:t>different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productions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same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time</a:t>
            </a:r>
            <a:endParaRPr sz="1100">
              <a:latin typeface="Tahoma"/>
              <a:cs typeface="Tahoma"/>
            </a:endParaRPr>
          </a:p>
          <a:p>
            <a:pPr marL="12700" marR="33655">
              <a:lnSpc>
                <a:spcPct val="102699"/>
              </a:lnSpc>
              <a:spcBef>
                <a:spcPts val="300"/>
              </a:spcBef>
            </a:pP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each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such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table,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must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which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reduction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apply</a:t>
            </a:r>
            <a:endParaRPr sz="1100">
              <a:latin typeface="Tahoma"/>
              <a:cs typeface="Tahoma"/>
            </a:endParaRPr>
          </a:p>
          <a:p>
            <a:pPr marL="12700" marR="117475">
              <a:lnSpc>
                <a:spcPct val="102699"/>
              </a:lnSpc>
              <a:spcBef>
                <a:spcPts val="29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presence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reduce/reduce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indicates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you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should </a:t>
            </a:r>
            <a:r>
              <a:rPr dirty="0" sz="1100" spc="-10">
                <a:latin typeface="Tahoma"/>
                <a:cs typeface="Tahoma"/>
              </a:rPr>
              <a:t>find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another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grammar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40002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50035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32140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14244"/>
            <a:ext cx="65265" cy="65265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14943"/>
            <a:ext cx="196405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Shift/Reduce</a:t>
            </a:r>
            <a:r>
              <a:rPr dirty="0" sz="14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Conflicts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dirty="0" sz="9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(The</a:t>
            </a:r>
            <a:r>
              <a:rPr dirty="0" sz="9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r>
              <a:rPr dirty="0" sz="9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9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Goto</a:t>
            </a:r>
            <a:r>
              <a:rPr dirty="0" sz="9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Tables)</a:t>
            </a:r>
            <a:endParaRPr sz="900">
              <a:latin typeface="Tahoma"/>
              <a:cs typeface="Tahoma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222375" y="1274838"/>
          <a:ext cx="2239645" cy="98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455"/>
                <a:gridCol w="331470"/>
                <a:gridCol w="331469"/>
                <a:gridCol w="223519"/>
                <a:gridCol w="223519"/>
                <a:gridCol w="223519"/>
                <a:gridCol w="275589"/>
                <a:gridCol w="213994"/>
              </a:tblGrid>
              <a:tr h="93345"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10" b="1">
                          <a:latin typeface="Gill Sans MT"/>
                          <a:cs typeface="Gill Sans MT"/>
                        </a:rPr>
                        <a:t>State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110" b="1">
                          <a:latin typeface="Gill Sans MT"/>
                          <a:cs typeface="Gill Sans MT"/>
                        </a:rPr>
                        <a:t>+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*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(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)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25" b="1">
                          <a:latin typeface="Gill Sans MT"/>
                          <a:cs typeface="Gill Sans MT"/>
                        </a:rPr>
                        <a:t>id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Microsoft Tai Le"/>
                          <a:cs typeface="Microsoft Tai Le"/>
                        </a:rPr>
                        <a:t>$</a:t>
                      </a:r>
                      <a:endParaRPr sz="600">
                        <a:latin typeface="Microsoft Tai Le"/>
                        <a:cs typeface="Microsoft Tai Le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E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900">
                <a:tc>
                  <a:txBody>
                    <a:bodyPr/>
                    <a:lstStyle/>
                    <a:p>
                      <a:pPr algn="ctr">
                        <a:lnSpc>
                          <a:spcPts val="60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0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60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acc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7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8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s9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7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10">
                          <a:latin typeface="Tahoma"/>
                          <a:cs typeface="Tahoma"/>
                        </a:rPr>
                        <a:t>s4/r1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10">
                          <a:latin typeface="Tahoma"/>
                          <a:cs typeface="Tahoma"/>
                        </a:rPr>
                        <a:t>s5/r1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8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10">
                          <a:latin typeface="Tahoma"/>
                          <a:cs typeface="Tahoma"/>
                        </a:rPr>
                        <a:t>s4/r2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10">
                          <a:latin typeface="Tahoma"/>
                          <a:cs typeface="Tahoma"/>
                        </a:rPr>
                        <a:t>s5/r2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92710"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9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620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50"/>
              <a:t>Precedence </a:t>
            </a:r>
            <a:r>
              <a:rPr dirty="0" spc="-30"/>
              <a:t>and</a:t>
            </a:r>
            <a:r>
              <a:rPr dirty="0" spc="-50"/>
              <a:t> </a:t>
            </a:r>
            <a:r>
              <a:rPr dirty="0" spc="-20"/>
              <a:t>Associativity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Outline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307131"/>
            <a:ext cx="114214" cy="11421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51929" y="129419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10"/>
              <a:t>Error</a:t>
            </a:r>
            <a:r>
              <a:rPr dirty="0" spc="-60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 spc="-10"/>
              <a:t>Strategies</a:t>
            </a:r>
          </a:p>
          <a:p>
            <a:pPr marL="12700" marR="5080">
              <a:lnSpc>
                <a:spcPct val="125299"/>
              </a:lnSpc>
            </a:pPr>
            <a:r>
              <a:rPr dirty="0" spc="-10"/>
              <a:t>Error</a:t>
            </a:r>
            <a:r>
              <a:rPr dirty="0" spc="-35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 spc="-20"/>
              <a:t>Predictive</a:t>
            </a:r>
            <a:r>
              <a:rPr dirty="0" spc="-35"/>
              <a:t> Parsing </a:t>
            </a:r>
            <a:r>
              <a:rPr dirty="0" spc="-20"/>
              <a:t>Shift/Reduce</a:t>
            </a:r>
            <a:r>
              <a:rPr dirty="0" spc="10"/>
              <a:t> </a:t>
            </a:r>
            <a:r>
              <a:rPr dirty="0" spc="-10"/>
              <a:t>Conflicts</a:t>
            </a:r>
          </a:p>
          <a:p>
            <a:pPr marL="12700" marR="422909">
              <a:lnSpc>
                <a:spcPct val="125299"/>
              </a:lnSpc>
            </a:pPr>
            <a:r>
              <a:rPr dirty="0" spc="-45"/>
              <a:t>Precedence</a:t>
            </a:r>
            <a:r>
              <a:rPr dirty="0" spc="-40"/>
              <a:t> </a:t>
            </a:r>
            <a:r>
              <a:rPr dirty="0" spc="-35"/>
              <a:t>and </a:t>
            </a:r>
            <a:r>
              <a:rPr dirty="0" spc="-15"/>
              <a:t>Associativity </a:t>
            </a:r>
            <a:r>
              <a:rPr dirty="0" spc="-10"/>
              <a:t>Assignment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517164"/>
            <a:ext cx="114214" cy="11421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1917" y="150423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727196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51917" y="171426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937229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1917" y="192429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147261"/>
            <a:ext cx="114214" cy="11421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51917" y="213432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50"/>
              <a:t>Precedence </a:t>
            </a:r>
            <a:r>
              <a:rPr dirty="0" spc="-30"/>
              <a:t>and</a:t>
            </a:r>
            <a:r>
              <a:rPr dirty="0" spc="-50"/>
              <a:t> </a:t>
            </a:r>
            <a:r>
              <a:rPr dirty="0" spc="-10"/>
              <a:t>Associativity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Example</a:t>
            </a:r>
            <a:r>
              <a:rPr dirty="0" sz="900" spc="-15"/>
              <a:t> </a:t>
            </a:r>
            <a:r>
              <a:rPr dirty="0" sz="900"/>
              <a:t>(Shift/Reduce</a:t>
            </a:r>
            <a:r>
              <a:rPr dirty="0" sz="900" spc="-10"/>
              <a:t> </a:t>
            </a:r>
            <a:r>
              <a:rPr dirty="0" sz="900"/>
              <a:t>Conflicts</a:t>
            </a:r>
            <a:r>
              <a:rPr dirty="0" sz="900" spc="-15"/>
              <a:t> </a:t>
            </a:r>
            <a:r>
              <a:rPr dirty="0" sz="900"/>
              <a:t>and</a:t>
            </a:r>
            <a:r>
              <a:rPr dirty="0" sz="900" spc="-10"/>
              <a:t> Associativity)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651076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61108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5844" y="1185518"/>
            <a:ext cx="4174490" cy="117411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27622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shift/reduce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(7,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+)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shifting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and reducing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170" i="1">
                <a:latin typeface="Calibri"/>
                <a:cs typeface="Calibri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11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-120" i="1">
                <a:latin typeface="Calibri"/>
                <a:cs typeface="Calibri"/>
              </a:rPr>
              <a:t> </a:t>
            </a:r>
            <a:r>
              <a:rPr dirty="0" sz="1100" spc="-5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25299"/>
              </a:lnSpc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 </a:t>
            </a:r>
            <a:r>
              <a:rPr dirty="0" sz="1100" b="1">
                <a:latin typeface="Gill Sans MT"/>
                <a:cs typeface="Gill Sans MT"/>
              </a:rPr>
              <a:t>”shift,”</a:t>
            </a:r>
            <a:r>
              <a:rPr dirty="0" sz="1100" spc="-15" b="1">
                <a:latin typeface="Gill Sans MT"/>
                <a:cs typeface="Gill Sans MT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make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addition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right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associative </a:t>
            </a: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 </a:t>
            </a:r>
            <a:r>
              <a:rPr dirty="0" sz="1100" spc="-30" b="1">
                <a:latin typeface="Gill Sans MT"/>
                <a:cs typeface="Gill Sans MT"/>
              </a:rPr>
              <a:t>”reduce,”</a:t>
            </a:r>
            <a:r>
              <a:rPr dirty="0" sz="1100" spc="-5" b="1">
                <a:latin typeface="Gill Sans MT"/>
                <a:cs typeface="Gill Sans MT"/>
              </a:rPr>
              <a:t> </a:t>
            </a:r>
            <a:r>
              <a:rPr dirty="0" sz="1100" spc="-25">
                <a:latin typeface="Tahoma"/>
                <a:cs typeface="Tahoma"/>
              </a:rPr>
              <a:t>then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make</a:t>
            </a:r>
            <a:r>
              <a:rPr dirty="0" sz="1100" spc="-25">
                <a:latin typeface="Tahoma"/>
                <a:cs typeface="Tahoma"/>
              </a:rPr>
              <a:t> addition </a:t>
            </a:r>
            <a:r>
              <a:rPr dirty="0" sz="1100">
                <a:latin typeface="Tahoma"/>
                <a:cs typeface="Tahoma"/>
              </a:rPr>
              <a:t>left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associative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case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similar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(8,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*)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regarding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multiplication.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50"/>
              <a:t>Precedence </a:t>
            </a:r>
            <a:r>
              <a:rPr dirty="0" spc="-30"/>
              <a:t>and</a:t>
            </a:r>
            <a:r>
              <a:rPr dirty="0" spc="-50"/>
              <a:t> </a:t>
            </a:r>
            <a:r>
              <a:rPr dirty="0" spc="-10"/>
              <a:t>Associativity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Example</a:t>
            </a:r>
            <a:r>
              <a:rPr dirty="0" sz="900" spc="-15"/>
              <a:t> </a:t>
            </a:r>
            <a:r>
              <a:rPr dirty="0" sz="900"/>
              <a:t>(Shift/Reduce</a:t>
            </a:r>
            <a:r>
              <a:rPr dirty="0" sz="900" spc="-10"/>
              <a:t> </a:t>
            </a:r>
            <a:r>
              <a:rPr dirty="0" sz="900"/>
              <a:t>Conflicts</a:t>
            </a:r>
            <a:r>
              <a:rPr dirty="0" sz="900" spc="-15"/>
              <a:t> </a:t>
            </a:r>
            <a:r>
              <a:rPr dirty="0" sz="900"/>
              <a:t>and</a:t>
            </a:r>
            <a:r>
              <a:rPr dirty="0" sz="900" spc="-10"/>
              <a:t> </a:t>
            </a:r>
            <a:r>
              <a:rPr dirty="0" sz="900" spc="-20"/>
              <a:t>Precedence)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13421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95525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5844" y="1047863"/>
            <a:ext cx="3902710" cy="151828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shift/reduce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conflict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(8,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+)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shifting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and </a:t>
            </a:r>
            <a:r>
              <a:rPr dirty="0" sz="1100" spc="-40">
                <a:latin typeface="Tahoma"/>
                <a:cs typeface="Tahoma"/>
              </a:rPr>
              <a:t>reducing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by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165" i="1">
                <a:latin typeface="Calibri"/>
                <a:cs typeface="Calibri"/>
              </a:rPr>
              <a:t> </a:t>
            </a:r>
            <a:r>
              <a:rPr dirty="0" sz="1100" spc="155">
                <a:latin typeface="Cambria"/>
                <a:cs typeface="Cambria"/>
              </a:rPr>
              <a:t>→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110" i="1">
                <a:latin typeface="Calibri"/>
                <a:cs typeface="Calibri"/>
              </a:rPr>
              <a:t> </a:t>
            </a:r>
            <a:r>
              <a:rPr dirty="0" sz="1100">
                <a:latin typeface="Cambria"/>
                <a:cs typeface="Cambria"/>
              </a:rPr>
              <a:t>∗</a:t>
            </a:r>
            <a:r>
              <a:rPr dirty="0" sz="1100" spc="-10">
                <a:latin typeface="Cambria"/>
                <a:cs typeface="Cambria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-120" i="1">
                <a:latin typeface="Calibri"/>
                <a:cs typeface="Calibri"/>
              </a:rPr>
              <a:t> </a:t>
            </a:r>
            <a:r>
              <a:rPr dirty="0" sz="1100" spc="-5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marL="289560" marR="10160">
              <a:lnSpc>
                <a:spcPct val="102600"/>
              </a:lnSpc>
              <a:spcBef>
                <a:spcPts val="300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b="1">
                <a:latin typeface="Gill Sans MT"/>
                <a:cs typeface="Gill Sans MT"/>
              </a:rPr>
              <a:t>”shift,”</a:t>
            </a:r>
            <a:r>
              <a:rPr dirty="0" sz="1100" spc="15" b="1">
                <a:latin typeface="Gill Sans MT"/>
                <a:cs typeface="Gill Sans MT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give</a:t>
            </a:r>
            <a:r>
              <a:rPr dirty="0" sz="1100" spc="-20">
                <a:latin typeface="Tahoma"/>
                <a:cs typeface="Tahoma"/>
              </a:rPr>
              <a:t> multiplication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higher </a:t>
            </a:r>
            <a:r>
              <a:rPr dirty="0" sz="1100" spc="-65">
                <a:latin typeface="Tahoma"/>
                <a:cs typeface="Tahoma"/>
              </a:rPr>
              <a:t>precedence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than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addition</a:t>
            </a:r>
            <a:endParaRPr sz="1100">
              <a:latin typeface="Tahoma"/>
              <a:cs typeface="Tahoma"/>
            </a:endParaRPr>
          </a:p>
          <a:p>
            <a:pPr marL="289560" marR="189230">
              <a:lnSpc>
                <a:spcPct val="102600"/>
              </a:lnSpc>
              <a:spcBef>
                <a:spcPts val="300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choose </a:t>
            </a:r>
            <a:r>
              <a:rPr dirty="0" sz="1100" spc="-30" b="1">
                <a:latin typeface="Gill Sans MT"/>
                <a:cs typeface="Gill Sans MT"/>
              </a:rPr>
              <a:t>”reduce,”</a:t>
            </a:r>
            <a:r>
              <a:rPr dirty="0" sz="1100" spc="10" b="1">
                <a:latin typeface="Gill Sans MT"/>
                <a:cs typeface="Gill Sans MT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will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give</a:t>
            </a:r>
            <a:r>
              <a:rPr dirty="0" sz="1100" spc="-25">
                <a:latin typeface="Tahoma"/>
                <a:cs typeface="Tahoma"/>
              </a:rPr>
              <a:t> addition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higher </a:t>
            </a:r>
            <a:r>
              <a:rPr dirty="0" sz="1100" spc="-65">
                <a:latin typeface="Tahoma"/>
                <a:cs typeface="Tahoma"/>
              </a:rPr>
              <a:t>precedence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than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multiplication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case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similar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cell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(7,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*).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14943"/>
            <a:ext cx="217233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Precedence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14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Associativity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r>
              <a:rPr dirty="0" sz="9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(The</a:t>
            </a:r>
            <a:r>
              <a:rPr dirty="0" sz="9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r>
              <a:rPr dirty="0" sz="9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9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Goto</a:t>
            </a:r>
            <a:r>
              <a:rPr dirty="0" sz="9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Tables)</a:t>
            </a:r>
            <a:endParaRPr sz="900">
              <a:latin typeface="Tahoma"/>
              <a:cs typeface="Tahoma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330578" y="1274838"/>
          <a:ext cx="2023110" cy="981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455"/>
                <a:gridCol w="223520"/>
                <a:gridCol w="223520"/>
                <a:gridCol w="223520"/>
                <a:gridCol w="223520"/>
                <a:gridCol w="223519"/>
                <a:gridCol w="275589"/>
                <a:gridCol w="213994"/>
              </a:tblGrid>
              <a:tr h="93345"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10" b="1">
                          <a:latin typeface="Gill Sans MT"/>
                          <a:cs typeface="Gill Sans MT"/>
                        </a:rPr>
                        <a:t>State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110" b="1">
                          <a:latin typeface="Gill Sans MT"/>
                          <a:cs typeface="Gill Sans MT"/>
                        </a:rPr>
                        <a:t>+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*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(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)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30"/>
                        </a:lnSpc>
                      </a:pPr>
                      <a:r>
                        <a:rPr dirty="0" sz="600" spc="-25" b="1">
                          <a:latin typeface="Gill Sans MT"/>
                          <a:cs typeface="Gill Sans MT"/>
                        </a:rPr>
                        <a:t>id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Microsoft Tai Le"/>
                          <a:cs typeface="Microsoft Tai Le"/>
                        </a:rPr>
                        <a:t>$</a:t>
                      </a:r>
                      <a:endParaRPr sz="600">
                        <a:latin typeface="Microsoft Tai Le"/>
                        <a:cs typeface="Microsoft Tai Le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630"/>
                        </a:lnSpc>
                      </a:pPr>
                      <a:r>
                        <a:rPr dirty="0" sz="600" spc="-50" b="1">
                          <a:latin typeface="Gill Sans MT"/>
                          <a:cs typeface="Gill Sans MT"/>
                        </a:rPr>
                        <a:t>E</a:t>
                      </a:r>
                      <a:endParaRPr sz="600">
                        <a:latin typeface="Gill Sans MT"/>
                        <a:cs typeface="Gill Sans MT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900">
                <a:tc>
                  <a:txBody>
                    <a:bodyPr/>
                    <a:lstStyle/>
                    <a:p>
                      <a:pPr algn="ctr">
                        <a:lnSpc>
                          <a:spcPts val="60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0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60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acc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7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8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6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s4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s9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7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s5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r1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88265"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8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595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r2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92710"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dirty="0" sz="600" spc="-50">
                          <a:latin typeface="Tahoma"/>
                          <a:cs typeface="Tahoma"/>
                        </a:rPr>
                        <a:t>9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620"/>
                        </a:lnSpc>
                      </a:pPr>
                      <a:r>
                        <a:rPr dirty="0" sz="600" spc="-25">
                          <a:latin typeface="Tahoma"/>
                          <a:cs typeface="Tahoma"/>
                        </a:rPr>
                        <a:t>r3</a:t>
                      </a:r>
                      <a:endParaRPr sz="60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40"/>
              <a:t>Assignment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Outline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72" y="1307131"/>
            <a:ext cx="114214" cy="11421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51929" y="1294198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pc="-10"/>
              <a:t>Error</a:t>
            </a:r>
            <a:r>
              <a:rPr dirty="0" spc="-60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 spc="-10"/>
              <a:t>Strategies</a:t>
            </a:r>
          </a:p>
          <a:p>
            <a:pPr marL="12700" marR="5080">
              <a:lnSpc>
                <a:spcPct val="125299"/>
              </a:lnSpc>
            </a:pPr>
            <a:r>
              <a:rPr dirty="0" spc="-10"/>
              <a:t>Error</a:t>
            </a:r>
            <a:r>
              <a:rPr dirty="0" spc="-35"/>
              <a:t> </a:t>
            </a:r>
            <a:r>
              <a:rPr dirty="0" spc="-45"/>
              <a:t>Recovery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 spc="-20"/>
              <a:t>Predictive</a:t>
            </a:r>
            <a:r>
              <a:rPr dirty="0" spc="-35"/>
              <a:t> Parsing </a:t>
            </a:r>
            <a:r>
              <a:rPr dirty="0" spc="-20"/>
              <a:t>Shift/Reduce</a:t>
            </a:r>
            <a:r>
              <a:rPr dirty="0" spc="10"/>
              <a:t> </a:t>
            </a:r>
            <a:r>
              <a:rPr dirty="0" spc="-10"/>
              <a:t>Conflicts</a:t>
            </a:r>
          </a:p>
          <a:p>
            <a:pPr marL="12700" marR="422909">
              <a:lnSpc>
                <a:spcPct val="125299"/>
              </a:lnSpc>
            </a:pPr>
            <a:r>
              <a:rPr dirty="0" spc="-45"/>
              <a:t>Precedence</a:t>
            </a:r>
            <a:r>
              <a:rPr dirty="0" spc="-40"/>
              <a:t> </a:t>
            </a:r>
            <a:r>
              <a:rPr dirty="0" spc="-35"/>
              <a:t>and </a:t>
            </a:r>
            <a:r>
              <a:rPr dirty="0" spc="-15"/>
              <a:t>Associativity </a:t>
            </a:r>
            <a:r>
              <a:rPr dirty="0" spc="-10"/>
              <a:t>Assignment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672" y="1517164"/>
            <a:ext cx="114214" cy="11421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51917" y="1504231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672" y="1727196"/>
            <a:ext cx="114214" cy="11421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51917" y="1714263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672" y="1937229"/>
            <a:ext cx="114214" cy="11421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251917" y="1924296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672" y="2147261"/>
            <a:ext cx="114214" cy="11421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251917" y="2134329"/>
            <a:ext cx="6604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6" name="object 1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40"/>
              <a:t>Assignment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Assignment</a:t>
            </a:r>
            <a:endParaRPr sz="900"/>
          </a:p>
        </p:txBody>
      </p:sp>
      <p:sp>
        <p:nvSpPr>
          <p:cNvPr id="4" name="object 4" descr=""/>
          <p:cNvSpPr txBox="1"/>
          <p:nvPr/>
        </p:nvSpPr>
        <p:spPr>
          <a:xfrm>
            <a:off x="125844" y="1071142"/>
            <a:ext cx="1786889" cy="14598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Gill Sans MT"/>
                <a:cs typeface="Gill Sans MT"/>
              </a:rPr>
              <a:t>Assignment:</a:t>
            </a:r>
            <a:endParaRPr sz="11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Let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be:</a:t>
            </a:r>
            <a:endParaRPr sz="1100">
              <a:latin typeface="Tahoma"/>
              <a:cs typeface="Tahoma"/>
            </a:endParaRPr>
          </a:p>
          <a:p>
            <a:pPr marL="12700" marR="748665">
              <a:lnSpc>
                <a:spcPct val="102600"/>
              </a:lnSpc>
              <a:spcBef>
                <a:spcPts val="894"/>
              </a:spcBef>
            </a:pPr>
            <a:r>
              <a:rPr dirty="0" sz="1100">
                <a:latin typeface="Cambria"/>
                <a:cs typeface="Cambria"/>
              </a:rPr>
              <a:t>S</a:t>
            </a:r>
            <a:r>
              <a:rPr dirty="0" sz="1100" spc="320">
                <a:latin typeface="Cambria"/>
                <a:cs typeface="Cambria"/>
              </a:rPr>
              <a:t> </a:t>
            </a: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5">
                <a:latin typeface="Arial"/>
                <a:cs typeface="Arial"/>
              </a:rPr>
              <a:t> </a:t>
            </a:r>
            <a:r>
              <a:rPr dirty="0" sz="1100" spc="140">
                <a:latin typeface="Cambria"/>
                <a:cs typeface="Cambria"/>
              </a:rPr>
              <a:t>(</a:t>
            </a:r>
            <a:r>
              <a:rPr dirty="0" sz="1100" spc="3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L</a:t>
            </a:r>
            <a:r>
              <a:rPr dirty="0" sz="1100" spc="320">
                <a:latin typeface="Cambria"/>
                <a:cs typeface="Cambria"/>
              </a:rPr>
              <a:t> </a:t>
            </a:r>
            <a:r>
              <a:rPr dirty="0" sz="1100" spc="140">
                <a:latin typeface="Cambria"/>
                <a:cs typeface="Cambria"/>
              </a:rPr>
              <a:t>)</a:t>
            </a:r>
            <a:r>
              <a:rPr dirty="0" sz="1100" spc="325">
                <a:latin typeface="Cambria"/>
                <a:cs typeface="Cambria"/>
              </a:rPr>
              <a:t> </a:t>
            </a:r>
            <a:r>
              <a:rPr dirty="0" sz="1100" spc="220">
                <a:latin typeface="Cambria"/>
                <a:cs typeface="Cambria"/>
              </a:rPr>
              <a:t>|</a:t>
            </a:r>
            <a:r>
              <a:rPr dirty="0" sz="1100" spc="320">
                <a:latin typeface="Cambria"/>
                <a:cs typeface="Cambria"/>
              </a:rPr>
              <a:t> </a:t>
            </a:r>
            <a:r>
              <a:rPr dirty="0" sz="1100" spc="85">
                <a:latin typeface="Cambria"/>
                <a:cs typeface="Cambria"/>
              </a:rPr>
              <a:t>id </a:t>
            </a:r>
            <a:r>
              <a:rPr dirty="0" sz="1100">
                <a:latin typeface="Cambria"/>
                <a:cs typeface="Cambria"/>
              </a:rPr>
              <a:t>L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>
                <a:latin typeface="Cambria"/>
                <a:cs typeface="Cambria"/>
              </a:rPr>
              <a:t>L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 spc="345">
                <a:latin typeface="Cambria"/>
                <a:cs typeface="Cambria"/>
              </a:rPr>
              <a:t>,</a:t>
            </a:r>
            <a:r>
              <a:rPr dirty="0" sz="1100" spc="3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</a:t>
            </a:r>
            <a:r>
              <a:rPr dirty="0" sz="1100" spc="320">
                <a:latin typeface="Cambria"/>
                <a:cs typeface="Cambria"/>
              </a:rPr>
              <a:t> </a:t>
            </a:r>
            <a:r>
              <a:rPr dirty="0" sz="1100" spc="220">
                <a:latin typeface="Cambria"/>
                <a:cs typeface="Cambria"/>
              </a:rPr>
              <a:t>|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30">
                <a:latin typeface="Tahoma"/>
                <a:cs typeface="Tahoma"/>
              </a:rPr>
              <a:t>Parse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expression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120">
                <a:latin typeface="Cambria"/>
                <a:cs typeface="Cambria"/>
              </a:rPr>
              <a:t>(id,id)</a:t>
            </a:r>
            <a:r>
              <a:rPr dirty="0" sz="1100" spc="12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Tahoma"/>
                <a:cs typeface="Tahoma"/>
              </a:rPr>
              <a:t>(continued...)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40"/>
              <a:t>Assignment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/>
              <a:t>Assignment</a:t>
            </a:r>
            <a:endParaRPr sz="9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444775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654808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5844" y="891107"/>
            <a:ext cx="4024629" cy="18719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b="1">
                <a:latin typeface="Gill Sans MT"/>
                <a:cs typeface="Gill Sans MT"/>
              </a:rPr>
              <a:t>Assignment:</a:t>
            </a:r>
            <a:endParaRPr sz="11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grammar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 </a:t>
            </a: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if-</a:t>
            </a:r>
            <a:r>
              <a:rPr dirty="0" sz="1100" spc="-30">
                <a:latin typeface="Tahoma"/>
                <a:cs typeface="Tahoma"/>
              </a:rPr>
              <a:t>else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statements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is: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100">
                <a:latin typeface="Cambria"/>
                <a:cs typeface="Cambria"/>
              </a:rPr>
              <a:t>S</a:t>
            </a:r>
            <a:r>
              <a:rPr dirty="0" sz="1100" spc="305">
                <a:latin typeface="Cambria"/>
                <a:cs typeface="Cambria"/>
              </a:rPr>
              <a:t> </a:t>
            </a: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 spc="250">
                <a:latin typeface="Cambria"/>
                <a:cs typeface="Cambria"/>
              </a:rPr>
              <a:t>if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 spc="140">
                <a:latin typeface="Cambria"/>
                <a:cs typeface="Cambria"/>
              </a:rPr>
              <a:t>(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E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 spc="140">
                <a:latin typeface="Cambria"/>
                <a:cs typeface="Cambria"/>
              </a:rPr>
              <a:t>)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</a:t>
            </a:r>
            <a:endParaRPr sz="1100">
              <a:latin typeface="Cambria"/>
              <a:cs typeface="Cambria"/>
            </a:endParaRPr>
          </a:p>
          <a:p>
            <a:pPr marL="158115">
              <a:lnSpc>
                <a:spcPct val="100000"/>
              </a:lnSpc>
              <a:spcBef>
                <a:spcPts val="35"/>
              </a:spcBef>
            </a:pPr>
            <a:r>
              <a:rPr dirty="0" sz="1100" spc="220">
                <a:latin typeface="Cambria"/>
                <a:cs typeface="Cambria"/>
              </a:rPr>
              <a:t>|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 spc="250">
                <a:latin typeface="Cambria"/>
                <a:cs typeface="Cambria"/>
              </a:rPr>
              <a:t>if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 spc="140">
                <a:latin typeface="Cambria"/>
                <a:cs typeface="Cambria"/>
              </a:rPr>
              <a:t>(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E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 spc="140">
                <a:latin typeface="Cambria"/>
                <a:cs typeface="Cambria"/>
              </a:rPr>
              <a:t>)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</a:t>
            </a:r>
            <a:r>
              <a:rPr dirty="0" sz="1100" spc="315">
                <a:latin typeface="Cambria"/>
                <a:cs typeface="Cambria"/>
              </a:rPr>
              <a:t> </a:t>
            </a:r>
            <a:r>
              <a:rPr dirty="0" sz="1100" spc="105">
                <a:latin typeface="Cambria"/>
                <a:cs typeface="Cambria"/>
              </a:rPr>
              <a:t>else</a:t>
            </a:r>
            <a:r>
              <a:rPr dirty="0" sz="1100" spc="32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S</a:t>
            </a:r>
            <a:endParaRPr sz="1100">
              <a:latin typeface="Cambria"/>
              <a:cs typeface="Cambria"/>
            </a:endParaRPr>
          </a:p>
          <a:p>
            <a:pPr marL="12700" marR="3059430" indent="145415">
              <a:lnSpc>
                <a:spcPct val="102600"/>
              </a:lnSpc>
            </a:pPr>
            <a:r>
              <a:rPr dirty="0" sz="1100" spc="220">
                <a:latin typeface="Cambria"/>
                <a:cs typeface="Cambria"/>
              </a:rPr>
              <a:t>|</a:t>
            </a:r>
            <a:r>
              <a:rPr dirty="0" sz="1100" spc="305">
                <a:latin typeface="Cambria"/>
                <a:cs typeface="Cambria"/>
              </a:rPr>
              <a:t> </a:t>
            </a:r>
            <a:r>
              <a:rPr dirty="0" sz="1100" spc="110">
                <a:latin typeface="Cambria"/>
                <a:cs typeface="Cambria"/>
              </a:rPr>
              <a:t>id</a:t>
            </a:r>
            <a:r>
              <a:rPr dirty="0" sz="1100" spc="3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=</a:t>
            </a:r>
            <a:r>
              <a:rPr dirty="0" sz="1100" spc="31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num </a:t>
            </a:r>
            <a:r>
              <a:rPr dirty="0" sz="1100">
                <a:latin typeface="Cambria"/>
                <a:cs typeface="Cambria"/>
              </a:rPr>
              <a:t>E</a:t>
            </a:r>
            <a:r>
              <a:rPr dirty="0" sz="1100" spc="245">
                <a:latin typeface="Cambria"/>
                <a:cs typeface="Cambria"/>
              </a:rPr>
              <a:t> </a:t>
            </a:r>
            <a:r>
              <a:rPr dirty="0" sz="1100" spc="-540">
                <a:latin typeface="Arial"/>
                <a:cs typeface="Arial"/>
              </a:rPr>
              <a:t>→</a:t>
            </a:r>
            <a:r>
              <a:rPr dirty="0" sz="1100" spc="260">
                <a:latin typeface="Arial"/>
                <a:cs typeface="Arial"/>
              </a:rPr>
              <a:t> </a:t>
            </a:r>
            <a:r>
              <a:rPr dirty="0" sz="1100" spc="110">
                <a:latin typeface="Cambria"/>
                <a:cs typeface="Cambria"/>
              </a:rPr>
              <a:t>id</a:t>
            </a:r>
            <a:r>
              <a:rPr dirty="0" sz="1100" spc="2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==</a:t>
            </a:r>
            <a:r>
              <a:rPr dirty="0" sz="1100" spc="285">
                <a:latin typeface="Cambria"/>
                <a:cs typeface="Cambria"/>
              </a:rPr>
              <a:t> </a:t>
            </a:r>
            <a:r>
              <a:rPr dirty="0" sz="1100" spc="-135">
                <a:latin typeface="Cambria"/>
                <a:cs typeface="Cambria"/>
              </a:rPr>
              <a:t>num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100" spc="-60">
                <a:latin typeface="Tahoma"/>
                <a:cs typeface="Tahoma"/>
              </a:rPr>
              <a:t>where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105" i="1">
                <a:latin typeface="Calibri"/>
                <a:cs typeface="Calibri"/>
              </a:rPr>
              <a:t>S</a:t>
            </a:r>
            <a:r>
              <a:rPr dirty="0" sz="1100" spc="16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statement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110" i="1">
                <a:latin typeface="Calibri"/>
                <a:cs typeface="Calibri"/>
              </a:rPr>
              <a:t>E</a:t>
            </a:r>
            <a:r>
              <a:rPr dirty="0" sz="1100" spc="19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expression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(boolean).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dirty="0" sz="1100">
                <a:latin typeface="Tahoma"/>
                <a:cs typeface="Tahoma"/>
              </a:rPr>
              <a:t>Write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action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goto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tables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grammar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Tahoma"/>
                <a:cs typeface="Tahoma"/>
              </a:rPr>
              <a:t>Find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shift/reduce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conflict(s)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decide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how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handle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them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526478" y="3364484"/>
            <a:ext cx="280670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omputer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055440" y="3364484"/>
            <a:ext cx="200025" cy="76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5"/>
              </a:lnSpc>
            </a:pP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nflicts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-12700" y="3351784"/>
            <a:ext cx="308102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Rokan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Uddin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Faruqui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(C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Error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Recovery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Strategies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LR</a:t>
            </a:r>
            <a:r>
              <a:rPr dirty="0" sz="600" spc="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Parsing</a:t>
            </a:r>
            <a:r>
              <a:rPr dirty="0" sz="600" spc="2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85"/>
              <a:t> </a:t>
            </a:r>
            <a:r>
              <a:rPr dirty="0" spc="90"/>
              <a:t>/</a:t>
            </a:r>
            <a:r>
              <a:rPr dirty="0" spc="-85"/>
              <a:t> </a:t>
            </a:r>
            <a:r>
              <a:rPr dirty="0" spc="-35"/>
              <a:t>28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Based on lecture by Rokan Uddin Faruqui</dc:creator>
  <dc:title>Error Recovery Strategies and LR Parsing Conflicts - Lecture 10 - Simplified Version</dc:title>
  <dcterms:created xsi:type="dcterms:W3CDTF">2025-11-24T19:30:21Z</dcterms:created>
  <dcterms:modified xsi:type="dcterms:W3CDTF">2025-11-24T19:30:21Z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2025-11-24T00:00:00Z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3-Heights(TM) PDF Security Shell 4.8.25.2 (http://www.pdf-tools.com)</vt:lpwstr>
  </property>
</Properties>
</file>