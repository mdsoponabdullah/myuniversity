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90" r:id="rId11"/>
    <p:sldId id="300" r:id="rId12"/>
    <p:sldId id="301" r:id="rId13"/>
    <p:sldId id="302" r:id="rId14"/>
    <p:sldId id="303" r:id="rId15"/>
    <p:sldId id="304" r:id="rId16"/>
    <p:sldId id="293" r:id="rId17"/>
    <p:sldId id="292" r:id="rId18"/>
    <p:sldId id="295" r:id="rId19"/>
    <p:sldId id="294" r:id="rId20"/>
    <p:sldId id="297" r:id="rId21"/>
    <p:sldId id="296" r:id="rId22"/>
    <p:sldId id="298" r:id="rId23"/>
    <p:sldId id="299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91"/>
            <a:ext cx="431800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747646"/>
            <a:ext cx="4241800" cy="2141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18429"/>
            <a:ext cx="1379855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mailto:rokan@cu.ac.bd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36.xml"/><Relationship Id="rId8" Type="http://schemas.openxmlformats.org/officeDocument/2006/relationships/slide" Target="slide30.xml"/><Relationship Id="rId7" Type="http://schemas.openxmlformats.org/officeDocument/2006/relationships/slide" Target="slide8.xml"/><Relationship Id="rId6" Type="http://schemas.openxmlformats.org/officeDocument/2006/relationships/slide" Target="slide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4" Type="http://schemas.openxmlformats.org/officeDocument/2006/relationships/slideLayout" Target="../slideLayouts/slideLayout5.xml"/><Relationship Id="rId13" Type="http://schemas.openxmlformats.org/officeDocument/2006/relationships/slide" Target="slide42.xml"/><Relationship Id="rId12" Type="http://schemas.openxmlformats.org/officeDocument/2006/relationships/slide" Target="slide2.xml"/><Relationship Id="rId11" Type="http://schemas.openxmlformats.org/officeDocument/2006/relationships/slide" Target="slide1.xml"/><Relationship Id="rId10" Type="http://schemas.openxmlformats.org/officeDocument/2006/relationships/slide" Target="slide40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36.xml"/><Relationship Id="rId7" Type="http://schemas.openxmlformats.org/officeDocument/2006/relationships/image" Target="../media/image13.png"/><Relationship Id="rId6" Type="http://schemas.openxmlformats.org/officeDocument/2006/relationships/slide" Target="slide30.xml"/><Relationship Id="rId5" Type="http://schemas.openxmlformats.org/officeDocument/2006/relationships/slide" Target="slide8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4" Type="http://schemas.openxmlformats.org/officeDocument/2006/relationships/slideLayout" Target="../slideLayouts/slideLayout2.xml"/><Relationship Id="rId13" Type="http://schemas.openxmlformats.org/officeDocument/2006/relationships/slide" Target="slide42.xml"/><Relationship Id="rId12" Type="http://schemas.openxmlformats.org/officeDocument/2006/relationships/slide" Target="slide2.xml"/><Relationship Id="rId11" Type="http://schemas.openxmlformats.org/officeDocument/2006/relationships/slide" Target="slide1.xml"/><Relationship Id="rId10" Type="http://schemas.openxmlformats.org/officeDocument/2006/relationships/slide" Target="slide40.xml"/><Relationship Id="rId1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slide" Target="slide42.xml"/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" Target="slide42.xml"/><Relationship Id="rId8" Type="http://schemas.openxmlformats.org/officeDocument/2006/relationships/slide" Target="slide2.xml"/><Relationship Id="rId7" Type="http://schemas.openxmlformats.org/officeDocument/2006/relationships/slide" Target="slide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" Target="slide42.xml"/><Relationship Id="rId8" Type="http://schemas.openxmlformats.org/officeDocument/2006/relationships/slide" Target="slide2.xml"/><Relationship Id="rId7" Type="http://schemas.openxmlformats.org/officeDocument/2006/relationships/slide" Target="slide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42.xml"/><Relationship Id="rId5" Type="http://schemas.openxmlformats.org/officeDocument/2006/relationships/slide" Target="slide2.xml"/><Relationship Id="rId4" Type="http://schemas.openxmlformats.org/officeDocument/2006/relationships/slide" Target="slide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36.xml"/><Relationship Id="rId7" Type="http://schemas.openxmlformats.org/officeDocument/2006/relationships/image" Target="../media/image13.png"/><Relationship Id="rId6" Type="http://schemas.openxmlformats.org/officeDocument/2006/relationships/slide" Target="slide30.xml"/><Relationship Id="rId5" Type="http://schemas.openxmlformats.org/officeDocument/2006/relationships/image" Target="../media/image12.png"/><Relationship Id="rId4" Type="http://schemas.openxmlformats.org/officeDocument/2006/relationships/image" Target="../media/image28.png"/><Relationship Id="rId3" Type="http://schemas.openxmlformats.org/officeDocument/2006/relationships/slide" Target="slide3.xml"/><Relationship Id="rId2" Type="http://schemas.openxmlformats.org/officeDocument/2006/relationships/image" Target="../media/image27.png"/><Relationship Id="rId14" Type="http://schemas.openxmlformats.org/officeDocument/2006/relationships/slideLayout" Target="../slideLayouts/slideLayout2.xml"/><Relationship Id="rId13" Type="http://schemas.openxmlformats.org/officeDocument/2006/relationships/slide" Target="slide42.xml"/><Relationship Id="rId12" Type="http://schemas.openxmlformats.org/officeDocument/2006/relationships/slide" Target="slide2.xml"/><Relationship Id="rId11" Type="http://schemas.openxmlformats.org/officeDocument/2006/relationships/slide" Target="slide1.xml"/><Relationship Id="rId10" Type="http://schemas.openxmlformats.org/officeDocument/2006/relationships/slide" Target="slide40.xml"/><Relationship Id="rId1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slide" Target="slide42.xml"/><Relationship Id="rId4" Type="http://schemas.openxmlformats.org/officeDocument/2006/relationships/slide" Target="slide2.xml"/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" Target="slide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slide" Target="slide3.xml"/><Relationship Id="rId7" Type="http://schemas.openxmlformats.org/officeDocument/2006/relationships/slide" Target="slide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42.xml"/><Relationship Id="rId1" Type="http://schemas.openxmlformats.org/officeDocument/2006/relationships/slide" Target="slide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slide" Target="slide3.xml"/><Relationship Id="rId7" Type="http://schemas.openxmlformats.org/officeDocument/2006/relationships/slide" Target="slide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42.xml"/><Relationship Id="rId1" Type="http://schemas.openxmlformats.org/officeDocument/2006/relationships/slide" Target="slide8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slide" Target="slide3.xml"/><Relationship Id="rId7" Type="http://schemas.openxmlformats.org/officeDocument/2006/relationships/slide" Target="slide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1" Type="http://schemas.openxmlformats.org/officeDocument/2006/relationships/slideLayout" Target="../slideLayouts/slideLayout5.xml"/><Relationship Id="rId10" Type="http://schemas.openxmlformats.org/officeDocument/2006/relationships/slide" Target="slide42.xml"/><Relationship Id="rId1" Type="http://schemas.openxmlformats.org/officeDocument/2006/relationships/slide" Target="slide8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" Target="slide42.xml"/><Relationship Id="rId8" Type="http://schemas.openxmlformats.org/officeDocument/2006/relationships/slide" Target="slide2.xml"/><Relationship Id="rId7" Type="http://schemas.openxmlformats.org/officeDocument/2006/relationships/slide" Target="slide3.xml"/><Relationship Id="rId6" Type="http://schemas.openxmlformats.org/officeDocument/2006/relationships/slide" Target="slide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49.png"/><Relationship Id="rId2" Type="http://schemas.openxmlformats.org/officeDocument/2006/relationships/image" Target="../media/image53.png"/><Relationship Id="rId10" Type="http://schemas.openxmlformats.org/officeDocument/2006/relationships/slideLayout" Target="../slideLayouts/slideLayout5.xml"/><Relationship Id="rId1" Type="http://schemas.openxmlformats.org/officeDocument/2006/relationships/slide" Target="slide8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slide" Target="slide3.xml"/><Relationship Id="rId7" Type="http://schemas.openxmlformats.org/officeDocument/2006/relationships/slide" Target="slide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49.png"/><Relationship Id="rId11" Type="http://schemas.openxmlformats.org/officeDocument/2006/relationships/slideLayout" Target="../slideLayouts/slideLayout5.xml"/><Relationship Id="rId10" Type="http://schemas.openxmlformats.org/officeDocument/2006/relationships/slide" Target="slide42.xml"/><Relationship Id="rId1" Type="http://schemas.openxmlformats.org/officeDocument/2006/relationships/slide" Target="slide8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1" Type="http://schemas.openxmlformats.org/officeDocument/2006/relationships/slideLayout" Target="../slideLayouts/slideLayout5.xml"/><Relationship Id="rId40" Type="http://schemas.openxmlformats.org/officeDocument/2006/relationships/slide" Target="slide42.xml"/><Relationship Id="rId4" Type="http://schemas.openxmlformats.org/officeDocument/2006/relationships/image" Target="../media/image62.png"/><Relationship Id="rId39" Type="http://schemas.openxmlformats.org/officeDocument/2006/relationships/slide" Target="slide2.xml"/><Relationship Id="rId38" Type="http://schemas.openxmlformats.org/officeDocument/2006/relationships/slide" Target="slide3.xml"/><Relationship Id="rId37" Type="http://schemas.openxmlformats.org/officeDocument/2006/relationships/slide" Target="slide1.xml"/><Relationship Id="rId36" Type="http://schemas.openxmlformats.org/officeDocument/2006/relationships/image" Target="../media/image94.png"/><Relationship Id="rId35" Type="http://schemas.openxmlformats.org/officeDocument/2006/relationships/image" Target="../media/image93.png"/><Relationship Id="rId34" Type="http://schemas.openxmlformats.org/officeDocument/2006/relationships/image" Target="../media/image92.png"/><Relationship Id="rId33" Type="http://schemas.openxmlformats.org/officeDocument/2006/relationships/image" Target="../media/image91.png"/><Relationship Id="rId32" Type="http://schemas.openxmlformats.org/officeDocument/2006/relationships/image" Target="../media/image90.png"/><Relationship Id="rId31" Type="http://schemas.openxmlformats.org/officeDocument/2006/relationships/image" Target="../media/image89.png"/><Relationship Id="rId30" Type="http://schemas.openxmlformats.org/officeDocument/2006/relationships/image" Target="../media/image88.png"/><Relationship Id="rId3" Type="http://schemas.openxmlformats.org/officeDocument/2006/relationships/image" Target="../media/image61.png"/><Relationship Id="rId29" Type="http://schemas.openxmlformats.org/officeDocument/2006/relationships/image" Target="../media/image87.png"/><Relationship Id="rId28" Type="http://schemas.openxmlformats.org/officeDocument/2006/relationships/image" Target="../media/image86.png"/><Relationship Id="rId27" Type="http://schemas.openxmlformats.org/officeDocument/2006/relationships/image" Target="../media/image85.png"/><Relationship Id="rId26" Type="http://schemas.openxmlformats.org/officeDocument/2006/relationships/image" Target="../media/image84.png"/><Relationship Id="rId25" Type="http://schemas.openxmlformats.org/officeDocument/2006/relationships/image" Target="../media/image83.png"/><Relationship Id="rId24" Type="http://schemas.openxmlformats.org/officeDocument/2006/relationships/image" Target="../media/image82.png"/><Relationship Id="rId23" Type="http://schemas.openxmlformats.org/officeDocument/2006/relationships/image" Target="../media/image81.png"/><Relationship Id="rId22" Type="http://schemas.openxmlformats.org/officeDocument/2006/relationships/image" Target="../media/image80.png"/><Relationship Id="rId21" Type="http://schemas.openxmlformats.org/officeDocument/2006/relationships/image" Target="../media/image79.png"/><Relationship Id="rId20" Type="http://schemas.openxmlformats.org/officeDocument/2006/relationships/image" Target="../media/image78.png"/><Relationship Id="rId2" Type="http://schemas.openxmlformats.org/officeDocument/2006/relationships/image" Target="../media/image60.png"/><Relationship Id="rId19" Type="http://schemas.openxmlformats.org/officeDocument/2006/relationships/image" Target="../media/image77.png"/><Relationship Id="rId18" Type="http://schemas.openxmlformats.org/officeDocument/2006/relationships/image" Target="../media/image76.png"/><Relationship Id="rId17" Type="http://schemas.openxmlformats.org/officeDocument/2006/relationships/image" Target="../media/image75.png"/><Relationship Id="rId16" Type="http://schemas.openxmlformats.org/officeDocument/2006/relationships/image" Target="../media/image74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71.png"/><Relationship Id="rId12" Type="http://schemas.openxmlformats.org/officeDocument/2006/relationships/image" Target="../media/image70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slide" Target="slide8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slide" Target="slide36.xml"/><Relationship Id="rId7" Type="http://schemas.openxmlformats.org/officeDocument/2006/relationships/image" Target="../media/image13.png"/><Relationship Id="rId6" Type="http://schemas.openxmlformats.org/officeDocument/2006/relationships/image" Target="../media/image95.png"/><Relationship Id="rId5" Type="http://schemas.openxmlformats.org/officeDocument/2006/relationships/slide" Target="slide8.xml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27.png"/><Relationship Id="rId14" Type="http://schemas.openxmlformats.org/officeDocument/2006/relationships/slideLayout" Target="../slideLayouts/slideLayout2.xml"/><Relationship Id="rId13" Type="http://schemas.openxmlformats.org/officeDocument/2006/relationships/slide" Target="slide42.xml"/><Relationship Id="rId12" Type="http://schemas.openxmlformats.org/officeDocument/2006/relationships/slide" Target="slide2.xml"/><Relationship Id="rId11" Type="http://schemas.openxmlformats.org/officeDocument/2006/relationships/slide" Target="slide1.xml"/><Relationship Id="rId10" Type="http://schemas.openxmlformats.org/officeDocument/2006/relationships/slide" Target="slide40.xml"/><Relationship Id="rId1" Type="http://schemas.openxmlformats.org/officeDocument/2006/relationships/slide" Target="slide30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00.png"/><Relationship Id="rId7" Type="http://schemas.openxmlformats.org/officeDocument/2006/relationships/image" Target="../media/image47.png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49.png"/><Relationship Id="rId13" Type="http://schemas.openxmlformats.org/officeDocument/2006/relationships/slideLayout" Target="../slideLayouts/slideLayout2.xml"/><Relationship Id="rId12" Type="http://schemas.openxmlformats.org/officeDocument/2006/relationships/slide" Target="slide42.xml"/><Relationship Id="rId11" Type="http://schemas.openxmlformats.org/officeDocument/2006/relationships/slide" Target="slide2.xml"/><Relationship Id="rId10" Type="http://schemas.openxmlformats.org/officeDocument/2006/relationships/slide" Target="slide3.xml"/><Relationship Id="rId1" Type="http://schemas.openxmlformats.org/officeDocument/2006/relationships/slide" Target="slide30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" Target="slide42.xml"/><Relationship Id="rId8" Type="http://schemas.openxmlformats.org/officeDocument/2006/relationships/slide" Target="slide2.xml"/><Relationship Id="rId7" Type="http://schemas.openxmlformats.org/officeDocument/2006/relationships/slide" Target="slide3.xml"/><Relationship Id="rId6" Type="http://schemas.openxmlformats.org/officeDocument/2006/relationships/slide" Target="slide1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0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slide" Target="slide3.xml"/><Relationship Id="rId7" Type="http://schemas.openxmlformats.org/officeDocument/2006/relationships/slide" Target="slide1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42.xml"/><Relationship Id="rId1" Type="http://schemas.openxmlformats.org/officeDocument/2006/relationships/slide" Target="slide30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slide" Target="slide3.xml"/><Relationship Id="rId7" Type="http://schemas.openxmlformats.org/officeDocument/2006/relationships/slide" Target="slide1.xml"/><Relationship Id="rId6" Type="http://schemas.openxmlformats.org/officeDocument/2006/relationships/image" Target="../media/image110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1" Type="http://schemas.openxmlformats.org/officeDocument/2006/relationships/slideLayout" Target="../slideLayouts/slideLayout2.xml"/><Relationship Id="rId10" Type="http://schemas.openxmlformats.org/officeDocument/2006/relationships/slide" Target="slide42.xml"/><Relationship Id="rId1" Type="http://schemas.openxmlformats.org/officeDocument/2006/relationships/slide" Target="slide30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" Target="slide42.xml"/><Relationship Id="rId8" Type="http://schemas.openxmlformats.org/officeDocument/2006/relationships/slide" Target="slide2.xml"/><Relationship Id="rId7" Type="http://schemas.openxmlformats.org/officeDocument/2006/relationships/slide" Target="slide3.xml"/><Relationship Id="rId6" Type="http://schemas.openxmlformats.org/officeDocument/2006/relationships/slide" Target="slide1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43.png"/><Relationship Id="rId10" Type="http://schemas.openxmlformats.org/officeDocument/2006/relationships/slideLayout" Target="../slideLayouts/slideLayout5.xml"/><Relationship Id="rId1" Type="http://schemas.openxmlformats.org/officeDocument/2006/relationships/slide" Target="slide30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14.png"/><Relationship Id="rId7" Type="http://schemas.openxmlformats.org/officeDocument/2006/relationships/slide" Target="slide30.xml"/><Relationship Id="rId6" Type="http://schemas.openxmlformats.org/officeDocument/2006/relationships/slide" Target="slide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27.png"/><Relationship Id="rId14" Type="http://schemas.openxmlformats.org/officeDocument/2006/relationships/slideLayout" Target="../slideLayouts/slideLayout2.xml"/><Relationship Id="rId13" Type="http://schemas.openxmlformats.org/officeDocument/2006/relationships/slide" Target="slide42.xml"/><Relationship Id="rId12" Type="http://schemas.openxmlformats.org/officeDocument/2006/relationships/slide" Target="slide2.xml"/><Relationship Id="rId11" Type="http://schemas.openxmlformats.org/officeDocument/2006/relationships/slide" Target="slide1.xml"/><Relationship Id="rId10" Type="http://schemas.openxmlformats.org/officeDocument/2006/relationships/slide" Target="slide40.xml"/><Relationship Id="rId1" Type="http://schemas.openxmlformats.org/officeDocument/2006/relationships/slide" Target="slide36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121.png"/><Relationship Id="rId7" Type="http://schemas.openxmlformats.org/officeDocument/2006/relationships/image" Target="../media/image120.png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4" Type="http://schemas.openxmlformats.org/officeDocument/2006/relationships/slideLayout" Target="../slideLayouts/slideLayout2.xml"/><Relationship Id="rId13" Type="http://schemas.openxmlformats.org/officeDocument/2006/relationships/slide" Target="slide42.xml"/><Relationship Id="rId12" Type="http://schemas.openxmlformats.org/officeDocument/2006/relationships/slide" Target="slide2.xml"/><Relationship Id="rId11" Type="http://schemas.openxmlformats.org/officeDocument/2006/relationships/slide" Target="slide3.xml"/><Relationship Id="rId10" Type="http://schemas.openxmlformats.org/officeDocument/2006/relationships/slide" Target="slide1.xml"/><Relationship Id="rId1" Type="http://schemas.openxmlformats.org/officeDocument/2006/relationships/slide" Target="slide36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png"/><Relationship Id="rId8" Type="http://schemas.openxmlformats.org/officeDocument/2006/relationships/image" Target="../media/image128.png"/><Relationship Id="rId7" Type="http://schemas.openxmlformats.org/officeDocument/2006/relationships/image" Target="../media/image127.png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49.png"/><Relationship Id="rId14" Type="http://schemas.openxmlformats.org/officeDocument/2006/relationships/slideLayout" Target="../slideLayouts/slideLayout2.xml"/><Relationship Id="rId13" Type="http://schemas.openxmlformats.org/officeDocument/2006/relationships/slide" Target="slide42.xml"/><Relationship Id="rId12" Type="http://schemas.openxmlformats.org/officeDocument/2006/relationships/slide" Target="slide2.xml"/><Relationship Id="rId11" Type="http://schemas.openxmlformats.org/officeDocument/2006/relationships/slide" Target="slide3.xml"/><Relationship Id="rId10" Type="http://schemas.openxmlformats.org/officeDocument/2006/relationships/slide" Target="slide1.xml"/><Relationship Id="rId1" Type="http://schemas.openxmlformats.org/officeDocument/2006/relationships/slide" Target="slide36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" Target="slide42.xml"/><Relationship Id="rId8" Type="http://schemas.openxmlformats.org/officeDocument/2006/relationships/slide" Target="slide2.xml"/><Relationship Id="rId7" Type="http://schemas.openxmlformats.org/officeDocument/2006/relationships/slide" Target="slide3.xml"/><Relationship Id="rId6" Type="http://schemas.openxmlformats.org/officeDocument/2006/relationships/slide" Target="slide1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43.png"/><Relationship Id="rId2" Type="http://schemas.openxmlformats.org/officeDocument/2006/relationships/image" Target="../media/image111.png"/><Relationship Id="rId10" Type="http://schemas.openxmlformats.org/officeDocument/2006/relationships/slideLayout" Target="../slideLayouts/slideLayout5.xml"/><Relationship Id="rId1" Type="http://schemas.openxmlformats.org/officeDocument/2006/relationships/slide" Target="slide36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" Target="slide36.xml"/><Relationship Id="rId8" Type="http://schemas.openxmlformats.org/officeDocument/2006/relationships/image" Target="../media/image13.png"/><Relationship Id="rId7" Type="http://schemas.openxmlformats.org/officeDocument/2006/relationships/slide" Target="slide30.xml"/><Relationship Id="rId6" Type="http://schemas.openxmlformats.org/officeDocument/2006/relationships/slide" Target="slide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slide" Target="slide3.xml"/><Relationship Id="rId2" Type="http://schemas.openxmlformats.org/officeDocument/2006/relationships/image" Target="../media/image27.png"/><Relationship Id="rId14" Type="http://schemas.openxmlformats.org/officeDocument/2006/relationships/slideLayout" Target="../slideLayouts/slideLayout2.xml"/><Relationship Id="rId13" Type="http://schemas.openxmlformats.org/officeDocument/2006/relationships/slide" Target="slide42.xml"/><Relationship Id="rId12" Type="http://schemas.openxmlformats.org/officeDocument/2006/relationships/slide" Target="slide2.xml"/><Relationship Id="rId11" Type="http://schemas.openxmlformats.org/officeDocument/2006/relationships/slide" Target="slide1.xml"/><Relationship Id="rId10" Type="http://schemas.openxmlformats.org/officeDocument/2006/relationships/image" Target="../media/image130.png"/><Relationship Id="rId1" Type="http://schemas.openxmlformats.org/officeDocument/2006/relationships/slide" Target="slide40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slide" Target="slide1.xml"/><Relationship Id="rId7" Type="http://schemas.openxmlformats.org/officeDocument/2006/relationships/image" Target="../media/image106.png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3" Type="http://schemas.openxmlformats.org/officeDocument/2006/relationships/image" Target="../media/image131.png"/><Relationship Id="rId2" Type="http://schemas.openxmlformats.org/officeDocument/2006/relationships/image" Target="../media/image49.png"/><Relationship Id="rId12" Type="http://schemas.openxmlformats.org/officeDocument/2006/relationships/slideLayout" Target="../slideLayouts/slideLayout2.xml"/><Relationship Id="rId11" Type="http://schemas.openxmlformats.org/officeDocument/2006/relationships/slide" Target="slide42.xml"/><Relationship Id="rId10" Type="http://schemas.openxmlformats.org/officeDocument/2006/relationships/slide" Target="slide2.xml"/><Relationship Id="rId1" Type="http://schemas.openxmlformats.org/officeDocument/2006/relationships/slide" Target="slide40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40.png"/><Relationship Id="rId7" Type="http://schemas.openxmlformats.org/officeDocument/2006/relationships/image" Target="../media/image139.png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Relationship Id="rId3" Type="http://schemas.openxmlformats.org/officeDocument/2006/relationships/image" Target="../media/image135.png"/><Relationship Id="rId2" Type="http://schemas.openxmlformats.org/officeDocument/2006/relationships/image" Target="../media/image49.png"/><Relationship Id="rId13" Type="http://schemas.openxmlformats.org/officeDocument/2006/relationships/slideLayout" Target="../slideLayouts/slideLayout2.xml"/><Relationship Id="rId12" Type="http://schemas.openxmlformats.org/officeDocument/2006/relationships/slide" Target="slide42.xml"/><Relationship Id="rId11" Type="http://schemas.openxmlformats.org/officeDocument/2006/relationships/slide" Target="slide2.xml"/><Relationship Id="rId10" Type="http://schemas.openxmlformats.org/officeDocument/2006/relationships/slide" Target="slide3.xml"/><Relationship Id="rId1" Type="http://schemas.openxmlformats.org/officeDocument/2006/relationships/slide" Target="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3877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743" y="583199"/>
            <a:ext cx="4483735" cy="868044"/>
            <a:chOff x="87743" y="583199"/>
            <a:chExt cx="4483735" cy="868044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38544" y="1349286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344" y="1336585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311" y="589343"/>
              <a:ext cx="50800" cy="75994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83199"/>
              <a:ext cx="4432935" cy="817244"/>
            </a:xfrm>
            <a:custGeom>
              <a:avLst/>
              <a:gdLst/>
              <a:ahLst/>
              <a:cxnLst/>
              <a:rect l="l" t="t" r="r" b="b"/>
              <a:pathLst>
                <a:path w="4432935" h="817244">
                  <a:moveTo>
                    <a:pt x="4432567" y="0"/>
                  </a:moveTo>
                  <a:lnTo>
                    <a:pt x="0" y="0"/>
                  </a:lnTo>
                  <a:lnTo>
                    <a:pt x="0" y="766086"/>
                  </a:lnTo>
                  <a:lnTo>
                    <a:pt x="4008" y="785811"/>
                  </a:lnTo>
                  <a:lnTo>
                    <a:pt x="14922" y="801964"/>
                  </a:lnTo>
                  <a:lnTo>
                    <a:pt x="31075" y="812878"/>
                  </a:lnTo>
                  <a:lnTo>
                    <a:pt x="50800" y="816887"/>
                  </a:lnTo>
                  <a:lnTo>
                    <a:pt x="4381767" y="816887"/>
                  </a:lnTo>
                  <a:lnTo>
                    <a:pt x="4401492" y="812878"/>
                  </a:lnTo>
                  <a:lnTo>
                    <a:pt x="4417644" y="801964"/>
                  </a:lnTo>
                  <a:lnTo>
                    <a:pt x="4428558" y="785811"/>
                  </a:lnTo>
                  <a:lnTo>
                    <a:pt x="4432567" y="76608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0311" y="627437"/>
              <a:ext cx="0" cy="741045"/>
            </a:xfrm>
            <a:custGeom>
              <a:avLst/>
              <a:gdLst/>
              <a:ahLst/>
              <a:cxnLst/>
              <a:rect l="l" t="t" r="r" b="b"/>
              <a:pathLst>
                <a:path h="741044">
                  <a:moveTo>
                    <a:pt x="0" y="7408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20311" y="6147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20311" y="6020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5893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69011" y="643100"/>
            <a:ext cx="40703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b="0" spc="5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Recovery</a:t>
            </a:r>
            <a:r>
              <a:rPr b="0" spc="5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Strategies</a:t>
            </a:r>
            <a:r>
              <a:rPr b="0" spc="5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b="0" spc="5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5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LR</a:t>
            </a:r>
            <a:r>
              <a:rPr b="0" spc="5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Parsing</a:t>
            </a:r>
            <a:r>
              <a:rPr b="0" spc="5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b="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Conflicts</a:t>
            </a:r>
            <a:endParaRPr b="0" spc="-10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6915" y="904378"/>
            <a:ext cx="153416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Lecture</a:t>
            </a:r>
            <a:r>
              <a:rPr sz="1100" spc="-3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10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Section</a:t>
            </a:r>
            <a:r>
              <a:rPr sz="1100" spc="9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4.1.4,</a:t>
            </a:r>
            <a:r>
              <a:rPr sz="1100" spc="9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4.4.5,</a:t>
            </a:r>
            <a:r>
              <a:rPr sz="1100" spc="9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4.5.4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1447" y="1608580"/>
            <a:ext cx="2065655" cy="852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R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okan</a:t>
            </a:r>
            <a:r>
              <a:rPr sz="1100" spc="10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</a:t>
            </a:r>
            <a:r>
              <a:rPr sz="1100" cap="small" dirty="0">
                <a:latin typeface="Palatino Linotype" panose="02040502050505030304"/>
                <a:cs typeface="Palatino Linotype" panose="02040502050505030304"/>
              </a:rPr>
              <a:t>ddin</a:t>
            </a:r>
            <a:r>
              <a:rPr sz="1100" spc="1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</a:t>
            </a:r>
            <a:r>
              <a:rPr sz="1100" cap="small" spc="-10" dirty="0">
                <a:latin typeface="Palatino Linotype" panose="02040502050505030304"/>
                <a:cs typeface="Palatino Linotype" panose="02040502050505030304"/>
              </a:rPr>
              <a:t>aruqui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ts val="955"/>
              </a:lnSpc>
              <a:spcBef>
                <a:spcPts val="140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Associate</a:t>
            </a:r>
            <a:r>
              <a:rPr sz="800" spc="1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Professor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  <a:p>
            <a:pPr marL="12700" marR="5080" algn="ctr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Palatino Linotype" panose="02040502050505030304"/>
                <a:cs typeface="Palatino Linotype" panose="02040502050505030304"/>
              </a:rPr>
              <a:t>Dept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Computer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Science</a:t>
            </a:r>
            <a:r>
              <a:rPr sz="800" spc="1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800" spc="1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Engineering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University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8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Chittaong,</a:t>
            </a:r>
            <a:r>
              <a:rPr sz="800" spc="1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spc="-10" dirty="0">
                <a:latin typeface="Palatino Linotype" panose="02040502050505030304"/>
                <a:cs typeface="Palatino Linotype" panose="02040502050505030304"/>
              </a:rPr>
              <a:t>Bangladesh</a:t>
            </a:r>
            <a:r>
              <a:rPr sz="800" spc="500" dirty="0"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800" dirty="0">
                <a:latin typeface="Palatino Linotype" panose="02040502050505030304"/>
                <a:cs typeface="Palatino Linotype" panose="02040502050505030304"/>
              </a:rPr>
              <a:t>Email:</a:t>
            </a:r>
            <a:r>
              <a:rPr sz="800" spc="28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800" i="1" spc="40" dirty="0">
                <a:latin typeface="Palatino Linotype" panose="02040502050505030304"/>
                <a:cs typeface="Palatino Linotype" panose="02040502050505030304"/>
                <a:hlinkClick r:id="rId4"/>
              </a:rPr>
              <a:t>rokan@cu.ac.bd</a:t>
            </a:r>
            <a:endParaRPr sz="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8730" y="339658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59113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36915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3158299" y="3383746"/>
            <a:ext cx="203200" cy="55880"/>
            <a:chOff x="3158299" y="3383746"/>
            <a:chExt cx="203200" cy="55880"/>
          </a:xfrm>
        </p:grpSpPr>
        <p:sp>
          <p:nvSpPr>
            <p:cNvPr id="19" name="object 19"/>
            <p:cNvSpPr/>
            <p:nvPr/>
          </p:nvSpPr>
          <p:spPr>
            <a:xfrm>
              <a:off x="3221468" y="338627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158299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457486" y="3382480"/>
            <a:ext cx="203200" cy="58419"/>
            <a:chOff x="3457486" y="3382480"/>
            <a:chExt cx="203200" cy="58419"/>
          </a:xfrm>
        </p:grpSpPr>
        <p:sp>
          <p:nvSpPr>
            <p:cNvPr id="22" name="object 22"/>
            <p:cNvSpPr/>
            <p:nvPr/>
          </p:nvSpPr>
          <p:spPr>
            <a:xfrm>
              <a:off x="3546387" y="33989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57486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533687" y="338627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756673" y="3382480"/>
            <a:ext cx="203200" cy="58419"/>
            <a:chOff x="3756673" y="3382480"/>
            <a:chExt cx="203200" cy="58419"/>
          </a:xfrm>
        </p:grpSpPr>
        <p:sp>
          <p:nvSpPr>
            <p:cNvPr id="26" name="object 26"/>
            <p:cNvSpPr/>
            <p:nvPr/>
          </p:nvSpPr>
          <p:spPr>
            <a:xfrm>
              <a:off x="3832873" y="338627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56673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832873" y="342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4132060" y="338627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337275" y="3383746"/>
            <a:ext cx="238760" cy="57150"/>
            <a:chOff x="4337275" y="3383746"/>
            <a:chExt cx="238760" cy="57150"/>
          </a:xfrm>
        </p:grpSpPr>
        <p:sp>
          <p:nvSpPr>
            <p:cNvPr id="31" name="object 31"/>
            <p:cNvSpPr/>
            <p:nvPr/>
          </p:nvSpPr>
          <p:spPr>
            <a:xfrm>
              <a:off x="4461727" y="341675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34663" y="3390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39806" y="338627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0779" y="656513"/>
            <a:ext cx="155257" cy="1552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1104049"/>
            <a:ext cx="155257" cy="1552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551584"/>
            <a:ext cx="155257" cy="1552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999107"/>
            <a:ext cx="155257" cy="1552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2446642"/>
            <a:ext cx="155257" cy="1552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4675" y="624711"/>
            <a:ext cx="2430145" cy="1981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Error</a:t>
            </a:r>
            <a:r>
              <a:rPr sz="1100" spc="4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Recovery</a:t>
            </a:r>
            <a:r>
              <a:rPr sz="1100" spc="45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Strategies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Error</a:t>
            </a:r>
            <a:r>
              <a:rPr sz="1100" spc="3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Recovery</a:t>
            </a:r>
            <a:r>
              <a:rPr sz="1100" spc="3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in</a:t>
            </a:r>
            <a:r>
              <a:rPr sz="1100" spc="3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Predictive</a:t>
            </a:r>
            <a:r>
              <a:rPr sz="1100" spc="35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Shift/Reduce</a:t>
            </a:r>
            <a:r>
              <a:rPr sz="1100" spc="145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Conflicts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Precedence</a:t>
            </a:r>
            <a:r>
              <a:rPr sz="1100" spc="-35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and</a:t>
            </a:r>
            <a:r>
              <a:rPr sz="1100" spc="-3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Associativity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AE5EF"/>
              </a:buClr>
              <a:buFont typeface="Comic Sans MS" panose="030F0702030302020204"/>
              <a:buAutoNum type="arabicPlain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buClr>
                <a:srgbClr val="EAE5EF"/>
              </a:buClr>
              <a:buSzPct val="73000"/>
              <a:buFont typeface="Comic Sans MS" panose="030F0702030302020204"/>
              <a:buAutoNum type="arabicPlain"/>
              <a:tabLst>
                <a:tab pos="177800" algn="l"/>
              </a:tabLst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261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Strategies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586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Error</a:t>
            </a:r>
            <a:r>
              <a:rPr sz="1100" spc="4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Recovery</a:t>
            </a:r>
            <a:r>
              <a:rPr sz="1100" spc="4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Strategies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2430145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Error</a:t>
            </a:r>
            <a:r>
              <a:rPr sz="1100" spc="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Recovery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in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Predictive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Shift/Reduce</a:t>
            </a:r>
            <a:r>
              <a:rPr sz="1100" spc="1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Conflicts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795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Precedence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Associativity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261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Strategies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0" dirty="0"/>
              <a:t>Error</a:t>
            </a:r>
            <a:r>
              <a:rPr spc="190" dirty="0"/>
              <a:t> </a:t>
            </a:r>
            <a:r>
              <a:rPr spc="55" dirty="0"/>
              <a:t>Recovery</a:t>
            </a:r>
            <a:endParaRPr spc="55" dirty="0"/>
          </a:p>
        </p:txBody>
      </p:sp>
      <p:sp>
        <p:nvSpPr>
          <p:cNvPr id="5" name="object 5"/>
          <p:cNvSpPr txBox="1"/>
          <p:nvPr/>
        </p:nvSpPr>
        <p:spPr>
          <a:xfrm>
            <a:off x="289255" y="1520379"/>
            <a:ext cx="40297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82090" marR="5080" indent="-1470025">
              <a:lnSpc>
                <a:spcPct val="103000"/>
              </a:lnSpc>
              <a:spcBef>
                <a:spcPts val="55"/>
              </a:spcBef>
            </a:pPr>
            <a:r>
              <a:rPr sz="1100" b="1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Once</a:t>
            </a:r>
            <a:r>
              <a:rPr sz="1100" b="1" spc="2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b="1" spc="21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b="1" spc="21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b="1" spc="21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detected</a:t>
            </a:r>
            <a:r>
              <a:rPr sz="1100" b="1" spc="21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during</a:t>
            </a:r>
            <a:r>
              <a:rPr sz="1100" b="1" spc="2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parsing,</a:t>
            </a:r>
            <a:r>
              <a:rPr sz="1100" b="1" spc="21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how</a:t>
            </a:r>
            <a:r>
              <a:rPr sz="1100" b="1" spc="21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should</a:t>
            </a:r>
            <a:r>
              <a:rPr sz="1100" b="1" spc="21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25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sz="1100" b="1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b="1" spc="4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recover?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261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Strategies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0" dirty="0"/>
              <a:t>Error</a:t>
            </a:r>
            <a:r>
              <a:rPr spc="190" dirty="0"/>
              <a:t> </a:t>
            </a:r>
            <a:r>
              <a:rPr spc="55" dirty="0"/>
              <a:t>Recovery</a:t>
            </a:r>
            <a:endParaRPr spc="5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94943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90852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915" y="1780667"/>
            <a:ext cx="52527" cy="525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2156320"/>
            <a:ext cx="52527" cy="525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70777" rIns="0" bIns="0" rtlCol="0">
            <a:spAutoFit/>
          </a:bodyPr>
          <a:lstStyle/>
          <a:p>
            <a:pPr marL="289560" marR="5080">
              <a:lnSpc>
                <a:spcPct val="103000"/>
              </a:lnSpc>
              <a:spcBef>
                <a:spcPts val="55"/>
              </a:spcBef>
            </a:pPr>
            <a:r>
              <a:rPr dirty="0"/>
              <a:t>Parser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quit</a:t>
            </a:r>
            <a:r>
              <a:rPr spc="30" dirty="0"/>
              <a:t> </a:t>
            </a:r>
            <a:r>
              <a:rPr spc="-10" dirty="0"/>
              <a:t>with</a:t>
            </a:r>
            <a:r>
              <a:rPr spc="30" dirty="0"/>
              <a:t> </a:t>
            </a:r>
            <a:r>
              <a:rPr dirty="0"/>
              <a:t>an</a:t>
            </a:r>
            <a:r>
              <a:rPr spc="25" dirty="0"/>
              <a:t> </a:t>
            </a:r>
            <a:r>
              <a:rPr spc="-25" dirty="0"/>
              <a:t>informative</a:t>
            </a:r>
            <a:r>
              <a:rPr spc="30" dirty="0"/>
              <a:t> </a:t>
            </a:r>
            <a:r>
              <a:rPr spc="-10" dirty="0"/>
              <a:t>error</a:t>
            </a:r>
            <a:r>
              <a:rPr spc="30" dirty="0"/>
              <a:t> </a:t>
            </a:r>
            <a:r>
              <a:rPr spc="-30" dirty="0"/>
              <a:t>message</a:t>
            </a:r>
            <a:r>
              <a:rPr spc="30" dirty="0"/>
              <a:t> </a:t>
            </a:r>
            <a:r>
              <a:rPr spc="-35" dirty="0"/>
              <a:t>when</a:t>
            </a:r>
            <a:r>
              <a:rPr spc="30" dirty="0"/>
              <a:t> </a:t>
            </a:r>
            <a:r>
              <a:rPr dirty="0"/>
              <a:t>it</a:t>
            </a:r>
            <a:r>
              <a:rPr spc="25" dirty="0"/>
              <a:t> </a:t>
            </a:r>
            <a:r>
              <a:rPr spc="-10" dirty="0"/>
              <a:t>detects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first</a:t>
            </a:r>
            <a:r>
              <a:rPr spc="40" dirty="0"/>
              <a:t> </a:t>
            </a:r>
            <a:r>
              <a:rPr spc="-10" dirty="0"/>
              <a:t>error.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440"/>
              </a:spcBef>
            </a:pPr>
            <a:r>
              <a:rPr spc="-30" dirty="0"/>
              <a:t>Additional</a:t>
            </a:r>
            <a:r>
              <a:rPr spc="5" dirty="0"/>
              <a:t> </a:t>
            </a:r>
            <a:r>
              <a:rPr spc="-10" dirty="0"/>
              <a:t>errors</a:t>
            </a:r>
            <a:r>
              <a:rPr spc="1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often</a:t>
            </a:r>
            <a:r>
              <a:rPr spc="5" dirty="0"/>
              <a:t> </a:t>
            </a:r>
            <a:r>
              <a:rPr spc="-10" dirty="0"/>
              <a:t>uncovered</a:t>
            </a:r>
            <a:endParaRPr spc="-10" dirty="0"/>
          </a:p>
          <a:p>
            <a:pPr marL="566420" marR="121920">
              <a:lnSpc>
                <a:spcPct val="100000"/>
              </a:lnSpc>
              <a:spcBef>
                <a:spcPts val="175"/>
              </a:spcBef>
            </a:pPr>
            <a:r>
              <a:rPr sz="1000" dirty="0"/>
              <a:t>if</a:t>
            </a:r>
            <a:r>
              <a:rPr sz="1000" spc="40" dirty="0"/>
              <a:t> </a:t>
            </a:r>
            <a:r>
              <a:rPr sz="1000" dirty="0"/>
              <a:t>the</a:t>
            </a:r>
            <a:r>
              <a:rPr sz="1000" spc="40" dirty="0"/>
              <a:t> </a:t>
            </a:r>
            <a:r>
              <a:rPr sz="1000" spc="-10" dirty="0"/>
              <a:t>parser</a:t>
            </a:r>
            <a:r>
              <a:rPr sz="1000" spc="40" dirty="0"/>
              <a:t> </a:t>
            </a:r>
            <a:r>
              <a:rPr sz="1000" dirty="0"/>
              <a:t>can</a:t>
            </a:r>
            <a:r>
              <a:rPr sz="1000" spc="40" dirty="0"/>
              <a:t> </a:t>
            </a:r>
            <a:r>
              <a:rPr sz="1000" spc="-10" dirty="0"/>
              <a:t>restore</a:t>
            </a:r>
            <a:r>
              <a:rPr sz="1000" spc="40" dirty="0"/>
              <a:t> </a:t>
            </a:r>
            <a:r>
              <a:rPr sz="1000" dirty="0"/>
              <a:t>itself</a:t>
            </a:r>
            <a:r>
              <a:rPr sz="1000" spc="40" dirty="0"/>
              <a:t> </a:t>
            </a:r>
            <a:r>
              <a:rPr sz="1000" dirty="0"/>
              <a:t>to</a:t>
            </a:r>
            <a:r>
              <a:rPr sz="1000" spc="40" dirty="0"/>
              <a:t> </a:t>
            </a:r>
            <a:r>
              <a:rPr sz="1000" dirty="0"/>
              <a:t>a</a:t>
            </a:r>
            <a:r>
              <a:rPr sz="1000" spc="40" dirty="0"/>
              <a:t> </a:t>
            </a:r>
            <a:r>
              <a:rPr sz="1000" dirty="0"/>
              <a:t>state</a:t>
            </a:r>
            <a:r>
              <a:rPr sz="1000" spc="40" dirty="0"/>
              <a:t> </a:t>
            </a:r>
            <a:r>
              <a:rPr sz="1000" spc="-35" dirty="0"/>
              <a:t>where</a:t>
            </a:r>
            <a:r>
              <a:rPr sz="1000" spc="40" dirty="0"/>
              <a:t> </a:t>
            </a:r>
            <a:r>
              <a:rPr sz="1000" spc="-25" dirty="0"/>
              <a:t>processing</a:t>
            </a:r>
            <a:r>
              <a:rPr sz="1000" spc="40" dirty="0"/>
              <a:t> </a:t>
            </a:r>
            <a:r>
              <a:rPr sz="1000" dirty="0"/>
              <a:t>of</a:t>
            </a:r>
            <a:r>
              <a:rPr sz="1000" spc="40" dirty="0"/>
              <a:t> </a:t>
            </a:r>
            <a:r>
              <a:rPr sz="1000" spc="-25" dirty="0"/>
              <a:t>the </a:t>
            </a:r>
            <a:r>
              <a:rPr sz="1000" dirty="0"/>
              <a:t>input</a:t>
            </a:r>
            <a:r>
              <a:rPr sz="1000" spc="5" dirty="0"/>
              <a:t> </a:t>
            </a:r>
            <a:r>
              <a:rPr sz="1000" dirty="0"/>
              <a:t>can</a:t>
            </a:r>
            <a:r>
              <a:rPr sz="1000" spc="10" dirty="0"/>
              <a:t> </a:t>
            </a:r>
            <a:r>
              <a:rPr sz="1000" spc="-10" dirty="0"/>
              <a:t>continue</a:t>
            </a:r>
            <a:endParaRPr sz="1000"/>
          </a:p>
          <a:p>
            <a:pPr marL="566420">
              <a:lnSpc>
                <a:spcPct val="100000"/>
              </a:lnSpc>
              <a:spcBef>
                <a:spcPts val="560"/>
              </a:spcBef>
            </a:pPr>
            <a:r>
              <a:rPr sz="1000" spc="-10" dirty="0"/>
              <a:t>may</a:t>
            </a:r>
            <a:r>
              <a:rPr sz="1000" spc="20" dirty="0"/>
              <a:t> </a:t>
            </a:r>
            <a:r>
              <a:rPr sz="1000" spc="-35" dirty="0"/>
              <a:t>provide</a:t>
            </a:r>
            <a:r>
              <a:rPr sz="1000" spc="20" dirty="0"/>
              <a:t> </a:t>
            </a:r>
            <a:r>
              <a:rPr sz="1000" spc="-30" dirty="0"/>
              <a:t>meaningful</a:t>
            </a:r>
            <a:r>
              <a:rPr sz="1000" spc="25" dirty="0"/>
              <a:t> </a:t>
            </a:r>
            <a:r>
              <a:rPr sz="1000" spc="-20" dirty="0"/>
              <a:t>diagnostic</a:t>
            </a:r>
            <a:r>
              <a:rPr sz="1000" spc="20" dirty="0"/>
              <a:t> </a:t>
            </a:r>
            <a:r>
              <a:rPr sz="1000" spc="-10" dirty="0"/>
              <a:t>information.</a:t>
            </a:r>
            <a:endParaRPr sz="1000"/>
          </a:p>
          <a:p>
            <a:pPr marL="289560">
              <a:lnSpc>
                <a:spcPct val="100000"/>
              </a:lnSpc>
              <a:spcBef>
                <a:spcPts val="620"/>
              </a:spcBef>
            </a:pPr>
            <a:r>
              <a:rPr dirty="0"/>
              <a:t>If</a:t>
            </a:r>
            <a:r>
              <a:rPr spc="35" dirty="0"/>
              <a:t> </a:t>
            </a:r>
            <a:r>
              <a:rPr spc="-10" dirty="0"/>
              <a:t>errors</a:t>
            </a:r>
            <a:r>
              <a:rPr spc="35" dirty="0"/>
              <a:t> </a:t>
            </a:r>
            <a:r>
              <a:rPr spc="-10" dirty="0"/>
              <a:t>pile</a:t>
            </a:r>
            <a:r>
              <a:rPr spc="40" dirty="0"/>
              <a:t> </a:t>
            </a:r>
            <a:r>
              <a:rPr dirty="0"/>
              <a:t>up,</a:t>
            </a:r>
            <a:r>
              <a:rPr spc="35" dirty="0"/>
              <a:t> </a:t>
            </a:r>
            <a:r>
              <a:rPr dirty="0"/>
              <a:t>it</a:t>
            </a:r>
            <a:r>
              <a:rPr spc="4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better</a:t>
            </a:r>
            <a:r>
              <a:rPr spc="35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spc="-30" dirty="0"/>
              <a:t>compiler</a:t>
            </a:r>
            <a:r>
              <a:rPr spc="4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-30" dirty="0"/>
              <a:t>give</a:t>
            </a:r>
            <a:r>
              <a:rPr spc="35" dirty="0"/>
              <a:t> </a:t>
            </a:r>
            <a:r>
              <a:rPr spc="-25" dirty="0"/>
              <a:t>up</a:t>
            </a:r>
            <a:endParaRPr spc="-25" dirty="0"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387727"/>
            <a:ext cx="65201" cy="6520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261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Strategies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0" dirty="0"/>
              <a:t>Error</a:t>
            </a:r>
            <a:r>
              <a:rPr spc="200" dirty="0"/>
              <a:t> </a:t>
            </a:r>
            <a:r>
              <a:rPr spc="65" dirty="0"/>
              <a:t>Recovery</a:t>
            </a:r>
            <a:r>
              <a:rPr spc="200" dirty="0"/>
              <a:t> </a:t>
            </a:r>
            <a:r>
              <a:rPr spc="50" dirty="0"/>
              <a:t>Strategies</a:t>
            </a:r>
            <a:endParaRPr spc="5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645819"/>
            <a:ext cx="861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5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Panic</a:t>
            </a:r>
            <a:r>
              <a:rPr sz="1100" b="1" spc="16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2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Mode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862" y="729335"/>
            <a:ext cx="65201" cy="652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92212" y="645819"/>
            <a:ext cx="3255645" cy="11245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21920" indent="114935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discards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symbols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one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time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until one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designated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set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synchronizing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found.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570"/>
              </a:spcBef>
            </a:pP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Synchronizing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usually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delimiters,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such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;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or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}</a:t>
            </a:r>
            <a:r>
              <a:rPr sz="1100" spc="7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5" dirty="0">
                <a:latin typeface="Palatino Linotype" panose="02040502050505030304"/>
                <a:cs typeface="Palatino Linotype" panose="02040502050505030304"/>
              </a:rPr>
              <a:t>whose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role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source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program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clear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and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unambiguous.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432" y="1317561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9823" y="1871738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0432" y="2287892"/>
            <a:ext cx="65201" cy="652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0432" y="2704033"/>
            <a:ext cx="65201" cy="6520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5844" y="1788222"/>
            <a:ext cx="4347845" cy="13684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078865" marR="16510" indent="-1066800">
              <a:lnSpc>
                <a:spcPct val="103000"/>
              </a:lnSpc>
              <a:spcBef>
                <a:spcPts val="55"/>
              </a:spcBef>
              <a:tabLst>
                <a:tab pos="1948180" algn="l"/>
              </a:tabLst>
            </a:pPr>
            <a:r>
              <a:rPr sz="1100" b="1" spc="5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Phrase-</a:t>
            </a:r>
            <a:r>
              <a:rPr sz="1100"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Level</a:t>
            </a:r>
            <a:r>
              <a:rPr sz="1100" b="1" spc="33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1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Recovery</a:t>
            </a:r>
            <a:r>
              <a:rPr sz="1100"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may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perform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correction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on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remaining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input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078865" marR="67945">
              <a:lnSpc>
                <a:spcPct val="103000"/>
              </a:lnSpc>
              <a:spcBef>
                <a:spcPts val="56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May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replace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prefix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remaining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some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allows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continue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078865" marR="5080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typical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local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correction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replace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comma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semicolon,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delete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extraneous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semicolon,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or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insert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missing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semicolon.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2261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Strategies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0" dirty="0"/>
              <a:t>Error</a:t>
            </a:r>
            <a:r>
              <a:rPr spc="200" dirty="0"/>
              <a:t> </a:t>
            </a:r>
            <a:r>
              <a:rPr spc="65" dirty="0"/>
              <a:t>Recovery</a:t>
            </a:r>
            <a:r>
              <a:rPr spc="200" dirty="0"/>
              <a:t> </a:t>
            </a:r>
            <a:r>
              <a:rPr spc="50" dirty="0"/>
              <a:t>Strategies</a:t>
            </a:r>
            <a:endParaRPr spc="5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8647" y="856424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432" y="1616722"/>
            <a:ext cx="65201" cy="652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4" y="434520"/>
            <a:ext cx="4326890" cy="25330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72055">
              <a:lnSpc>
                <a:spcPct val="100000"/>
              </a:lnSpc>
              <a:spcBef>
                <a:spcPts val="115"/>
              </a:spcBef>
            </a:pPr>
            <a:r>
              <a:rPr sz="1000" dirty="0">
                <a:latin typeface="Tahoma" panose="020B0604030504040204"/>
                <a:cs typeface="Tahoma" panose="020B0604030504040204"/>
              </a:rPr>
              <a:t>E—</a:t>
            </a:r>
            <a:r>
              <a:rPr sz="1000" spc="-20" dirty="0">
                <a:latin typeface="Tahoma" panose="020B0604030504040204"/>
                <a:cs typeface="Tahoma" panose="020B0604030504040204"/>
              </a:rPr>
              <a:t>&gt;E+T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00">
              <a:latin typeface="Tahoma" panose="020B0604030504040204"/>
              <a:cs typeface="Tahoma" panose="020B0604030504040204"/>
            </a:endParaRPr>
          </a:p>
          <a:p>
            <a:pPr marL="1078865" marR="78740" indent="-1066800">
              <a:lnSpc>
                <a:spcPct val="103000"/>
              </a:lnSpc>
              <a:spcBef>
                <a:spcPts val="5"/>
              </a:spcBef>
              <a:tabLst>
                <a:tab pos="1637030" algn="l"/>
              </a:tabLst>
            </a:pPr>
            <a:r>
              <a:rPr sz="1100" b="1" spc="8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b="1" spc="14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4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Productions</a:t>
            </a:r>
            <a:r>
              <a:rPr sz="1100"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By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anticipating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common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error,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augmented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generate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erroneous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078865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constructs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078865" marR="159385">
              <a:lnSpc>
                <a:spcPct val="103000"/>
              </a:lnSpc>
              <a:spcBef>
                <a:spcPts val="56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Parser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then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generate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appropriate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error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diagnostics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about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erroneous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construct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has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been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recognized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input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801370" marR="5080" indent="-789305">
              <a:lnSpc>
                <a:spcPct val="103000"/>
              </a:lnSpc>
              <a:spcBef>
                <a:spcPts val="300"/>
              </a:spcBef>
            </a:pPr>
            <a:r>
              <a:rPr sz="1100" b="1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Global</a:t>
            </a:r>
            <a:r>
              <a:rPr sz="1100" b="1" spc="9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Correction</a:t>
            </a:r>
            <a:r>
              <a:rPr sz="1100" b="1" spc="21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Given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incorrect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100" i="1" spc="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grammar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these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algorithms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tree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related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string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such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number</a:t>
            </a:r>
            <a:r>
              <a:rPr sz="1100" spc="7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latin typeface="Palatino Linotype" panose="02040502050505030304"/>
                <a:cs typeface="Palatino Linotype" panose="02040502050505030304"/>
              </a:rPr>
              <a:t>insertions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-10" dirty="0">
                <a:latin typeface="Palatino Linotype" panose="02040502050505030304"/>
                <a:cs typeface="Palatino Linotype" panose="02040502050505030304"/>
              </a:rPr>
              <a:t>deletions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5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latin typeface="Palatino Linotype" panose="02040502050505030304"/>
                <a:cs typeface="Palatino Linotype" panose="02040502050505030304"/>
              </a:rPr>
              <a:t>changes</a:t>
            </a:r>
            <a:r>
              <a:rPr sz="1100" i="1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required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transform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100" i="1" spc="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100"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as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small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possible.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744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</a:t>
            </a:r>
            <a:r>
              <a:rPr sz="600" b="1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Predictive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586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Error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Recovery</a:t>
            </a:r>
            <a:r>
              <a:rPr sz="1100" spc="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Strategies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675" y="1321306"/>
            <a:ext cx="2430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585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Error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Recovery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in</a:t>
            </a:r>
            <a:r>
              <a:rPr sz="1100" spc="5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Predictive</a:t>
            </a:r>
            <a:r>
              <a:rPr sz="1100" spc="5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4675" y="1723553"/>
            <a:ext cx="1567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112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Shift/Reduce</a:t>
            </a:r>
            <a:r>
              <a:rPr sz="1100" spc="1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Conflicts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055" y="2125801"/>
            <a:ext cx="1795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Precedence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Associativity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7-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80" y="10541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7-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05" y="13779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8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" y="15367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8-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19875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8-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14097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9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13779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9-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080" y="11557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9-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05" y="140970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(1488) LL(1) Grammar and Error Recovery in Predictive Parsing Table - 0-10-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188595"/>
            <a:ext cx="4610100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744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</a:t>
            </a:r>
            <a:r>
              <a:rPr sz="600" b="1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Predictive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0" dirty="0"/>
              <a:t>Error</a:t>
            </a:r>
            <a:r>
              <a:rPr spc="204" dirty="0"/>
              <a:t> </a:t>
            </a:r>
            <a:r>
              <a:rPr spc="65" dirty="0"/>
              <a:t>Recovery</a:t>
            </a:r>
            <a:r>
              <a:rPr spc="210" dirty="0"/>
              <a:t> </a:t>
            </a:r>
            <a:r>
              <a:rPr dirty="0"/>
              <a:t>in</a:t>
            </a:r>
            <a:r>
              <a:rPr spc="204" dirty="0"/>
              <a:t> </a:t>
            </a:r>
            <a:r>
              <a:rPr spc="70" dirty="0"/>
              <a:t>Predictive</a:t>
            </a:r>
            <a:r>
              <a:rPr spc="210" dirty="0"/>
              <a:t> </a:t>
            </a:r>
            <a:r>
              <a:rPr spc="50" dirty="0"/>
              <a:t>Parsing</a:t>
            </a:r>
            <a:endParaRPr spc="50" dirty="0"/>
          </a:p>
        </p:txBody>
      </p:sp>
      <p:sp>
        <p:nvSpPr>
          <p:cNvPr id="5" name="object 5"/>
          <p:cNvSpPr txBox="1"/>
          <p:nvPr/>
        </p:nvSpPr>
        <p:spPr>
          <a:xfrm>
            <a:off x="136309" y="1310841"/>
            <a:ext cx="4335780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3000"/>
              </a:lnSpc>
              <a:spcBef>
                <a:spcPts val="55"/>
              </a:spcBef>
            </a:pP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5" dirty="0"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detected</a:t>
            </a:r>
            <a:r>
              <a:rPr sz="11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during</a:t>
            </a:r>
            <a:r>
              <a:rPr sz="11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predictive</a:t>
            </a:r>
            <a:r>
              <a:rPr sz="1100" b="1" spc="2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parsing</a:t>
            </a:r>
            <a:r>
              <a:rPr sz="11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when</a:t>
            </a:r>
            <a:r>
              <a:rPr sz="1100" b="1" spc="2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25" dirty="0"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terminal</a:t>
            </a:r>
            <a:r>
              <a:rPr sz="11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top</a:t>
            </a:r>
            <a:r>
              <a:rPr sz="11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does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5" dirty="0">
                <a:latin typeface="Palatino Linotype" panose="02040502050505030304"/>
                <a:cs typeface="Palatino Linotype" panose="02040502050505030304"/>
              </a:rPr>
              <a:t>match</a:t>
            </a:r>
            <a:r>
              <a:rPr sz="11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65" dirty="0">
                <a:latin typeface="Palatino Linotype" panose="02040502050505030304"/>
                <a:cs typeface="Palatino Linotype" panose="02040502050505030304"/>
              </a:rPr>
              <a:t>next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10" dirty="0">
                <a:latin typeface="Palatino Linotype" panose="02040502050505030304"/>
                <a:cs typeface="Palatino Linotype" panose="02040502050505030304"/>
              </a:rPr>
              <a:t>input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symbol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or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when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nonterminal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i="1" spc="2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top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b="1" spc="2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stack,</a:t>
            </a:r>
            <a:r>
              <a:rPr sz="1100" b="1" spc="2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i="1" spc="2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b="1" spc="2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25" dirty="0">
                <a:latin typeface="Palatino Linotype" panose="02040502050505030304"/>
                <a:cs typeface="Palatino Linotype" panose="02040502050505030304"/>
              </a:rPr>
              <a:t>the </a:t>
            </a:r>
            <a:r>
              <a:rPr sz="1100" b="1" spc="65" dirty="0">
                <a:latin typeface="Palatino Linotype" panose="02040502050505030304"/>
                <a:cs typeface="Palatino Linotype" panose="02040502050505030304"/>
              </a:rPr>
              <a:t>next</a:t>
            </a:r>
            <a:r>
              <a:rPr sz="11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input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symbol,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100" i="1" spc="-1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[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;</a:t>
            </a:r>
            <a:r>
              <a:rPr sz="1100" spc="-5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]</a:t>
            </a:r>
            <a:r>
              <a:rPr sz="1100" spc="229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5" dirty="0"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b="1" spc="2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5" dirty="0">
                <a:latin typeface="Palatino Linotype" panose="02040502050505030304"/>
                <a:cs typeface="Palatino Linotype" panose="02040502050505030304"/>
              </a:rPr>
              <a:t>(i.e.,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b="1" spc="229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parsing-</a:t>
            </a:r>
            <a:r>
              <a:rPr sz="1100" b="1" spc="-10" dirty="0">
                <a:latin typeface="Palatino Linotype" panose="02040502050505030304"/>
                <a:cs typeface="Palatino Linotype" panose="02040502050505030304"/>
              </a:rPr>
              <a:t>table </a:t>
            </a: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entry</a:t>
            </a:r>
            <a:r>
              <a:rPr sz="1100" b="1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b="1" spc="1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empty).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5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744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</a:t>
            </a:r>
            <a:r>
              <a:rPr sz="600" b="1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Predictive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0" dirty="0"/>
              <a:t>Error</a:t>
            </a:r>
            <a:r>
              <a:rPr spc="204" dirty="0"/>
              <a:t> </a:t>
            </a:r>
            <a:r>
              <a:rPr spc="65" dirty="0"/>
              <a:t>Recovery</a:t>
            </a:r>
            <a:r>
              <a:rPr spc="210" dirty="0"/>
              <a:t> </a:t>
            </a:r>
            <a:r>
              <a:rPr spc="60" dirty="0"/>
              <a:t>Strategies</a:t>
            </a:r>
            <a:r>
              <a:rPr spc="210" dirty="0"/>
              <a:t> </a:t>
            </a:r>
            <a:r>
              <a:rPr dirty="0"/>
              <a:t>in</a:t>
            </a:r>
            <a:r>
              <a:rPr spc="210" dirty="0"/>
              <a:t> </a:t>
            </a:r>
            <a:r>
              <a:rPr spc="70" dirty="0"/>
              <a:t>Predictive</a:t>
            </a:r>
            <a:r>
              <a:rPr spc="210" dirty="0"/>
              <a:t> </a:t>
            </a:r>
            <a:r>
              <a:rPr spc="50" dirty="0"/>
              <a:t>Parsing</a:t>
            </a:r>
            <a:endParaRPr spc="50" dirty="0"/>
          </a:p>
        </p:txBody>
      </p:sp>
      <p:sp>
        <p:nvSpPr>
          <p:cNvPr id="5" name="object 5"/>
          <p:cNvSpPr txBox="1"/>
          <p:nvPr/>
        </p:nvSpPr>
        <p:spPr>
          <a:xfrm>
            <a:off x="125844" y="709954"/>
            <a:ext cx="861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50" dirty="0">
                <a:latin typeface="Palatino Linotype" panose="02040502050505030304"/>
                <a:cs typeface="Palatino Linotype" panose="02040502050505030304"/>
              </a:rPr>
              <a:t>Panic</a:t>
            </a:r>
            <a:r>
              <a:rPr sz="1100" b="1" spc="1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spc="-20" dirty="0">
                <a:latin typeface="Palatino Linotype" panose="02040502050505030304"/>
                <a:cs typeface="Palatino Linotype" panose="02040502050505030304"/>
              </a:rPr>
              <a:t>Mode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796" y="974185"/>
            <a:ext cx="114103" cy="11410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5808" y="961268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1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919986"/>
            <a:ext cx="4056379" cy="20643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5090" algn="just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Place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all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symbols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FOLLOW</a:t>
            </a:r>
            <a:r>
              <a:rPr sz="1100" i="1" spc="-7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8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(</a:t>
            </a:r>
            <a:r>
              <a:rPr sz="1100" i="1" spc="8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spc="8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)</a:t>
            </a:r>
            <a:r>
              <a:rPr sz="1100" spc="5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synchronizing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set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for nonterminal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spc="80" dirty="0">
                <a:latin typeface="Palatino Linotype" panose="02040502050505030304"/>
                <a:cs typeface="Palatino Linotype" panose="02040502050505030304"/>
              </a:rPr>
              <a:t>.</a:t>
            </a:r>
            <a:r>
              <a:rPr sz="1100" spc="1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Skip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until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element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FOLLOW</a:t>
            </a:r>
            <a:r>
              <a:rPr sz="1100" i="1" spc="-7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8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(</a:t>
            </a:r>
            <a:r>
              <a:rPr sz="1100" i="1" spc="8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spc="8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)</a:t>
            </a:r>
            <a:r>
              <a:rPr sz="1100" spc="3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is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seen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pop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i="1" spc="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from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stack.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algn="just">
              <a:lnSpc>
                <a:spcPct val="100000"/>
              </a:lnSpc>
              <a:spcBef>
                <a:spcPts val="335"/>
              </a:spcBef>
            </a:pP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Additional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symbols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such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delimiters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synchronizing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set.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647065">
              <a:lnSpc>
                <a:spcPct val="103000"/>
              </a:lnSpc>
              <a:spcBef>
                <a:spcPts val="300"/>
              </a:spcBef>
            </a:pP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Add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symbols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1100" i="1" spc="-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8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(</a:t>
            </a:r>
            <a:r>
              <a:rPr sz="1100" i="1" spc="8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spc="8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)</a:t>
            </a:r>
            <a:r>
              <a:rPr sz="1100" spc="5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synchronizing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set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for nonterminal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256540">
              <a:lnSpc>
                <a:spcPct val="103000"/>
              </a:lnSpc>
              <a:spcBef>
                <a:spcPts val="29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nonterminal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b="1" dirty="0">
                <a:latin typeface="Palatino Linotype" panose="02040502050505030304"/>
                <a:cs typeface="Palatino Linotype" panose="02040502050505030304"/>
              </a:rPr>
              <a:t>nullable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ϵ</a:t>
            </a:r>
            <a:r>
              <a:rPr sz="1100" i="1" spc="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uses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as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a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default.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3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terminal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top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stack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cannot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matched,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simple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idea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pop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terminal,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issue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message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saying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terminal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was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inserted,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continue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796" y="1528384"/>
            <a:ext cx="114103" cy="1141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5808" y="1515458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2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796" y="1738410"/>
            <a:ext cx="114103" cy="11410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5808" y="172496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3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796" y="2120519"/>
            <a:ext cx="114103" cy="11410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45808" y="2107862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4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796" y="2502627"/>
            <a:ext cx="114103" cy="11410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45808" y="2489179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5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744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</a:t>
            </a:r>
            <a:r>
              <a:rPr sz="600" b="1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Predictive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963676"/>
            <a:ext cx="4483735" cy="1853564"/>
            <a:chOff x="87743" y="963676"/>
            <a:chExt cx="4483735" cy="185356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9324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15247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02547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63676"/>
              <a:ext cx="50800" cy="17515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37513"/>
              <a:ext cx="4432935" cy="1628775"/>
            </a:xfrm>
            <a:custGeom>
              <a:avLst/>
              <a:gdLst/>
              <a:ahLst/>
              <a:cxnLst/>
              <a:rect l="l" t="t" r="r" b="b"/>
              <a:pathLst>
                <a:path w="4432935" h="1628775">
                  <a:moveTo>
                    <a:pt x="4432567" y="0"/>
                  </a:moveTo>
                  <a:lnTo>
                    <a:pt x="0" y="0"/>
                  </a:lnTo>
                  <a:lnTo>
                    <a:pt x="0" y="1577733"/>
                  </a:lnTo>
                  <a:lnTo>
                    <a:pt x="4008" y="1597458"/>
                  </a:lnTo>
                  <a:lnTo>
                    <a:pt x="14922" y="1613611"/>
                  </a:lnTo>
                  <a:lnTo>
                    <a:pt x="31075" y="1624525"/>
                  </a:lnTo>
                  <a:lnTo>
                    <a:pt x="50800" y="1628534"/>
                  </a:lnTo>
                  <a:lnTo>
                    <a:pt x="4381767" y="1628534"/>
                  </a:lnTo>
                  <a:lnTo>
                    <a:pt x="4401492" y="1624525"/>
                  </a:lnTo>
                  <a:lnTo>
                    <a:pt x="4417644" y="1613611"/>
                  </a:lnTo>
                  <a:lnTo>
                    <a:pt x="4428558" y="1597458"/>
                  </a:lnTo>
                  <a:lnTo>
                    <a:pt x="4432567" y="157773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001776"/>
              <a:ext cx="0" cy="1732914"/>
            </a:xfrm>
            <a:custGeom>
              <a:avLst/>
              <a:gdLst/>
              <a:ahLst/>
              <a:cxnLst/>
              <a:rect l="l" t="t" r="r" b="b"/>
              <a:pathLst>
                <a:path h="1732914">
                  <a:moveTo>
                    <a:pt x="0" y="17325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9890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9763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9636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191247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144" y="863445"/>
            <a:ext cx="2851785" cy="15875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02260">
              <a:lnSpc>
                <a:spcPct val="100000"/>
              </a:lnSpc>
              <a:spcBef>
                <a:spcPts val="3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Let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893570">
              <a:lnSpc>
                <a:spcPct val="100000"/>
              </a:lnSpc>
              <a:spcBef>
                <a:spcPts val="1130"/>
              </a:spcBef>
            </a:pP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100" i="1" spc="1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200" i="1" spc="142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endParaRPr sz="1200" baseline="31000">
              <a:latin typeface="Times New Roman" panose="02020603050405020304"/>
              <a:cs typeface="Times New Roman" panose="02020603050405020304"/>
            </a:endParaRPr>
          </a:p>
          <a:p>
            <a:pPr marL="1903730" marR="48260" indent="-45720">
              <a:lnSpc>
                <a:spcPct val="125000"/>
              </a:lnSpc>
            </a:pPr>
            <a:r>
              <a:rPr sz="1100" i="1" spc="1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200" i="1" spc="179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25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+</a:t>
            </a:r>
            <a:r>
              <a:rPr sz="1100" spc="2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100" i="1" spc="17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spc="1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200" i="1" spc="179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25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ε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100" i="1" spc="1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7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100" i="1" spc="2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100" i="1" spc="-114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endParaRPr sz="1200" baseline="31000">
              <a:latin typeface="Times New Roman" panose="02020603050405020304"/>
              <a:cs typeface="Times New Roman" panose="02020603050405020304"/>
            </a:endParaRPr>
          </a:p>
          <a:p>
            <a:pPr marL="1895475" marR="43180" indent="-27940">
              <a:lnSpc>
                <a:spcPct val="125000"/>
              </a:lnSpc>
            </a:pP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100" i="1" spc="-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75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32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14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*</a:t>
            </a:r>
            <a:r>
              <a:rPr sz="1100" spc="3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100" i="1" spc="1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100" i="1" spc="-1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75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′</a:t>
            </a:r>
            <a:r>
              <a:rPr sz="1200" i="1" spc="232" baseline="31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ε 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100" i="1" spc="16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204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2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204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)</a:t>
            </a:r>
            <a:r>
              <a:rPr sz="1100" spc="2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3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id</a:t>
            </a:r>
            <a:endParaRPr sz="11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744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</a:t>
            </a:r>
            <a:r>
              <a:rPr sz="600" b="1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Predictive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803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1081760"/>
            <a:ext cx="4483735" cy="1558290"/>
            <a:chOff x="87743" y="1081760"/>
            <a:chExt cx="4483735" cy="15582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538107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226845"/>
              <a:ext cx="4432566" cy="506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525407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081760"/>
              <a:ext cx="50800" cy="14563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271104"/>
              <a:ext cx="4432935" cy="1318260"/>
            </a:xfrm>
            <a:custGeom>
              <a:avLst/>
              <a:gdLst/>
              <a:ahLst/>
              <a:cxnLst/>
              <a:rect l="l" t="t" r="r" b="b"/>
              <a:pathLst>
                <a:path w="4432935" h="1318260">
                  <a:moveTo>
                    <a:pt x="4432567" y="0"/>
                  </a:moveTo>
                  <a:lnTo>
                    <a:pt x="0" y="0"/>
                  </a:lnTo>
                  <a:lnTo>
                    <a:pt x="0" y="1267002"/>
                  </a:lnTo>
                  <a:lnTo>
                    <a:pt x="4008" y="1286727"/>
                  </a:lnTo>
                  <a:lnTo>
                    <a:pt x="14922" y="1302880"/>
                  </a:lnTo>
                  <a:lnTo>
                    <a:pt x="31075" y="1313794"/>
                  </a:lnTo>
                  <a:lnTo>
                    <a:pt x="50800" y="1317803"/>
                  </a:lnTo>
                  <a:lnTo>
                    <a:pt x="4381767" y="1317803"/>
                  </a:lnTo>
                  <a:lnTo>
                    <a:pt x="4401492" y="1313794"/>
                  </a:lnTo>
                  <a:lnTo>
                    <a:pt x="4417644" y="1302880"/>
                  </a:lnTo>
                  <a:lnTo>
                    <a:pt x="4428558" y="1286727"/>
                  </a:lnTo>
                  <a:lnTo>
                    <a:pt x="4432567" y="1267002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119860"/>
              <a:ext cx="0" cy="1437640"/>
            </a:xfrm>
            <a:custGeom>
              <a:avLst/>
              <a:gdLst/>
              <a:ahLst/>
              <a:cxnLst/>
              <a:rect l="l" t="t" r="r" b="b"/>
              <a:pathLst>
                <a:path h="1437639">
                  <a:moveTo>
                    <a:pt x="0" y="14372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1071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0944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108176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324851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844" y="981555"/>
            <a:ext cx="1419860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5080" indent="-277495">
              <a:lnSpc>
                <a:spcPct val="127000"/>
              </a:lnSpc>
              <a:spcBef>
                <a:spcPts val="10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(Parse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Table) Recall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65768" y="1446247"/>
          <a:ext cx="3030220" cy="1089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860"/>
                <a:gridCol w="661670"/>
                <a:gridCol w="576580"/>
                <a:gridCol w="799464"/>
              </a:tblGrid>
              <a:tr h="19177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Nonterminal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Nullable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55" dirty="0">
                          <a:latin typeface="Palatino Linotype" panose="02040502050505030304"/>
                          <a:cs typeface="Palatino Linotype" panose="02040502050505030304"/>
                        </a:rPr>
                        <a:t>FIRST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Palatino Linotype" panose="02040502050505030304"/>
                          <a:cs typeface="Palatino Linotype" panose="02040502050505030304"/>
                        </a:rPr>
                        <a:t>FOLLOW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i="1" spc="7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No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114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</a:t>
                      </a:r>
                      <a:r>
                        <a:rPr sz="1100" spc="114" dirty="0">
                          <a:solidFill>
                            <a:srgbClr val="0000CC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(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9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000CC"/>
                          </a:solidFill>
                          <a:latin typeface="Georgia" panose="02040502050405020303"/>
                          <a:cs typeface="Georgia" panose="02040502050405020303"/>
                        </a:rPr>
                        <a:t>id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$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35" dirty="0">
                          <a:solidFill>
                            <a:srgbClr val="0000CC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)</a:t>
                      </a:r>
                      <a:r>
                        <a:rPr sz="1100" spc="13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795"/>
                        </a:lnSpc>
                      </a:pPr>
                      <a:r>
                        <a:rPr sz="1650" i="1" spc="142" baseline="-20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r>
                        <a:rPr sz="800" i="1" spc="9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Yes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11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</a:t>
                      </a:r>
                      <a:r>
                        <a:rPr sz="1100" spc="11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+</a:t>
                      </a:r>
                      <a:r>
                        <a:rPr sz="1100" spc="11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$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35" dirty="0">
                          <a:solidFill>
                            <a:srgbClr val="0000CC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)</a:t>
                      </a:r>
                      <a:r>
                        <a:rPr sz="1100" spc="13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R="11430" algn="ctr">
                        <a:lnSpc>
                          <a:spcPts val="1190"/>
                        </a:lnSpc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No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114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</a:t>
                      </a:r>
                      <a:r>
                        <a:rPr sz="1100" spc="114" dirty="0">
                          <a:solidFill>
                            <a:srgbClr val="0000CC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(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9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000CC"/>
                          </a:solidFill>
                          <a:latin typeface="Georgia" panose="02040502050405020303"/>
                          <a:cs typeface="Georgia" panose="02040502050405020303"/>
                        </a:rPr>
                        <a:t>id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$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3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14" dirty="0">
                          <a:solidFill>
                            <a:srgbClr val="0000CC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)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3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+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790"/>
                        </a:lnSpc>
                      </a:pPr>
                      <a:r>
                        <a:rPr sz="1650" i="1" baseline="-20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r>
                        <a:rPr sz="1650" i="1" spc="-157" baseline="-20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8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Yes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6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{∗}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$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3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14" dirty="0">
                          <a:solidFill>
                            <a:srgbClr val="0000CC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)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3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+</a:t>
                      </a:r>
                      <a:r>
                        <a:rPr sz="1100" spc="12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marR="11430" algn="ctr">
                        <a:lnSpc>
                          <a:spcPts val="1190"/>
                        </a:lnSpc>
                      </a:pPr>
                      <a:r>
                        <a:rPr sz="1100" i="1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Palatino Linotype" panose="02040502050505030304"/>
                          <a:cs typeface="Palatino Linotype" panose="02040502050505030304"/>
                        </a:rPr>
                        <a:t>No</a:t>
                      </a:r>
                      <a:endParaRPr sz="11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114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</a:t>
                      </a:r>
                      <a:r>
                        <a:rPr sz="1100" spc="114" dirty="0">
                          <a:solidFill>
                            <a:srgbClr val="0000CC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(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9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000CC"/>
                          </a:solidFill>
                          <a:latin typeface="Georgia" panose="02040502050405020303"/>
                          <a:cs typeface="Georgia" panose="02040502050405020303"/>
                        </a:rPr>
                        <a:t>id</a:t>
                      </a:r>
                      <a:r>
                        <a:rPr sz="1100" spc="-25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5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{∗</a:t>
                      </a:r>
                      <a:r>
                        <a:rPr sz="1100" i="1" spc="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9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$</a:t>
                      </a:r>
                      <a:r>
                        <a:rPr sz="11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8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14" dirty="0">
                          <a:solidFill>
                            <a:srgbClr val="0000CC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)</a:t>
                      </a:r>
                      <a:r>
                        <a:rPr sz="1100" i="1" spc="114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1100" i="1" spc="-8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110" dirty="0">
                          <a:solidFill>
                            <a:srgbClr val="0000CC"/>
                          </a:solidFill>
                          <a:latin typeface="Book Antiqua" panose="02040602050305030304"/>
                          <a:cs typeface="Book Antiqua" panose="02040602050305030304"/>
                        </a:rPr>
                        <a:t>+</a:t>
                      </a:r>
                      <a:r>
                        <a:rPr sz="1100" spc="110" dirty="0">
                          <a:solidFill>
                            <a:srgbClr val="0000CC"/>
                          </a:solidFill>
                          <a:latin typeface="Cambria" panose="02040503050406030204"/>
                          <a:cs typeface="Cambria" panose="02040503050406030204"/>
                        </a:rPr>
                        <a:t>}</a:t>
                      </a:r>
                      <a:endParaRPr sz="11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744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</a:t>
            </a:r>
            <a:r>
              <a:rPr sz="600" b="1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Predictive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803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162124"/>
            <a:ext cx="1419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(Parse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Table)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743" y="1215580"/>
            <a:ext cx="4483735" cy="1223645"/>
            <a:chOff x="87743" y="1215580"/>
            <a:chExt cx="4483735" cy="122364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337384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360665"/>
              <a:ext cx="4432566" cy="506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324684"/>
              <a:ext cx="4381767" cy="1143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215580"/>
              <a:ext cx="50800" cy="1121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743" y="1404927"/>
              <a:ext cx="4432935" cy="983615"/>
            </a:xfrm>
            <a:custGeom>
              <a:avLst/>
              <a:gdLst/>
              <a:ahLst/>
              <a:cxnLst/>
              <a:rect l="l" t="t" r="r" b="b"/>
              <a:pathLst>
                <a:path w="4432935" h="983614">
                  <a:moveTo>
                    <a:pt x="4432567" y="0"/>
                  </a:moveTo>
                  <a:lnTo>
                    <a:pt x="0" y="0"/>
                  </a:lnTo>
                  <a:lnTo>
                    <a:pt x="0" y="932456"/>
                  </a:lnTo>
                  <a:lnTo>
                    <a:pt x="4008" y="952181"/>
                  </a:lnTo>
                  <a:lnTo>
                    <a:pt x="14922" y="968334"/>
                  </a:lnTo>
                  <a:lnTo>
                    <a:pt x="31075" y="979248"/>
                  </a:lnTo>
                  <a:lnTo>
                    <a:pt x="50800" y="983257"/>
                  </a:lnTo>
                  <a:lnTo>
                    <a:pt x="4381767" y="983257"/>
                  </a:lnTo>
                  <a:lnTo>
                    <a:pt x="4401492" y="979248"/>
                  </a:lnTo>
                  <a:lnTo>
                    <a:pt x="4417644" y="968334"/>
                  </a:lnTo>
                  <a:lnTo>
                    <a:pt x="4428558" y="952181"/>
                  </a:lnTo>
                  <a:lnTo>
                    <a:pt x="4432567" y="93245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253680"/>
              <a:ext cx="0" cy="1102995"/>
            </a:xfrm>
            <a:custGeom>
              <a:avLst/>
              <a:gdLst/>
              <a:ahLst/>
              <a:cxnLst/>
              <a:rect l="l" t="t" r="r" b="b"/>
              <a:pathLst>
                <a:path h="1102995">
                  <a:moveTo>
                    <a:pt x="0" y="11027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2409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12282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20311" y="121558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38541" y="1442907"/>
          <a:ext cx="4411345" cy="895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085"/>
                <a:gridCol w="817244"/>
                <a:gridCol w="792479"/>
                <a:gridCol w="707390"/>
                <a:gridCol w="520064"/>
                <a:gridCol w="675639"/>
                <a:gridCol w="520064"/>
              </a:tblGrid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965"/>
                        </a:lnSpc>
                      </a:pPr>
                      <a:r>
                        <a:rPr sz="900" spc="-50" dirty="0">
                          <a:latin typeface="Century Gothic" panose="020B0502020202020204"/>
                          <a:cs typeface="Century Gothic" panose="020B0502020202020204"/>
                        </a:rPr>
                        <a:t>+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30" dirty="0">
                          <a:latin typeface="Century Gothic" panose="020B0502020202020204"/>
                          <a:cs typeface="Century Gothic" panose="020B0502020202020204"/>
                        </a:rPr>
                        <a:t>*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(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)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25" dirty="0">
                          <a:solidFill>
                            <a:srgbClr val="0000C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id</a:t>
                      </a:r>
                      <a:endParaRPr sz="9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50" dirty="0">
                          <a:latin typeface="Palatino Linotype" panose="02040502050505030304"/>
                          <a:cs typeface="Palatino Linotype" panose="02040502050505030304"/>
                        </a:rPr>
                        <a:t>$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38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i="1" spc="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i="1" spc="6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7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04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i="1" spc="6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7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04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 marL="78105">
                        <a:lnSpc>
                          <a:spcPts val="585"/>
                        </a:lnSpc>
                      </a:pPr>
                      <a:r>
                        <a:rPr sz="1350" i="1" spc="104" baseline="-25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600" i="1" spc="7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965"/>
                        </a:lnSpc>
                      </a:pPr>
                      <a:r>
                        <a:rPr sz="900" i="1" spc="9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4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3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spc="-85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+</a:t>
                      </a:r>
                      <a:r>
                        <a:rPr sz="900" spc="10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7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04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9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4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9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4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 marL="99060">
                        <a:lnSpc>
                          <a:spcPts val="96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3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3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 marL="81915">
                        <a:lnSpc>
                          <a:spcPts val="585"/>
                        </a:lnSpc>
                      </a:pPr>
                      <a:r>
                        <a:rPr sz="1350" i="1" spc="-15" baseline="-25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350" i="1" spc="-217" baseline="-25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600" i="1" spc="2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965"/>
                        </a:lnSpc>
                      </a:pP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11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11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spc="80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*</a:t>
                      </a:r>
                      <a:r>
                        <a:rPr sz="900" spc="15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3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11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11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 marL="95885">
                        <a:lnSpc>
                          <a:spcPts val="96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spc="130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(</a:t>
                      </a:r>
                      <a:r>
                        <a:rPr sz="900" spc="15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 </a:t>
                      </a:r>
                      <a:r>
                        <a:rPr sz="900" i="1" spc="6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spc="80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)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3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spc="-25" dirty="0">
                          <a:solidFill>
                            <a:srgbClr val="0000C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id</a:t>
                      </a:r>
                      <a:endParaRPr sz="9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744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</a:t>
            </a:r>
            <a:r>
              <a:rPr sz="600" b="1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Predictive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803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135035"/>
            <a:ext cx="2703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(Parse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Table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with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Error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Recovery)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743" y="1188478"/>
            <a:ext cx="4483735" cy="1291590"/>
            <a:chOff x="87743" y="1188478"/>
            <a:chExt cx="4483735" cy="12915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333563"/>
              <a:ext cx="4432566" cy="506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378024"/>
              <a:ext cx="101600" cy="101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365324"/>
              <a:ext cx="4381767" cy="1143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188478"/>
              <a:ext cx="50800" cy="11895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743" y="1377830"/>
              <a:ext cx="4432935" cy="1051560"/>
            </a:xfrm>
            <a:custGeom>
              <a:avLst/>
              <a:gdLst/>
              <a:ahLst/>
              <a:cxnLst/>
              <a:rect l="l" t="t" r="r" b="b"/>
              <a:pathLst>
                <a:path w="4432935" h="1051560">
                  <a:moveTo>
                    <a:pt x="4432567" y="0"/>
                  </a:moveTo>
                  <a:lnTo>
                    <a:pt x="0" y="0"/>
                  </a:lnTo>
                  <a:lnTo>
                    <a:pt x="0" y="1000193"/>
                  </a:lnTo>
                  <a:lnTo>
                    <a:pt x="4008" y="1019918"/>
                  </a:lnTo>
                  <a:lnTo>
                    <a:pt x="14922" y="1036071"/>
                  </a:lnTo>
                  <a:lnTo>
                    <a:pt x="31075" y="1046985"/>
                  </a:lnTo>
                  <a:lnTo>
                    <a:pt x="50800" y="1050993"/>
                  </a:lnTo>
                  <a:lnTo>
                    <a:pt x="4381767" y="1050993"/>
                  </a:lnTo>
                  <a:lnTo>
                    <a:pt x="4401492" y="1046985"/>
                  </a:lnTo>
                  <a:lnTo>
                    <a:pt x="4417644" y="1036071"/>
                  </a:lnTo>
                  <a:lnTo>
                    <a:pt x="4428558" y="1019918"/>
                  </a:lnTo>
                  <a:lnTo>
                    <a:pt x="4432567" y="100019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226583"/>
              <a:ext cx="0" cy="1170940"/>
            </a:xfrm>
            <a:custGeom>
              <a:avLst/>
              <a:gdLst/>
              <a:ahLst/>
              <a:cxnLst/>
              <a:rect l="l" t="t" r="r" b="b"/>
              <a:pathLst>
                <a:path h="1170939">
                  <a:moveTo>
                    <a:pt x="0" y="11704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2138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12011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20311" y="11884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403159"/>
              <a:ext cx="65201" cy="65201"/>
            </a:xfrm>
            <a:prstGeom prst="rect">
              <a:avLst/>
            </a:prstGeom>
          </p:spPr>
        </p:pic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38541" y="1483547"/>
          <a:ext cx="4411345" cy="895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085"/>
                <a:gridCol w="817244"/>
                <a:gridCol w="792479"/>
                <a:gridCol w="707390"/>
                <a:gridCol w="520064"/>
                <a:gridCol w="675639"/>
                <a:gridCol w="520064"/>
              </a:tblGrid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965"/>
                        </a:lnSpc>
                      </a:pPr>
                      <a:r>
                        <a:rPr sz="900" spc="-50" dirty="0">
                          <a:latin typeface="Century Gothic" panose="020B0502020202020204"/>
                          <a:cs typeface="Century Gothic" panose="020B0502020202020204"/>
                        </a:rPr>
                        <a:t>+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30" dirty="0">
                          <a:latin typeface="Century Gothic" panose="020B0502020202020204"/>
                          <a:cs typeface="Century Gothic" panose="020B0502020202020204"/>
                        </a:rPr>
                        <a:t>*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(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80" dirty="0">
                          <a:latin typeface="Century Gothic" panose="020B0502020202020204"/>
                          <a:cs typeface="Century Gothic" panose="020B0502020202020204"/>
                        </a:rPr>
                        <a:t>)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25" dirty="0">
                          <a:solidFill>
                            <a:srgbClr val="0000C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id</a:t>
                      </a:r>
                      <a:endParaRPr sz="9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50" dirty="0">
                          <a:latin typeface="Palatino Linotype" panose="02040502050505030304"/>
                          <a:cs typeface="Palatino Linotype" panose="02040502050505030304"/>
                        </a:rPr>
                        <a:t>$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938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i="1" spc="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i="1" spc="6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7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04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i="1" spc="6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7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04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 marL="78105">
                        <a:lnSpc>
                          <a:spcPts val="585"/>
                        </a:lnSpc>
                      </a:pPr>
                      <a:r>
                        <a:rPr sz="1350" i="1" spc="104" baseline="-25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600" i="1" spc="7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965"/>
                        </a:lnSpc>
                      </a:pPr>
                      <a:r>
                        <a:rPr sz="900" i="1" spc="9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4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3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spc="-85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+</a:t>
                      </a:r>
                      <a:r>
                        <a:rPr sz="900" spc="10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14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7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04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9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4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9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14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3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 marL="99060">
                        <a:lnSpc>
                          <a:spcPts val="96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965"/>
                        </a:lnSpc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3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3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 marL="81915">
                        <a:lnSpc>
                          <a:spcPts val="585"/>
                        </a:lnSpc>
                      </a:pPr>
                      <a:r>
                        <a:rPr sz="1350" i="1" spc="-15" baseline="-25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1350" i="1" spc="-217" baseline="-2500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600" i="1" spc="2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965"/>
                        </a:lnSpc>
                      </a:pP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11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11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spc="80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*</a:t>
                      </a:r>
                      <a:r>
                        <a:rPr sz="900" spc="15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2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3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endParaRPr sz="900" baseline="37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11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spc="-1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T</a:t>
                      </a:r>
                      <a:r>
                        <a:rPr sz="900" i="1" spc="-14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spc="112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′</a:t>
                      </a:r>
                      <a:r>
                        <a:rPr sz="900" i="1" spc="247" baseline="37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ε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 marL="95885">
                        <a:lnSpc>
                          <a:spcPts val="965"/>
                        </a:lnSpc>
                      </a:pPr>
                      <a:r>
                        <a:rPr sz="900" i="1" spc="-5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endParaRPr sz="900">
                        <a:latin typeface="Bookman Old Style" panose="02050604050505020204"/>
                        <a:cs typeface="Bookman Old Style" panose="02050604050505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965"/>
                        </a:lnSpc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2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4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spc="130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(</a:t>
                      </a:r>
                      <a:r>
                        <a:rPr sz="900" spc="15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 </a:t>
                      </a:r>
                      <a:r>
                        <a:rPr sz="900" i="1" spc="6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E</a:t>
                      </a:r>
                      <a:r>
                        <a:rPr sz="900" i="1" spc="45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spc="80" dirty="0">
                          <a:solidFill>
                            <a:srgbClr val="0000CC"/>
                          </a:solidFill>
                          <a:latin typeface="Century Gothic" panose="020B0502020202020204"/>
                          <a:cs typeface="Century Gothic" panose="020B0502020202020204"/>
                        </a:rPr>
                        <a:t>)</a:t>
                      </a:r>
                      <a:endParaRPr sz="900">
                        <a:latin typeface="Century Gothic" panose="020B0502020202020204"/>
                        <a:cs typeface="Century Gothic" panose="020B0502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F</a:t>
                      </a:r>
                      <a:r>
                        <a:rPr sz="900" i="1" spc="130" dirty="0">
                          <a:solidFill>
                            <a:srgbClr val="0000CC"/>
                          </a:solidFill>
                          <a:latin typeface="Bookman Old Style" panose="02050604050505020204"/>
                          <a:cs typeface="Bookman Old Style" panose="02050604050505020204"/>
                        </a:rPr>
                        <a:t> </a:t>
                      </a:r>
                      <a:r>
                        <a:rPr sz="900" i="1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900" i="1" spc="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900" spc="-25" dirty="0">
                          <a:solidFill>
                            <a:srgbClr val="0000C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id</a:t>
                      </a:r>
                      <a:endParaRPr sz="9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spc="-20" dirty="0">
                          <a:latin typeface="Palatino Linotype" panose="02040502050505030304"/>
                          <a:cs typeface="Palatino Linotype" panose="02040502050505030304"/>
                        </a:rPr>
                        <a:t>sync</a:t>
                      </a:r>
                      <a:endParaRPr sz="9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744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Error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Recovery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in</a:t>
            </a:r>
            <a:r>
              <a:rPr sz="600" b="1" spc="21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Predictive</a:t>
            </a:r>
            <a:r>
              <a:rPr sz="600" b="1" spc="2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Parsing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016278" y="458030"/>
            <a:ext cx="2648585" cy="145415"/>
            <a:chOff x="1016278" y="458030"/>
            <a:chExt cx="2648585" cy="145415"/>
          </a:xfrm>
        </p:grpSpPr>
        <p:sp>
          <p:nvSpPr>
            <p:cNvPr id="6" name="object 6"/>
            <p:cNvSpPr/>
            <p:nvPr/>
          </p:nvSpPr>
          <p:spPr>
            <a:xfrm>
              <a:off x="1016278" y="460773"/>
              <a:ext cx="2648585" cy="22225"/>
            </a:xfrm>
            <a:custGeom>
              <a:avLst/>
              <a:gdLst/>
              <a:ahLst/>
              <a:cxnLst/>
              <a:rect l="l" t="t" r="r" b="b"/>
              <a:pathLst>
                <a:path w="2648585" h="22225">
                  <a:moveTo>
                    <a:pt x="0" y="0"/>
                  </a:moveTo>
                  <a:lnTo>
                    <a:pt x="2648559" y="0"/>
                  </a:lnTo>
                </a:path>
                <a:path w="2648585" h="22225">
                  <a:moveTo>
                    <a:pt x="0" y="21945"/>
                  </a:moveTo>
                  <a:lnTo>
                    <a:pt x="2648559" y="21945"/>
                  </a:lnTo>
                </a:path>
              </a:pathLst>
            </a:custGeom>
            <a:ln w="5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1718" y="519752"/>
              <a:ext cx="123443" cy="836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3790" y="536211"/>
              <a:ext cx="207111" cy="658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9113" y="522495"/>
              <a:ext cx="315468" cy="795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4388" y="522495"/>
              <a:ext cx="229057" cy="809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1674" y="536211"/>
              <a:ext cx="211226" cy="65836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016278" y="655541"/>
            <a:ext cx="2648585" cy="1884680"/>
            <a:chOff x="1016278" y="655541"/>
            <a:chExt cx="2648585" cy="1884680"/>
          </a:xfrm>
        </p:grpSpPr>
        <p:sp>
          <p:nvSpPr>
            <p:cNvPr id="13" name="object 13"/>
            <p:cNvSpPr/>
            <p:nvPr/>
          </p:nvSpPr>
          <p:spPr>
            <a:xfrm>
              <a:off x="1016278" y="658284"/>
              <a:ext cx="2648585" cy="0"/>
            </a:xfrm>
            <a:custGeom>
              <a:avLst/>
              <a:gdLst/>
              <a:ahLst/>
              <a:cxnLst/>
              <a:rect l="l" t="t" r="r" b="b"/>
              <a:pathLst>
                <a:path w="2648585">
                  <a:moveTo>
                    <a:pt x="0" y="0"/>
                  </a:moveTo>
                  <a:lnTo>
                    <a:pt x="2648559" y="0"/>
                  </a:lnTo>
                </a:path>
              </a:pathLst>
            </a:custGeom>
            <a:ln w="5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6086" y="672000"/>
              <a:ext cx="161848" cy="9189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7439" y="672000"/>
              <a:ext cx="26060" cy="1124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4648" y="676115"/>
              <a:ext cx="28803" cy="809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1681" y="677486"/>
              <a:ext cx="142646" cy="795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676115"/>
              <a:ext cx="139903" cy="8915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672000"/>
              <a:ext cx="142646" cy="9189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43016" y="704918"/>
              <a:ext cx="264718" cy="1892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54369" y="677486"/>
              <a:ext cx="190652" cy="10149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4399" y="672000"/>
              <a:ext cx="26060" cy="11247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6086" y="809160"/>
              <a:ext cx="161848" cy="9189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4648" y="813275"/>
              <a:ext cx="28803" cy="809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1681" y="814646"/>
              <a:ext cx="142646" cy="7955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813275"/>
              <a:ext cx="139903" cy="8915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809160"/>
              <a:ext cx="142646" cy="918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81421" y="814646"/>
              <a:ext cx="64465" cy="795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89777" y="817389"/>
              <a:ext cx="68580" cy="7818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03620" y="817389"/>
              <a:ext cx="87782" cy="7680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36665" y="809160"/>
              <a:ext cx="327812" cy="11247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75450" y="809160"/>
              <a:ext cx="117957" cy="11247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90872" y="951806"/>
              <a:ext cx="75437" cy="7818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5911" y="944948"/>
              <a:ext cx="108356" cy="850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944948"/>
              <a:ext cx="42519" cy="9189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4648" y="949063"/>
              <a:ext cx="28803" cy="809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1681" y="950435"/>
              <a:ext cx="142646" cy="795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949063"/>
              <a:ext cx="139903" cy="8915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944948"/>
              <a:ext cx="142646" cy="9189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70171" y="1088966"/>
              <a:ext cx="80924" cy="7818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7954" y="1082108"/>
              <a:ext cx="102869" cy="8503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1082108"/>
              <a:ext cx="108356" cy="8503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1082108"/>
              <a:ext cx="42519" cy="9189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4648" y="1086223"/>
              <a:ext cx="28803" cy="809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1681" y="1087595"/>
              <a:ext cx="142646" cy="7955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1086223"/>
              <a:ext cx="139903" cy="8915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1082108"/>
              <a:ext cx="142646" cy="9189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84014" y="1217897"/>
              <a:ext cx="102869" cy="8641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99228" y="1217897"/>
              <a:ext cx="168706" cy="9326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4648" y="1223383"/>
              <a:ext cx="28803" cy="8092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1681" y="1224755"/>
              <a:ext cx="142646" cy="7955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1223383"/>
              <a:ext cx="139903" cy="8915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1219268"/>
              <a:ext cx="142646" cy="9189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7954" y="1355057"/>
              <a:ext cx="102869" cy="8503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1355057"/>
              <a:ext cx="108356" cy="8503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1355057"/>
              <a:ext cx="42519" cy="9189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921808" y="1386603"/>
              <a:ext cx="42519" cy="4937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1359171"/>
              <a:ext cx="139903" cy="8915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1355057"/>
              <a:ext cx="142646" cy="9189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91990" y="1523763"/>
              <a:ext cx="42519" cy="4937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70171" y="1499075"/>
              <a:ext cx="80924" cy="7818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7954" y="1492217"/>
              <a:ext cx="102869" cy="8503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1492217"/>
              <a:ext cx="108356" cy="8503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1492217"/>
              <a:ext cx="42519" cy="9189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921808" y="1523763"/>
              <a:ext cx="42519" cy="4937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1496331"/>
              <a:ext cx="139903" cy="8915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1492217"/>
              <a:ext cx="142646" cy="9189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70171" y="1634863"/>
              <a:ext cx="80924" cy="7818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7954" y="1628005"/>
              <a:ext cx="102869" cy="8503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1628005"/>
              <a:ext cx="108356" cy="8503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1628005"/>
              <a:ext cx="42519" cy="9189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1632120"/>
              <a:ext cx="139903" cy="8915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1628005"/>
              <a:ext cx="142646" cy="9189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755741" y="1628005"/>
              <a:ext cx="146761" cy="11384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09360" y="1634863"/>
              <a:ext cx="94640" cy="10012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038290" y="1628005"/>
              <a:ext cx="101498" cy="11384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197396" y="1669153"/>
              <a:ext cx="74066" cy="3017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43016" y="1660923"/>
              <a:ext cx="283921" cy="19065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7954" y="1765165"/>
              <a:ext cx="102869" cy="8503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1765165"/>
              <a:ext cx="108356" cy="8503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1765165"/>
              <a:ext cx="42519" cy="9189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1769280"/>
              <a:ext cx="139903" cy="8915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1765165"/>
              <a:ext cx="142646" cy="9189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44388" y="1772023"/>
              <a:ext cx="80924" cy="7818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041033" y="1633491"/>
              <a:ext cx="551383" cy="23865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772200" y="1770651"/>
              <a:ext cx="223570" cy="8092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1902325"/>
              <a:ext cx="108356" cy="8503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1902325"/>
              <a:ext cx="42519" cy="91897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1906440"/>
              <a:ext cx="139903" cy="8915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1902325"/>
              <a:ext cx="142646" cy="9189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81144" y="2057316"/>
              <a:ext cx="74066" cy="7406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90872" y="2044971"/>
              <a:ext cx="75437" cy="7818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5911" y="2038113"/>
              <a:ext cx="108356" cy="85039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2038113"/>
              <a:ext cx="42519" cy="9189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04104" y="2042228"/>
              <a:ext cx="139903" cy="8915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2038113"/>
              <a:ext cx="142646" cy="9189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90872" y="2182131"/>
              <a:ext cx="75437" cy="78181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5911" y="2175273"/>
              <a:ext cx="108356" cy="85039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2175273"/>
              <a:ext cx="42519" cy="91897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5204" y="2179388"/>
              <a:ext cx="28803" cy="8092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2175273"/>
              <a:ext cx="142646" cy="9189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70171" y="2319291"/>
              <a:ext cx="80924" cy="78181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57954" y="2311062"/>
              <a:ext cx="102869" cy="8641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74540" y="2311062"/>
              <a:ext cx="108356" cy="8641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2312433"/>
              <a:ext cx="42519" cy="9189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5204" y="2316548"/>
              <a:ext cx="28803" cy="80924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2312433"/>
              <a:ext cx="142646" cy="9189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4908" y="2452336"/>
              <a:ext cx="28803" cy="80924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61942" y="2453708"/>
              <a:ext cx="64465" cy="79552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7954" y="2448222"/>
              <a:ext cx="102869" cy="85039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2448222"/>
              <a:ext cx="108356" cy="85039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2448222"/>
              <a:ext cx="42519" cy="9189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5204" y="2452336"/>
              <a:ext cx="28803" cy="80924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2237" y="2448222"/>
              <a:ext cx="142646" cy="91897"/>
            </a:xfrm>
            <a:prstGeom prst="rect">
              <a:avLst/>
            </a:prstGeom>
          </p:spPr>
        </p:pic>
      </p:grpSp>
      <p:grpSp>
        <p:nvGrpSpPr>
          <p:cNvPr id="115" name="object 115"/>
          <p:cNvGrpSpPr/>
          <p:nvPr/>
        </p:nvGrpSpPr>
        <p:grpSpPr>
          <a:xfrm>
            <a:off x="1124908" y="1223383"/>
            <a:ext cx="101600" cy="81280"/>
            <a:chOff x="1124908" y="1223383"/>
            <a:chExt cx="101600" cy="81280"/>
          </a:xfrm>
        </p:grpSpPr>
        <p:pic>
          <p:nvPicPr>
            <p:cNvPr id="116" name="object 1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4908" y="1223383"/>
              <a:ext cx="28803" cy="80924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61942" y="1224755"/>
              <a:ext cx="64465" cy="79552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1257954" y="2585382"/>
            <a:ext cx="310515" cy="227965"/>
            <a:chOff x="1257954" y="2585382"/>
            <a:chExt cx="310515" cy="227965"/>
          </a:xfrm>
        </p:grpSpPr>
        <p:pic>
          <p:nvPicPr>
            <p:cNvPr id="119" name="object 11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7954" y="2585382"/>
              <a:ext cx="102869" cy="85039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2585382"/>
              <a:ext cx="108356" cy="8503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6" y="2585382"/>
              <a:ext cx="42519" cy="91897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74540" y="2721170"/>
              <a:ext cx="108356" cy="85039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6" y="2721170"/>
              <a:ext cx="42519" cy="91897"/>
            </a:xfrm>
            <a:prstGeom prst="rect">
              <a:avLst/>
            </a:prstGeom>
          </p:spPr>
        </p:pic>
      </p:grpSp>
      <p:grpSp>
        <p:nvGrpSpPr>
          <p:cNvPr id="124" name="object 124"/>
          <p:cNvGrpSpPr/>
          <p:nvPr/>
        </p:nvGrpSpPr>
        <p:grpSpPr>
          <a:xfrm>
            <a:off x="2252364" y="2585382"/>
            <a:ext cx="42545" cy="227965"/>
            <a:chOff x="2252364" y="2585382"/>
            <a:chExt cx="42545" cy="227965"/>
          </a:xfrm>
        </p:grpSpPr>
        <p:pic>
          <p:nvPicPr>
            <p:cNvPr id="125" name="object 1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52364" y="2585382"/>
              <a:ext cx="42519" cy="91897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52364" y="2721170"/>
              <a:ext cx="42519" cy="91897"/>
            </a:xfrm>
            <a:prstGeom prst="rect">
              <a:avLst/>
            </a:prstGeom>
          </p:spPr>
        </p:pic>
      </p:grpSp>
      <p:grpSp>
        <p:nvGrpSpPr>
          <p:cNvPr id="127" name="object 127"/>
          <p:cNvGrpSpPr/>
          <p:nvPr/>
        </p:nvGrpSpPr>
        <p:grpSpPr>
          <a:xfrm>
            <a:off x="1016278" y="2858330"/>
            <a:ext cx="2648585" cy="130810"/>
            <a:chOff x="1016278" y="2858330"/>
            <a:chExt cx="2648585" cy="130810"/>
          </a:xfrm>
        </p:grpSpPr>
        <p:pic>
          <p:nvPicPr>
            <p:cNvPr id="128" name="object 1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5415" y="2858330"/>
              <a:ext cx="42519" cy="91897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52363" y="2858330"/>
              <a:ext cx="42519" cy="91897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1016278" y="2985889"/>
              <a:ext cx="2648585" cy="0"/>
            </a:xfrm>
            <a:custGeom>
              <a:avLst/>
              <a:gdLst/>
              <a:ahLst/>
              <a:cxnLst/>
              <a:rect l="l" t="t" r="r" b="b"/>
              <a:pathLst>
                <a:path w="2648585">
                  <a:moveTo>
                    <a:pt x="0" y="0"/>
                  </a:moveTo>
                  <a:lnTo>
                    <a:pt x="2648559" y="0"/>
                  </a:lnTo>
                </a:path>
              </a:pathLst>
            </a:custGeom>
            <a:ln w="5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8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9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40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3" name="object 1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078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Shift/Reduce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Conflicts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586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Error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Recovery</a:t>
            </a:r>
            <a:r>
              <a:rPr sz="1100" spc="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Strategies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675" y="1321306"/>
            <a:ext cx="2430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2</a:t>
            </a:r>
            <a:r>
              <a:rPr sz="1200" b="1" spc="585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Error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Recovery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in</a:t>
            </a:r>
            <a:r>
              <a:rPr sz="1100" spc="5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Predictive</a:t>
            </a:r>
            <a:r>
              <a:rPr sz="1100" spc="5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5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4675" y="1723553"/>
            <a:ext cx="1567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3</a:t>
            </a:r>
            <a:r>
              <a:rPr sz="1200" b="1" spc="112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Shift/Reduce</a:t>
            </a:r>
            <a:r>
              <a:rPr sz="1100" spc="1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Conflicts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055" y="2125801"/>
            <a:ext cx="1795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Precedence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8" action="ppaction://hlinksldjump"/>
              </a:rPr>
              <a:t>Associativity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078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Shift/Reduce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Conflicts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834250"/>
            <a:ext cx="4483735" cy="2176780"/>
            <a:chOff x="87743" y="834250"/>
            <a:chExt cx="4483735" cy="21767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79335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09379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96679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34250"/>
              <a:ext cx="50800" cy="207512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23594"/>
              <a:ext cx="4432935" cy="1936750"/>
            </a:xfrm>
            <a:custGeom>
              <a:avLst/>
              <a:gdLst/>
              <a:ahLst/>
              <a:cxnLst/>
              <a:rect l="l" t="t" r="r" b="b"/>
              <a:pathLst>
                <a:path w="4432935" h="1936750">
                  <a:moveTo>
                    <a:pt x="4432567" y="0"/>
                  </a:moveTo>
                  <a:lnTo>
                    <a:pt x="0" y="0"/>
                  </a:lnTo>
                  <a:lnTo>
                    <a:pt x="0" y="1885784"/>
                  </a:lnTo>
                  <a:lnTo>
                    <a:pt x="4008" y="1905509"/>
                  </a:lnTo>
                  <a:lnTo>
                    <a:pt x="14922" y="1921662"/>
                  </a:lnTo>
                  <a:lnTo>
                    <a:pt x="31075" y="1932576"/>
                  </a:lnTo>
                  <a:lnTo>
                    <a:pt x="50800" y="1936585"/>
                  </a:lnTo>
                  <a:lnTo>
                    <a:pt x="4381767" y="1936585"/>
                  </a:lnTo>
                  <a:lnTo>
                    <a:pt x="4401492" y="1932576"/>
                  </a:lnTo>
                  <a:lnTo>
                    <a:pt x="4417644" y="1921662"/>
                  </a:lnTo>
                  <a:lnTo>
                    <a:pt x="4428558" y="1905509"/>
                  </a:lnTo>
                  <a:lnTo>
                    <a:pt x="4432567" y="188578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72350"/>
              <a:ext cx="0" cy="2056130"/>
            </a:xfrm>
            <a:custGeom>
              <a:avLst/>
              <a:gdLst/>
              <a:ahLst/>
              <a:cxnLst/>
              <a:rect l="l" t="t" r="r" b="b"/>
              <a:pathLst>
                <a:path h="2056130">
                  <a:moveTo>
                    <a:pt x="0" y="205607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596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469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3425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078865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2575547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2819615"/>
              <a:ext cx="65201" cy="6520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5844" y="732495"/>
            <a:ext cx="4080510" cy="21958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(A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Simplified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Grammar)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may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simplify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our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-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to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968500">
              <a:lnSpc>
                <a:spcPct val="100000"/>
              </a:lnSpc>
              <a:spcBef>
                <a:spcPts val="1130"/>
              </a:spcBef>
            </a:pP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7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+</a:t>
            </a:r>
            <a:r>
              <a:rPr sz="1100" spc="3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7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1968500" marR="1416050">
              <a:lnSpc>
                <a:spcPct val="125000"/>
              </a:lnSpc>
            </a:pP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4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*</a:t>
            </a:r>
            <a:r>
              <a:rPr sz="1100" spc="2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7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 </a:t>
            </a: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204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2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968500">
              <a:lnSpc>
                <a:spcPct val="100000"/>
              </a:lnSpc>
              <a:spcBef>
                <a:spcPts val="335"/>
              </a:spcBef>
            </a:pP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id</a:t>
            </a:r>
            <a:endParaRPr sz="1100">
              <a:latin typeface="Georgia" panose="02040502050405020303"/>
              <a:cs typeface="Georgia" panose="02040502050405020303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100">
              <a:latin typeface="Georgia" panose="02040502050405020303"/>
              <a:cs typeface="Georgia" panose="02040502050405020303"/>
            </a:endParaRPr>
          </a:p>
          <a:p>
            <a:pPr marL="289560" marR="5080">
              <a:lnSpc>
                <a:spcPct val="146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form,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precedence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rules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+</a:t>
            </a:r>
            <a:r>
              <a:rPr sz="1100" spc="3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14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*</a:t>
            </a:r>
            <a:r>
              <a:rPr sz="1100" spc="3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are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not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implicit.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They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must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be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incorporated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into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tables.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078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Shift/Reduce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Conflicts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Shift/Reduce</a:t>
            </a:r>
            <a:r>
              <a:rPr spc="220" dirty="0"/>
              <a:t> </a:t>
            </a:r>
            <a:r>
              <a:rPr spc="-10" dirty="0"/>
              <a:t>Conflicts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68298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4133" rIns="0" bIns="0" rtlCol="0">
            <a:spAutoFit/>
          </a:bodyPr>
          <a:lstStyle/>
          <a:p>
            <a:pPr marL="289560" marR="5080">
              <a:lnSpc>
                <a:spcPct val="103000"/>
              </a:lnSpc>
              <a:spcBef>
                <a:spcPts val="55"/>
              </a:spcBef>
            </a:pPr>
            <a:r>
              <a:rPr dirty="0"/>
              <a:t>It</a:t>
            </a:r>
            <a:r>
              <a:rPr spc="45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spc="-25" dirty="0"/>
              <a:t>possible</a:t>
            </a:r>
            <a:r>
              <a:rPr spc="45" dirty="0"/>
              <a:t> </a:t>
            </a:r>
            <a:r>
              <a:rPr dirty="0"/>
              <a:t>that</a:t>
            </a:r>
            <a:r>
              <a:rPr spc="4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dirty="0"/>
              <a:t>cell</a:t>
            </a:r>
            <a:r>
              <a:rPr spc="45" dirty="0"/>
              <a:t> </a:t>
            </a:r>
            <a:r>
              <a:rPr spc="-30" dirty="0"/>
              <a:t>will</a:t>
            </a:r>
            <a:r>
              <a:rPr spc="50" dirty="0"/>
              <a:t> </a:t>
            </a:r>
            <a:r>
              <a:rPr spc="-10" dirty="0"/>
              <a:t>contain</a:t>
            </a:r>
            <a:r>
              <a:rPr spc="45" dirty="0"/>
              <a:t> </a:t>
            </a:r>
            <a:r>
              <a:rPr dirty="0"/>
              <a:t>both</a:t>
            </a:r>
            <a:r>
              <a:rPr spc="4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dirty="0"/>
              <a:t>shift</a:t>
            </a:r>
            <a:r>
              <a:rPr spc="45" dirty="0"/>
              <a:t> </a:t>
            </a:r>
            <a:r>
              <a:rPr spc="-10" dirty="0"/>
              <a:t>operation</a:t>
            </a:r>
            <a:r>
              <a:rPr spc="45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spc="-50" dirty="0"/>
              <a:t>a </a:t>
            </a:r>
            <a:r>
              <a:rPr spc="-25" dirty="0"/>
              <a:t>reduce</a:t>
            </a:r>
            <a:r>
              <a:rPr dirty="0"/>
              <a:t> </a:t>
            </a:r>
            <a:r>
              <a:rPr spc="-10" dirty="0"/>
              <a:t>operation.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dirty="0"/>
              <a:t>This</a:t>
            </a:r>
            <a:r>
              <a:rPr spc="30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-10" dirty="0"/>
              <a:t>called</a:t>
            </a:r>
            <a:r>
              <a:rPr spc="30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dirty="0">
                <a:solidFill>
                  <a:srgbClr val="FF0000"/>
                </a:solidFill>
              </a:rPr>
              <a:t>shift/reduce</a:t>
            </a:r>
            <a:r>
              <a:rPr spc="3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conflict</a:t>
            </a:r>
            <a:r>
              <a:rPr spc="-10" dirty="0"/>
              <a:t>.</a:t>
            </a:r>
            <a:endParaRPr spc="-10" dirty="0"/>
          </a:p>
          <a:p>
            <a:pPr marL="289560" marR="351790">
              <a:lnSpc>
                <a:spcPct val="103000"/>
              </a:lnSpc>
              <a:spcBef>
                <a:spcPts val="570"/>
              </a:spcBef>
            </a:pPr>
            <a:r>
              <a:rPr dirty="0"/>
              <a:t>To</a:t>
            </a:r>
            <a:r>
              <a:rPr spc="5" dirty="0"/>
              <a:t> </a:t>
            </a:r>
            <a:r>
              <a:rPr spc="-25" dirty="0"/>
              <a:t>choose</a:t>
            </a:r>
            <a:r>
              <a:rPr spc="5" dirty="0"/>
              <a:t> </a:t>
            </a:r>
            <a:r>
              <a:rPr spc="-30" dirty="0"/>
              <a:t>between</a:t>
            </a:r>
            <a:r>
              <a:rPr spc="5" dirty="0"/>
              <a:t> </a:t>
            </a:r>
            <a:r>
              <a:rPr spc="-10" dirty="0"/>
              <a:t>“shift”</a:t>
            </a:r>
            <a:r>
              <a:rPr spc="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25" dirty="0"/>
              <a:t>“reduce,”</a:t>
            </a:r>
            <a:r>
              <a:rPr spc="10" dirty="0"/>
              <a:t> </a:t>
            </a:r>
            <a:r>
              <a:rPr dirty="0"/>
              <a:t>each</a:t>
            </a:r>
            <a:r>
              <a:rPr spc="5" dirty="0"/>
              <a:t> </a:t>
            </a:r>
            <a:r>
              <a:rPr dirty="0"/>
              <a:t>case</a:t>
            </a:r>
            <a:r>
              <a:rPr spc="5" dirty="0"/>
              <a:t> </a:t>
            </a:r>
            <a:r>
              <a:rPr spc="-10" dirty="0"/>
              <a:t>must</a:t>
            </a:r>
            <a:r>
              <a:rPr spc="5" dirty="0"/>
              <a:t> </a:t>
            </a:r>
            <a:r>
              <a:rPr spc="-25" dirty="0"/>
              <a:t>be </a:t>
            </a:r>
            <a:r>
              <a:rPr spc="-30" dirty="0"/>
              <a:t>considered</a:t>
            </a:r>
            <a:r>
              <a:rPr spc="20" dirty="0"/>
              <a:t> </a:t>
            </a:r>
            <a:r>
              <a:rPr dirty="0"/>
              <a:t>on</a:t>
            </a:r>
            <a:r>
              <a:rPr spc="25" dirty="0"/>
              <a:t> </a:t>
            </a:r>
            <a:r>
              <a:rPr dirty="0"/>
              <a:t>its</a:t>
            </a:r>
            <a:r>
              <a:rPr spc="25" dirty="0"/>
              <a:t> </a:t>
            </a:r>
            <a:r>
              <a:rPr spc="-60" dirty="0"/>
              <a:t>own</a:t>
            </a:r>
            <a:r>
              <a:rPr spc="25" dirty="0"/>
              <a:t> </a:t>
            </a:r>
            <a:r>
              <a:rPr spc="-10" dirty="0"/>
              <a:t>merit.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spc="-25" dirty="0"/>
              <a:t>Consider</a:t>
            </a:r>
            <a:r>
              <a:rPr spc="60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case</a:t>
            </a:r>
            <a:r>
              <a:rPr spc="6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6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4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2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7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+</a:t>
            </a:r>
            <a:r>
              <a:rPr spc="23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6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4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2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∗</a:t>
            </a:r>
            <a:r>
              <a:rPr spc="2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and</a:t>
            </a:r>
            <a:r>
              <a:rPr spc="6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inputs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b="1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a</a:t>
            </a:r>
            <a:r>
              <a:rPr b="1" spc="-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dirty="0">
                <a:solidFill>
                  <a:srgbClr val="0000CC"/>
                </a:solidFill>
              </a:rPr>
              <a:t>+</a:t>
            </a:r>
            <a:r>
              <a:rPr spc="5" dirty="0">
                <a:solidFill>
                  <a:srgbClr val="0000CC"/>
                </a:solidFill>
              </a:rPr>
              <a:t> </a:t>
            </a:r>
            <a:r>
              <a:rPr b="1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b</a:t>
            </a:r>
            <a:r>
              <a:rPr b="1" spc="-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pc="140" dirty="0">
                <a:solidFill>
                  <a:srgbClr val="0000CC"/>
                </a:solidFill>
              </a:rPr>
              <a:t>*</a:t>
            </a:r>
            <a:r>
              <a:rPr spc="5" dirty="0">
                <a:solidFill>
                  <a:srgbClr val="0000CC"/>
                </a:solidFill>
              </a:rPr>
              <a:t> </a:t>
            </a:r>
            <a:r>
              <a:rPr b="1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b="1" spc="5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b="1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a </a:t>
            </a:r>
            <a:r>
              <a:rPr spc="140" dirty="0">
                <a:solidFill>
                  <a:srgbClr val="0000CC"/>
                </a:solidFill>
              </a:rPr>
              <a:t>*</a:t>
            </a:r>
            <a:r>
              <a:rPr spc="5" dirty="0">
                <a:solidFill>
                  <a:srgbClr val="0000CC"/>
                </a:solidFill>
              </a:rPr>
              <a:t> </a:t>
            </a:r>
            <a:r>
              <a:rPr b="1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b</a:t>
            </a:r>
            <a:r>
              <a:rPr b="1" spc="-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dirty="0">
                <a:solidFill>
                  <a:srgbClr val="0000CC"/>
                </a:solidFill>
              </a:rPr>
              <a:t>+</a:t>
            </a:r>
            <a:r>
              <a:rPr spc="5" dirty="0">
                <a:solidFill>
                  <a:srgbClr val="0000CC"/>
                </a:solidFill>
              </a:rPr>
              <a:t> </a:t>
            </a:r>
            <a:r>
              <a:rPr b="1" spc="-2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c</a:t>
            </a:r>
            <a:r>
              <a:rPr spc="-25" dirty="0"/>
              <a:t>.</a:t>
            </a:r>
            <a:endParaRPr spc="-25" dirty="0"/>
          </a:p>
          <a:p>
            <a:pPr marL="2172335">
              <a:lnSpc>
                <a:spcPct val="100000"/>
              </a:lnSpc>
              <a:spcBef>
                <a:spcPts val="1310"/>
              </a:spcBef>
            </a:pPr>
            <a:r>
              <a:rPr sz="1000" dirty="0">
                <a:latin typeface="Tahoma" panose="020B0604030504040204"/>
                <a:cs typeface="Tahoma" panose="020B0604030504040204"/>
              </a:rPr>
              <a:t>4+5*3</a:t>
            </a:r>
            <a:r>
              <a:rPr sz="10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=&gt;</a:t>
            </a:r>
            <a:r>
              <a:rPr sz="10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dirty="0">
                <a:latin typeface="Tahoma" panose="020B0604030504040204"/>
                <a:cs typeface="Tahoma" panose="020B0604030504040204"/>
              </a:rPr>
              <a:t>27,</a:t>
            </a:r>
            <a:r>
              <a:rPr sz="10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000" spc="-25" dirty="0">
                <a:latin typeface="Tahoma" panose="020B0604030504040204"/>
                <a:cs typeface="Tahoma" panose="020B0604030504040204"/>
              </a:rPr>
              <a:t>19</a:t>
            </a:r>
            <a:endParaRPr sz="1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84451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828520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244674"/>
            <a:ext cx="65201" cy="652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078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Shift/Reduce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Conflicts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5" dirty="0"/>
              <a:t>Reduce/Reduce</a:t>
            </a:r>
            <a:r>
              <a:rPr spc="229" dirty="0"/>
              <a:t> </a:t>
            </a:r>
            <a:r>
              <a:rPr spc="-10" dirty="0"/>
              <a:t>Conflicts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991031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907528"/>
            <a:ext cx="4058285" cy="185673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1341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possible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cell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contain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two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different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reduce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operations.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reduce/reduce</a:t>
            </a:r>
            <a:r>
              <a:rPr sz="1100" spc="5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conflict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242570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occurs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when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sequence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matches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right-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hand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sides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two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different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same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time.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58165">
              <a:lnSpc>
                <a:spcPct val="103000"/>
              </a:lnSpc>
              <a:spcBef>
                <a:spcPts val="56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each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such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conflict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table,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must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choose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which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reduction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apply.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presence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reduce/reduce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conflict</a:t>
            </a:r>
            <a:r>
              <a:rPr sz="1100" spc="5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indicates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you</a:t>
            </a:r>
            <a:r>
              <a:rPr sz="1100" spc="5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should </a:t>
            </a:r>
            <a:r>
              <a:rPr sz="1100" spc="-25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find </a:t>
            </a:r>
            <a:r>
              <a:rPr sz="110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another</a:t>
            </a:r>
            <a:r>
              <a:rPr sz="1100" spc="-2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D8D8D8"/>
                </a:solidFill>
                <a:latin typeface="Palatino Linotype" panose="02040502050505030304"/>
                <a:cs typeface="Palatino Linotype" panose="02040502050505030304"/>
              </a:rPr>
              <a:t>grammar.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407185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651254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067407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483561"/>
            <a:ext cx="65201" cy="6520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078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Shift/Reduce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Conflicts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5" dirty="0"/>
              <a:t>Reduce/Reduce</a:t>
            </a:r>
            <a:r>
              <a:rPr spc="229" dirty="0"/>
              <a:t> </a:t>
            </a:r>
            <a:r>
              <a:rPr spc="-10" dirty="0"/>
              <a:t>Conflicts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991031"/>
            <a:ext cx="65201" cy="652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907528"/>
            <a:ext cx="4058285" cy="185673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13410">
              <a:lnSpc>
                <a:spcPct val="103000"/>
              </a:lnSpc>
              <a:spcBef>
                <a:spcPts val="5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possible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cell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contain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two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different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reduce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operations.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called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reduce/reduce</a:t>
            </a:r>
            <a:r>
              <a:rPr sz="1100" spc="5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Palatino Linotype" panose="02040502050505030304"/>
                <a:cs typeface="Palatino Linotype" panose="02040502050505030304"/>
              </a:rPr>
              <a:t>conflict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242570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This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occurs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when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sequence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tokens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matches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right-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hand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sides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two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different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productions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at</a:t>
            </a:r>
            <a:r>
              <a:rPr sz="1100" spc="2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same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time.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58165">
              <a:lnSpc>
                <a:spcPct val="103000"/>
              </a:lnSpc>
              <a:spcBef>
                <a:spcPts val="56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For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each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such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conflict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table,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5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must</a:t>
            </a:r>
            <a:r>
              <a:rPr sz="1100" spc="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choose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</a:rPr>
              <a:t>which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reduction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to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apply.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03000"/>
              </a:lnSpc>
              <a:spcBef>
                <a:spcPts val="57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presence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of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reduce/reduce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conflict</a:t>
            </a:r>
            <a:r>
              <a:rPr sz="1100" spc="5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indicates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that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you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40" dirty="0">
                <a:latin typeface="Palatino Linotype" panose="02040502050505030304"/>
                <a:cs typeface="Palatino Linotype" panose="02040502050505030304"/>
              </a:rPr>
              <a:t>should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find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another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grammar.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407185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651254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067407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483561"/>
            <a:ext cx="65201" cy="6520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078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6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Shift/Reduce</a:t>
            </a:r>
            <a:r>
              <a:rPr sz="600" b="1" spc="1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Conflicts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2477135" cy="770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Action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Goto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Tables)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813727"/>
            <a:ext cx="4483735" cy="2228215"/>
            <a:chOff x="87743" y="813727"/>
            <a:chExt cx="4483735" cy="22282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58811"/>
              <a:ext cx="4432566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0151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27451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13727"/>
              <a:ext cx="50800" cy="21264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003071"/>
              <a:ext cx="4432935" cy="1988185"/>
            </a:xfrm>
            <a:custGeom>
              <a:avLst/>
              <a:gdLst/>
              <a:ahLst/>
              <a:cxnLst/>
              <a:rect l="l" t="t" r="r" b="b"/>
              <a:pathLst>
                <a:path w="4432935" h="1988185">
                  <a:moveTo>
                    <a:pt x="4432567" y="0"/>
                  </a:moveTo>
                  <a:lnTo>
                    <a:pt x="0" y="0"/>
                  </a:lnTo>
                  <a:lnTo>
                    <a:pt x="0" y="1937080"/>
                  </a:lnTo>
                  <a:lnTo>
                    <a:pt x="4008" y="1956804"/>
                  </a:lnTo>
                  <a:lnTo>
                    <a:pt x="14922" y="1972957"/>
                  </a:lnTo>
                  <a:lnTo>
                    <a:pt x="31075" y="1983872"/>
                  </a:lnTo>
                  <a:lnTo>
                    <a:pt x="50800" y="1987880"/>
                  </a:lnTo>
                  <a:lnTo>
                    <a:pt x="4381767" y="1987880"/>
                  </a:lnTo>
                  <a:lnTo>
                    <a:pt x="4401492" y="1983872"/>
                  </a:lnTo>
                  <a:lnTo>
                    <a:pt x="4417644" y="1972957"/>
                  </a:lnTo>
                  <a:lnTo>
                    <a:pt x="4428558" y="1956804"/>
                  </a:lnTo>
                  <a:lnTo>
                    <a:pt x="4432567" y="193708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51827"/>
              <a:ext cx="0" cy="2107565"/>
            </a:xfrm>
            <a:custGeom>
              <a:avLst/>
              <a:gdLst/>
              <a:ahLst/>
              <a:cxnLst/>
              <a:rect l="l" t="t" r="r" b="b"/>
              <a:pathLst>
                <a:path h="2107565">
                  <a:moveTo>
                    <a:pt x="0" y="210737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391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264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8137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811107" y="1028404"/>
          <a:ext cx="3062605" cy="1911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/>
                <a:gridCol w="461644"/>
                <a:gridCol w="446405"/>
                <a:gridCol w="270510"/>
                <a:gridCol w="270510"/>
                <a:gridCol w="278764"/>
                <a:gridCol w="347980"/>
                <a:gridCol w="447675"/>
              </a:tblGrid>
              <a:tr h="171450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Palatino Linotype" panose="02040502050505030304"/>
                          <a:cs typeface="Palatino Linotype" panose="02040502050505030304"/>
                        </a:rPr>
                        <a:t>State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Palatino Linotype" panose="02040502050505030304"/>
                          <a:cs typeface="Palatino Linotype" panose="02040502050505030304"/>
                        </a:rPr>
                        <a:t>Action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Palatino Linotype" panose="02040502050505030304"/>
                          <a:cs typeface="Palatino Linotype" panose="02040502050505030304"/>
                        </a:rPr>
                        <a:t>Goto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17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+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80" dirty="0">
                          <a:latin typeface="Palatino Linotype" panose="02040502050505030304"/>
                          <a:cs typeface="Palatino Linotype" panose="02040502050505030304"/>
                        </a:rPr>
                        <a:t>*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130" dirty="0">
                          <a:latin typeface="Palatino Linotype" panose="02040502050505030304"/>
                          <a:cs typeface="Palatino Linotype" panose="02040502050505030304"/>
                        </a:rPr>
                        <a:t>(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130" dirty="0">
                          <a:latin typeface="Palatino Linotype" panose="02040502050505030304"/>
                          <a:cs typeface="Palatino Linotype" panose="02040502050505030304"/>
                        </a:rPr>
                        <a:t>)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b="1" spc="-25" dirty="0">
                          <a:solidFill>
                            <a:srgbClr val="0000CC"/>
                          </a:solidFill>
                          <a:latin typeface="Georgia" panose="02040502050405020303"/>
                          <a:cs typeface="Georgia" panose="02040502050405020303"/>
                        </a:rPr>
                        <a:t>id</a:t>
                      </a:r>
                      <a:endParaRPr sz="1000">
                        <a:latin typeface="Georgia" panose="02040502050405020303"/>
                        <a:cs typeface="Georgia" panose="02040502050405020303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17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$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75"/>
                        </a:lnSpc>
                      </a:pPr>
                      <a:r>
                        <a:rPr sz="1000" i="1" spc="7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0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s5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acc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6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7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5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8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6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s5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s9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7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s4/r1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s5/r1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8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s4/r2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s5/r2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9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37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Precedence</a:t>
            </a:r>
            <a:r>
              <a:rPr sz="600" b="1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2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Associativity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586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Error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Recovery</a:t>
            </a:r>
            <a:r>
              <a:rPr sz="1100" spc="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Strategies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2430145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Error</a:t>
            </a:r>
            <a:r>
              <a:rPr sz="1100" spc="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Recovery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in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Predictive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Shift/Reduce</a:t>
            </a:r>
            <a:r>
              <a:rPr sz="1100" spc="1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Conflicts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795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Precedence</a:t>
            </a:r>
            <a:r>
              <a:rPr sz="1100" spc="-3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and</a:t>
            </a:r>
            <a:r>
              <a:rPr sz="1100" spc="-3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Associativity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10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37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Precedence</a:t>
            </a:r>
            <a:r>
              <a:rPr sz="600" b="1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2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Associativity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993292"/>
            <a:ext cx="4483735" cy="1779270"/>
            <a:chOff x="87743" y="993292"/>
            <a:chExt cx="4483735" cy="17792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13837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7082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5812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993292"/>
              <a:ext cx="50800" cy="167753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82636"/>
              <a:ext cx="4432935" cy="1539240"/>
            </a:xfrm>
            <a:custGeom>
              <a:avLst/>
              <a:gdLst/>
              <a:ahLst/>
              <a:cxnLst/>
              <a:rect l="l" t="t" r="r" b="b"/>
              <a:pathLst>
                <a:path w="4432935" h="1539239">
                  <a:moveTo>
                    <a:pt x="4432567" y="0"/>
                  </a:moveTo>
                  <a:lnTo>
                    <a:pt x="0" y="0"/>
                  </a:lnTo>
                  <a:lnTo>
                    <a:pt x="0" y="1488186"/>
                  </a:lnTo>
                  <a:lnTo>
                    <a:pt x="4008" y="1507910"/>
                  </a:lnTo>
                  <a:lnTo>
                    <a:pt x="14922" y="1524063"/>
                  </a:lnTo>
                  <a:lnTo>
                    <a:pt x="31075" y="1534977"/>
                  </a:lnTo>
                  <a:lnTo>
                    <a:pt x="50800" y="1538986"/>
                  </a:lnTo>
                  <a:lnTo>
                    <a:pt x="4381767" y="1538986"/>
                  </a:lnTo>
                  <a:lnTo>
                    <a:pt x="4401492" y="1534977"/>
                  </a:lnTo>
                  <a:lnTo>
                    <a:pt x="4417644" y="1524063"/>
                  </a:lnTo>
                  <a:lnTo>
                    <a:pt x="4428558" y="1507910"/>
                  </a:lnTo>
                  <a:lnTo>
                    <a:pt x="4432567" y="148818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031392"/>
              <a:ext cx="0" cy="1658620"/>
            </a:xfrm>
            <a:custGeom>
              <a:avLst/>
              <a:gdLst/>
              <a:ahLst/>
              <a:cxnLst/>
              <a:rect l="l" t="t" r="r" b="b"/>
              <a:pathLst>
                <a:path h="1658620">
                  <a:moveTo>
                    <a:pt x="0" y="165848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0186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0059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9932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244142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2086673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2330754"/>
              <a:ext cx="65201" cy="652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165" y="2574823"/>
              <a:ext cx="65201" cy="652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844" y="885301"/>
            <a:ext cx="4307205" cy="179768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(Shift/Reduce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Conflicts</a:t>
            </a:r>
            <a:r>
              <a:rPr sz="1100" spc="3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Associativity)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 marR="70485" algn="just">
              <a:lnSpc>
                <a:spcPct val="103000"/>
              </a:lnSpc>
              <a:spcBef>
                <a:spcPts val="385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shift/reduce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conflict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cell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(7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100" i="1" spc="-7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+</a:t>
            </a:r>
            <a:r>
              <a:rPr sz="110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)</a:t>
            </a:r>
            <a:r>
              <a:rPr sz="1100" spc="4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between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shifting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+</a:t>
            </a:r>
            <a:r>
              <a:rPr sz="1100" spc="4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and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reducing</a:t>
            </a:r>
            <a:r>
              <a:rPr sz="1100" spc="1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by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325755" algn="ctr">
              <a:lnSpc>
                <a:spcPct val="100000"/>
              </a:lnSpc>
              <a:spcBef>
                <a:spcPts val="35"/>
              </a:spcBef>
            </a:pP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100" i="1" spc="16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+</a:t>
            </a:r>
            <a:r>
              <a:rPr sz="1100" spc="9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E.</a:t>
            </a: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289560" marR="5080" algn="just">
              <a:lnSpc>
                <a:spcPct val="146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If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choose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“shift,”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then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make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addition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right</a:t>
            </a:r>
            <a:r>
              <a:rPr sz="1100" spc="-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associative.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If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choose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“reduce,”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then </a:t>
            </a:r>
            <a:r>
              <a:rPr sz="1100" spc="-50" dirty="0">
                <a:latin typeface="Palatino Linotype" panose="02040502050505030304"/>
                <a:cs typeface="Palatino Linotype" panose="02040502050505030304"/>
              </a:rPr>
              <a:t>we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will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make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addition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 left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associative.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3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case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is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0" dirty="0">
                <a:latin typeface="Palatino Linotype" panose="02040502050505030304"/>
                <a:cs typeface="Palatino Linotype" panose="02040502050505030304"/>
              </a:rPr>
              <a:t>similar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cell</a:t>
            </a:r>
            <a:r>
              <a:rPr sz="1100" spc="5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(8</a:t>
            </a:r>
            <a:r>
              <a:rPr sz="11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100" i="1" spc="-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0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*</a:t>
            </a:r>
            <a:r>
              <a:rPr sz="1100" spc="10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)</a:t>
            </a:r>
            <a:r>
              <a:rPr sz="1100" spc="5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regarding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multiplication.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137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Precedence</a:t>
            </a:r>
            <a:r>
              <a:rPr sz="600" b="1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2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Associativity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Example</a:t>
            </a:r>
            <a:endParaRPr spc="75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855624"/>
            <a:ext cx="4483735" cy="2123440"/>
            <a:chOff x="87743" y="855624"/>
            <a:chExt cx="4483735" cy="21234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000709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877312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64611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55624"/>
              <a:ext cx="50800" cy="20216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44981"/>
              <a:ext cx="4432935" cy="1883410"/>
            </a:xfrm>
            <a:custGeom>
              <a:avLst/>
              <a:gdLst/>
              <a:ahLst/>
              <a:cxnLst/>
              <a:rect l="l" t="t" r="r" b="b"/>
              <a:pathLst>
                <a:path w="4432935" h="1883410">
                  <a:moveTo>
                    <a:pt x="4432567" y="0"/>
                  </a:moveTo>
                  <a:lnTo>
                    <a:pt x="0" y="0"/>
                  </a:lnTo>
                  <a:lnTo>
                    <a:pt x="0" y="1832330"/>
                  </a:lnTo>
                  <a:lnTo>
                    <a:pt x="4008" y="1852055"/>
                  </a:lnTo>
                  <a:lnTo>
                    <a:pt x="14922" y="1868208"/>
                  </a:lnTo>
                  <a:lnTo>
                    <a:pt x="31075" y="1879122"/>
                  </a:lnTo>
                  <a:lnTo>
                    <a:pt x="50800" y="1883130"/>
                  </a:lnTo>
                  <a:lnTo>
                    <a:pt x="4381767" y="1883130"/>
                  </a:lnTo>
                  <a:lnTo>
                    <a:pt x="4401492" y="1879122"/>
                  </a:lnTo>
                  <a:lnTo>
                    <a:pt x="4417644" y="1868208"/>
                  </a:lnTo>
                  <a:lnTo>
                    <a:pt x="4428558" y="1852055"/>
                  </a:lnTo>
                  <a:lnTo>
                    <a:pt x="4432567" y="183233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93724"/>
              <a:ext cx="0" cy="2002789"/>
            </a:xfrm>
            <a:custGeom>
              <a:avLst/>
              <a:gdLst/>
              <a:ahLst/>
              <a:cxnLst/>
              <a:rect l="l" t="t" r="r" b="b"/>
              <a:pathLst>
                <a:path h="2002789">
                  <a:moveTo>
                    <a:pt x="0" y="20026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81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683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556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106474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949018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2365171"/>
              <a:ext cx="65201" cy="652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165" y="2781312"/>
              <a:ext cx="65201" cy="65201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pc="-10" dirty="0"/>
              <a:t>Example</a:t>
            </a:r>
            <a:r>
              <a:rPr spc="35" dirty="0"/>
              <a:t> </a:t>
            </a:r>
            <a:r>
              <a:rPr dirty="0"/>
              <a:t>(Shift/Reduce</a:t>
            </a:r>
            <a:r>
              <a:rPr spc="40" dirty="0"/>
              <a:t> </a:t>
            </a:r>
            <a:r>
              <a:rPr spc="-10" dirty="0"/>
              <a:t>Conflicts</a:t>
            </a:r>
            <a:r>
              <a:rPr spc="35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spc="-10" dirty="0"/>
              <a:t>Precedence)</a:t>
            </a:r>
            <a:endParaRPr spc="-10" dirty="0"/>
          </a:p>
          <a:p>
            <a:pPr marL="289560" marR="5080">
              <a:lnSpc>
                <a:spcPct val="103000"/>
              </a:lnSpc>
              <a:spcBef>
                <a:spcPts val="385"/>
              </a:spcBef>
            </a:pPr>
            <a:r>
              <a:rPr dirty="0"/>
              <a:t>The</a:t>
            </a:r>
            <a:r>
              <a:rPr spc="40" dirty="0"/>
              <a:t> </a:t>
            </a:r>
            <a:r>
              <a:rPr dirty="0"/>
              <a:t>shift/reduce</a:t>
            </a:r>
            <a:r>
              <a:rPr spc="55" dirty="0"/>
              <a:t> </a:t>
            </a:r>
            <a:r>
              <a:rPr spc="-10" dirty="0"/>
              <a:t>conflict</a:t>
            </a:r>
            <a:r>
              <a:rPr spc="55" dirty="0"/>
              <a:t> </a:t>
            </a:r>
            <a:r>
              <a:rPr dirty="0"/>
              <a:t>in</a:t>
            </a:r>
            <a:r>
              <a:rPr spc="55" dirty="0"/>
              <a:t> </a:t>
            </a:r>
            <a:r>
              <a:rPr dirty="0"/>
              <a:t>cell</a:t>
            </a:r>
            <a:r>
              <a:rPr spc="50" dirty="0"/>
              <a:t> </a:t>
            </a:r>
            <a:r>
              <a:rPr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(8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i="1" spc="-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>
                <a:solidFill>
                  <a:srgbClr val="0000CC"/>
                </a:solidFill>
              </a:rPr>
              <a:t>+</a:t>
            </a:r>
            <a:r>
              <a:rPr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)</a:t>
            </a:r>
            <a:r>
              <a:rPr spc="55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spc="-30" dirty="0"/>
              <a:t>between</a:t>
            </a:r>
            <a:r>
              <a:rPr spc="55" dirty="0"/>
              <a:t> </a:t>
            </a:r>
            <a:r>
              <a:rPr spc="-10" dirty="0"/>
              <a:t>shifting</a:t>
            </a:r>
            <a:r>
              <a:rPr spc="55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>
                <a:solidFill>
                  <a:srgbClr val="0000CC"/>
                </a:solidFill>
              </a:rPr>
              <a:t>+</a:t>
            </a:r>
            <a:r>
              <a:rPr spc="55" dirty="0">
                <a:solidFill>
                  <a:srgbClr val="0000CC"/>
                </a:solidFill>
              </a:rPr>
              <a:t> </a:t>
            </a:r>
            <a:r>
              <a:rPr spc="-25" dirty="0"/>
              <a:t>and </a:t>
            </a:r>
            <a:r>
              <a:rPr spc="-30" dirty="0"/>
              <a:t>reducing</a:t>
            </a:r>
            <a:r>
              <a:rPr spc="15" dirty="0"/>
              <a:t> </a:t>
            </a:r>
            <a:r>
              <a:rPr spc="-25" dirty="0"/>
              <a:t>by</a:t>
            </a:r>
            <a:endParaRPr spc="-25" dirty="0"/>
          </a:p>
          <a:p>
            <a:pPr marL="391795" algn="ctr">
              <a:lnSpc>
                <a:spcPts val="1255"/>
              </a:lnSpc>
              <a:spcBef>
                <a:spcPts val="35"/>
              </a:spcBef>
            </a:pP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6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15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40" dirty="0">
                <a:solidFill>
                  <a:srgbClr val="0000CC"/>
                </a:solidFill>
              </a:rPr>
              <a:t>*</a:t>
            </a:r>
            <a:r>
              <a:rPr spc="85" dirty="0">
                <a:solidFill>
                  <a:srgbClr val="0000CC"/>
                </a:solidFill>
              </a:rPr>
              <a:t> </a:t>
            </a:r>
            <a:r>
              <a:rPr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E.</a:t>
            </a:r>
            <a:endParaRPr i="1" spc="80" dirty="0">
              <a:solidFill>
                <a:srgbClr val="0000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52095" algn="ctr">
              <a:lnSpc>
                <a:spcPts val="1135"/>
              </a:lnSpc>
            </a:pPr>
            <a:r>
              <a:rPr sz="1000" spc="-10" dirty="0">
                <a:latin typeface="Tahoma" panose="020B0604030504040204"/>
                <a:cs typeface="Tahoma" panose="020B0604030504040204"/>
              </a:rPr>
              <a:t>4+5*5</a:t>
            </a:r>
            <a:endParaRPr sz="1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000">
              <a:latin typeface="Tahoma" panose="020B0604030504040204"/>
              <a:cs typeface="Tahoma" panose="020B0604030504040204"/>
            </a:endParaRPr>
          </a:p>
          <a:p>
            <a:pPr marL="289560" marR="231775">
              <a:lnSpc>
                <a:spcPct val="103000"/>
              </a:lnSpc>
            </a:pPr>
            <a:r>
              <a:rPr dirty="0"/>
              <a:t>If</a:t>
            </a:r>
            <a:r>
              <a:rPr spc="20" dirty="0"/>
              <a:t> </a:t>
            </a:r>
            <a:r>
              <a:rPr spc="-55" dirty="0"/>
              <a:t>we</a:t>
            </a:r>
            <a:r>
              <a:rPr spc="25" dirty="0"/>
              <a:t> </a:t>
            </a:r>
            <a:r>
              <a:rPr spc="-25" dirty="0"/>
              <a:t>choose</a:t>
            </a:r>
            <a:r>
              <a:rPr spc="25" dirty="0"/>
              <a:t> </a:t>
            </a:r>
            <a:r>
              <a:rPr dirty="0"/>
              <a:t>“shift,”</a:t>
            </a:r>
            <a:r>
              <a:rPr spc="25" dirty="0"/>
              <a:t> </a:t>
            </a:r>
            <a:r>
              <a:rPr dirty="0"/>
              <a:t>then</a:t>
            </a:r>
            <a:r>
              <a:rPr spc="25" dirty="0"/>
              <a:t> </a:t>
            </a:r>
            <a:r>
              <a:rPr spc="-55" dirty="0"/>
              <a:t>we</a:t>
            </a:r>
            <a:r>
              <a:rPr spc="25" dirty="0"/>
              <a:t> </a:t>
            </a:r>
            <a:r>
              <a:rPr spc="-30" dirty="0"/>
              <a:t>will</a:t>
            </a:r>
            <a:r>
              <a:rPr spc="25" dirty="0"/>
              <a:t> </a:t>
            </a:r>
            <a:r>
              <a:rPr spc="-30" dirty="0"/>
              <a:t>give</a:t>
            </a:r>
            <a:r>
              <a:rPr spc="25" dirty="0"/>
              <a:t> </a:t>
            </a:r>
            <a:r>
              <a:rPr spc="-25" dirty="0"/>
              <a:t>multiplication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20" dirty="0"/>
              <a:t>higher </a:t>
            </a:r>
            <a:r>
              <a:rPr spc="-35" dirty="0"/>
              <a:t>precedence</a:t>
            </a:r>
            <a:r>
              <a:rPr spc="55" dirty="0"/>
              <a:t> </a:t>
            </a:r>
            <a:r>
              <a:rPr dirty="0"/>
              <a:t>than</a:t>
            </a:r>
            <a:r>
              <a:rPr spc="55" dirty="0"/>
              <a:t> </a:t>
            </a:r>
            <a:r>
              <a:rPr spc="-10" dirty="0"/>
              <a:t>addition.</a:t>
            </a:r>
            <a:endParaRPr spc="-10" dirty="0"/>
          </a:p>
          <a:p>
            <a:pPr marL="289560" marR="447675">
              <a:lnSpc>
                <a:spcPct val="103000"/>
              </a:lnSpc>
              <a:spcBef>
                <a:spcPts val="570"/>
              </a:spcBef>
            </a:pPr>
            <a:r>
              <a:rPr dirty="0"/>
              <a:t>If</a:t>
            </a:r>
            <a:r>
              <a:rPr spc="20" dirty="0"/>
              <a:t> </a:t>
            </a:r>
            <a:r>
              <a:rPr spc="-55" dirty="0"/>
              <a:t>we</a:t>
            </a:r>
            <a:r>
              <a:rPr spc="25" dirty="0"/>
              <a:t> </a:t>
            </a:r>
            <a:r>
              <a:rPr spc="-25" dirty="0"/>
              <a:t>choose</a:t>
            </a:r>
            <a:r>
              <a:rPr spc="20" dirty="0"/>
              <a:t> </a:t>
            </a:r>
            <a:r>
              <a:rPr spc="-25" dirty="0"/>
              <a:t>“reduce,”</a:t>
            </a:r>
            <a:r>
              <a:rPr spc="25" dirty="0"/>
              <a:t> </a:t>
            </a:r>
            <a:r>
              <a:rPr dirty="0"/>
              <a:t>then</a:t>
            </a:r>
            <a:r>
              <a:rPr spc="25" dirty="0"/>
              <a:t> </a:t>
            </a:r>
            <a:r>
              <a:rPr spc="-55" dirty="0"/>
              <a:t>we</a:t>
            </a:r>
            <a:r>
              <a:rPr spc="20" dirty="0"/>
              <a:t> </a:t>
            </a:r>
            <a:r>
              <a:rPr spc="-30" dirty="0"/>
              <a:t>will</a:t>
            </a:r>
            <a:r>
              <a:rPr spc="25" dirty="0"/>
              <a:t> </a:t>
            </a:r>
            <a:r>
              <a:rPr spc="-30" dirty="0"/>
              <a:t>give</a:t>
            </a:r>
            <a:r>
              <a:rPr spc="25" dirty="0"/>
              <a:t> </a:t>
            </a:r>
            <a:r>
              <a:rPr spc="-25" dirty="0"/>
              <a:t>addition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20" dirty="0"/>
              <a:t>higher </a:t>
            </a:r>
            <a:r>
              <a:rPr spc="-35" dirty="0"/>
              <a:t>precedence</a:t>
            </a:r>
            <a:r>
              <a:rPr spc="55" dirty="0"/>
              <a:t> </a:t>
            </a:r>
            <a:r>
              <a:rPr dirty="0"/>
              <a:t>than</a:t>
            </a:r>
            <a:r>
              <a:rPr spc="55" dirty="0"/>
              <a:t> </a:t>
            </a:r>
            <a:r>
              <a:rPr spc="-10" dirty="0"/>
              <a:t>multiplication.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dirty="0"/>
              <a:t>case</a:t>
            </a:r>
            <a:r>
              <a:rPr spc="50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spc="-20" dirty="0"/>
              <a:t>similar</a:t>
            </a:r>
            <a:r>
              <a:rPr spc="45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dirty="0"/>
              <a:t>cell</a:t>
            </a:r>
            <a:r>
              <a:rPr spc="45" dirty="0"/>
              <a:t> </a:t>
            </a:r>
            <a:r>
              <a:rPr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(7</a:t>
            </a:r>
            <a:r>
              <a:rPr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i="1" spc="-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50" dirty="0">
                <a:solidFill>
                  <a:srgbClr val="0000CC"/>
                </a:solidFill>
              </a:rPr>
              <a:t>*</a:t>
            </a:r>
            <a:r>
              <a:rPr spc="50" dirty="0">
                <a:solidFill>
                  <a:srgbClr val="0000CC"/>
                </a:solidFill>
                <a:latin typeface="Book Antiqua" panose="02040602050305030304"/>
                <a:cs typeface="Book Antiqua" panose="02040602050305030304"/>
              </a:rPr>
              <a:t>)</a:t>
            </a:r>
            <a:r>
              <a:rPr spc="50" dirty="0"/>
              <a:t>.</a:t>
            </a:r>
            <a:endParaRPr spc="50" dirty="0"/>
          </a:p>
        </p:txBody>
      </p:sp>
      <p:sp>
        <p:nvSpPr>
          <p:cNvPr id="20" name="object 20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911" y="-4300"/>
            <a:ext cx="137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Precedence</a:t>
            </a:r>
            <a:r>
              <a:rPr sz="600" b="1" spc="2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and</a:t>
            </a:r>
            <a:r>
              <a:rPr sz="600" b="1" spc="2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Associativity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300" y="182191"/>
            <a:ext cx="2477135" cy="770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330066"/>
                </a:solidFill>
                <a:latin typeface="Palatino Linotype" panose="02040502050505030304"/>
                <a:cs typeface="Palatino Linotype" panose="02040502050505030304"/>
              </a:rPr>
              <a:t>Example</a:t>
            </a: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400">
              <a:latin typeface="Palatino Linotype" panose="02040502050505030304"/>
              <a:cs typeface="Palatino Linotype" panose="02040502050505030304"/>
            </a:endParaRPr>
          </a:p>
          <a:p>
            <a:pPr marL="4318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Example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(The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Action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and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Goto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Tables)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43" y="813727"/>
            <a:ext cx="4483735" cy="2228215"/>
            <a:chOff x="87743" y="813727"/>
            <a:chExt cx="4483735" cy="22282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940151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958811"/>
              <a:ext cx="4432566" cy="506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27451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13727"/>
              <a:ext cx="50800" cy="21264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003071"/>
              <a:ext cx="4432935" cy="1988185"/>
            </a:xfrm>
            <a:custGeom>
              <a:avLst/>
              <a:gdLst/>
              <a:ahLst/>
              <a:cxnLst/>
              <a:rect l="l" t="t" r="r" b="b"/>
              <a:pathLst>
                <a:path w="4432935" h="1988185">
                  <a:moveTo>
                    <a:pt x="4432567" y="0"/>
                  </a:moveTo>
                  <a:lnTo>
                    <a:pt x="0" y="0"/>
                  </a:lnTo>
                  <a:lnTo>
                    <a:pt x="0" y="1937080"/>
                  </a:lnTo>
                  <a:lnTo>
                    <a:pt x="4008" y="1956804"/>
                  </a:lnTo>
                  <a:lnTo>
                    <a:pt x="14922" y="1972957"/>
                  </a:lnTo>
                  <a:lnTo>
                    <a:pt x="31075" y="1983872"/>
                  </a:lnTo>
                  <a:lnTo>
                    <a:pt x="50800" y="1987880"/>
                  </a:lnTo>
                  <a:lnTo>
                    <a:pt x="4381767" y="1987880"/>
                  </a:lnTo>
                  <a:lnTo>
                    <a:pt x="4401492" y="1983872"/>
                  </a:lnTo>
                  <a:lnTo>
                    <a:pt x="4417644" y="1972957"/>
                  </a:lnTo>
                  <a:lnTo>
                    <a:pt x="4428558" y="1956804"/>
                  </a:lnTo>
                  <a:lnTo>
                    <a:pt x="4432567" y="193708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51827"/>
              <a:ext cx="0" cy="2107565"/>
            </a:xfrm>
            <a:custGeom>
              <a:avLst/>
              <a:gdLst/>
              <a:ahLst/>
              <a:cxnLst/>
              <a:rect l="l" t="t" r="r" b="b"/>
              <a:pathLst>
                <a:path h="2107565">
                  <a:moveTo>
                    <a:pt x="0" y="210737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391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264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20311" y="8137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987231" y="1028404"/>
          <a:ext cx="2710180" cy="1911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/>
                <a:gridCol w="285115"/>
                <a:gridCol w="269875"/>
                <a:gridCol w="269875"/>
                <a:gridCol w="269875"/>
                <a:gridCol w="278129"/>
                <a:gridCol w="347344"/>
                <a:gridCol w="447039"/>
              </a:tblGrid>
              <a:tr h="171450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Palatino Linotype" panose="02040502050505030304"/>
                          <a:cs typeface="Palatino Linotype" panose="02040502050505030304"/>
                        </a:rPr>
                        <a:t>State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Palatino Linotype" panose="02040502050505030304"/>
                          <a:cs typeface="Palatino Linotype" panose="02040502050505030304"/>
                        </a:rPr>
                        <a:t>Action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0" dirty="0">
                          <a:latin typeface="Palatino Linotype" panose="02040502050505030304"/>
                          <a:cs typeface="Palatino Linotype" panose="02040502050505030304"/>
                        </a:rPr>
                        <a:t>Goto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17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+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80" dirty="0">
                          <a:latin typeface="Palatino Linotype" panose="02040502050505030304"/>
                          <a:cs typeface="Palatino Linotype" panose="02040502050505030304"/>
                        </a:rPr>
                        <a:t>*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130" dirty="0">
                          <a:latin typeface="Palatino Linotype" panose="02040502050505030304"/>
                          <a:cs typeface="Palatino Linotype" panose="02040502050505030304"/>
                        </a:rPr>
                        <a:t>(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130" dirty="0">
                          <a:latin typeface="Palatino Linotype" panose="02040502050505030304"/>
                          <a:cs typeface="Palatino Linotype" panose="02040502050505030304"/>
                        </a:rPr>
                        <a:t>)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b="1" spc="-25" dirty="0">
                          <a:solidFill>
                            <a:srgbClr val="0000CC"/>
                          </a:solidFill>
                          <a:latin typeface="Georgia" panose="02040502050405020303"/>
                          <a:cs typeface="Georgia" panose="02040502050405020303"/>
                        </a:rPr>
                        <a:t>id</a:t>
                      </a:r>
                      <a:endParaRPr sz="1000">
                        <a:latin typeface="Georgia" panose="02040502050405020303"/>
                        <a:cs typeface="Georgia" panose="02040502050405020303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17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$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75"/>
                        </a:lnSpc>
                      </a:pPr>
                      <a:r>
                        <a:rPr sz="1000" i="1" spc="7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0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s6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acc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6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7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5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8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6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s4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s5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s9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7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r1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s5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r1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8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r2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solidFill>
                            <a:srgbClr val="FF0000"/>
                          </a:solidFill>
                          <a:latin typeface="Palatino Linotype" panose="02040502050505030304"/>
                          <a:cs typeface="Palatino Linotype" panose="02040502050505030304"/>
                        </a:rPr>
                        <a:t>r2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r2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50" dirty="0">
                          <a:latin typeface="Palatino Linotype" panose="02040502050505030304"/>
                          <a:cs typeface="Palatino Linotype" panose="02040502050505030304"/>
                        </a:rPr>
                        <a:t>9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1055"/>
                        </a:lnSpc>
                      </a:pPr>
                      <a:r>
                        <a:rPr sz="1000" spc="-25" dirty="0">
                          <a:latin typeface="Palatino Linotype" panose="02040502050505030304"/>
                          <a:cs typeface="Palatino Linotype" panose="02040502050505030304"/>
                        </a:rPr>
                        <a:t>r3</a:t>
                      </a:r>
                      <a:endParaRPr sz="1000">
                        <a:latin typeface="Palatino Linotype" panose="02040502050505030304"/>
                        <a:cs typeface="Palatino Linotype" panose="0204050205050503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7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6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9" y="950861"/>
            <a:ext cx="155257" cy="1552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675" y="94787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1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055" y="919059"/>
            <a:ext cx="15868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Error</a:t>
            </a:r>
            <a:r>
              <a:rPr sz="1100" spc="4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Recovery</a:t>
            </a:r>
            <a:r>
              <a:rPr sz="1100" spc="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3" action="ppaction://hlinksldjump"/>
              </a:rPr>
              <a:t>Strategies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353108"/>
            <a:ext cx="155257" cy="1552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755356"/>
            <a:ext cx="155257" cy="1552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4675" y="1321306"/>
            <a:ext cx="2430145" cy="594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0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Error</a:t>
            </a:r>
            <a:r>
              <a:rPr sz="1100" spc="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Recovery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in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Predictive</a:t>
            </a:r>
            <a:r>
              <a:rPr sz="1100" spc="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6" action="ppaction://hlinksldjump"/>
              </a:rPr>
              <a:t>Parsing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FAF9FB"/>
              </a:buClr>
              <a:buFont typeface="Comic Sans MS" panose="030F0702030302020204"/>
              <a:buAutoNum type="arabicPlain" startAt="2"/>
            </a:pP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77800" indent="-165100">
              <a:lnSpc>
                <a:spcPct val="100000"/>
              </a:lnSpc>
              <a:spcBef>
                <a:spcPts val="5"/>
              </a:spcBef>
              <a:buClr>
                <a:srgbClr val="FAF9FB"/>
              </a:buClr>
              <a:buSzPct val="73000"/>
              <a:buFont typeface="Comic Sans MS" panose="030F0702030302020204"/>
              <a:buAutoNum type="arabicPlain" startAt="2"/>
              <a:tabLst>
                <a:tab pos="177800" algn="l"/>
              </a:tabLst>
            </a:pP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Shift/Reduce</a:t>
            </a:r>
            <a:r>
              <a:rPr sz="1100" spc="14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7" action="ppaction://hlinksldjump"/>
              </a:rPr>
              <a:t>Conflicts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2157602"/>
            <a:ext cx="155257" cy="1552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675" y="2154668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50" dirty="0">
                <a:solidFill>
                  <a:srgbClr val="FAF9FB"/>
                </a:solidFill>
                <a:latin typeface="Comic Sans MS" panose="030F0702030302020204"/>
                <a:cs typeface="Comic Sans MS" panose="030F0702030302020204"/>
              </a:rPr>
              <a:t>4</a:t>
            </a:r>
            <a:endParaRPr sz="800">
              <a:latin typeface="Comic Sans MS" panose="030F0702030302020204"/>
              <a:cs typeface="Comic Sans 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5" y="2125801"/>
            <a:ext cx="1795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Precedence</a:t>
            </a:r>
            <a:r>
              <a:rPr sz="1100" spc="-35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and</a:t>
            </a:r>
            <a:r>
              <a:rPr sz="1100" spc="-3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Palatino Linotype" panose="02040502050505030304"/>
                <a:cs typeface="Palatino Linotype" panose="02040502050505030304"/>
                <a:hlinkClick r:id="rId9" action="ppaction://hlinksldjump"/>
              </a:rPr>
              <a:t>Associativity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779" y="2559850"/>
            <a:ext cx="155257" cy="1552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4675" y="2528035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5</a:t>
            </a:r>
            <a:r>
              <a:rPr sz="1200" b="1" spc="697" baseline="3000" dirty="0">
                <a:solidFill>
                  <a:srgbClr val="EAE5EF"/>
                </a:solidFill>
                <a:latin typeface="Comic Sans MS" panose="030F0702030302020204"/>
                <a:cs typeface="Comic Sans MS" panose="030F0702030302020204"/>
              </a:rPr>
              <a:t> </a:t>
            </a:r>
            <a:r>
              <a:rPr sz="1100" spc="-35" dirty="0">
                <a:latin typeface="Palatino Linotype" panose="02040502050505030304"/>
                <a:cs typeface="Palatino Linotype" panose="02040502050505030304"/>
                <a:hlinkClick r:id="rId1" action="ppaction://hlinksldjump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3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3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Assignment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1003147"/>
            <a:ext cx="4483735" cy="1754505"/>
            <a:chOff x="87743" y="1003147"/>
            <a:chExt cx="4483735" cy="17545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1137424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56027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43327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1003147"/>
              <a:ext cx="50800" cy="16528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81684"/>
              <a:ext cx="4432935" cy="1525270"/>
            </a:xfrm>
            <a:custGeom>
              <a:avLst/>
              <a:gdLst/>
              <a:ahLst/>
              <a:cxnLst/>
              <a:rect l="l" t="t" r="r" b="b"/>
              <a:pathLst>
                <a:path w="4432935" h="1525270">
                  <a:moveTo>
                    <a:pt x="4432567" y="0"/>
                  </a:moveTo>
                  <a:lnTo>
                    <a:pt x="0" y="0"/>
                  </a:lnTo>
                  <a:lnTo>
                    <a:pt x="0" y="1474343"/>
                  </a:lnTo>
                  <a:lnTo>
                    <a:pt x="4008" y="1494067"/>
                  </a:lnTo>
                  <a:lnTo>
                    <a:pt x="14922" y="1510220"/>
                  </a:lnTo>
                  <a:lnTo>
                    <a:pt x="31075" y="1521134"/>
                  </a:lnTo>
                  <a:lnTo>
                    <a:pt x="50800" y="1525143"/>
                  </a:lnTo>
                  <a:lnTo>
                    <a:pt x="4381767" y="1525143"/>
                  </a:lnTo>
                  <a:lnTo>
                    <a:pt x="4401492" y="1521134"/>
                  </a:lnTo>
                  <a:lnTo>
                    <a:pt x="4417644" y="1510220"/>
                  </a:lnTo>
                  <a:lnTo>
                    <a:pt x="4428558" y="1494067"/>
                  </a:lnTo>
                  <a:lnTo>
                    <a:pt x="4432567" y="147434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1041247"/>
              <a:ext cx="0" cy="1633855"/>
            </a:xfrm>
            <a:custGeom>
              <a:avLst/>
              <a:gdLst/>
              <a:ahLst/>
              <a:cxnLst/>
              <a:rect l="l" t="t" r="r" b="b"/>
              <a:pathLst>
                <a:path h="1633855">
                  <a:moveTo>
                    <a:pt x="0" y="16338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10285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10158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10031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235430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2312047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844" y="904326"/>
            <a:ext cx="2767330" cy="1764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Assignment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289560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Let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30" dirty="0">
                <a:latin typeface="Palatino Linotype" panose="02040502050505030304"/>
                <a:cs typeface="Palatino Linotype" panose="02040502050505030304"/>
              </a:rPr>
              <a:t>grammar</a:t>
            </a:r>
            <a:r>
              <a:rPr sz="1100" spc="6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be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  <a:p>
            <a:pPr marL="1880235">
              <a:lnSpc>
                <a:spcPct val="100000"/>
              </a:lnSpc>
              <a:spcBef>
                <a:spcPts val="1130"/>
              </a:spcBef>
            </a:pPr>
            <a:r>
              <a:rPr sz="1100" i="1" spc="114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100"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204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spc="1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100" i="1" spc="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204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)</a:t>
            </a:r>
            <a:r>
              <a:rPr sz="1100" spc="2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2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id</a:t>
            </a:r>
            <a:endParaRPr sz="1100">
              <a:latin typeface="Georgia" panose="02040502050405020303"/>
              <a:cs typeface="Georgia" panose="02040502050405020303"/>
            </a:endParaRPr>
          </a:p>
          <a:p>
            <a:pPr marL="1878965">
              <a:lnSpc>
                <a:spcPct val="100000"/>
              </a:lnSpc>
              <a:spcBef>
                <a:spcPts val="335"/>
              </a:spcBef>
            </a:pP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100" i="1" spc="1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100" i="1" spc="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spc="295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spc="2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i="1" spc="114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100"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0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z="1100"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6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100">
              <a:latin typeface="Times New Roman" panose="02020603050405020304"/>
              <a:cs typeface="Times New Roman" panose="02020603050405020304"/>
            </a:endParaRPr>
          </a:p>
          <a:p>
            <a:pPr marL="12700" marR="664210" indent="276860">
              <a:lnSpc>
                <a:spcPct val="148000"/>
              </a:lnSpc>
            </a:pPr>
            <a:r>
              <a:rPr sz="1100" dirty="0">
                <a:latin typeface="Palatino Linotype" panose="02040502050505030304"/>
                <a:cs typeface="Palatino Linotype" panose="02040502050505030304"/>
              </a:rPr>
              <a:t>Parse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dirty="0">
                <a:latin typeface="Palatino Linotype" panose="02040502050505030304"/>
                <a:cs typeface="Palatino Linotype" panose="02040502050505030304"/>
              </a:rPr>
              <a:t>the</a:t>
            </a:r>
            <a:r>
              <a:rPr sz="1100" spc="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-25" dirty="0">
                <a:latin typeface="Palatino Linotype" panose="02040502050505030304"/>
                <a:cs typeface="Palatino Linotype" panose="02040502050505030304"/>
              </a:rPr>
              <a:t>expression</a:t>
            </a:r>
            <a:r>
              <a:rPr sz="1100" spc="40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100" spc="6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(</a:t>
            </a:r>
            <a:r>
              <a:rPr sz="1100" b="1" spc="60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id</a:t>
            </a:r>
            <a:r>
              <a:rPr sz="1100" spc="6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,</a:t>
            </a:r>
            <a:r>
              <a:rPr sz="1100" b="1" spc="60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id</a:t>
            </a:r>
            <a:r>
              <a:rPr sz="1100" spc="60" dirty="0">
                <a:solidFill>
                  <a:srgbClr val="0000CC"/>
                </a:solidFill>
                <a:latin typeface="Palatino Linotype" panose="02040502050505030304"/>
                <a:cs typeface="Palatino Linotype" panose="02040502050505030304"/>
              </a:rPr>
              <a:t>)</a:t>
            </a:r>
            <a:r>
              <a:rPr sz="1100" spc="60" dirty="0">
                <a:latin typeface="Palatino Linotype" panose="02040502050505030304"/>
                <a:cs typeface="Palatino Linotype" panose="02040502050505030304"/>
              </a:rPr>
              <a:t>. </a:t>
            </a:r>
            <a:r>
              <a:rPr sz="1100" spc="-10" dirty="0">
                <a:latin typeface="Palatino Linotype" panose="02040502050505030304"/>
                <a:cs typeface="Palatino Linotype" panose="02040502050505030304"/>
              </a:rPr>
              <a:t>(continued…)</a:t>
            </a:r>
            <a:endParaRPr sz="11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8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4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" action="ppaction://hlinksldjump"/>
              </a:rPr>
              <a:t>Assignment</a:t>
            </a:r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Assignment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743" y="836079"/>
            <a:ext cx="4483735" cy="2172335"/>
            <a:chOff x="87743" y="836079"/>
            <a:chExt cx="4483735" cy="21723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970356"/>
              <a:ext cx="4432566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0663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893936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836079"/>
              <a:ext cx="50800" cy="207055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14615"/>
              <a:ext cx="4432935" cy="1943100"/>
            </a:xfrm>
            <a:custGeom>
              <a:avLst/>
              <a:gdLst/>
              <a:ahLst/>
              <a:cxnLst/>
              <a:rect l="l" t="t" r="r" b="b"/>
              <a:pathLst>
                <a:path w="4432935" h="1943100">
                  <a:moveTo>
                    <a:pt x="4432567" y="0"/>
                  </a:moveTo>
                  <a:lnTo>
                    <a:pt x="0" y="0"/>
                  </a:lnTo>
                  <a:lnTo>
                    <a:pt x="0" y="1892020"/>
                  </a:lnTo>
                  <a:lnTo>
                    <a:pt x="4008" y="1911745"/>
                  </a:lnTo>
                  <a:lnTo>
                    <a:pt x="14922" y="1927898"/>
                  </a:lnTo>
                  <a:lnTo>
                    <a:pt x="31075" y="1938812"/>
                  </a:lnTo>
                  <a:lnTo>
                    <a:pt x="50800" y="1942820"/>
                  </a:lnTo>
                  <a:lnTo>
                    <a:pt x="4381767" y="1942820"/>
                  </a:lnTo>
                  <a:lnTo>
                    <a:pt x="4401492" y="1938812"/>
                  </a:lnTo>
                  <a:lnTo>
                    <a:pt x="4417644" y="1927898"/>
                  </a:lnTo>
                  <a:lnTo>
                    <a:pt x="4428558" y="1911745"/>
                  </a:lnTo>
                  <a:lnTo>
                    <a:pt x="4432567" y="189202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0311" y="874179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h="2051685">
                  <a:moveTo>
                    <a:pt x="0" y="20515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20311" y="8614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20311" y="8487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311" y="8360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069886"/>
              <a:ext cx="65201" cy="652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2566568"/>
              <a:ext cx="65201" cy="652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2810637"/>
              <a:ext cx="65201" cy="65201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pc="-10" dirty="0"/>
              <a:t>Assignment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325"/>
              </a:spcBef>
            </a:pPr>
            <a:r>
              <a:rPr dirty="0"/>
              <a:t>The</a:t>
            </a:r>
            <a:r>
              <a:rPr spc="25" dirty="0"/>
              <a:t> </a:t>
            </a:r>
            <a:r>
              <a:rPr spc="-30" dirty="0"/>
              <a:t>grammar</a:t>
            </a:r>
            <a:r>
              <a:rPr spc="3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if</a:t>
            </a:r>
            <a:r>
              <a:rPr spc="3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30" dirty="0"/>
              <a:t>if-</a:t>
            </a:r>
            <a:r>
              <a:rPr spc="-10" dirty="0"/>
              <a:t>else</a:t>
            </a:r>
            <a:r>
              <a:rPr spc="30" dirty="0"/>
              <a:t> </a:t>
            </a:r>
            <a:r>
              <a:rPr spc="-10" dirty="0"/>
              <a:t>statements</a:t>
            </a:r>
            <a:r>
              <a:rPr spc="30" dirty="0"/>
              <a:t> </a:t>
            </a:r>
            <a:r>
              <a:rPr spc="-25" dirty="0"/>
              <a:t>is</a:t>
            </a:r>
            <a:endParaRPr spc="-25" dirty="0"/>
          </a:p>
          <a:p>
            <a:pPr marR="128905" algn="ctr">
              <a:lnSpc>
                <a:spcPct val="100000"/>
              </a:lnSpc>
              <a:spcBef>
                <a:spcPts val="1130"/>
              </a:spcBef>
            </a:pPr>
            <a:r>
              <a:rPr i="1" spc="114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i="1" spc="9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60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pc="225" dirty="0">
                <a:solidFill>
                  <a:srgbClr val="0000CC"/>
                </a:solidFill>
              </a:rPr>
              <a:t>if</a:t>
            </a:r>
            <a:r>
              <a:rPr spc="30" dirty="0">
                <a:solidFill>
                  <a:srgbClr val="0000CC"/>
                </a:solidFill>
              </a:rPr>
              <a:t> </a:t>
            </a:r>
            <a:r>
              <a:rPr spc="204" dirty="0">
                <a:solidFill>
                  <a:srgbClr val="0000CC"/>
                </a:solidFill>
              </a:rPr>
              <a:t>(</a:t>
            </a:r>
            <a:r>
              <a:rPr spc="25" dirty="0">
                <a:solidFill>
                  <a:srgbClr val="0000CC"/>
                </a:solidFill>
              </a:rPr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204" dirty="0">
                <a:solidFill>
                  <a:srgbClr val="0000CC"/>
                </a:solidFill>
              </a:rPr>
              <a:t>)</a:t>
            </a:r>
            <a:r>
              <a:rPr spc="25" dirty="0">
                <a:solidFill>
                  <a:srgbClr val="0000CC"/>
                </a:solidFill>
              </a:rPr>
              <a:t> </a:t>
            </a:r>
            <a:r>
              <a:rPr i="1" spc="6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i="1" spc="65" dirty="0">
              <a:solidFill>
                <a:srgbClr val="0000C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889125">
              <a:lnSpc>
                <a:spcPct val="100000"/>
              </a:lnSpc>
              <a:spcBef>
                <a:spcPts val="335"/>
              </a:spcBef>
            </a:pP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pc="225" dirty="0">
                <a:solidFill>
                  <a:srgbClr val="0000CC"/>
                </a:solidFill>
              </a:rPr>
              <a:t>if</a:t>
            </a:r>
            <a:r>
              <a:rPr spc="20" dirty="0">
                <a:solidFill>
                  <a:srgbClr val="0000CC"/>
                </a:solidFill>
              </a:rPr>
              <a:t> </a:t>
            </a:r>
            <a:r>
              <a:rPr spc="204" dirty="0">
                <a:solidFill>
                  <a:srgbClr val="0000CC"/>
                </a:solidFill>
              </a:rPr>
              <a:t>(</a:t>
            </a:r>
            <a:r>
              <a:rPr spc="20" dirty="0">
                <a:solidFill>
                  <a:srgbClr val="0000CC"/>
                </a:solidFill>
              </a:rPr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204" dirty="0">
                <a:solidFill>
                  <a:srgbClr val="0000CC"/>
                </a:solidFill>
              </a:rPr>
              <a:t>)</a:t>
            </a:r>
            <a:r>
              <a:rPr spc="20" dirty="0">
                <a:solidFill>
                  <a:srgbClr val="0000CC"/>
                </a:solidFill>
              </a:rPr>
              <a:t> </a:t>
            </a:r>
            <a:r>
              <a:rPr i="1" spc="114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i="1" spc="8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10" dirty="0">
                <a:solidFill>
                  <a:srgbClr val="0000CC"/>
                </a:solidFill>
              </a:rPr>
              <a:t>else</a:t>
            </a:r>
            <a:r>
              <a:rPr spc="20" dirty="0">
                <a:solidFill>
                  <a:srgbClr val="0000CC"/>
                </a:solidFill>
              </a:rPr>
              <a:t> </a:t>
            </a:r>
            <a:r>
              <a:rPr i="1" spc="6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i="1" spc="65" dirty="0">
              <a:solidFill>
                <a:srgbClr val="0000CC"/>
              </a:solidFill>
              <a:latin typeface="Times New Roman" panose="02020603050405020304"/>
              <a:cs typeface="Times New Roman" panose="02020603050405020304"/>
            </a:endParaRPr>
          </a:p>
          <a:p>
            <a:pPr marR="1673225" algn="r">
              <a:lnSpc>
                <a:spcPct val="100000"/>
              </a:lnSpc>
              <a:spcBef>
                <a:spcPts val="330"/>
              </a:spcBef>
            </a:pPr>
            <a:r>
              <a:rPr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|</a:t>
            </a:r>
            <a:r>
              <a:rPr spc="2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id</a:t>
            </a:r>
            <a:r>
              <a:rPr b="1" spc="-1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dirty="0">
                <a:solidFill>
                  <a:srgbClr val="0000CC"/>
                </a:solidFill>
              </a:rPr>
              <a:t>=</a:t>
            </a:r>
            <a:r>
              <a:rPr spc="-10" dirty="0">
                <a:solidFill>
                  <a:srgbClr val="0000CC"/>
                </a:solidFill>
              </a:rPr>
              <a:t> </a:t>
            </a:r>
            <a:r>
              <a:rPr b="1" spc="-2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num</a:t>
            </a:r>
            <a:endParaRPr b="1" spc="-25" dirty="0">
              <a:solidFill>
                <a:srgbClr val="0000CC"/>
              </a:solidFill>
              <a:latin typeface="Georgia" panose="02040502050405020303"/>
              <a:cs typeface="Georgia" panose="02040502050405020303"/>
            </a:endParaRPr>
          </a:p>
          <a:p>
            <a:pPr marR="1683385" algn="r">
              <a:lnSpc>
                <a:spcPct val="100000"/>
              </a:lnSpc>
              <a:spcBef>
                <a:spcPts val="335"/>
              </a:spcBef>
            </a:pP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8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→</a:t>
            </a:r>
            <a:r>
              <a:rPr spc="55" dirty="0">
                <a:solidFill>
                  <a:srgbClr val="0000C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b="1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id</a:t>
            </a:r>
            <a:r>
              <a:rPr b="1" spc="10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dirty="0">
                <a:solidFill>
                  <a:srgbClr val="0000CC"/>
                </a:solidFill>
              </a:rPr>
              <a:t>==</a:t>
            </a:r>
            <a:r>
              <a:rPr spc="20" dirty="0">
                <a:solidFill>
                  <a:srgbClr val="0000CC"/>
                </a:solidFill>
              </a:rPr>
              <a:t> </a:t>
            </a:r>
            <a:r>
              <a:rPr b="1" spc="-25" dirty="0">
                <a:solidFill>
                  <a:srgbClr val="0000CC"/>
                </a:solidFill>
                <a:latin typeface="Georgia" panose="02040502050405020303"/>
                <a:cs typeface="Georgia" panose="02040502050405020303"/>
              </a:rPr>
              <a:t>num</a:t>
            </a:r>
            <a:endParaRPr b="1" spc="-25" dirty="0">
              <a:solidFill>
                <a:srgbClr val="0000CC"/>
              </a:solidFill>
              <a:latin typeface="Georgia" panose="02040502050405020303"/>
              <a:cs typeface="Georgia" panose="02040502050405020303"/>
            </a:endParaRPr>
          </a:p>
          <a:p>
            <a:pPr marL="289560" marR="459105">
              <a:lnSpc>
                <a:spcPct val="146000"/>
              </a:lnSpc>
              <a:spcBef>
                <a:spcPts val="530"/>
              </a:spcBef>
            </a:pPr>
            <a:r>
              <a:rPr spc="-35" dirty="0"/>
              <a:t>where</a:t>
            </a:r>
            <a:r>
              <a:rPr spc="30" dirty="0"/>
              <a:t> </a:t>
            </a:r>
            <a:r>
              <a:rPr i="1" spc="114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statement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i="1" spc="1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i="1" spc="9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spc="-25" dirty="0"/>
              <a:t>expression</a:t>
            </a:r>
            <a:r>
              <a:rPr spc="30" dirty="0"/>
              <a:t> </a:t>
            </a:r>
            <a:r>
              <a:rPr spc="-10" dirty="0"/>
              <a:t>(boolean). </a:t>
            </a:r>
            <a:r>
              <a:rPr dirty="0"/>
              <a:t>Write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action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goto</a:t>
            </a:r>
            <a:r>
              <a:rPr spc="15" dirty="0"/>
              <a:t> </a:t>
            </a:r>
            <a:r>
              <a:rPr dirty="0"/>
              <a:t>tables</a:t>
            </a:r>
            <a:r>
              <a:rPr spc="15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dirty="0"/>
              <a:t>this</a:t>
            </a:r>
            <a:r>
              <a:rPr spc="15" dirty="0"/>
              <a:t> </a:t>
            </a:r>
            <a:r>
              <a:rPr spc="-10" dirty="0"/>
              <a:t>grammar.</a:t>
            </a:r>
            <a:endParaRPr spc="-10" dirty="0"/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dirty="0"/>
              <a:t>Find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shift/reduce</a:t>
            </a:r>
            <a:r>
              <a:rPr spc="25" dirty="0"/>
              <a:t> </a:t>
            </a:r>
            <a:r>
              <a:rPr dirty="0"/>
              <a:t>conflict(s)</a:t>
            </a:r>
            <a:r>
              <a:rPr spc="2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30" dirty="0"/>
              <a:t>decide</a:t>
            </a:r>
            <a:r>
              <a:rPr spc="25" dirty="0"/>
              <a:t> </a:t>
            </a:r>
            <a:r>
              <a:rPr spc="-55" dirty="0"/>
              <a:t>how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-20" dirty="0"/>
              <a:t>handle</a:t>
            </a:r>
            <a:r>
              <a:rPr spc="20" dirty="0"/>
              <a:t> </a:t>
            </a:r>
            <a:r>
              <a:rPr spc="-10" dirty="0"/>
              <a:t>them.</a:t>
            </a:r>
            <a:endParaRPr spc="-10" dirty="0"/>
          </a:p>
        </p:txBody>
      </p:sp>
      <p:sp>
        <p:nvSpPr>
          <p:cNvPr id="19" name="object 19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373896" y="3229872"/>
            <a:ext cx="2233930" cy="2247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5080">
              <a:lnSpc>
                <a:spcPts val="700"/>
              </a:lnSpc>
              <a:spcBef>
                <a:spcPts val="225"/>
              </a:spcBef>
            </a:pP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Error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 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Reco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v</a:t>
            </a:r>
            <a:r>
              <a:rPr sz="600" b="1" spc="5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ery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Strategies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3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0" action="ppaction://hlinksldjump"/>
              </a:rPr>
              <a:t>and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1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1" action="ppaction://hlinksldjump"/>
              </a:rPr>
              <a:t>LR</a:t>
            </a:r>
            <a:r>
              <a:rPr sz="600" b="1" spc="18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P</a:t>
            </a:r>
            <a:r>
              <a:rPr sz="600" b="1" spc="4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12" action="ppaction://hlinksldjump"/>
              </a:rPr>
              <a:t>arsing</a:t>
            </a:r>
            <a:r>
              <a:rPr sz="600" b="1" spc="18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r>
              <a:rPr sz="600" b="1" spc="5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9" action="ppaction://hlinksldjump"/>
              </a:rPr>
              <a:t>Con</a:t>
            </a:r>
            <a:r>
              <a:rPr sz="600" b="1" spc="5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  <a:t> </a:t>
            </a:r>
            <a:fld id="{81D60167-4931-47E6-BA6A-407CBD079E47}" type="slidenum">
              <a:rPr sz="600" b="1" spc="2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</a:rPr>
            </a:fld>
            <a:endParaRPr sz="6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cap="small" dirty="0"/>
              <a:t>okan</a:t>
            </a:r>
            <a:r>
              <a:rPr spc="60" dirty="0"/>
              <a:t> </a:t>
            </a:r>
            <a:r>
              <a:rPr dirty="0"/>
              <a:t>U</a:t>
            </a:r>
            <a:r>
              <a:rPr cap="small" dirty="0"/>
              <a:t>ddin</a:t>
            </a:r>
            <a:r>
              <a:rPr spc="65" dirty="0"/>
              <a:t> </a:t>
            </a:r>
            <a:r>
              <a:rPr dirty="0"/>
              <a:t>F</a:t>
            </a:r>
            <a:r>
              <a:rPr cap="small" dirty="0"/>
              <a:t>aruqui</a:t>
            </a:r>
            <a:r>
              <a:rPr spc="220" dirty="0"/>
              <a:t>  </a:t>
            </a:r>
            <a:r>
              <a:rPr b="1" spc="90" dirty="0">
                <a:latin typeface="Georgia" panose="02040502050405020303"/>
                <a:cs typeface="Georgia" panose="02040502050405020303"/>
              </a:rPr>
              <a:t>CSE,</a:t>
            </a:r>
            <a:r>
              <a:rPr b="1" spc="114" dirty="0">
                <a:latin typeface="Georgia" panose="02040502050405020303"/>
                <a:cs typeface="Georgia" panose="02040502050405020303"/>
              </a:rPr>
              <a:t> </a:t>
            </a:r>
            <a:r>
              <a:rPr b="1" spc="30" dirty="0">
                <a:latin typeface="Georgia" panose="02040502050405020303"/>
                <a:cs typeface="Georgia" panose="02040502050405020303"/>
              </a:rPr>
              <a:t>CU</a:t>
            </a:r>
            <a:endParaRPr b="1" spc="3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9497</Words>
  <Application>WPS Presentation</Application>
  <PresentationFormat>On-screen Show (4:3)</PresentationFormat>
  <Paragraphs>815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9" baseType="lpstr">
      <vt:lpstr>Arial</vt:lpstr>
      <vt:lpstr>SimSun</vt:lpstr>
      <vt:lpstr>Wingdings</vt:lpstr>
      <vt:lpstr>Palatino Linotype</vt:lpstr>
      <vt:lpstr>Georgia</vt:lpstr>
      <vt:lpstr>Comic Sans MS</vt:lpstr>
      <vt:lpstr>Book Antiqua</vt:lpstr>
      <vt:lpstr>Cambria</vt:lpstr>
      <vt:lpstr>Tahoma</vt:lpstr>
      <vt:lpstr>Times New Roman</vt:lpstr>
      <vt:lpstr>Microsoft YaHei</vt:lpstr>
      <vt:lpstr>Arial Unicode MS</vt:lpstr>
      <vt:lpstr>Calibri</vt:lpstr>
      <vt:lpstr>Century Gothic</vt:lpstr>
      <vt:lpstr>Arial Black</vt:lpstr>
      <vt:lpstr>Bookman Old Style</vt:lpstr>
      <vt:lpstr>Office Theme</vt:lpstr>
      <vt:lpstr>Error Recovery Strategies and LR Parsing Conflicts</vt:lpstr>
      <vt:lpstr>PowerPoint 演示文稿</vt:lpstr>
      <vt:lpstr>Outline</vt:lpstr>
      <vt:lpstr>Error Recovery</vt:lpstr>
      <vt:lpstr>Error Recovery</vt:lpstr>
      <vt:lpstr>Error Recovery Strategies</vt:lpstr>
      <vt:lpstr>Error Recovery Strategies</vt:lpstr>
      <vt:lpstr>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Error Recovery in Predictive Parsing</vt:lpstr>
      <vt:lpstr>Error Recovery Strategies in Predictive Parsing</vt:lpstr>
      <vt:lpstr>Example</vt:lpstr>
      <vt:lpstr>PowerPoint 演示文稿</vt:lpstr>
      <vt:lpstr>PowerPoint 演示文稿</vt:lpstr>
      <vt:lpstr>PowerPoint 演示文稿</vt:lpstr>
      <vt:lpstr>PowerPoint 演示文稿</vt:lpstr>
      <vt:lpstr>Outline</vt:lpstr>
      <vt:lpstr>Example</vt:lpstr>
      <vt:lpstr>Shift/Reduce Conflicts</vt:lpstr>
      <vt:lpstr>Reduce/Reduce Conflicts</vt:lpstr>
      <vt:lpstr>Reduce/Reduce Conflicts</vt:lpstr>
      <vt:lpstr>PowerPoint 演示文稿</vt:lpstr>
      <vt:lpstr>Outline</vt:lpstr>
      <vt:lpstr>Example</vt:lpstr>
      <vt:lpstr>Example</vt:lpstr>
      <vt:lpstr>PowerPoint 演示文稿</vt:lpstr>
      <vt:lpstr>Outline</vt:lpstr>
      <vt:lpstr>Assignment</vt:lpstr>
      <vt:lpstr>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Recovery Strategies and LR Parsing Conflicts</dc:title>
  <dc:creator>Rokan Uddin Faruqui </dc:creator>
  <cp:lastModifiedBy>Sharifunnaher Snigdha</cp:lastModifiedBy>
  <cp:revision>2</cp:revision>
  <dcterms:created xsi:type="dcterms:W3CDTF">2025-11-30T19:31:42Z</dcterms:created>
  <dcterms:modified xsi:type="dcterms:W3CDTF">2025-11-30T19:54:20Z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2020-02-26T06:00:00Z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2025-11-30T06:00:00Z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113B615FFB2040BFA5E0E4B518C4E834_12</vt:lpwstr>
  </property>
  <property fmtid="{D5CDD505-2E9C-101B-9397-08002B2CF9AE}" pid="7" name="KSOProductBuildVer">
    <vt:lpwstr>1033-12.2.0.23155</vt:lpwstr>
  </property>
</Properties>
</file>