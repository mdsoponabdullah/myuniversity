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Default Extension="jpg" ContentType="image/jpg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688A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88A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88A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88A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94492" y="2929021"/>
            <a:ext cx="177507" cy="2591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39212" y="3248926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9595" y="324496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37397" y="324496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99713" y="3238613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36544" y="32449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2394" y="32513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3493" y="32449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89694" y="32386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6643" y="323861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0442" y="32449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6643" y="3276714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3604" y="32386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269094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42599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38613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0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82179"/>
            <a:ext cx="399922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688A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160066"/>
            <a:ext cx="3804234" cy="1102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5300" y="3348175"/>
            <a:ext cx="1379855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356608" y="3348175"/>
            <a:ext cx="194310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mailto:rokan@cu.ac.bd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image" Target="../media/image5.png"/><Relationship Id="rId4" Type="http://schemas.openxmlformats.org/officeDocument/2006/relationships/slide" Target="slide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slide" Target="slide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" Target="slide28.xml"/><Relationship Id="rId6" Type="http://schemas.openxmlformats.org/officeDocument/2006/relationships/image" Target="../media/image8.png"/><Relationship Id="rId7" Type="http://schemas.openxmlformats.org/officeDocument/2006/relationships/slide" Target="slide35.xml"/><Relationship Id="rId8" Type="http://schemas.openxmlformats.org/officeDocument/2006/relationships/slide" Target="slide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" Target="slide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slide" Target="slide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" Target="slide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" Target="slide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slide" Target="slide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slide" Target="slide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" Target="slide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slide" Target="slide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slide" Target="slide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3.png"/><Relationship Id="rId7" Type="http://schemas.openxmlformats.org/officeDocument/2006/relationships/image" Target="../media/image35.png"/><Relationship Id="rId8" Type="http://schemas.openxmlformats.org/officeDocument/2006/relationships/slide" Target="slide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Relationship Id="rId7" Type="http://schemas.openxmlformats.org/officeDocument/2006/relationships/slide" Target="slide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slide" Target="slide1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slide" Target="slide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5" Type="http://schemas.openxmlformats.org/officeDocument/2006/relationships/image" Target="../media/image39.png"/><Relationship Id="rId6" Type="http://schemas.openxmlformats.org/officeDocument/2006/relationships/slide" Target="slide1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slide" Target="slide1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slide" Target="slide1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43.png"/><Relationship Id="rId4" Type="http://schemas.openxmlformats.org/officeDocument/2006/relationships/image" Target="../media/image46.png"/><Relationship Id="rId5" Type="http://schemas.openxmlformats.org/officeDocument/2006/relationships/image" Target="../media/image45.png"/><Relationship Id="rId6" Type="http://schemas.openxmlformats.org/officeDocument/2006/relationships/slide" Target="slide1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43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slide" Target="slide1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slide" Target="slide1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slide" Target="slide1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slide" Target="slide1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8.xml"/><Relationship Id="rId3" Type="http://schemas.openxmlformats.org/officeDocument/2006/relationships/image" Target="../media/image60.png"/><Relationship Id="rId4" Type="http://schemas.openxmlformats.org/officeDocument/2006/relationships/slide" Target="slide4.xml"/><Relationship Id="rId5" Type="http://schemas.openxmlformats.org/officeDocument/2006/relationships/image" Target="../media/image61.png"/><Relationship Id="rId6" Type="http://schemas.openxmlformats.org/officeDocument/2006/relationships/image" Target="../media/image8.png"/><Relationship Id="rId7" Type="http://schemas.openxmlformats.org/officeDocument/2006/relationships/slide" Target="slide35.xml"/><Relationship Id="rId8" Type="http://schemas.openxmlformats.org/officeDocument/2006/relationships/slide" Target="slide1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8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slide" Target="slide1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8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slide" Target="slide1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8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slide" Target="slide1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8.xml"/><Relationship Id="rId3" Type="http://schemas.openxmlformats.org/officeDocument/2006/relationships/slide" Target="slide1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8.xml"/><Relationship Id="rId3" Type="http://schemas.openxmlformats.org/officeDocument/2006/relationships/slide" Target="slide1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8.xml"/><Relationship Id="rId3" Type="http://schemas.openxmlformats.org/officeDocument/2006/relationships/slide" Target="slide1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5.xml"/><Relationship Id="rId3" Type="http://schemas.openxmlformats.org/officeDocument/2006/relationships/image" Target="../media/image60.png"/><Relationship Id="rId4" Type="http://schemas.openxmlformats.org/officeDocument/2006/relationships/slide" Target="slide4.xml"/><Relationship Id="rId5" Type="http://schemas.openxmlformats.org/officeDocument/2006/relationships/image" Target="../media/image7.png"/><Relationship Id="rId6" Type="http://schemas.openxmlformats.org/officeDocument/2006/relationships/slide" Target="slide28.xml"/><Relationship Id="rId7" Type="http://schemas.openxmlformats.org/officeDocument/2006/relationships/image" Target="../media/image72.png"/><Relationship Id="rId8" Type="http://schemas.openxmlformats.org/officeDocument/2006/relationships/slide" Target="slide1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5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slide" Target="slide1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5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slide" Target="slide1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5.xml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slide" Target="slide1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5.xml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slide" Target="slide1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5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slide" Target="slide1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5.xml"/><Relationship Id="rId3" Type="http://schemas.openxmlformats.org/officeDocument/2006/relationships/image" Target="../media/image92.png"/><Relationship Id="rId4" Type="http://schemas.openxmlformats.org/officeDocument/2006/relationships/slide" Target="slide1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5.xml"/><Relationship Id="rId3" Type="http://schemas.openxmlformats.org/officeDocument/2006/relationships/image" Target="../media/image93.jpg"/><Relationship Id="rId4" Type="http://schemas.openxmlformats.org/officeDocument/2006/relationships/slide" Target="slide1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5.xml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slide" Target="slide1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5.xml"/><Relationship Id="rId3" Type="http://schemas.openxmlformats.org/officeDocument/2006/relationships/image" Target="../media/image99.jpg"/><Relationship Id="rId4" Type="http://schemas.openxmlformats.org/officeDocument/2006/relationships/slide" Target="slide1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5.xml"/><Relationship Id="rId3" Type="http://schemas.openxmlformats.org/officeDocument/2006/relationships/image" Target="../media/image100.jpg"/><Relationship Id="rId4" Type="http://schemas.openxmlformats.org/officeDocument/2006/relationships/slide" Target="slide1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5.xml"/><Relationship Id="rId3" Type="http://schemas.openxmlformats.org/officeDocument/2006/relationships/image" Target="../media/image101.jpg"/><Relationship Id="rId4" Type="http://schemas.openxmlformats.org/officeDocument/2006/relationships/slide" Target="slide1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5.xml"/><Relationship Id="rId3" Type="http://schemas.openxmlformats.org/officeDocument/2006/relationships/slide" Target="slide1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5.xml"/><Relationship Id="rId3" Type="http://schemas.openxmlformats.org/officeDocument/2006/relationships/image" Target="../media/image102.jpg"/><Relationship Id="rId4" Type="http://schemas.openxmlformats.org/officeDocument/2006/relationships/slide" Target="slide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7743" y="551420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7" y="82384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7743" y="595842"/>
            <a:ext cx="4483735" cy="842010"/>
            <a:chOff x="87743" y="595842"/>
            <a:chExt cx="4483735" cy="84201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336230"/>
              <a:ext cx="101599" cy="1016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323530"/>
              <a:ext cx="4381767" cy="11430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1" y="601992"/>
              <a:ext cx="50800" cy="734237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7743" y="595842"/>
              <a:ext cx="4432935" cy="791210"/>
            </a:xfrm>
            <a:custGeom>
              <a:avLst/>
              <a:gdLst/>
              <a:ahLst/>
              <a:cxnLst/>
              <a:rect l="l" t="t" r="r" b="b"/>
              <a:pathLst>
                <a:path w="4432935" h="791210">
                  <a:moveTo>
                    <a:pt x="4432567" y="0"/>
                  </a:moveTo>
                  <a:lnTo>
                    <a:pt x="0" y="0"/>
                  </a:lnTo>
                  <a:lnTo>
                    <a:pt x="0" y="740388"/>
                  </a:lnTo>
                  <a:lnTo>
                    <a:pt x="4008" y="760113"/>
                  </a:lnTo>
                  <a:lnTo>
                    <a:pt x="14922" y="776266"/>
                  </a:lnTo>
                  <a:lnTo>
                    <a:pt x="31075" y="787180"/>
                  </a:lnTo>
                  <a:lnTo>
                    <a:pt x="50800" y="791188"/>
                  </a:lnTo>
                  <a:lnTo>
                    <a:pt x="4381767" y="791188"/>
                  </a:lnTo>
                  <a:lnTo>
                    <a:pt x="4401492" y="787180"/>
                  </a:lnTo>
                  <a:lnTo>
                    <a:pt x="4417644" y="776266"/>
                  </a:lnTo>
                  <a:lnTo>
                    <a:pt x="4428558" y="760113"/>
                  </a:lnTo>
                  <a:lnTo>
                    <a:pt x="4432567" y="740388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0068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520311" y="640078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w="0" h="715644">
                  <a:moveTo>
                    <a:pt x="0" y="7152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520311" y="6273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520311" y="6146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520311" y="6019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484807" y="651977"/>
            <a:ext cx="163893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="0">
                <a:solidFill>
                  <a:srgbClr val="FFFFFF"/>
                </a:solidFill>
                <a:latin typeface="Bookman Old Style"/>
                <a:cs typeface="Bookman Old Style"/>
              </a:rPr>
              <a:t>C</a:t>
            </a:r>
            <a:r>
              <a:rPr dirty="0" cap="small" b="0">
                <a:solidFill>
                  <a:srgbClr val="FFFFFF"/>
                </a:solidFill>
                <a:latin typeface="Bookman Old Style"/>
                <a:cs typeface="Bookman Old Style"/>
              </a:rPr>
              <a:t>ode</a:t>
            </a:r>
            <a:r>
              <a:rPr dirty="0" spc="195" b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dirty="0" spc="25" b="0">
                <a:solidFill>
                  <a:srgbClr val="FFFFFF"/>
                </a:solidFill>
                <a:latin typeface="Bookman Old Style"/>
                <a:cs typeface="Bookman Old Style"/>
              </a:rPr>
              <a:t>G</a:t>
            </a:r>
            <a:r>
              <a:rPr dirty="0" cap="small" spc="25" b="0">
                <a:solidFill>
                  <a:srgbClr val="FFFFFF"/>
                </a:solidFill>
                <a:latin typeface="Bookman Old Style"/>
                <a:cs typeface="Bookman Old Style"/>
              </a:rPr>
              <a:t>eneration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718881" y="918069"/>
            <a:ext cx="1170305" cy="363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FFFFFF"/>
                </a:solidFill>
                <a:latin typeface="Bookman Old Style"/>
                <a:cs typeface="Bookman Old Style"/>
              </a:rPr>
              <a:t>L</a:t>
            </a:r>
            <a:r>
              <a:rPr dirty="0" cap="small" sz="1100">
                <a:solidFill>
                  <a:srgbClr val="FFFFFF"/>
                </a:solidFill>
                <a:latin typeface="Bookman Old Style"/>
                <a:cs typeface="Bookman Old Style"/>
              </a:rPr>
              <a:t>ecture</a:t>
            </a:r>
            <a:r>
              <a:rPr dirty="0" sz="1100" spc="10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Bookman Old Style"/>
                <a:cs typeface="Bookman Old Style"/>
              </a:rPr>
              <a:t>20</a:t>
            </a:r>
            <a:endParaRPr sz="1100">
              <a:latin typeface="Bookman Old Style"/>
              <a:cs typeface="Bookman Old Style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solidFill>
                  <a:srgbClr val="FFFFFF"/>
                </a:solidFill>
                <a:latin typeface="Bookman Old Style"/>
                <a:cs typeface="Bookman Old Style"/>
              </a:rPr>
              <a:t>S</a:t>
            </a:r>
            <a:r>
              <a:rPr dirty="0" cap="small" sz="1100">
                <a:solidFill>
                  <a:srgbClr val="FFFFFF"/>
                </a:solidFill>
                <a:latin typeface="Bookman Old Style"/>
                <a:cs typeface="Bookman Old Style"/>
              </a:rPr>
              <a:t>ection</a:t>
            </a:r>
            <a:r>
              <a:rPr dirty="0" sz="1100" spc="-1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Bookman Old Style"/>
                <a:cs typeface="Bookman Old Style"/>
              </a:rPr>
              <a:t>8.1</a:t>
            </a:r>
            <a:r>
              <a:rPr dirty="0" sz="1100" spc="-1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FFFFFF"/>
                </a:solidFill>
                <a:latin typeface="Bookman Old Style"/>
                <a:cs typeface="Bookman Old Style"/>
              </a:rPr>
              <a:t>-</a:t>
            </a:r>
            <a:r>
              <a:rPr dirty="0" sz="1100" spc="-1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dirty="0" sz="1100" spc="-85">
                <a:solidFill>
                  <a:srgbClr val="FFFFFF"/>
                </a:solidFill>
                <a:latin typeface="Bookman Old Style"/>
                <a:cs typeface="Bookman Old Style"/>
              </a:rPr>
              <a:t>8.4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71054" y="1595576"/>
            <a:ext cx="2066289" cy="850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Bookman Old Style"/>
                <a:cs typeface="Bookman Old Style"/>
              </a:rPr>
              <a:t>R</a:t>
            </a:r>
            <a:r>
              <a:rPr dirty="0" cap="small" sz="1100">
                <a:latin typeface="Bookman Old Style"/>
                <a:cs typeface="Bookman Old Style"/>
              </a:rPr>
              <a:t>okan</a:t>
            </a:r>
            <a:r>
              <a:rPr dirty="0" sz="1100" spc="105">
                <a:latin typeface="Bookman Old Style"/>
                <a:cs typeface="Bookman Old Style"/>
              </a:rPr>
              <a:t> </a:t>
            </a:r>
            <a:r>
              <a:rPr dirty="0" sz="1100">
                <a:latin typeface="Bookman Old Style"/>
                <a:cs typeface="Bookman Old Style"/>
              </a:rPr>
              <a:t>U</a:t>
            </a:r>
            <a:r>
              <a:rPr dirty="0" cap="small" sz="1100">
                <a:latin typeface="Bookman Old Style"/>
                <a:cs typeface="Bookman Old Style"/>
              </a:rPr>
              <a:t>ddin</a:t>
            </a:r>
            <a:r>
              <a:rPr dirty="0" sz="1100" spc="100">
                <a:latin typeface="Bookman Old Style"/>
                <a:cs typeface="Bookman Old Style"/>
              </a:rPr>
              <a:t> </a:t>
            </a:r>
            <a:r>
              <a:rPr dirty="0" sz="1100" spc="-10">
                <a:latin typeface="Bookman Old Style"/>
                <a:cs typeface="Bookman Old Style"/>
              </a:rPr>
              <a:t>F</a:t>
            </a:r>
            <a:r>
              <a:rPr dirty="0" cap="small" sz="1100" spc="-10">
                <a:latin typeface="Bookman Old Style"/>
                <a:cs typeface="Bookman Old Style"/>
              </a:rPr>
              <a:t>aruqui</a:t>
            </a:r>
            <a:endParaRPr sz="11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>
              <a:latin typeface="Bookman Old Style"/>
              <a:cs typeface="Bookman Old Style"/>
            </a:endParaRPr>
          </a:p>
          <a:p>
            <a:pPr algn="ctr">
              <a:lnSpc>
                <a:spcPts val="955"/>
              </a:lnSpc>
              <a:spcBef>
                <a:spcPts val="5"/>
              </a:spcBef>
            </a:pPr>
            <a:r>
              <a:rPr dirty="0" sz="800" spc="-20">
                <a:latin typeface="Bookman Old Style"/>
                <a:cs typeface="Bookman Old Style"/>
              </a:rPr>
              <a:t>Associate</a:t>
            </a:r>
            <a:r>
              <a:rPr dirty="0" sz="800" spc="20">
                <a:latin typeface="Bookman Old Style"/>
                <a:cs typeface="Bookman Old Style"/>
              </a:rPr>
              <a:t> </a:t>
            </a:r>
            <a:r>
              <a:rPr dirty="0" sz="800" spc="-10">
                <a:latin typeface="Bookman Old Style"/>
                <a:cs typeface="Bookman Old Style"/>
              </a:rPr>
              <a:t>Professor</a:t>
            </a:r>
            <a:endParaRPr sz="800">
              <a:latin typeface="Bookman Old Style"/>
              <a:cs typeface="Bookman Old Style"/>
            </a:endParaRPr>
          </a:p>
          <a:p>
            <a:pPr algn="ctr" marL="12065" marR="5080">
              <a:lnSpc>
                <a:spcPts val="950"/>
              </a:lnSpc>
              <a:spcBef>
                <a:spcPts val="30"/>
              </a:spcBef>
            </a:pPr>
            <a:r>
              <a:rPr dirty="0" sz="800">
                <a:latin typeface="Bookman Old Style"/>
                <a:cs typeface="Bookman Old Style"/>
              </a:rPr>
              <a:t>Dept</a:t>
            </a:r>
            <a:r>
              <a:rPr dirty="0" sz="800" spc="-10">
                <a:latin typeface="Bookman Old Style"/>
                <a:cs typeface="Bookman Old Style"/>
              </a:rPr>
              <a:t> </a:t>
            </a:r>
            <a:r>
              <a:rPr dirty="0" sz="800">
                <a:latin typeface="Bookman Old Style"/>
                <a:cs typeface="Bookman Old Style"/>
              </a:rPr>
              <a:t>of</a:t>
            </a:r>
            <a:r>
              <a:rPr dirty="0" sz="800" spc="-10">
                <a:latin typeface="Bookman Old Style"/>
                <a:cs typeface="Bookman Old Style"/>
              </a:rPr>
              <a:t> </a:t>
            </a:r>
            <a:r>
              <a:rPr dirty="0" sz="800" spc="-20">
                <a:latin typeface="Bookman Old Style"/>
                <a:cs typeface="Bookman Old Style"/>
              </a:rPr>
              <a:t>Computer</a:t>
            </a:r>
            <a:r>
              <a:rPr dirty="0" sz="800" spc="-10">
                <a:latin typeface="Bookman Old Style"/>
                <a:cs typeface="Bookman Old Style"/>
              </a:rPr>
              <a:t> </a:t>
            </a:r>
            <a:r>
              <a:rPr dirty="0" sz="800" spc="-35">
                <a:latin typeface="Bookman Old Style"/>
                <a:cs typeface="Bookman Old Style"/>
              </a:rPr>
              <a:t>Science</a:t>
            </a:r>
            <a:r>
              <a:rPr dirty="0" sz="800" spc="-10">
                <a:latin typeface="Bookman Old Style"/>
                <a:cs typeface="Bookman Old Style"/>
              </a:rPr>
              <a:t> </a:t>
            </a:r>
            <a:r>
              <a:rPr dirty="0" sz="800" spc="-25">
                <a:latin typeface="Bookman Old Style"/>
                <a:cs typeface="Bookman Old Style"/>
              </a:rPr>
              <a:t>and</a:t>
            </a:r>
            <a:r>
              <a:rPr dirty="0" sz="800" spc="-10">
                <a:latin typeface="Bookman Old Style"/>
                <a:cs typeface="Bookman Old Style"/>
              </a:rPr>
              <a:t> </a:t>
            </a:r>
            <a:r>
              <a:rPr dirty="0" sz="800" spc="-30">
                <a:latin typeface="Bookman Old Style"/>
                <a:cs typeface="Bookman Old Style"/>
              </a:rPr>
              <a:t>Engineering </a:t>
            </a:r>
            <a:r>
              <a:rPr dirty="0" sz="800" spc="-20">
                <a:latin typeface="Bookman Old Style"/>
                <a:cs typeface="Bookman Old Style"/>
              </a:rPr>
              <a:t>University</a:t>
            </a:r>
            <a:r>
              <a:rPr dirty="0" sz="800">
                <a:latin typeface="Bookman Old Style"/>
                <a:cs typeface="Bookman Old Style"/>
              </a:rPr>
              <a:t> of</a:t>
            </a:r>
            <a:r>
              <a:rPr dirty="0" sz="800" spc="5">
                <a:latin typeface="Bookman Old Style"/>
                <a:cs typeface="Bookman Old Style"/>
              </a:rPr>
              <a:t> </a:t>
            </a:r>
            <a:r>
              <a:rPr dirty="0" sz="800" spc="-10">
                <a:latin typeface="Bookman Old Style"/>
                <a:cs typeface="Bookman Old Style"/>
              </a:rPr>
              <a:t>Chittaong,</a:t>
            </a:r>
            <a:r>
              <a:rPr dirty="0" sz="800" spc="5">
                <a:latin typeface="Bookman Old Style"/>
                <a:cs typeface="Bookman Old Style"/>
              </a:rPr>
              <a:t> </a:t>
            </a:r>
            <a:r>
              <a:rPr dirty="0" sz="800" spc="-10">
                <a:latin typeface="Bookman Old Style"/>
                <a:cs typeface="Bookman Old Style"/>
              </a:rPr>
              <a:t>Bangladesh </a:t>
            </a:r>
            <a:r>
              <a:rPr dirty="0" sz="800">
                <a:latin typeface="Bookman Old Style"/>
                <a:cs typeface="Bookman Old Style"/>
              </a:rPr>
              <a:t>Email:</a:t>
            </a:r>
            <a:r>
              <a:rPr dirty="0" sz="800" spc="-10">
                <a:latin typeface="Bookman Old Style"/>
                <a:cs typeface="Bookman Old Style"/>
              </a:rPr>
              <a:t> </a:t>
            </a:r>
            <a:r>
              <a:rPr dirty="0" sz="800" spc="-10" i="1">
                <a:latin typeface="Bookman Old Style"/>
                <a:cs typeface="Bookman Old Style"/>
                <a:hlinkClick r:id="rId5"/>
              </a:rPr>
              <a:t>rokan@cu.ac.bd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2938501" y="339653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2858884" y="339257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3036686" y="339257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3158109" y="3383695"/>
            <a:ext cx="203200" cy="55880"/>
            <a:chOff x="3158109" y="3383695"/>
            <a:chExt cx="203200" cy="55880"/>
          </a:xfrm>
        </p:grpSpPr>
        <p:sp>
          <p:nvSpPr>
            <p:cNvPr id="19" name="object 19" descr=""/>
            <p:cNvSpPr/>
            <p:nvPr/>
          </p:nvSpPr>
          <p:spPr>
            <a:xfrm>
              <a:off x="3221277" y="3386225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158109" y="339257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3457346" y="3382429"/>
            <a:ext cx="203200" cy="58419"/>
            <a:chOff x="3457346" y="3382429"/>
            <a:chExt cx="203200" cy="58419"/>
          </a:xfrm>
        </p:grpSpPr>
        <p:sp>
          <p:nvSpPr>
            <p:cNvPr id="22" name="object 22" descr=""/>
            <p:cNvSpPr/>
            <p:nvPr/>
          </p:nvSpPr>
          <p:spPr>
            <a:xfrm>
              <a:off x="3546247" y="339892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457346" y="339257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533547" y="338622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3756583" y="3382429"/>
            <a:ext cx="203200" cy="58419"/>
            <a:chOff x="3756583" y="3382429"/>
            <a:chExt cx="203200" cy="58419"/>
          </a:xfrm>
        </p:grpSpPr>
        <p:sp>
          <p:nvSpPr>
            <p:cNvPr id="26" name="object 26" descr=""/>
            <p:cNvSpPr/>
            <p:nvPr/>
          </p:nvSpPr>
          <p:spPr>
            <a:xfrm>
              <a:off x="3832784" y="3386225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756583" y="339257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832784" y="3424326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/>
          <p:nvPr/>
        </p:nvSpPr>
        <p:spPr>
          <a:xfrm>
            <a:off x="4132009" y="338622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 descr=""/>
          <p:cNvGrpSpPr/>
          <p:nvPr/>
        </p:nvGrpSpPr>
        <p:grpSpPr>
          <a:xfrm>
            <a:off x="4337275" y="3383695"/>
            <a:ext cx="238760" cy="57150"/>
            <a:chOff x="4337275" y="3383695"/>
            <a:chExt cx="238760" cy="57150"/>
          </a:xfrm>
        </p:grpSpPr>
        <p:sp>
          <p:nvSpPr>
            <p:cNvPr id="31" name="object 31" descr=""/>
            <p:cNvSpPr/>
            <p:nvPr/>
          </p:nvSpPr>
          <p:spPr>
            <a:xfrm>
              <a:off x="4461727" y="3416706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434663" y="33902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339806" y="3386225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10325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Phases</a:t>
            </a:r>
            <a:r>
              <a:rPr dirty="0" sz="600" spc="2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of</a:t>
            </a:r>
            <a:r>
              <a:rPr dirty="0" sz="600" spc="2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compilation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921668" y="673481"/>
            <a:ext cx="1419860" cy="197485"/>
            <a:chOff x="1921668" y="673481"/>
            <a:chExt cx="1419860" cy="197485"/>
          </a:xfrm>
        </p:grpSpPr>
        <p:sp>
          <p:nvSpPr>
            <p:cNvPr id="5" name="object 5" descr=""/>
            <p:cNvSpPr/>
            <p:nvPr/>
          </p:nvSpPr>
          <p:spPr>
            <a:xfrm>
              <a:off x="1924208" y="676021"/>
              <a:ext cx="1414780" cy="192405"/>
            </a:xfrm>
            <a:custGeom>
              <a:avLst/>
              <a:gdLst/>
              <a:ahLst/>
              <a:cxnLst/>
              <a:rect l="l" t="t" r="r" b="b"/>
              <a:pathLst>
                <a:path w="1414779" h="192405">
                  <a:moveTo>
                    <a:pt x="1363592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41274"/>
                  </a:lnTo>
                  <a:lnTo>
                    <a:pt x="3977" y="160975"/>
                  </a:lnTo>
                  <a:lnTo>
                    <a:pt x="14823" y="177061"/>
                  </a:lnTo>
                  <a:lnTo>
                    <a:pt x="30910" y="187907"/>
                  </a:lnTo>
                  <a:lnTo>
                    <a:pt x="50610" y="191884"/>
                  </a:lnTo>
                  <a:lnTo>
                    <a:pt x="1363592" y="191884"/>
                  </a:lnTo>
                  <a:lnTo>
                    <a:pt x="1383293" y="187907"/>
                  </a:lnTo>
                  <a:lnTo>
                    <a:pt x="1399380" y="177061"/>
                  </a:lnTo>
                  <a:lnTo>
                    <a:pt x="1410226" y="160975"/>
                  </a:lnTo>
                  <a:lnTo>
                    <a:pt x="1414203" y="141274"/>
                  </a:lnTo>
                  <a:lnTo>
                    <a:pt x="1414203" y="50609"/>
                  </a:lnTo>
                  <a:lnTo>
                    <a:pt x="1410226" y="30909"/>
                  </a:lnTo>
                  <a:lnTo>
                    <a:pt x="1399380" y="14822"/>
                  </a:lnTo>
                  <a:lnTo>
                    <a:pt x="1383293" y="3976"/>
                  </a:lnTo>
                  <a:lnTo>
                    <a:pt x="1363592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24208" y="676021"/>
              <a:ext cx="1414780" cy="192405"/>
            </a:xfrm>
            <a:custGeom>
              <a:avLst/>
              <a:gdLst/>
              <a:ahLst/>
              <a:cxnLst/>
              <a:rect l="l" t="t" r="r" b="b"/>
              <a:pathLst>
                <a:path w="1414779" h="192405">
                  <a:moveTo>
                    <a:pt x="1363592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41274"/>
                  </a:lnTo>
                  <a:lnTo>
                    <a:pt x="3977" y="160975"/>
                  </a:lnTo>
                  <a:lnTo>
                    <a:pt x="14823" y="177061"/>
                  </a:lnTo>
                  <a:lnTo>
                    <a:pt x="30910" y="187907"/>
                  </a:lnTo>
                  <a:lnTo>
                    <a:pt x="50610" y="191884"/>
                  </a:lnTo>
                  <a:lnTo>
                    <a:pt x="1363592" y="191884"/>
                  </a:lnTo>
                  <a:lnTo>
                    <a:pt x="1383293" y="187907"/>
                  </a:lnTo>
                  <a:lnTo>
                    <a:pt x="1399380" y="177061"/>
                  </a:lnTo>
                  <a:lnTo>
                    <a:pt x="1410226" y="160975"/>
                  </a:lnTo>
                  <a:lnTo>
                    <a:pt x="1414203" y="141274"/>
                  </a:lnTo>
                  <a:lnTo>
                    <a:pt x="1414203" y="50609"/>
                  </a:lnTo>
                  <a:lnTo>
                    <a:pt x="1410226" y="30909"/>
                  </a:lnTo>
                  <a:lnTo>
                    <a:pt x="1399380" y="14822"/>
                  </a:lnTo>
                  <a:lnTo>
                    <a:pt x="1383293" y="3976"/>
                  </a:lnTo>
                  <a:lnTo>
                    <a:pt x="1363592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950529" y="673895"/>
            <a:ext cx="136144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80">
                <a:latin typeface="Bookman Old Style"/>
                <a:cs typeface="Bookman Old Style"/>
              </a:rPr>
              <a:t>Scanner</a:t>
            </a:r>
            <a:r>
              <a:rPr dirty="0" sz="900" spc="10">
                <a:latin typeface="Bookman Old Style"/>
                <a:cs typeface="Bookman Old Style"/>
              </a:rPr>
              <a:t> </a:t>
            </a:r>
            <a:r>
              <a:rPr dirty="0" sz="900" spc="-10">
                <a:latin typeface="Bookman Old Style"/>
                <a:cs typeface="Bookman Old Style"/>
              </a:rPr>
              <a:t>(Lexical</a:t>
            </a:r>
            <a:r>
              <a:rPr dirty="0" sz="900" spc="20">
                <a:latin typeface="Bookman Old Style"/>
                <a:cs typeface="Bookman Old Style"/>
              </a:rPr>
              <a:t> </a:t>
            </a:r>
            <a:r>
              <a:rPr dirty="0" sz="900" spc="-35">
                <a:latin typeface="Bookman Old Style"/>
                <a:cs typeface="Bookman Old Style"/>
              </a:rPr>
              <a:t>analysis)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207755" y="336189"/>
            <a:ext cx="847090" cy="1625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70" b="0">
                <a:solidFill>
                  <a:srgbClr val="000000"/>
                </a:solidFill>
                <a:latin typeface="Bookman Old Style"/>
                <a:cs typeface="Bookman Old Style"/>
              </a:rPr>
              <a:t>Source</a:t>
            </a:r>
            <a:r>
              <a:rPr dirty="0" sz="900" spc="40" b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dirty="0" sz="900" spc="-30" b="0">
                <a:solidFill>
                  <a:srgbClr val="000000"/>
                </a:solidFill>
                <a:latin typeface="Bookman Old Style"/>
                <a:cs typeface="Bookman Old Style"/>
              </a:rPr>
              <a:t>Program</a:t>
            </a:r>
            <a:endParaRPr sz="900">
              <a:latin typeface="Bookman Old Style"/>
              <a:cs typeface="Bookman Old Style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987880" y="536511"/>
            <a:ext cx="1287145" cy="658495"/>
            <a:chOff x="1987880" y="536511"/>
            <a:chExt cx="1287145" cy="658495"/>
          </a:xfrm>
        </p:grpSpPr>
        <p:sp>
          <p:nvSpPr>
            <p:cNvPr id="10" name="object 10" descr=""/>
            <p:cNvSpPr/>
            <p:nvPr/>
          </p:nvSpPr>
          <p:spPr>
            <a:xfrm>
              <a:off x="2631310" y="539051"/>
              <a:ext cx="0" cy="128905"/>
            </a:xfrm>
            <a:custGeom>
              <a:avLst/>
              <a:gdLst/>
              <a:ahLst/>
              <a:cxnLst/>
              <a:rect l="l" t="t" r="r" b="b"/>
              <a:pathLst>
                <a:path w="0" h="128904">
                  <a:moveTo>
                    <a:pt x="0" y="12861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611066" y="652481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990420" y="1000023"/>
              <a:ext cx="1282065" cy="192405"/>
            </a:xfrm>
            <a:custGeom>
              <a:avLst/>
              <a:gdLst/>
              <a:ahLst/>
              <a:cxnLst/>
              <a:rect l="l" t="t" r="r" b="b"/>
              <a:pathLst>
                <a:path w="1282064" h="192405">
                  <a:moveTo>
                    <a:pt x="1231169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41274"/>
                  </a:lnTo>
                  <a:lnTo>
                    <a:pt x="3977" y="160975"/>
                  </a:lnTo>
                  <a:lnTo>
                    <a:pt x="14823" y="177061"/>
                  </a:lnTo>
                  <a:lnTo>
                    <a:pt x="30910" y="187907"/>
                  </a:lnTo>
                  <a:lnTo>
                    <a:pt x="50610" y="191884"/>
                  </a:lnTo>
                  <a:lnTo>
                    <a:pt x="1231169" y="191884"/>
                  </a:lnTo>
                  <a:lnTo>
                    <a:pt x="1250870" y="187907"/>
                  </a:lnTo>
                  <a:lnTo>
                    <a:pt x="1266958" y="177061"/>
                  </a:lnTo>
                  <a:lnTo>
                    <a:pt x="1277804" y="160975"/>
                  </a:lnTo>
                  <a:lnTo>
                    <a:pt x="1281781" y="141274"/>
                  </a:lnTo>
                  <a:lnTo>
                    <a:pt x="1281781" y="50609"/>
                  </a:lnTo>
                  <a:lnTo>
                    <a:pt x="1277804" y="30909"/>
                  </a:lnTo>
                  <a:lnTo>
                    <a:pt x="1266958" y="14822"/>
                  </a:lnTo>
                  <a:lnTo>
                    <a:pt x="1250870" y="3976"/>
                  </a:lnTo>
                  <a:lnTo>
                    <a:pt x="1231169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990420" y="1000023"/>
              <a:ext cx="1282065" cy="192405"/>
            </a:xfrm>
            <a:custGeom>
              <a:avLst/>
              <a:gdLst/>
              <a:ahLst/>
              <a:cxnLst/>
              <a:rect l="l" t="t" r="r" b="b"/>
              <a:pathLst>
                <a:path w="1282064" h="192405">
                  <a:moveTo>
                    <a:pt x="1231169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41274"/>
                  </a:lnTo>
                  <a:lnTo>
                    <a:pt x="3977" y="160975"/>
                  </a:lnTo>
                  <a:lnTo>
                    <a:pt x="14823" y="177061"/>
                  </a:lnTo>
                  <a:lnTo>
                    <a:pt x="30910" y="187907"/>
                  </a:lnTo>
                  <a:lnTo>
                    <a:pt x="50610" y="191884"/>
                  </a:lnTo>
                  <a:lnTo>
                    <a:pt x="1231169" y="191884"/>
                  </a:lnTo>
                  <a:lnTo>
                    <a:pt x="1250870" y="187907"/>
                  </a:lnTo>
                  <a:lnTo>
                    <a:pt x="1266958" y="177061"/>
                  </a:lnTo>
                  <a:lnTo>
                    <a:pt x="1277804" y="160975"/>
                  </a:lnTo>
                  <a:lnTo>
                    <a:pt x="1281781" y="141274"/>
                  </a:lnTo>
                  <a:lnTo>
                    <a:pt x="1281781" y="50609"/>
                  </a:lnTo>
                  <a:lnTo>
                    <a:pt x="1277804" y="30909"/>
                  </a:lnTo>
                  <a:lnTo>
                    <a:pt x="1266958" y="14822"/>
                  </a:lnTo>
                  <a:lnTo>
                    <a:pt x="1250870" y="3976"/>
                  </a:lnTo>
                  <a:lnTo>
                    <a:pt x="1231169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2016734" y="997897"/>
            <a:ext cx="122936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40">
                <a:latin typeface="Bookman Old Style"/>
                <a:cs typeface="Bookman Old Style"/>
              </a:rPr>
              <a:t>Parser</a:t>
            </a:r>
            <a:r>
              <a:rPr dirty="0" sz="900" spc="-35">
                <a:latin typeface="Bookman Old Style"/>
                <a:cs typeface="Bookman Old Style"/>
              </a:rPr>
              <a:t> </a:t>
            </a:r>
            <a:r>
              <a:rPr dirty="0" sz="900" spc="-20">
                <a:latin typeface="Bookman Old Style"/>
                <a:cs typeface="Bookman Old Style"/>
              </a:rPr>
              <a:t>(Syntax</a:t>
            </a:r>
            <a:r>
              <a:rPr dirty="0" sz="900" spc="-30">
                <a:latin typeface="Bookman Old Style"/>
                <a:cs typeface="Bookman Old Style"/>
              </a:rPr>
              <a:t> </a:t>
            </a:r>
            <a:r>
              <a:rPr dirty="0" sz="900" spc="-50">
                <a:latin typeface="Bookman Old Style"/>
                <a:cs typeface="Bookman Old Style"/>
              </a:rPr>
              <a:t>analysis</a:t>
            </a:r>
            <a:endParaRPr sz="900">
              <a:latin typeface="Bookman Old Style"/>
              <a:cs typeface="Bookman Old Style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412333" y="945286"/>
            <a:ext cx="2993390" cy="1869439"/>
            <a:chOff x="1412333" y="945286"/>
            <a:chExt cx="2993390" cy="1869439"/>
          </a:xfrm>
        </p:grpSpPr>
        <p:sp>
          <p:nvSpPr>
            <p:cNvPr id="16" name="object 16" descr=""/>
            <p:cNvSpPr/>
            <p:nvPr/>
          </p:nvSpPr>
          <p:spPr>
            <a:xfrm>
              <a:off x="2139737" y="1330350"/>
              <a:ext cx="983615" cy="179705"/>
            </a:xfrm>
            <a:custGeom>
              <a:avLst/>
              <a:gdLst/>
              <a:ahLst/>
              <a:cxnLst/>
              <a:rect l="l" t="t" r="r" b="b"/>
              <a:pathLst>
                <a:path w="983614" h="179705">
                  <a:moveTo>
                    <a:pt x="932534" y="0"/>
                  </a:moveTo>
                  <a:lnTo>
                    <a:pt x="50611" y="0"/>
                  </a:lnTo>
                  <a:lnTo>
                    <a:pt x="30911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8625"/>
                  </a:lnTo>
                  <a:lnTo>
                    <a:pt x="3977" y="148325"/>
                  </a:lnTo>
                  <a:lnTo>
                    <a:pt x="14823" y="164412"/>
                  </a:lnTo>
                  <a:lnTo>
                    <a:pt x="30911" y="175258"/>
                  </a:lnTo>
                  <a:lnTo>
                    <a:pt x="50611" y="179235"/>
                  </a:lnTo>
                  <a:lnTo>
                    <a:pt x="932534" y="179235"/>
                  </a:lnTo>
                  <a:lnTo>
                    <a:pt x="952234" y="175258"/>
                  </a:lnTo>
                  <a:lnTo>
                    <a:pt x="968321" y="164412"/>
                  </a:lnTo>
                  <a:lnTo>
                    <a:pt x="979167" y="148325"/>
                  </a:lnTo>
                  <a:lnTo>
                    <a:pt x="983145" y="128625"/>
                  </a:lnTo>
                  <a:lnTo>
                    <a:pt x="983145" y="50609"/>
                  </a:lnTo>
                  <a:lnTo>
                    <a:pt x="979167" y="30909"/>
                  </a:lnTo>
                  <a:lnTo>
                    <a:pt x="968321" y="14822"/>
                  </a:lnTo>
                  <a:lnTo>
                    <a:pt x="952234" y="3976"/>
                  </a:lnTo>
                  <a:lnTo>
                    <a:pt x="932534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139737" y="1330350"/>
              <a:ext cx="983615" cy="179705"/>
            </a:xfrm>
            <a:custGeom>
              <a:avLst/>
              <a:gdLst/>
              <a:ahLst/>
              <a:cxnLst/>
              <a:rect l="l" t="t" r="r" b="b"/>
              <a:pathLst>
                <a:path w="983614" h="179705">
                  <a:moveTo>
                    <a:pt x="932534" y="0"/>
                  </a:moveTo>
                  <a:lnTo>
                    <a:pt x="50611" y="0"/>
                  </a:lnTo>
                  <a:lnTo>
                    <a:pt x="30911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8625"/>
                  </a:lnTo>
                  <a:lnTo>
                    <a:pt x="3977" y="148325"/>
                  </a:lnTo>
                  <a:lnTo>
                    <a:pt x="14823" y="164412"/>
                  </a:lnTo>
                  <a:lnTo>
                    <a:pt x="30911" y="175258"/>
                  </a:lnTo>
                  <a:lnTo>
                    <a:pt x="50611" y="179235"/>
                  </a:lnTo>
                  <a:lnTo>
                    <a:pt x="932534" y="179235"/>
                  </a:lnTo>
                  <a:lnTo>
                    <a:pt x="952234" y="175258"/>
                  </a:lnTo>
                  <a:lnTo>
                    <a:pt x="968321" y="164412"/>
                  </a:lnTo>
                  <a:lnTo>
                    <a:pt x="979167" y="148325"/>
                  </a:lnTo>
                  <a:lnTo>
                    <a:pt x="983145" y="128625"/>
                  </a:lnTo>
                  <a:lnTo>
                    <a:pt x="983145" y="50609"/>
                  </a:lnTo>
                  <a:lnTo>
                    <a:pt x="979167" y="30909"/>
                  </a:lnTo>
                  <a:lnTo>
                    <a:pt x="968321" y="14822"/>
                  </a:lnTo>
                  <a:lnTo>
                    <a:pt x="952234" y="3976"/>
                  </a:lnTo>
                  <a:lnTo>
                    <a:pt x="932534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845806" y="1654352"/>
              <a:ext cx="1571625" cy="179705"/>
            </a:xfrm>
            <a:custGeom>
              <a:avLst/>
              <a:gdLst/>
              <a:ahLst/>
              <a:cxnLst/>
              <a:rect l="l" t="t" r="r" b="b"/>
              <a:pathLst>
                <a:path w="1571625" h="179705">
                  <a:moveTo>
                    <a:pt x="1520397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8625"/>
                  </a:lnTo>
                  <a:lnTo>
                    <a:pt x="3977" y="148325"/>
                  </a:lnTo>
                  <a:lnTo>
                    <a:pt x="14823" y="164412"/>
                  </a:lnTo>
                  <a:lnTo>
                    <a:pt x="30910" y="175258"/>
                  </a:lnTo>
                  <a:lnTo>
                    <a:pt x="50610" y="179235"/>
                  </a:lnTo>
                  <a:lnTo>
                    <a:pt x="1520397" y="179235"/>
                  </a:lnTo>
                  <a:lnTo>
                    <a:pt x="1540097" y="175258"/>
                  </a:lnTo>
                  <a:lnTo>
                    <a:pt x="1556184" y="164412"/>
                  </a:lnTo>
                  <a:lnTo>
                    <a:pt x="1567030" y="148325"/>
                  </a:lnTo>
                  <a:lnTo>
                    <a:pt x="1571007" y="128625"/>
                  </a:lnTo>
                  <a:lnTo>
                    <a:pt x="1571007" y="50609"/>
                  </a:lnTo>
                  <a:lnTo>
                    <a:pt x="1567030" y="30909"/>
                  </a:lnTo>
                  <a:lnTo>
                    <a:pt x="1556184" y="14822"/>
                  </a:lnTo>
                  <a:lnTo>
                    <a:pt x="1540097" y="3976"/>
                  </a:lnTo>
                  <a:lnTo>
                    <a:pt x="1520397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845806" y="1654352"/>
              <a:ext cx="1571625" cy="179705"/>
            </a:xfrm>
            <a:custGeom>
              <a:avLst/>
              <a:gdLst/>
              <a:ahLst/>
              <a:cxnLst/>
              <a:rect l="l" t="t" r="r" b="b"/>
              <a:pathLst>
                <a:path w="1571625" h="179705">
                  <a:moveTo>
                    <a:pt x="1520397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8625"/>
                  </a:lnTo>
                  <a:lnTo>
                    <a:pt x="3977" y="148325"/>
                  </a:lnTo>
                  <a:lnTo>
                    <a:pt x="14823" y="164412"/>
                  </a:lnTo>
                  <a:lnTo>
                    <a:pt x="30910" y="175258"/>
                  </a:lnTo>
                  <a:lnTo>
                    <a:pt x="50610" y="179235"/>
                  </a:lnTo>
                  <a:lnTo>
                    <a:pt x="1520397" y="179235"/>
                  </a:lnTo>
                  <a:lnTo>
                    <a:pt x="1540097" y="175258"/>
                  </a:lnTo>
                  <a:lnTo>
                    <a:pt x="1556184" y="164412"/>
                  </a:lnTo>
                  <a:lnTo>
                    <a:pt x="1567030" y="148325"/>
                  </a:lnTo>
                  <a:lnTo>
                    <a:pt x="1571007" y="128625"/>
                  </a:lnTo>
                  <a:lnTo>
                    <a:pt x="1571007" y="50609"/>
                  </a:lnTo>
                  <a:lnTo>
                    <a:pt x="1567030" y="30909"/>
                  </a:lnTo>
                  <a:lnTo>
                    <a:pt x="1556184" y="14822"/>
                  </a:lnTo>
                  <a:lnTo>
                    <a:pt x="1540097" y="3976"/>
                  </a:lnTo>
                  <a:lnTo>
                    <a:pt x="1520397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69755" y="1978355"/>
              <a:ext cx="2123440" cy="179705"/>
            </a:xfrm>
            <a:custGeom>
              <a:avLst/>
              <a:gdLst/>
              <a:ahLst/>
              <a:cxnLst/>
              <a:rect l="l" t="t" r="r" b="b"/>
              <a:pathLst>
                <a:path w="2123440" h="179705">
                  <a:moveTo>
                    <a:pt x="2072502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8625"/>
                  </a:lnTo>
                  <a:lnTo>
                    <a:pt x="3977" y="148325"/>
                  </a:lnTo>
                  <a:lnTo>
                    <a:pt x="14823" y="164412"/>
                  </a:lnTo>
                  <a:lnTo>
                    <a:pt x="30910" y="175258"/>
                  </a:lnTo>
                  <a:lnTo>
                    <a:pt x="50610" y="179235"/>
                  </a:lnTo>
                  <a:lnTo>
                    <a:pt x="2072502" y="179235"/>
                  </a:lnTo>
                  <a:lnTo>
                    <a:pt x="2092203" y="175258"/>
                  </a:lnTo>
                  <a:lnTo>
                    <a:pt x="2108289" y="164412"/>
                  </a:lnTo>
                  <a:lnTo>
                    <a:pt x="2119135" y="148325"/>
                  </a:lnTo>
                  <a:lnTo>
                    <a:pt x="2123112" y="128625"/>
                  </a:lnTo>
                  <a:lnTo>
                    <a:pt x="2123112" y="50609"/>
                  </a:lnTo>
                  <a:lnTo>
                    <a:pt x="2119135" y="30909"/>
                  </a:lnTo>
                  <a:lnTo>
                    <a:pt x="2108289" y="14822"/>
                  </a:lnTo>
                  <a:lnTo>
                    <a:pt x="2092203" y="3976"/>
                  </a:lnTo>
                  <a:lnTo>
                    <a:pt x="2072502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569755" y="1978355"/>
              <a:ext cx="2123440" cy="179705"/>
            </a:xfrm>
            <a:custGeom>
              <a:avLst/>
              <a:gdLst/>
              <a:ahLst/>
              <a:cxnLst/>
              <a:rect l="l" t="t" r="r" b="b"/>
              <a:pathLst>
                <a:path w="2123440" h="179705">
                  <a:moveTo>
                    <a:pt x="2072502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8625"/>
                  </a:lnTo>
                  <a:lnTo>
                    <a:pt x="3977" y="148325"/>
                  </a:lnTo>
                  <a:lnTo>
                    <a:pt x="14823" y="164412"/>
                  </a:lnTo>
                  <a:lnTo>
                    <a:pt x="30910" y="175258"/>
                  </a:lnTo>
                  <a:lnTo>
                    <a:pt x="50610" y="179235"/>
                  </a:lnTo>
                  <a:lnTo>
                    <a:pt x="2072502" y="179235"/>
                  </a:lnTo>
                  <a:lnTo>
                    <a:pt x="2092203" y="175258"/>
                  </a:lnTo>
                  <a:lnTo>
                    <a:pt x="2108289" y="164412"/>
                  </a:lnTo>
                  <a:lnTo>
                    <a:pt x="2119135" y="148325"/>
                  </a:lnTo>
                  <a:lnTo>
                    <a:pt x="2123112" y="128625"/>
                  </a:lnTo>
                  <a:lnTo>
                    <a:pt x="2123112" y="50609"/>
                  </a:lnTo>
                  <a:lnTo>
                    <a:pt x="2119135" y="30909"/>
                  </a:lnTo>
                  <a:lnTo>
                    <a:pt x="2108289" y="14822"/>
                  </a:lnTo>
                  <a:lnTo>
                    <a:pt x="2092203" y="3976"/>
                  </a:lnTo>
                  <a:lnTo>
                    <a:pt x="2072502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003516" y="2302357"/>
              <a:ext cx="1256030" cy="179705"/>
            </a:xfrm>
            <a:custGeom>
              <a:avLst/>
              <a:gdLst/>
              <a:ahLst/>
              <a:cxnLst/>
              <a:rect l="l" t="t" r="r" b="b"/>
              <a:pathLst>
                <a:path w="1256029" h="179705">
                  <a:moveTo>
                    <a:pt x="1204977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8623"/>
                  </a:lnTo>
                  <a:lnTo>
                    <a:pt x="3977" y="148323"/>
                  </a:lnTo>
                  <a:lnTo>
                    <a:pt x="14823" y="164410"/>
                  </a:lnTo>
                  <a:lnTo>
                    <a:pt x="30910" y="175256"/>
                  </a:lnTo>
                  <a:lnTo>
                    <a:pt x="50610" y="179233"/>
                  </a:lnTo>
                  <a:lnTo>
                    <a:pt x="1204977" y="179233"/>
                  </a:lnTo>
                  <a:lnTo>
                    <a:pt x="1224677" y="175256"/>
                  </a:lnTo>
                  <a:lnTo>
                    <a:pt x="1240764" y="164410"/>
                  </a:lnTo>
                  <a:lnTo>
                    <a:pt x="1251610" y="148323"/>
                  </a:lnTo>
                  <a:lnTo>
                    <a:pt x="1255588" y="128623"/>
                  </a:lnTo>
                  <a:lnTo>
                    <a:pt x="1255588" y="50609"/>
                  </a:lnTo>
                  <a:lnTo>
                    <a:pt x="1251610" y="30909"/>
                  </a:lnTo>
                  <a:lnTo>
                    <a:pt x="1240764" y="14822"/>
                  </a:lnTo>
                  <a:lnTo>
                    <a:pt x="1224677" y="3976"/>
                  </a:lnTo>
                  <a:lnTo>
                    <a:pt x="1204977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003516" y="2302357"/>
              <a:ext cx="1256030" cy="179705"/>
            </a:xfrm>
            <a:custGeom>
              <a:avLst/>
              <a:gdLst/>
              <a:ahLst/>
              <a:cxnLst/>
              <a:rect l="l" t="t" r="r" b="b"/>
              <a:pathLst>
                <a:path w="1256029" h="179705">
                  <a:moveTo>
                    <a:pt x="1204977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8623"/>
                  </a:lnTo>
                  <a:lnTo>
                    <a:pt x="3977" y="148323"/>
                  </a:lnTo>
                  <a:lnTo>
                    <a:pt x="14823" y="164410"/>
                  </a:lnTo>
                  <a:lnTo>
                    <a:pt x="30910" y="175256"/>
                  </a:lnTo>
                  <a:lnTo>
                    <a:pt x="50610" y="179233"/>
                  </a:lnTo>
                  <a:lnTo>
                    <a:pt x="1204977" y="179233"/>
                  </a:lnTo>
                  <a:lnTo>
                    <a:pt x="1224677" y="175256"/>
                  </a:lnTo>
                  <a:lnTo>
                    <a:pt x="1240764" y="164410"/>
                  </a:lnTo>
                  <a:lnTo>
                    <a:pt x="1251610" y="148323"/>
                  </a:lnTo>
                  <a:lnTo>
                    <a:pt x="1255588" y="128623"/>
                  </a:lnTo>
                  <a:lnTo>
                    <a:pt x="1255588" y="50609"/>
                  </a:lnTo>
                  <a:lnTo>
                    <a:pt x="1251610" y="30909"/>
                  </a:lnTo>
                  <a:lnTo>
                    <a:pt x="1240764" y="14822"/>
                  </a:lnTo>
                  <a:lnTo>
                    <a:pt x="1224677" y="3976"/>
                  </a:lnTo>
                  <a:lnTo>
                    <a:pt x="1204977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414873" y="2620029"/>
              <a:ext cx="2433320" cy="192405"/>
            </a:xfrm>
            <a:custGeom>
              <a:avLst/>
              <a:gdLst/>
              <a:ahLst/>
              <a:cxnLst/>
              <a:rect l="l" t="t" r="r" b="b"/>
              <a:pathLst>
                <a:path w="2433320" h="192405">
                  <a:moveTo>
                    <a:pt x="2382260" y="0"/>
                  </a:moveTo>
                  <a:lnTo>
                    <a:pt x="50612" y="0"/>
                  </a:lnTo>
                  <a:lnTo>
                    <a:pt x="30911" y="3977"/>
                  </a:lnTo>
                  <a:lnTo>
                    <a:pt x="14823" y="14823"/>
                  </a:lnTo>
                  <a:lnTo>
                    <a:pt x="3977" y="30911"/>
                  </a:lnTo>
                  <a:lnTo>
                    <a:pt x="0" y="50612"/>
                  </a:lnTo>
                  <a:lnTo>
                    <a:pt x="0" y="141279"/>
                  </a:lnTo>
                  <a:lnTo>
                    <a:pt x="3977" y="160980"/>
                  </a:lnTo>
                  <a:lnTo>
                    <a:pt x="14823" y="177067"/>
                  </a:lnTo>
                  <a:lnTo>
                    <a:pt x="30911" y="187913"/>
                  </a:lnTo>
                  <a:lnTo>
                    <a:pt x="50612" y="191890"/>
                  </a:lnTo>
                  <a:lnTo>
                    <a:pt x="2382260" y="191890"/>
                  </a:lnTo>
                  <a:lnTo>
                    <a:pt x="2401961" y="187913"/>
                  </a:lnTo>
                  <a:lnTo>
                    <a:pt x="2418047" y="177067"/>
                  </a:lnTo>
                  <a:lnTo>
                    <a:pt x="2428893" y="160980"/>
                  </a:lnTo>
                  <a:lnTo>
                    <a:pt x="2432870" y="141279"/>
                  </a:lnTo>
                  <a:lnTo>
                    <a:pt x="2432870" y="50612"/>
                  </a:lnTo>
                  <a:lnTo>
                    <a:pt x="2428893" y="30911"/>
                  </a:lnTo>
                  <a:lnTo>
                    <a:pt x="2418047" y="14823"/>
                  </a:lnTo>
                  <a:lnTo>
                    <a:pt x="2401961" y="3977"/>
                  </a:lnTo>
                  <a:lnTo>
                    <a:pt x="238226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414873" y="2620029"/>
              <a:ext cx="2433320" cy="192405"/>
            </a:xfrm>
            <a:custGeom>
              <a:avLst/>
              <a:gdLst/>
              <a:ahLst/>
              <a:cxnLst/>
              <a:rect l="l" t="t" r="r" b="b"/>
              <a:pathLst>
                <a:path w="2433320" h="192405">
                  <a:moveTo>
                    <a:pt x="2382260" y="0"/>
                  </a:moveTo>
                  <a:lnTo>
                    <a:pt x="50612" y="0"/>
                  </a:lnTo>
                  <a:lnTo>
                    <a:pt x="30911" y="3977"/>
                  </a:lnTo>
                  <a:lnTo>
                    <a:pt x="14823" y="14823"/>
                  </a:lnTo>
                  <a:lnTo>
                    <a:pt x="3977" y="30911"/>
                  </a:lnTo>
                  <a:lnTo>
                    <a:pt x="0" y="50612"/>
                  </a:lnTo>
                  <a:lnTo>
                    <a:pt x="0" y="141279"/>
                  </a:lnTo>
                  <a:lnTo>
                    <a:pt x="3977" y="160980"/>
                  </a:lnTo>
                  <a:lnTo>
                    <a:pt x="14823" y="177067"/>
                  </a:lnTo>
                  <a:lnTo>
                    <a:pt x="30911" y="187913"/>
                  </a:lnTo>
                  <a:lnTo>
                    <a:pt x="50612" y="191890"/>
                  </a:lnTo>
                  <a:lnTo>
                    <a:pt x="2382260" y="191890"/>
                  </a:lnTo>
                  <a:lnTo>
                    <a:pt x="2401961" y="187913"/>
                  </a:lnTo>
                  <a:lnTo>
                    <a:pt x="2418047" y="177067"/>
                  </a:lnTo>
                  <a:lnTo>
                    <a:pt x="2428893" y="160980"/>
                  </a:lnTo>
                  <a:lnTo>
                    <a:pt x="2432870" y="141279"/>
                  </a:lnTo>
                  <a:lnTo>
                    <a:pt x="2432870" y="50612"/>
                  </a:lnTo>
                  <a:lnTo>
                    <a:pt x="2428893" y="30911"/>
                  </a:lnTo>
                  <a:lnTo>
                    <a:pt x="2418047" y="14823"/>
                  </a:lnTo>
                  <a:lnTo>
                    <a:pt x="2401961" y="3977"/>
                  </a:lnTo>
                  <a:lnTo>
                    <a:pt x="2382260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739730" y="947826"/>
              <a:ext cx="663575" cy="296545"/>
            </a:xfrm>
            <a:custGeom>
              <a:avLst/>
              <a:gdLst/>
              <a:ahLst/>
              <a:cxnLst/>
              <a:rect l="l" t="t" r="r" b="b"/>
              <a:pathLst>
                <a:path w="663575" h="296544">
                  <a:moveTo>
                    <a:pt x="612584" y="0"/>
                  </a:moveTo>
                  <a:lnTo>
                    <a:pt x="50609" y="0"/>
                  </a:lnTo>
                  <a:lnTo>
                    <a:pt x="30909" y="3976"/>
                  </a:lnTo>
                  <a:lnTo>
                    <a:pt x="14822" y="14822"/>
                  </a:lnTo>
                  <a:lnTo>
                    <a:pt x="3976" y="30909"/>
                  </a:lnTo>
                  <a:lnTo>
                    <a:pt x="0" y="50609"/>
                  </a:lnTo>
                  <a:lnTo>
                    <a:pt x="0" y="245668"/>
                  </a:lnTo>
                  <a:lnTo>
                    <a:pt x="3976" y="265369"/>
                  </a:lnTo>
                  <a:lnTo>
                    <a:pt x="14822" y="281455"/>
                  </a:lnTo>
                  <a:lnTo>
                    <a:pt x="30909" y="292301"/>
                  </a:lnTo>
                  <a:lnTo>
                    <a:pt x="50609" y="296278"/>
                  </a:lnTo>
                  <a:lnTo>
                    <a:pt x="612584" y="296278"/>
                  </a:lnTo>
                  <a:lnTo>
                    <a:pt x="632284" y="292301"/>
                  </a:lnTo>
                  <a:lnTo>
                    <a:pt x="648371" y="281455"/>
                  </a:lnTo>
                  <a:lnTo>
                    <a:pt x="659217" y="265369"/>
                  </a:lnTo>
                  <a:lnTo>
                    <a:pt x="663194" y="245668"/>
                  </a:lnTo>
                  <a:lnTo>
                    <a:pt x="663194" y="50609"/>
                  </a:lnTo>
                  <a:lnTo>
                    <a:pt x="659217" y="30909"/>
                  </a:lnTo>
                  <a:lnTo>
                    <a:pt x="648371" y="14822"/>
                  </a:lnTo>
                  <a:lnTo>
                    <a:pt x="632284" y="3976"/>
                  </a:lnTo>
                  <a:lnTo>
                    <a:pt x="612584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739730" y="947826"/>
              <a:ext cx="663575" cy="296545"/>
            </a:xfrm>
            <a:custGeom>
              <a:avLst/>
              <a:gdLst/>
              <a:ahLst/>
              <a:cxnLst/>
              <a:rect l="l" t="t" r="r" b="b"/>
              <a:pathLst>
                <a:path w="663575" h="296544">
                  <a:moveTo>
                    <a:pt x="612584" y="0"/>
                  </a:moveTo>
                  <a:lnTo>
                    <a:pt x="50609" y="0"/>
                  </a:lnTo>
                  <a:lnTo>
                    <a:pt x="30909" y="3976"/>
                  </a:lnTo>
                  <a:lnTo>
                    <a:pt x="14822" y="14822"/>
                  </a:lnTo>
                  <a:lnTo>
                    <a:pt x="3976" y="30909"/>
                  </a:lnTo>
                  <a:lnTo>
                    <a:pt x="0" y="50609"/>
                  </a:lnTo>
                  <a:lnTo>
                    <a:pt x="0" y="245668"/>
                  </a:lnTo>
                  <a:lnTo>
                    <a:pt x="3976" y="265369"/>
                  </a:lnTo>
                  <a:lnTo>
                    <a:pt x="14822" y="281455"/>
                  </a:lnTo>
                  <a:lnTo>
                    <a:pt x="30909" y="292301"/>
                  </a:lnTo>
                  <a:lnTo>
                    <a:pt x="50609" y="296278"/>
                  </a:lnTo>
                  <a:lnTo>
                    <a:pt x="612584" y="296278"/>
                  </a:lnTo>
                  <a:lnTo>
                    <a:pt x="632284" y="292301"/>
                  </a:lnTo>
                  <a:lnTo>
                    <a:pt x="648371" y="281455"/>
                  </a:lnTo>
                  <a:lnTo>
                    <a:pt x="659217" y="265369"/>
                  </a:lnTo>
                  <a:lnTo>
                    <a:pt x="663194" y="245668"/>
                  </a:lnTo>
                  <a:lnTo>
                    <a:pt x="663194" y="50609"/>
                  </a:lnTo>
                  <a:lnTo>
                    <a:pt x="659217" y="30909"/>
                  </a:lnTo>
                  <a:lnTo>
                    <a:pt x="648371" y="14822"/>
                  </a:lnTo>
                  <a:lnTo>
                    <a:pt x="632284" y="3976"/>
                  </a:lnTo>
                  <a:lnTo>
                    <a:pt x="612584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3868420" y="939375"/>
            <a:ext cx="405765" cy="30162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60960" marR="5080" indent="-48895">
              <a:lnSpc>
                <a:spcPct val="101499"/>
              </a:lnSpc>
              <a:spcBef>
                <a:spcPts val="80"/>
              </a:spcBef>
            </a:pPr>
            <a:r>
              <a:rPr dirty="0" sz="900" spc="-60">
                <a:latin typeface="Bookman Old Style"/>
                <a:cs typeface="Bookman Old Style"/>
              </a:rPr>
              <a:t>Symbol </a:t>
            </a:r>
            <a:r>
              <a:rPr dirty="0" sz="900" spc="-10">
                <a:latin typeface="Bookman Old Style"/>
                <a:cs typeface="Bookman Old Style"/>
              </a:rPr>
              <a:t>Table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46443" y="2484965"/>
            <a:ext cx="52197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 b="1">
                <a:latin typeface="Georgia"/>
                <a:cs typeface="Georgia"/>
              </a:rPr>
              <a:t>Backend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1217507" y="417639"/>
            <a:ext cx="189865" cy="1614805"/>
          </a:xfrm>
          <a:custGeom>
            <a:avLst/>
            <a:gdLst/>
            <a:ahLst/>
            <a:cxnLst/>
            <a:rect l="l" t="t" r="r" b="b"/>
            <a:pathLst>
              <a:path w="189865" h="1614805">
                <a:moveTo>
                  <a:pt x="189790" y="1614335"/>
                </a:moveTo>
                <a:lnTo>
                  <a:pt x="158056" y="1592778"/>
                </a:lnTo>
                <a:lnTo>
                  <a:pt x="131790" y="1562564"/>
                </a:lnTo>
                <a:lnTo>
                  <a:pt x="111900" y="1524149"/>
                </a:lnTo>
                <a:lnTo>
                  <a:pt x="99298" y="1477991"/>
                </a:lnTo>
                <a:lnTo>
                  <a:pt x="94895" y="1424546"/>
                </a:lnTo>
                <a:lnTo>
                  <a:pt x="94895" y="994117"/>
                </a:lnTo>
                <a:lnTo>
                  <a:pt x="90492" y="940673"/>
                </a:lnTo>
                <a:lnTo>
                  <a:pt x="77890" y="894518"/>
                </a:lnTo>
                <a:lnTo>
                  <a:pt x="58000" y="856105"/>
                </a:lnTo>
                <a:lnTo>
                  <a:pt x="31733" y="825891"/>
                </a:lnTo>
                <a:lnTo>
                  <a:pt x="0" y="804329"/>
                </a:lnTo>
                <a:lnTo>
                  <a:pt x="31733" y="782772"/>
                </a:lnTo>
                <a:lnTo>
                  <a:pt x="58000" y="752558"/>
                </a:lnTo>
                <a:lnTo>
                  <a:pt x="77890" y="714143"/>
                </a:lnTo>
                <a:lnTo>
                  <a:pt x="90492" y="667985"/>
                </a:lnTo>
                <a:lnTo>
                  <a:pt x="94895" y="614540"/>
                </a:lnTo>
                <a:lnTo>
                  <a:pt x="94895" y="184111"/>
                </a:lnTo>
                <a:lnTo>
                  <a:pt x="101538" y="118514"/>
                </a:lnTo>
                <a:lnTo>
                  <a:pt x="119570" y="65014"/>
                </a:lnTo>
                <a:lnTo>
                  <a:pt x="146149" y="25034"/>
                </a:lnTo>
                <a:lnTo>
                  <a:pt x="178428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1" name="object 31" descr=""/>
          <p:cNvGrpSpPr/>
          <p:nvPr/>
        </p:nvGrpSpPr>
        <p:grpSpPr>
          <a:xfrm>
            <a:off x="1214967" y="867905"/>
            <a:ext cx="1438910" cy="2066925"/>
            <a:chOff x="1214967" y="867905"/>
            <a:chExt cx="1438910" cy="2066925"/>
          </a:xfrm>
        </p:grpSpPr>
        <p:sp>
          <p:nvSpPr>
            <p:cNvPr id="32" name="object 32" descr=""/>
            <p:cNvSpPr/>
            <p:nvPr/>
          </p:nvSpPr>
          <p:spPr>
            <a:xfrm>
              <a:off x="1217507" y="870445"/>
              <a:ext cx="1414145" cy="2061845"/>
            </a:xfrm>
            <a:custGeom>
              <a:avLst/>
              <a:gdLst/>
              <a:ahLst/>
              <a:cxnLst/>
              <a:rect l="l" t="t" r="r" b="b"/>
              <a:pathLst>
                <a:path w="1414145" h="2061845">
                  <a:moveTo>
                    <a:pt x="189790" y="2061545"/>
                  </a:moveTo>
                  <a:lnTo>
                    <a:pt x="158056" y="2039985"/>
                  </a:lnTo>
                  <a:lnTo>
                    <a:pt x="131790" y="2009770"/>
                  </a:lnTo>
                  <a:lnTo>
                    <a:pt x="111900" y="1971356"/>
                  </a:lnTo>
                  <a:lnTo>
                    <a:pt x="99298" y="1925199"/>
                  </a:lnTo>
                  <a:lnTo>
                    <a:pt x="94895" y="1871753"/>
                  </a:lnTo>
                  <a:lnTo>
                    <a:pt x="94895" y="1891330"/>
                  </a:lnTo>
                  <a:lnTo>
                    <a:pt x="90492" y="1837886"/>
                  </a:lnTo>
                  <a:lnTo>
                    <a:pt x="77890" y="1791729"/>
                  </a:lnTo>
                  <a:lnTo>
                    <a:pt x="58000" y="1753315"/>
                  </a:lnTo>
                  <a:lnTo>
                    <a:pt x="31733" y="1723100"/>
                  </a:lnTo>
                  <a:lnTo>
                    <a:pt x="0" y="1701540"/>
                  </a:lnTo>
                  <a:lnTo>
                    <a:pt x="31733" y="1679980"/>
                  </a:lnTo>
                  <a:lnTo>
                    <a:pt x="58000" y="1649766"/>
                  </a:lnTo>
                  <a:lnTo>
                    <a:pt x="77890" y="1611352"/>
                  </a:lnTo>
                  <a:lnTo>
                    <a:pt x="90492" y="1565194"/>
                  </a:lnTo>
                  <a:lnTo>
                    <a:pt x="94895" y="1511749"/>
                  </a:lnTo>
                  <a:lnTo>
                    <a:pt x="94895" y="1531326"/>
                  </a:lnTo>
                  <a:lnTo>
                    <a:pt x="101538" y="1465730"/>
                  </a:lnTo>
                  <a:lnTo>
                    <a:pt x="119570" y="1412230"/>
                  </a:lnTo>
                  <a:lnTo>
                    <a:pt x="146149" y="1372250"/>
                  </a:lnTo>
                  <a:lnTo>
                    <a:pt x="178428" y="1347216"/>
                  </a:lnTo>
                </a:path>
                <a:path w="1414145" h="2061845">
                  <a:moveTo>
                    <a:pt x="1413803" y="0"/>
                  </a:moveTo>
                  <a:lnTo>
                    <a:pt x="1413803" y="10857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611066" y="963834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228866" y="1134968"/>
            <a:ext cx="55689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5" b="1">
                <a:latin typeface="Georgia"/>
                <a:cs typeface="Georgia"/>
              </a:rPr>
              <a:t>Frontend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660142" y="846970"/>
            <a:ext cx="33464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50">
                <a:latin typeface="Bookman Old Style"/>
                <a:cs typeface="Bookman Old Style"/>
              </a:rPr>
              <a:t>Token</a:t>
            </a:r>
            <a:endParaRPr sz="900">
              <a:latin typeface="Bookman Old Style"/>
              <a:cs typeface="Bookman Old Style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2608844" y="1191895"/>
            <a:ext cx="45085" cy="447675"/>
            <a:chOff x="2608844" y="1191895"/>
            <a:chExt cx="45085" cy="447675"/>
          </a:xfrm>
        </p:grpSpPr>
        <p:sp>
          <p:nvSpPr>
            <p:cNvPr id="37" name="object 37" descr=""/>
            <p:cNvSpPr/>
            <p:nvPr/>
          </p:nvSpPr>
          <p:spPr>
            <a:xfrm>
              <a:off x="2631310" y="1194435"/>
              <a:ext cx="0" cy="114935"/>
            </a:xfrm>
            <a:custGeom>
              <a:avLst/>
              <a:gdLst/>
              <a:ahLst/>
              <a:cxnLst/>
              <a:rect l="l" t="t" r="r" b="b"/>
              <a:pathLst>
                <a:path w="0" h="114934">
                  <a:moveTo>
                    <a:pt x="0" y="0"/>
                  </a:moveTo>
                  <a:lnTo>
                    <a:pt x="0" y="114909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611066" y="1294161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631310" y="1512112"/>
              <a:ext cx="0" cy="121285"/>
            </a:xfrm>
            <a:custGeom>
              <a:avLst/>
              <a:gdLst/>
              <a:ahLst/>
              <a:cxnLst/>
              <a:rect l="l" t="t" r="r" b="b"/>
              <a:pathLst>
                <a:path w="0" h="121285">
                  <a:moveTo>
                    <a:pt x="0" y="0"/>
                  </a:moveTo>
                  <a:lnTo>
                    <a:pt x="0" y="12123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611066" y="1618164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2166048" y="1161748"/>
            <a:ext cx="930910" cy="494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94030">
              <a:lnSpc>
                <a:spcPct val="108200"/>
              </a:lnSpc>
              <a:spcBef>
                <a:spcPts val="100"/>
              </a:spcBef>
            </a:pPr>
            <a:r>
              <a:rPr dirty="0" sz="900" spc="-20">
                <a:latin typeface="Bookman Old Style"/>
                <a:cs typeface="Bookman Old Style"/>
              </a:rPr>
              <a:t>Tree </a:t>
            </a:r>
            <a:r>
              <a:rPr dirty="0" sz="900" spc="-65">
                <a:latin typeface="Bookman Old Style"/>
                <a:cs typeface="Bookman Old Style"/>
              </a:rPr>
              <a:t>Semantic</a:t>
            </a:r>
            <a:r>
              <a:rPr dirty="0" sz="900" spc="60">
                <a:latin typeface="Bookman Old Style"/>
                <a:cs typeface="Bookman Old Style"/>
              </a:rPr>
              <a:t> </a:t>
            </a:r>
            <a:r>
              <a:rPr dirty="0" sz="900" spc="-65">
                <a:latin typeface="Bookman Old Style"/>
                <a:cs typeface="Bookman Old Style"/>
              </a:rPr>
              <a:t>analysis</a:t>
            </a:r>
            <a:endParaRPr sz="900">
              <a:latin typeface="Bookman Old Style"/>
              <a:cs typeface="Bookman Old Style"/>
            </a:endParaRPr>
          </a:p>
          <a:p>
            <a:pPr marL="506730">
              <a:lnSpc>
                <a:spcPct val="100000"/>
              </a:lnSpc>
              <a:spcBef>
                <a:spcPts val="275"/>
              </a:spcBef>
            </a:pPr>
            <a:r>
              <a:rPr dirty="0" sz="900" spc="-20">
                <a:latin typeface="Bookman Old Style"/>
                <a:cs typeface="Bookman Old Style"/>
              </a:rPr>
              <a:t>Tree</a:t>
            </a:r>
            <a:endParaRPr sz="900">
              <a:latin typeface="Bookman Old Style"/>
              <a:cs typeface="Bookman Old Style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2608844" y="1833575"/>
            <a:ext cx="45085" cy="454025"/>
            <a:chOff x="2608844" y="1833575"/>
            <a:chExt cx="45085" cy="454025"/>
          </a:xfrm>
        </p:grpSpPr>
        <p:sp>
          <p:nvSpPr>
            <p:cNvPr id="43" name="object 43" descr=""/>
            <p:cNvSpPr/>
            <p:nvPr/>
          </p:nvSpPr>
          <p:spPr>
            <a:xfrm>
              <a:off x="2631310" y="1836115"/>
              <a:ext cx="0" cy="121285"/>
            </a:xfrm>
            <a:custGeom>
              <a:avLst/>
              <a:gdLst/>
              <a:ahLst/>
              <a:cxnLst/>
              <a:rect l="l" t="t" r="r" b="b"/>
              <a:pathLst>
                <a:path w="0" h="121285">
                  <a:moveTo>
                    <a:pt x="0" y="0"/>
                  </a:moveTo>
                  <a:lnTo>
                    <a:pt x="0" y="12123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611066" y="1942166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631310" y="2160117"/>
              <a:ext cx="0" cy="121285"/>
            </a:xfrm>
            <a:custGeom>
              <a:avLst/>
              <a:gdLst/>
              <a:ahLst/>
              <a:cxnLst/>
              <a:rect l="l" t="t" r="r" b="b"/>
              <a:pathLst>
                <a:path w="0" h="121285">
                  <a:moveTo>
                    <a:pt x="0" y="0"/>
                  </a:moveTo>
                  <a:lnTo>
                    <a:pt x="0" y="12123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611066" y="2266168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596072" y="1610097"/>
            <a:ext cx="2071370" cy="84645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900" spc="-45">
                <a:latin typeface="Bookman Old Style"/>
                <a:cs typeface="Bookman Old Style"/>
              </a:rPr>
              <a:t>Intermediate</a:t>
            </a:r>
            <a:r>
              <a:rPr dirty="0" sz="900" spc="15">
                <a:latin typeface="Bookman Old Style"/>
                <a:cs typeface="Bookman Old Style"/>
              </a:rPr>
              <a:t> </a:t>
            </a:r>
            <a:r>
              <a:rPr dirty="0" sz="900" spc="-40">
                <a:latin typeface="Bookman Old Style"/>
                <a:cs typeface="Bookman Old Style"/>
              </a:rPr>
              <a:t>code</a:t>
            </a:r>
            <a:r>
              <a:rPr dirty="0" sz="900" spc="15">
                <a:latin typeface="Bookman Old Style"/>
                <a:cs typeface="Bookman Old Style"/>
              </a:rPr>
              <a:t> </a:t>
            </a:r>
            <a:r>
              <a:rPr dirty="0" sz="900" spc="-10">
                <a:latin typeface="Bookman Old Style"/>
                <a:cs typeface="Bookman Old Style"/>
              </a:rPr>
              <a:t>generation</a:t>
            </a:r>
            <a:endParaRPr sz="900">
              <a:latin typeface="Bookman Old Style"/>
              <a:cs typeface="Bookman Old Style"/>
            </a:endParaRPr>
          </a:p>
          <a:p>
            <a:pPr algn="ctr" marL="210185">
              <a:lnSpc>
                <a:spcPct val="100000"/>
              </a:lnSpc>
              <a:spcBef>
                <a:spcPts val="280"/>
              </a:spcBef>
            </a:pPr>
            <a:r>
              <a:rPr dirty="0" sz="900" spc="-25">
                <a:latin typeface="Bookman Old Style"/>
                <a:cs typeface="Bookman Old Style"/>
              </a:rPr>
              <a:t>IR</a:t>
            </a:r>
            <a:endParaRPr sz="900">
              <a:latin typeface="Bookman Old Style"/>
              <a:cs typeface="Bookman Old Style"/>
            </a:endParaRPr>
          </a:p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dirty="0" sz="900" spc="-60">
                <a:latin typeface="Bookman Old Style"/>
                <a:cs typeface="Bookman Old Style"/>
              </a:rPr>
              <a:t>Machine-</a:t>
            </a:r>
            <a:r>
              <a:rPr dirty="0" sz="900" spc="-55">
                <a:latin typeface="Bookman Old Style"/>
                <a:cs typeface="Bookman Old Style"/>
              </a:rPr>
              <a:t>independent</a:t>
            </a:r>
            <a:r>
              <a:rPr dirty="0" sz="900" spc="25">
                <a:latin typeface="Bookman Old Style"/>
                <a:cs typeface="Bookman Old Style"/>
              </a:rPr>
              <a:t> </a:t>
            </a:r>
            <a:r>
              <a:rPr dirty="0" sz="900" spc="-40">
                <a:latin typeface="Bookman Old Style"/>
                <a:cs typeface="Bookman Old Style"/>
              </a:rPr>
              <a:t>code</a:t>
            </a:r>
            <a:r>
              <a:rPr dirty="0" sz="900" spc="25">
                <a:latin typeface="Bookman Old Style"/>
                <a:cs typeface="Bookman Old Style"/>
              </a:rPr>
              <a:t> </a:t>
            </a:r>
            <a:r>
              <a:rPr dirty="0" sz="900" spc="-25">
                <a:latin typeface="Bookman Old Style"/>
                <a:cs typeface="Bookman Old Style"/>
              </a:rPr>
              <a:t>optimization</a:t>
            </a:r>
            <a:endParaRPr sz="900">
              <a:latin typeface="Bookman Old Style"/>
              <a:cs typeface="Bookman Old Style"/>
            </a:endParaRPr>
          </a:p>
          <a:p>
            <a:pPr algn="ctr" marL="210185">
              <a:lnSpc>
                <a:spcPct val="100000"/>
              </a:lnSpc>
              <a:spcBef>
                <a:spcPts val="275"/>
              </a:spcBef>
            </a:pPr>
            <a:r>
              <a:rPr dirty="0" sz="900" spc="-25">
                <a:latin typeface="Bookman Old Style"/>
                <a:cs typeface="Bookman Old Style"/>
              </a:rPr>
              <a:t>IR</a:t>
            </a:r>
            <a:endParaRPr sz="900">
              <a:latin typeface="Bookman Old Style"/>
              <a:cs typeface="Bookman Old Style"/>
            </a:endParaRPr>
          </a:p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900" spc="-20">
                <a:latin typeface="Bookman Old Style"/>
                <a:cs typeface="Bookman Old Style"/>
              </a:rPr>
              <a:t>Target</a:t>
            </a:r>
            <a:r>
              <a:rPr dirty="0" sz="900" spc="-15">
                <a:latin typeface="Bookman Old Style"/>
                <a:cs typeface="Bookman Old Style"/>
              </a:rPr>
              <a:t> </a:t>
            </a:r>
            <a:r>
              <a:rPr dirty="0" sz="900" spc="-40">
                <a:latin typeface="Bookman Old Style"/>
                <a:cs typeface="Bookman Old Style"/>
              </a:rPr>
              <a:t>code</a:t>
            </a:r>
            <a:r>
              <a:rPr dirty="0" sz="900" spc="-10">
                <a:latin typeface="Bookman Old Style"/>
                <a:cs typeface="Bookman Old Style"/>
              </a:rPr>
              <a:t> generation</a:t>
            </a:r>
            <a:endParaRPr sz="900">
              <a:latin typeface="Bookman Old Style"/>
              <a:cs typeface="Bookman Old Style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2608844" y="2481582"/>
            <a:ext cx="45085" cy="123825"/>
            <a:chOff x="2608844" y="2481582"/>
            <a:chExt cx="45085" cy="123825"/>
          </a:xfrm>
        </p:grpSpPr>
        <p:sp>
          <p:nvSpPr>
            <p:cNvPr id="49" name="object 49" descr=""/>
            <p:cNvSpPr/>
            <p:nvPr/>
          </p:nvSpPr>
          <p:spPr>
            <a:xfrm>
              <a:off x="2631310" y="2484122"/>
              <a:ext cx="0" cy="114935"/>
            </a:xfrm>
            <a:custGeom>
              <a:avLst/>
              <a:gdLst/>
              <a:ahLst/>
              <a:cxnLst/>
              <a:rect l="l" t="t" r="r" b="b"/>
              <a:pathLst>
                <a:path w="0" h="114935">
                  <a:moveTo>
                    <a:pt x="0" y="0"/>
                  </a:moveTo>
                  <a:lnTo>
                    <a:pt x="0" y="114903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611066" y="2583842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2660142" y="2452720"/>
            <a:ext cx="66357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>
                <a:latin typeface="Bookman Old Style"/>
                <a:cs typeface="Bookman Old Style"/>
              </a:rPr>
              <a:t>Target Code</a:t>
            </a:r>
            <a:endParaRPr sz="900">
              <a:latin typeface="Bookman Old Style"/>
              <a:cs typeface="Bookman Old Style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2608844" y="2811910"/>
            <a:ext cx="45085" cy="215900"/>
            <a:chOff x="2608844" y="2811910"/>
            <a:chExt cx="45085" cy="215900"/>
          </a:xfrm>
        </p:grpSpPr>
        <p:sp>
          <p:nvSpPr>
            <p:cNvPr id="53" name="object 53" descr=""/>
            <p:cNvSpPr/>
            <p:nvPr/>
          </p:nvSpPr>
          <p:spPr>
            <a:xfrm>
              <a:off x="2631310" y="2814450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w="0" h="207644">
                  <a:moveTo>
                    <a:pt x="0" y="0"/>
                  </a:moveTo>
                  <a:lnTo>
                    <a:pt x="0" y="207053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611066" y="3006321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1441196" y="2543293"/>
            <a:ext cx="2381250" cy="448309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900" spc="-65">
                <a:latin typeface="Bookman Old Style"/>
                <a:cs typeface="Bookman Old Style"/>
              </a:rPr>
              <a:t>Machine-</a:t>
            </a:r>
            <a:r>
              <a:rPr dirty="0" sz="900" spc="-40">
                <a:latin typeface="Bookman Old Style"/>
                <a:cs typeface="Bookman Old Style"/>
              </a:rPr>
              <a:t>specific</a:t>
            </a:r>
            <a:r>
              <a:rPr dirty="0" sz="900">
                <a:latin typeface="Bookman Old Style"/>
                <a:cs typeface="Bookman Old Style"/>
              </a:rPr>
              <a:t> </a:t>
            </a:r>
            <a:r>
              <a:rPr dirty="0" sz="900" spc="-40">
                <a:latin typeface="Bookman Old Style"/>
                <a:cs typeface="Bookman Old Style"/>
              </a:rPr>
              <a:t>code</a:t>
            </a:r>
            <a:r>
              <a:rPr dirty="0" sz="900">
                <a:latin typeface="Bookman Old Style"/>
                <a:cs typeface="Bookman Old Style"/>
              </a:rPr>
              <a:t> </a:t>
            </a:r>
            <a:r>
              <a:rPr dirty="0" sz="900" spc="-50">
                <a:latin typeface="Bookman Old Style"/>
                <a:cs typeface="Bookman Old Style"/>
              </a:rPr>
              <a:t>improvement</a:t>
            </a:r>
            <a:r>
              <a:rPr dirty="0" sz="900" spc="5">
                <a:latin typeface="Bookman Old Style"/>
                <a:cs typeface="Bookman Old Style"/>
              </a:rPr>
              <a:t> </a:t>
            </a:r>
            <a:r>
              <a:rPr dirty="0" sz="900" spc="-10">
                <a:latin typeface="Bookman Old Style"/>
                <a:cs typeface="Bookman Old Style"/>
              </a:rPr>
              <a:t>(optional)</a:t>
            </a:r>
            <a:endParaRPr sz="900">
              <a:latin typeface="Bookman Old Style"/>
              <a:cs typeface="Bookman Old Style"/>
            </a:endParaRPr>
          </a:p>
          <a:p>
            <a:pPr marL="1231265">
              <a:lnSpc>
                <a:spcPct val="100000"/>
              </a:lnSpc>
              <a:spcBef>
                <a:spcPts val="585"/>
              </a:spcBef>
            </a:pPr>
            <a:r>
              <a:rPr dirty="0" sz="900" spc="-20">
                <a:latin typeface="Bookman Old Style"/>
                <a:cs typeface="Bookman Old Style"/>
              </a:rPr>
              <a:t>Target Code</a:t>
            </a:r>
            <a:endParaRPr sz="900">
              <a:latin typeface="Bookman Old Style"/>
              <a:cs typeface="Bookman Old Style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1708788" y="632183"/>
            <a:ext cx="2019935" cy="1846580"/>
            <a:chOff x="1708788" y="632183"/>
            <a:chExt cx="2019935" cy="1846580"/>
          </a:xfrm>
        </p:grpSpPr>
        <p:sp>
          <p:nvSpPr>
            <p:cNvPr id="57" name="object 57" descr=""/>
            <p:cNvSpPr/>
            <p:nvPr/>
          </p:nvSpPr>
          <p:spPr>
            <a:xfrm>
              <a:off x="2835932" y="870445"/>
              <a:ext cx="890269" cy="781685"/>
            </a:xfrm>
            <a:custGeom>
              <a:avLst/>
              <a:gdLst/>
              <a:ahLst/>
              <a:cxnLst/>
              <a:rect l="l" t="t" r="r" b="b"/>
              <a:pathLst>
                <a:path w="890270" h="781685">
                  <a:moveTo>
                    <a:pt x="438798" y="225513"/>
                  </a:moveTo>
                  <a:lnTo>
                    <a:pt x="888608" y="225513"/>
                  </a:lnTo>
                </a:path>
                <a:path w="890270" h="781685">
                  <a:moveTo>
                    <a:pt x="232850" y="0"/>
                  </a:moveTo>
                  <a:lnTo>
                    <a:pt x="888913" y="147675"/>
                  </a:lnTo>
                </a:path>
                <a:path w="890270" h="781685">
                  <a:moveTo>
                    <a:pt x="204746" y="457377"/>
                  </a:moveTo>
                  <a:lnTo>
                    <a:pt x="888913" y="303364"/>
                  </a:lnTo>
                </a:path>
                <a:path w="890270" h="781685">
                  <a:moveTo>
                    <a:pt x="0" y="781380"/>
                  </a:moveTo>
                  <a:lnTo>
                    <a:pt x="889726" y="380847"/>
                  </a:lnTo>
                </a:path>
              </a:pathLst>
            </a:custGeom>
            <a:ln w="506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008934" y="1354693"/>
              <a:ext cx="372745" cy="153670"/>
            </a:xfrm>
            <a:custGeom>
              <a:avLst/>
              <a:gdLst/>
              <a:ahLst/>
              <a:cxnLst/>
              <a:rect l="l" t="t" r="r" b="b"/>
              <a:pathLst>
                <a:path w="372744" h="153669">
                  <a:moveTo>
                    <a:pt x="0" y="4"/>
                  </a:moveTo>
                  <a:lnTo>
                    <a:pt x="4248" y="43799"/>
                  </a:lnTo>
                  <a:lnTo>
                    <a:pt x="24946" y="109490"/>
                  </a:lnTo>
                  <a:lnTo>
                    <a:pt x="61914" y="145986"/>
                  </a:lnTo>
                  <a:lnTo>
                    <a:pt x="86498" y="153285"/>
                  </a:lnTo>
                  <a:lnTo>
                    <a:pt x="115149" y="153285"/>
                  </a:lnTo>
                  <a:lnTo>
                    <a:pt x="184653" y="131388"/>
                  </a:lnTo>
                  <a:lnTo>
                    <a:pt x="225505" y="109490"/>
                  </a:lnTo>
                  <a:lnTo>
                    <a:pt x="270425" y="80294"/>
                  </a:lnTo>
                  <a:lnTo>
                    <a:pt x="319412" y="43799"/>
                  </a:lnTo>
                  <a:lnTo>
                    <a:pt x="372465" y="4"/>
                  </a:lnTo>
                </a:path>
              </a:pathLst>
            </a:custGeom>
            <a:ln w="12699">
              <a:solidFill>
                <a:srgbClr val="77BB4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8788" y="1675494"/>
              <a:ext cx="202829" cy="142483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1860781" y="828134"/>
              <a:ext cx="563880" cy="419734"/>
            </a:xfrm>
            <a:custGeom>
              <a:avLst/>
              <a:gdLst/>
              <a:ahLst/>
              <a:cxnLst/>
              <a:rect l="l" t="t" r="r" b="b"/>
              <a:pathLst>
                <a:path w="563880" h="419734">
                  <a:moveTo>
                    <a:pt x="32489" y="233232"/>
                  </a:moveTo>
                  <a:lnTo>
                    <a:pt x="19437" y="271498"/>
                  </a:lnTo>
                  <a:lnTo>
                    <a:pt x="9671" y="305363"/>
                  </a:lnTo>
                  <a:lnTo>
                    <a:pt x="3190" y="334827"/>
                  </a:lnTo>
                  <a:lnTo>
                    <a:pt x="-3" y="359891"/>
                  </a:lnTo>
                  <a:lnTo>
                    <a:pt x="87" y="380555"/>
                  </a:lnTo>
                  <a:lnTo>
                    <a:pt x="3463" y="396817"/>
                  </a:lnTo>
                  <a:lnTo>
                    <a:pt x="10126" y="408680"/>
                  </a:lnTo>
                  <a:lnTo>
                    <a:pt x="20074" y="416141"/>
                  </a:lnTo>
                  <a:lnTo>
                    <a:pt x="33308" y="419202"/>
                  </a:lnTo>
                  <a:lnTo>
                    <a:pt x="49827" y="417863"/>
                  </a:lnTo>
                  <a:lnTo>
                    <a:pt x="92724" y="401982"/>
                  </a:lnTo>
                  <a:lnTo>
                    <a:pt x="148763" y="368499"/>
                  </a:lnTo>
                  <a:lnTo>
                    <a:pt x="181711" y="345157"/>
                  </a:lnTo>
                  <a:lnTo>
                    <a:pt x="217945" y="317414"/>
                  </a:lnTo>
                  <a:lnTo>
                    <a:pt x="257465" y="285270"/>
                  </a:lnTo>
                  <a:lnTo>
                    <a:pt x="300270" y="248726"/>
                  </a:lnTo>
                  <a:lnTo>
                    <a:pt x="346361" y="207781"/>
                  </a:lnTo>
                  <a:lnTo>
                    <a:pt x="395738" y="162436"/>
                  </a:lnTo>
                  <a:lnTo>
                    <a:pt x="448401" y="112690"/>
                  </a:lnTo>
                  <a:lnTo>
                    <a:pt x="504349" y="58543"/>
                  </a:lnTo>
                  <a:lnTo>
                    <a:pt x="563583" y="-3"/>
                  </a:lnTo>
                </a:path>
              </a:pathLst>
            </a:custGeom>
            <a:ln w="12700">
              <a:solidFill>
                <a:srgbClr val="77BB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802324" y="638533"/>
              <a:ext cx="304165" cy="194945"/>
            </a:xfrm>
            <a:custGeom>
              <a:avLst/>
              <a:gdLst/>
              <a:ahLst/>
              <a:cxnLst/>
              <a:rect l="l" t="t" r="r" b="b"/>
              <a:pathLst>
                <a:path w="304164" h="194944">
                  <a:moveTo>
                    <a:pt x="-2" y="95997"/>
                  </a:moveTo>
                  <a:lnTo>
                    <a:pt x="6247" y="134641"/>
                  </a:lnTo>
                  <a:lnTo>
                    <a:pt x="31582" y="183507"/>
                  </a:lnTo>
                  <a:lnTo>
                    <a:pt x="74025" y="194476"/>
                  </a:lnTo>
                  <a:lnTo>
                    <a:pt x="101663" y="185749"/>
                  </a:lnTo>
                  <a:lnTo>
                    <a:pt x="133579" y="167548"/>
                  </a:lnTo>
                  <a:lnTo>
                    <a:pt x="169772" y="139873"/>
                  </a:lnTo>
                  <a:lnTo>
                    <a:pt x="210242" y="102723"/>
                  </a:lnTo>
                  <a:lnTo>
                    <a:pt x="254990" y="56100"/>
                  </a:lnTo>
                  <a:lnTo>
                    <a:pt x="304015" y="2"/>
                  </a:lnTo>
                </a:path>
              </a:pathLst>
            </a:custGeom>
            <a:ln w="12699">
              <a:solidFill>
                <a:srgbClr val="77BB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852868" y="2352086"/>
              <a:ext cx="452755" cy="120650"/>
            </a:xfrm>
            <a:custGeom>
              <a:avLst/>
              <a:gdLst/>
              <a:ahLst/>
              <a:cxnLst/>
              <a:rect l="l" t="t" r="r" b="b"/>
              <a:pathLst>
                <a:path w="452755" h="120650">
                  <a:moveTo>
                    <a:pt x="-5" y="0"/>
                  </a:moveTo>
                  <a:lnTo>
                    <a:pt x="9214" y="62997"/>
                  </a:lnTo>
                  <a:lnTo>
                    <a:pt x="40400" y="103086"/>
                  </a:lnTo>
                  <a:lnTo>
                    <a:pt x="93552" y="120267"/>
                  </a:lnTo>
                  <a:lnTo>
                    <a:pt x="128365" y="120267"/>
                  </a:lnTo>
                  <a:lnTo>
                    <a:pt x="168670" y="114540"/>
                  </a:lnTo>
                  <a:lnTo>
                    <a:pt x="214466" y="103086"/>
                  </a:lnTo>
                  <a:lnTo>
                    <a:pt x="265754" y="85905"/>
                  </a:lnTo>
                  <a:lnTo>
                    <a:pt x="322533" y="62997"/>
                  </a:lnTo>
                  <a:lnTo>
                    <a:pt x="384804" y="34362"/>
                  </a:lnTo>
                  <a:lnTo>
                    <a:pt x="452566" y="0"/>
                  </a:lnTo>
                </a:path>
              </a:pathLst>
            </a:custGeom>
            <a:ln w="12699">
              <a:solidFill>
                <a:srgbClr val="77BB4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65" name="object 65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6" name="object 6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10325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Phases</a:t>
            </a:r>
            <a:r>
              <a:rPr dirty="0" sz="600" spc="2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of</a:t>
            </a:r>
            <a:r>
              <a:rPr dirty="0" sz="600" spc="2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compilation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203644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dirty="0" spc="120"/>
              <a:t> </a:t>
            </a:r>
            <a:r>
              <a:rPr dirty="0" spc="-40"/>
              <a:t>compiler</a:t>
            </a:r>
            <a:r>
              <a:rPr dirty="0" spc="120"/>
              <a:t> </a:t>
            </a:r>
            <a:r>
              <a:rPr dirty="0" spc="-30"/>
              <a:t>Backend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243268" y="1249348"/>
            <a:ext cx="4121785" cy="1068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What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have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we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obtained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by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front-</a:t>
            </a:r>
            <a:r>
              <a:rPr dirty="0" sz="1100">
                <a:latin typeface="Georgia"/>
                <a:cs typeface="Georgia"/>
              </a:rPr>
              <a:t>end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transformations?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100">
              <a:latin typeface="Georgia"/>
              <a:cs typeface="Georgia"/>
            </a:endParaRPr>
          </a:p>
          <a:p>
            <a:pPr algn="ctr" marL="12065" marR="5080" indent="-635">
              <a:lnSpc>
                <a:spcPct val="102600"/>
              </a:lnSpc>
            </a:pPr>
            <a:r>
              <a:rPr dirty="0" sz="1100" spc="-10">
                <a:latin typeface="Georgia"/>
                <a:cs typeface="Georgia"/>
              </a:rPr>
              <a:t>Assuming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we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have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produced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relatively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low-</a:t>
            </a:r>
            <a:r>
              <a:rPr dirty="0" sz="1100" spc="-10">
                <a:latin typeface="Georgia"/>
                <a:cs typeface="Georgia"/>
              </a:rPr>
              <a:t>level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IR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(like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3-</a:t>
            </a:r>
            <a:r>
              <a:rPr dirty="0" sz="1100" spc="-10">
                <a:latin typeface="Georgia"/>
                <a:cs typeface="Georgia"/>
              </a:rPr>
              <a:t>address </a:t>
            </a:r>
            <a:r>
              <a:rPr dirty="0" sz="1100">
                <a:latin typeface="Georgia"/>
                <a:cs typeface="Georgia"/>
              </a:rPr>
              <a:t>code),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we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can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assume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that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all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 b="1">
                <a:latin typeface="Georgia"/>
                <a:cs typeface="Georgia"/>
              </a:rPr>
              <a:t>syntactic</a:t>
            </a:r>
            <a:r>
              <a:rPr dirty="0" sz="1100" spc="5" b="1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and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5" b="1">
                <a:latin typeface="Georgia"/>
                <a:cs typeface="Georgia"/>
              </a:rPr>
              <a:t>semantic</a:t>
            </a:r>
            <a:r>
              <a:rPr dirty="0" sz="1100" spc="5" b="1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errors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have </a:t>
            </a:r>
            <a:r>
              <a:rPr dirty="0" sz="1100" spc="-10">
                <a:latin typeface="Georgia"/>
                <a:cs typeface="Georgia"/>
              </a:rPr>
              <a:t>been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eliminated.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5300" y="182179"/>
            <a:ext cx="69469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 b="1">
                <a:solidFill>
                  <a:srgbClr val="00688A"/>
                </a:solidFill>
                <a:latin typeface="Georgia"/>
                <a:cs typeface="Georgia"/>
              </a:rPr>
              <a:t>Outline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30" y="1198905"/>
            <a:ext cx="155092" cy="155092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4675" y="1195144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E5EFF3"/>
                </a:solidFill>
                <a:latin typeface="Comic Sans MS"/>
                <a:cs typeface="Comic Sans MS"/>
              </a:rPr>
              <a:t>1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9890" y="1166963"/>
            <a:ext cx="8312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1100" spc="10"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1100" spc="-35">
                <a:latin typeface="Georgia"/>
                <a:cs typeface="Georgia"/>
                <a:hlinkClick r:id="rId2" action="ppaction://hlinksldjump"/>
              </a:rPr>
              <a:t>Issues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830" y="1725155"/>
            <a:ext cx="155092" cy="15509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4675" y="1721394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F9FBFC"/>
                </a:solidFill>
                <a:latin typeface="Comic Sans MS"/>
                <a:cs typeface="Comic Sans MS"/>
              </a:rPr>
              <a:t>2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89890" y="1693213"/>
            <a:ext cx="10483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Target</a:t>
            </a:r>
            <a:r>
              <a:rPr dirty="0" sz="1100" spc="3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Language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30" y="2251405"/>
            <a:ext cx="155092" cy="155092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24675" y="2247644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F9FBFC"/>
                </a:solidFill>
                <a:latin typeface="Comic Sans MS"/>
                <a:cs typeface="Comic Sans MS"/>
              </a:rPr>
              <a:t>3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89890" y="2219463"/>
            <a:ext cx="18859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Basic</a:t>
            </a:r>
            <a:r>
              <a:rPr dirty="0" sz="1100" spc="1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Blocks</a:t>
            </a:r>
            <a:r>
              <a:rPr dirty="0" sz="1100" spc="1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and</a:t>
            </a:r>
            <a:r>
              <a:rPr dirty="0" sz="1100" spc="15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Flow</a:t>
            </a:r>
            <a:r>
              <a:rPr dirty="0" sz="1100" spc="1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Graphs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60"/>
              <a:t> </a:t>
            </a:r>
            <a:r>
              <a:rPr dirty="0"/>
              <a:t>code</a:t>
            </a:r>
            <a:r>
              <a:rPr dirty="0" spc="65"/>
              <a:t> </a:t>
            </a:r>
            <a:r>
              <a:rPr dirty="0" spc="-35"/>
              <a:t>generation</a:t>
            </a:r>
            <a:r>
              <a:rPr dirty="0" spc="65"/>
              <a:t> </a:t>
            </a:r>
            <a:r>
              <a:rPr dirty="0" spc="-50"/>
              <a:t>issues</a:t>
            </a:r>
            <a:r>
              <a:rPr dirty="0" spc="65"/>
              <a:t> </a:t>
            </a:r>
            <a:r>
              <a:rPr dirty="0" spc="-10"/>
              <a:t>are</a:t>
            </a:r>
            <a:r>
              <a:rPr dirty="0" spc="65"/>
              <a:t> </a:t>
            </a:r>
            <a:r>
              <a:rPr dirty="0" spc="-10"/>
              <a:t>important?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21333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pc="-10"/>
              <a:t>Correctness</a:t>
            </a:r>
            <a:r>
              <a:rPr dirty="0" spc="30"/>
              <a:t> </a:t>
            </a:r>
            <a:r>
              <a:rPr dirty="0" spc="-25"/>
              <a:t>(preserving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35"/>
              <a:t> </a:t>
            </a:r>
            <a:r>
              <a:rPr dirty="0" spc="-25"/>
              <a:t>semantics)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35"/>
              <a:t> </a:t>
            </a:r>
            <a:r>
              <a:rPr dirty="0" spc="-10"/>
              <a:t>program.</a:t>
            </a:r>
          </a:p>
          <a:p>
            <a:pPr marL="12700" marR="220979">
              <a:lnSpc>
                <a:spcPct val="102699"/>
              </a:lnSpc>
              <a:spcBef>
                <a:spcPts val="570"/>
              </a:spcBef>
            </a:pPr>
            <a:r>
              <a:rPr dirty="0" spc="-10">
                <a:solidFill>
                  <a:srgbClr val="D8D8D8"/>
                </a:solidFill>
              </a:rPr>
              <a:t>Speed</a:t>
            </a:r>
            <a:r>
              <a:rPr dirty="0" spc="2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of</a:t>
            </a:r>
            <a:r>
              <a:rPr dirty="0" spc="2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dirty="0" spc="3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target</a:t>
            </a:r>
            <a:r>
              <a:rPr dirty="0" spc="25">
                <a:solidFill>
                  <a:srgbClr val="D8D8D8"/>
                </a:solidFill>
              </a:rPr>
              <a:t> </a:t>
            </a:r>
            <a:r>
              <a:rPr dirty="0" spc="-20">
                <a:solidFill>
                  <a:srgbClr val="D8D8D8"/>
                </a:solidFill>
              </a:rPr>
              <a:t>program</a:t>
            </a:r>
            <a:r>
              <a:rPr dirty="0" spc="25">
                <a:solidFill>
                  <a:srgbClr val="D8D8D8"/>
                </a:solidFill>
              </a:rPr>
              <a:t> </a:t>
            </a:r>
            <a:r>
              <a:rPr dirty="0" spc="-25">
                <a:solidFill>
                  <a:srgbClr val="D8D8D8"/>
                </a:solidFill>
              </a:rPr>
              <a:t>(efficient</a:t>
            </a:r>
            <a:r>
              <a:rPr dirty="0" spc="30">
                <a:solidFill>
                  <a:srgbClr val="D8D8D8"/>
                </a:solidFill>
              </a:rPr>
              <a:t> </a:t>
            </a:r>
            <a:r>
              <a:rPr dirty="0" spc="-10">
                <a:solidFill>
                  <a:srgbClr val="D8D8D8"/>
                </a:solidFill>
              </a:rPr>
              <a:t>use</a:t>
            </a:r>
            <a:r>
              <a:rPr dirty="0" spc="2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of</a:t>
            </a:r>
            <a:r>
              <a:rPr dirty="0" spc="3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dirty="0" spc="25">
                <a:solidFill>
                  <a:srgbClr val="D8D8D8"/>
                </a:solidFill>
              </a:rPr>
              <a:t> </a:t>
            </a:r>
            <a:r>
              <a:rPr dirty="0" spc="-10">
                <a:solidFill>
                  <a:srgbClr val="D8D8D8"/>
                </a:solidFill>
              </a:rPr>
              <a:t>target </a:t>
            </a:r>
            <a:r>
              <a:rPr dirty="0" spc="-30">
                <a:solidFill>
                  <a:srgbClr val="D8D8D8"/>
                </a:solidFill>
              </a:rPr>
              <a:t>machine’s</a:t>
            </a:r>
            <a:r>
              <a:rPr dirty="0" spc="55">
                <a:solidFill>
                  <a:srgbClr val="D8D8D8"/>
                </a:solidFill>
              </a:rPr>
              <a:t> </a:t>
            </a:r>
            <a:r>
              <a:rPr dirty="0" spc="-10">
                <a:solidFill>
                  <a:srgbClr val="D8D8D8"/>
                </a:solidFill>
              </a:rPr>
              <a:t>resources)</a:t>
            </a:r>
          </a:p>
          <a:p>
            <a:pPr marL="12700" marR="5080">
              <a:lnSpc>
                <a:spcPct val="102600"/>
              </a:lnSpc>
              <a:spcBef>
                <a:spcPts val="565"/>
              </a:spcBef>
            </a:pPr>
            <a:r>
              <a:rPr dirty="0" spc="-10">
                <a:solidFill>
                  <a:srgbClr val="D8D8D8"/>
                </a:solidFill>
              </a:rPr>
              <a:t>Speed</a:t>
            </a:r>
            <a:r>
              <a:rPr dirty="0" spc="1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and</a:t>
            </a:r>
            <a:r>
              <a:rPr dirty="0" spc="15">
                <a:solidFill>
                  <a:srgbClr val="D8D8D8"/>
                </a:solidFill>
              </a:rPr>
              <a:t> </a:t>
            </a:r>
            <a:r>
              <a:rPr dirty="0" spc="-10">
                <a:solidFill>
                  <a:srgbClr val="D8D8D8"/>
                </a:solidFill>
              </a:rPr>
              <a:t>structure</a:t>
            </a:r>
            <a:r>
              <a:rPr dirty="0" spc="1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of</a:t>
            </a:r>
            <a:r>
              <a:rPr dirty="0" spc="1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dirty="0" spc="20">
                <a:solidFill>
                  <a:srgbClr val="D8D8D8"/>
                </a:solidFill>
              </a:rPr>
              <a:t> </a:t>
            </a:r>
            <a:r>
              <a:rPr dirty="0" spc="-10">
                <a:solidFill>
                  <a:srgbClr val="D8D8D8"/>
                </a:solidFill>
              </a:rPr>
              <a:t>code</a:t>
            </a:r>
            <a:r>
              <a:rPr dirty="0" spc="15">
                <a:solidFill>
                  <a:srgbClr val="D8D8D8"/>
                </a:solidFill>
              </a:rPr>
              <a:t> </a:t>
            </a:r>
            <a:r>
              <a:rPr dirty="0" spc="-20">
                <a:solidFill>
                  <a:srgbClr val="D8D8D8"/>
                </a:solidFill>
              </a:rPr>
              <a:t>generator</a:t>
            </a:r>
            <a:r>
              <a:rPr dirty="0" spc="1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(length,</a:t>
            </a:r>
            <a:r>
              <a:rPr dirty="0" spc="1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easy</a:t>
            </a:r>
            <a:r>
              <a:rPr dirty="0" spc="15">
                <a:solidFill>
                  <a:srgbClr val="D8D8D8"/>
                </a:solidFill>
              </a:rPr>
              <a:t> </a:t>
            </a:r>
            <a:r>
              <a:rPr dirty="0" spc="-25">
                <a:solidFill>
                  <a:srgbClr val="D8D8D8"/>
                </a:solidFill>
              </a:rPr>
              <a:t>to </a:t>
            </a:r>
            <a:r>
              <a:rPr dirty="0" spc="-30">
                <a:solidFill>
                  <a:srgbClr val="D8D8D8"/>
                </a:solidFill>
              </a:rPr>
              <a:t>implement,</a:t>
            </a:r>
            <a:r>
              <a:rPr dirty="0" spc="4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test</a:t>
            </a:r>
            <a:r>
              <a:rPr dirty="0" spc="5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and</a:t>
            </a:r>
            <a:r>
              <a:rPr dirty="0" spc="50">
                <a:solidFill>
                  <a:srgbClr val="D8D8D8"/>
                </a:solidFill>
              </a:rPr>
              <a:t> </a:t>
            </a:r>
            <a:r>
              <a:rPr dirty="0" spc="-10">
                <a:solidFill>
                  <a:srgbClr val="D8D8D8"/>
                </a:solidFill>
              </a:rPr>
              <a:t>maintain).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65402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81555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60"/>
              <a:t> </a:t>
            </a:r>
            <a:r>
              <a:rPr dirty="0"/>
              <a:t>code</a:t>
            </a:r>
            <a:r>
              <a:rPr dirty="0" spc="65"/>
              <a:t> </a:t>
            </a:r>
            <a:r>
              <a:rPr dirty="0" spc="-35"/>
              <a:t>generation</a:t>
            </a:r>
            <a:r>
              <a:rPr dirty="0" spc="65"/>
              <a:t> </a:t>
            </a:r>
            <a:r>
              <a:rPr dirty="0" spc="-50"/>
              <a:t>issues</a:t>
            </a:r>
            <a:r>
              <a:rPr dirty="0" spc="65"/>
              <a:t> </a:t>
            </a:r>
            <a:r>
              <a:rPr dirty="0" spc="-10"/>
              <a:t>are</a:t>
            </a:r>
            <a:r>
              <a:rPr dirty="0" spc="65"/>
              <a:t> </a:t>
            </a:r>
            <a:r>
              <a:rPr dirty="0" spc="-10"/>
              <a:t>important?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21333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pc="-10"/>
              <a:t>Correctness</a:t>
            </a:r>
            <a:r>
              <a:rPr dirty="0" spc="30"/>
              <a:t> </a:t>
            </a:r>
            <a:r>
              <a:rPr dirty="0" spc="-25"/>
              <a:t>(preserving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35"/>
              <a:t> </a:t>
            </a:r>
            <a:r>
              <a:rPr dirty="0" spc="-25"/>
              <a:t>semantics)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35"/>
              <a:t> </a:t>
            </a:r>
            <a:r>
              <a:rPr dirty="0" spc="-10"/>
              <a:t>program.</a:t>
            </a:r>
          </a:p>
          <a:p>
            <a:pPr marL="12700" marR="220979">
              <a:lnSpc>
                <a:spcPct val="102699"/>
              </a:lnSpc>
              <a:spcBef>
                <a:spcPts val="570"/>
              </a:spcBef>
            </a:pPr>
            <a:r>
              <a:rPr dirty="0" spc="-10"/>
              <a:t>Speed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/>
              <a:t>target</a:t>
            </a:r>
            <a:r>
              <a:rPr dirty="0" spc="25"/>
              <a:t> </a:t>
            </a:r>
            <a:r>
              <a:rPr dirty="0" spc="-20"/>
              <a:t>program</a:t>
            </a:r>
            <a:r>
              <a:rPr dirty="0" spc="25"/>
              <a:t> </a:t>
            </a:r>
            <a:r>
              <a:rPr dirty="0" spc="-25"/>
              <a:t>(efficient</a:t>
            </a:r>
            <a:r>
              <a:rPr dirty="0" spc="30"/>
              <a:t> </a:t>
            </a:r>
            <a:r>
              <a:rPr dirty="0" spc="-10"/>
              <a:t>use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30"/>
              <a:t>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 spc="-10"/>
              <a:t>target </a:t>
            </a:r>
            <a:r>
              <a:rPr dirty="0" spc="-30"/>
              <a:t>machine’s</a:t>
            </a:r>
            <a:r>
              <a:rPr dirty="0" spc="55"/>
              <a:t> </a:t>
            </a:r>
            <a:r>
              <a:rPr dirty="0" spc="-10"/>
              <a:t>resources)</a:t>
            </a:r>
          </a:p>
          <a:p>
            <a:pPr marL="12700" marR="5080">
              <a:lnSpc>
                <a:spcPct val="102600"/>
              </a:lnSpc>
              <a:spcBef>
                <a:spcPts val="565"/>
              </a:spcBef>
            </a:pPr>
            <a:r>
              <a:rPr dirty="0" spc="-10">
                <a:solidFill>
                  <a:srgbClr val="D8D8D8"/>
                </a:solidFill>
              </a:rPr>
              <a:t>Speed</a:t>
            </a:r>
            <a:r>
              <a:rPr dirty="0" spc="1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and</a:t>
            </a:r>
            <a:r>
              <a:rPr dirty="0" spc="15">
                <a:solidFill>
                  <a:srgbClr val="D8D8D8"/>
                </a:solidFill>
              </a:rPr>
              <a:t> </a:t>
            </a:r>
            <a:r>
              <a:rPr dirty="0" spc="-10">
                <a:solidFill>
                  <a:srgbClr val="D8D8D8"/>
                </a:solidFill>
              </a:rPr>
              <a:t>structure</a:t>
            </a:r>
            <a:r>
              <a:rPr dirty="0" spc="1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of</a:t>
            </a:r>
            <a:r>
              <a:rPr dirty="0" spc="1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dirty="0" spc="20">
                <a:solidFill>
                  <a:srgbClr val="D8D8D8"/>
                </a:solidFill>
              </a:rPr>
              <a:t> </a:t>
            </a:r>
            <a:r>
              <a:rPr dirty="0" spc="-10">
                <a:solidFill>
                  <a:srgbClr val="D8D8D8"/>
                </a:solidFill>
              </a:rPr>
              <a:t>code</a:t>
            </a:r>
            <a:r>
              <a:rPr dirty="0" spc="15">
                <a:solidFill>
                  <a:srgbClr val="D8D8D8"/>
                </a:solidFill>
              </a:rPr>
              <a:t> </a:t>
            </a:r>
            <a:r>
              <a:rPr dirty="0" spc="-20">
                <a:solidFill>
                  <a:srgbClr val="D8D8D8"/>
                </a:solidFill>
              </a:rPr>
              <a:t>generator</a:t>
            </a:r>
            <a:r>
              <a:rPr dirty="0" spc="1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(length,</a:t>
            </a:r>
            <a:r>
              <a:rPr dirty="0" spc="1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easy</a:t>
            </a:r>
            <a:r>
              <a:rPr dirty="0" spc="15">
                <a:solidFill>
                  <a:srgbClr val="D8D8D8"/>
                </a:solidFill>
              </a:rPr>
              <a:t> </a:t>
            </a:r>
            <a:r>
              <a:rPr dirty="0" spc="-25">
                <a:solidFill>
                  <a:srgbClr val="D8D8D8"/>
                </a:solidFill>
              </a:rPr>
              <a:t>to </a:t>
            </a:r>
            <a:r>
              <a:rPr dirty="0" spc="-30">
                <a:solidFill>
                  <a:srgbClr val="D8D8D8"/>
                </a:solidFill>
              </a:rPr>
              <a:t>implement,</a:t>
            </a:r>
            <a:r>
              <a:rPr dirty="0" spc="4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test</a:t>
            </a:r>
            <a:r>
              <a:rPr dirty="0" spc="5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and</a:t>
            </a:r>
            <a:r>
              <a:rPr dirty="0" spc="50">
                <a:solidFill>
                  <a:srgbClr val="D8D8D8"/>
                </a:solidFill>
              </a:rPr>
              <a:t> </a:t>
            </a:r>
            <a:r>
              <a:rPr dirty="0" spc="-10">
                <a:solidFill>
                  <a:srgbClr val="D8D8D8"/>
                </a:solidFill>
              </a:rPr>
              <a:t>maintain).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65402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81555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0" y="3333699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01"/>
                </a:lnTo>
                <a:lnTo>
                  <a:pt x="2303996" y="122301"/>
                </a:lnTo>
                <a:lnTo>
                  <a:pt x="4607992" y="122301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60"/>
              <a:t> </a:t>
            </a:r>
            <a:r>
              <a:rPr dirty="0"/>
              <a:t>code</a:t>
            </a:r>
            <a:r>
              <a:rPr dirty="0" spc="65"/>
              <a:t> </a:t>
            </a:r>
            <a:r>
              <a:rPr dirty="0" spc="-35"/>
              <a:t>generation</a:t>
            </a:r>
            <a:r>
              <a:rPr dirty="0" spc="65"/>
              <a:t> </a:t>
            </a:r>
            <a:r>
              <a:rPr dirty="0" spc="-50"/>
              <a:t>issues</a:t>
            </a:r>
            <a:r>
              <a:rPr dirty="0" spc="65"/>
              <a:t> </a:t>
            </a:r>
            <a:r>
              <a:rPr dirty="0" spc="-10"/>
              <a:t>are</a:t>
            </a:r>
            <a:r>
              <a:rPr dirty="0" spc="65"/>
              <a:t> </a:t>
            </a:r>
            <a:r>
              <a:rPr dirty="0" spc="-10"/>
              <a:t>important?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21333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pc="-10"/>
              <a:t>Correctness</a:t>
            </a:r>
            <a:r>
              <a:rPr dirty="0" spc="30"/>
              <a:t> </a:t>
            </a:r>
            <a:r>
              <a:rPr dirty="0" spc="-25"/>
              <a:t>(preserving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35"/>
              <a:t> </a:t>
            </a:r>
            <a:r>
              <a:rPr dirty="0" spc="-25"/>
              <a:t>semantics)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35"/>
              <a:t> </a:t>
            </a:r>
            <a:r>
              <a:rPr dirty="0" spc="-10"/>
              <a:t>program.</a:t>
            </a:r>
          </a:p>
          <a:p>
            <a:pPr marL="12700" marR="220979">
              <a:lnSpc>
                <a:spcPct val="102699"/>
              </a:lnSpc>
              <a:spcBef>
                <a:spcPts val="570"/>
              </a:spcBef>
            </a:pPr>
            <a:r>
              <a:rPr dirty="0" spc="-10"/>
              <a:t>Speed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/>
              <a:t>target</a:t>
            </a:r>
            <a:r>
              <a:rPr dirty="0" spc="25"/>
              <a:t> </a:t>
            </a:r>
            <a:r>
              <a:rPr dirty="0" spc="-20"/>
              <a:t>program</a:t>
            </a:r>
            <a:r>
              <a:rPr dirty="0" spc="25"/>
              <a:t> </a:t>
            </a:r>
            <a:r>
              <a:rPr dirty="0" spc="-25"/>
              <a:t>(efficient</a:t>
            </a:r>
            <a:r>
              <a:rPr dirty="0" spc="30"/>
              <a:t> </a:t>
            </a:r>
            <a:r>
              <a:rPr dirty="0" spc="-10"/>
              <a:t>use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30"/>
              <a:t>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 spc="-10"/>
              <a:t>target </a:t>
            </a:r>
            <a:r>
              <a:rPr dirty="0" spc="-30"/>
              <a:t>machine’s</a:t>
            </a:r>
            <a:r>
              <a:rPr dirty="0" spc="55"/>
              <a:t> </a:t>
            </a:r>
            <a:r>
              <a:rPr dirty="0" spc="-10"/>
              <a:t>resources)</a:t>
            </a:r>
          </a:p>
          <a:p>
            <a:pPr marL="12700" marR="5080">
              <a:lnSpc>
                <a:spcPct val="102600"/>
              </a:lnSpc>
              <a:spcBef>
                <a:spcPts val="565"/>
              </a:spcBef>
            </a:pPr>
            <a:r>
              <a:rPr dirty="0" spc="-10"/>
              <a:t>Speed</a:t>
            </a:r>
            <a:r>
              <a:rPr dirty="0" spc="15"/>
              <a:t> </a:t>
            </a:r>
            <a:r>
              <a:rPr dirty="0"/>
              <a:t>and</a:t>
            </a:r>
            <a:r>
              <a:rPr dirty="0" spc="15"/>
              <a:t> </a:t>
            </a:r>
            <a:r>
              <a:rPr dirty="0" spc="-10"/>
              <a:t>structure</a:t>
            </a:r>
            <a:r>
              <a:rPr dirty="0" spc="15"/>
              <a:t> </a:t>
            </a:r>
            <a:r>
              <a:rPr dirty="0"/>
              <a:t>of</a:t>
            </a:r>
            <a:r>
              <a:rPr dirty="0" spc="15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 spc="-10"/>
              <a:t>code</a:t>
            </a:r>
            <a:r>
              <a:rPr dirty="0" spc="15"/>
              <a:t> </a:t>
            </a:r>
            <a:r>
              <a:rPr dirty="0" spc="-20"/>
              <a:t>generator</a:t>
            </a:r>
            <a:r>
              <a:rPr dirty="0" spc="15"/>
              <a:t> </a:t>
            </a:r>
            <a:r>
              <a:rPr dirty="0"/>
              <a:t>(length,</a:t>
            </a:r>
            <a:r>
              <a:rPr dirty="0" spc="15"/>
              <a:t> </a:t>
            </a:r>
            <a:r>
              <a:rPr dirty="0"/>
              <a:t>easy</a:t>
            </a:r>
            <a:r>
              <a:rPr dirty="0" spc="15"/>
              <a:t> </a:t>
            </a:r>
            <a:r>
              <a:rPr dirty="0" spc="-25"/>
              <a:t>to </a:t>
            </a:r>
            <a:r>
              <a:rPr dirty="0" spc="-30"/>
              <a:t>implement,</a:t>
            </a:r>
            <a:r>
              <a:rPr dirty="0" spc="45"/>
              <a:t> </a:t>
            </a:r>
            <a:r>
              <a:rPr dirty="0"/>
              <a:t>test</a:t>
            </a:r>
            <a:r>
              <a:rPr dirty="0" spc="50"/>
              <a:t> </a:t>
            </a:r>
            <a:r>
              <a:rPr dirty="0"/>
              <a:t>and</a:t>
            </a:r>
            <a:r>
              <a:rPr dirty="0" spc="50"/>
              <a:t> </a:t>
            </a:r>
            <a:r>
              <a:rPr dirty="0" spc="-10"/>
              <a:t>maintain).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65402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81555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313"/>
                </a:lnTo>
                <a:lnTo>
                  <a:pt x="2303983" y="122313"/>
                </a:lnTo>
                <a:lnTo>
                  <a:pt x="4607979" y="122313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60"/>
              <a:t> </a:t>
            </a:r>
            <a:r>
              <a:rPr dirty="0"/>
              <a:t>code</a:t>
            </a:r>
            <a:r>
              <a:rPr dirty="0" spc="65"/>
              <a:t> </a:t>
            </a:r>
            <a:r>
              <a:rPr dirty="0" spc="-35"/>
              <a:t>generation</a:t>
            </a:r>
            <a:r>
              <a:rPr dirty="0" spc="65"/>
              <a:t> </a:t>
            </a:r>
            <a:r>
              <a:rPr dirty="0" spc="-50"/>
              <a:t>issues</a:t>
            </a:r>
            <a:r>
              <a:rPr dirty="0" spc="65"/>
              <a:t> </a:t>
            </a:r>
            <a:r>
              <a:rPr dirty="0" spc="-10"/>
              <a:t>are</a:t>
            </a:r>
            <a:r>
              <a:rPr dirty="0" spc="65"/>
              <a:t> </a:t>
            </a:r>
            <a:r>
              <a:rPr dirty="0" spc="-10"/>
              <a:t>important?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077834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321915"/>
            <a:ext cx="65265" cy="6526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5844" y="1080210"/>
            <a:ext cx="4222115" cy="13500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10">
                <a:latin typeface="Georgia"/>
                <a:cs typeface="Georgia"/>
              </a:rPr>
              <a:t>Generating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an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optimal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target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program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for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given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source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program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is </a:t>
            </a:r>
            <a:r>
              <a:rPr dirty="0" sz="1100" spc="-35" b="1">
                <a:solidFill>
                  <a:srgbClr val="FF0000"/>
                </a:solidFill>
                <a:latin typeface="Georgia"/>
                <a:cs typeface="Georgia"/>
              </a:rPr>
              <a:t>undecidable</a:t>
            </a:r>
            <a:r>
              <a:rPr dirty="0" sz="1100" spc="-35">
                <a:latin typeface="Georgia"/>
                <a:cs typeface="Georgia"/>
              </a:rPr>
              <a:t>.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Many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subprogroblems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encountered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in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code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generation </a:t>
            </a:r>
            <a:r>
              <a:rPr dirty="0" sz="1100">
                <a:latin typeface="Georgia"/>
                <a:cs typeface="Georgia"/>
              </a:rPr>
              <a:t>are </a:t>
            </a:r>
            <a:r>
              <a:rPr dirty="0" sz="1100" spc="-10">
                <a:latin typeface="Georgia"/>
                <a:cs typeface="Georgia"/>
              </a:rPr>
              <a:t>computationally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10" b="1">
                <a:solidFill>
                  <a:srgbClr val="FF0000"/>
                </a:solidFill>
                <a:latin typeface="Georgia"/>
                <a:cs typeface="Georgia"/>
              </a:rPr>
              <a:t>intractable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Georgia"/>
              <a:cs typeface="Georgia"/>
            </a:endParaRPr>
          </a:p>
          <a:p>
            <a:pPr marL="289560" marR="1385570">
              <a:lnSpc>
                <a:spcPct val="145600"/>
              </a:lnSpc>
            </a:pPr>
            <a:r>
              <a:rPr dirty="0" sz="1100" spc="-10">
                <a:latin typeface="Georgia"/>
                <a:cs typeface="Georgia"/>
              </a:rPr>
              <a:t>there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are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heuristics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to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generate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good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code </a:t>
            </a:r>
            <a:r>
              <a:rPr dirty="0" sz="1100" spc="-20">
                <a:solidFill>
                  <a:srgbClr val="D8D8D8"/>
                </a:solidFill>
                <a:latin typeface="Georgia"/>
                <a:cs typeface="Georgia"/>
              </a:rPr>
              <a:t>optimization</a:t>
            </a:r>
            <a:r>
              <a:rPr dirty="0" sz="1100" spc="5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on</a:t>
            </a:r>
            <a:r>
              <a:rPr dirty="0" sz="1100" spc="5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the</a:t>
            </a:r>
            <a:r>
              <a:rPr dirty="0" sz="1100" spc="6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IR</a:t>
            </a:r>
            <a:r>
              <a:rPr dirty="0" sz="1100" spc="5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helps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831136" y="652733"/>
            <a:ext cx="1368425" cy="409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60045">
              <a:lnSpc>
                <a:spcPct val="100000"/>
              </a:lnSpc>
              <a:spcBef>
                <a:spcPts val="135"/>
              </a:spcBef>
            </a:pP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Hilbert’s</a:t>
            </a:r>
            <a:r>
              <a:rPr dirty="0" sz="400" spc="4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10th</a:t>
            </a:r>
            <a:r>
              <a:rPr dirty="0" sz="400" spc="45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-10" b="1">
                <a:solidFill>
                  <a:srgbClr val="FF2600"/>
                </a:solidFill>
                <a:latin typeface="Georgia"/>
                <a:cs typeface="Georgia"/>
              </a:rPr>
              <a:t>Problem</a:t>
            </a:r>
            <a:endParaRPr sz="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00">
              <a:latin typeface="Georgia"/>
              <a:cs typeface="Georgia"/>
            </a:endParaRPr>
          </a:p>
          <a:p>
            <a:pPr marL="292100" marR="5080" indent="-280035">
              <a:lnSpc>
                <a:spcPct val="104200"/>
              </a:lnSpc>
              <a:spcBef>
                <a:spcPts val="5"/>
              </a:spcBef>
            </a:pP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1936</a:t>
            </a:r>
            <a:r>
              <a:rPr dirty="0" sz="400" spc="4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—</a:t>
            </a:r>
            <a:r>
              <a:rPr dirty="0" sz="400" spc="4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Alonzo</a:t>
            </a:r>
            <a:r>
              <a:rPr dirty="0" sz="400" spc="45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Church</a:t>
            </a:r>
            <a:r>
              <a:rPr dirty="0" sz="400" spc="19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—</a:t>
            </a:r>
            <a:r>
              <a:rPr dirty="0" sz="400" spc="4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Computable</a:t>
            </a:r>
            <a:r>
              <a:rPr dirty="0" sz="400" spc="4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-10" b="1">
                <a:solidFill>
                  <a:srgbClr val="FF2600"/>
                </a:solidFill>
                <a:latin typeface="Georgia"/>
                <a:cs typeface="Georgia"/>
              </a:rPr>
              <a:t>Function</a:t>
            </a:r>
            <a:r>
              <a:rPr dirty="0" sz="400" spc="50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Alan</a:t>
            </a:r>
            <a:r>
              <a:rPr dirty="0" sz="400" spc="45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Turing</a:t>
            </a:r>
            <a:r>
              <a:rPr dirty="0" sz="400" spc="5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—&gt;</a:t>
            </a:r>
            <a:r>
              <a:rPr dirty="0" sz="400" spc="5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Turing</a:t>
            </a:r>
            <a:r>
              <a:rPr dirty="0" sz="400" spc="5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-10" b="1">
                <a:solidFill>
                  <a:srgbClr val="FF2600"/>
                </a:solidFill>
                <a:latin typeface="Georgia"/>
                <a:cs typeface="Georgia"/>
              </a:rPr>
              <a:t>Machine</a:t>
            </a:r>
            <a:endParaRPr sz="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400">
              <a:latin typeface="Georgia"/>
              <a:cs typeface="Georgia"/>
            </a:endParaRPr>
          </a:p>
          <a:p>
            <a:pPr marL="328930">
              <a:lnSpc>
                <a:spcPct val="100000"/>
              </a:lnSpc>
            </a:pP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L</a:t>
            </a:r>
            <a:r>
              <a:rPr dirty="0" sz="400" spc="25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=</a:t>
            </a:r>
            <a:r>
              <a:rPr dirty="0" sz="400" spc="25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{</a:t>
            </a:r>
            <a:r>
              <a:rPr dirty="0" sz="400" spc="25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a^nb^nc^n</a:t>
            </a:r>
            <a:r>
              <a:rPr dirty="0" sz="400" spc="25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|</a:t>
            </a:r>
            <a:r>
              <a:rPr dirty="0" sz="400" spc="25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n</a:t>
            </a:r>
            <a:r>
              <a:rPr dirty="0" sz="400" spc="25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&gt;</a:t>
            </a:r>
            <a:r>
              <a:rPr dirty="0" sz="400" spc="25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10" b="1">
                <a:solidFill>
                  <a:srgbClr val="FF2600"/>
                </a:solidFill>
                <a:latin typeface="Georgia"/>
                <a:cs typeface="Georgia"/>
              </a:rPr>
              <a:t>0</a:t>
            </a:r>
            <a:r>
              <a:rPr dirty="0" sz="400" spc="25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-50" b="1">
                <a:solidFill>
                  <a:srgbClr val="FF2600"/>
                </a:solidFill>
                <a:latin typeface="Georgia"/>
                <a:cs typeface="Georgia"/>
              </a:rPr>
              <a:t>}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60"/>
              <a:t> </a:t>
            </a:r>
            <a:r>
              <a:rPr dirty="0"/>
              <a:t>code</a:t>
            </a:r>
            <a:r>
              <a:rPr dirty="0" spc="65"/>
              <a:t> </a:t>
            </a:r>
            <a:r>
              <a:rPr dirty="0" spc="-35"/>
              <a:t>generation</a:t>
            </a:r>
            <a:r>
              <a:rPr dirty="0" spc="65"/>
              <a:t> </a:t>
            </a:r>
            <a:r>
              <a:rPr dirty="0" spc="-50"/>
              <a:t>issues</a:t>
            </a:r>
            <a:r>
              <a:rPr dirty="0" spc="65"/>
              <a:t> </a:t>
            </a:r>
            <a:r>
              <a:rPr dirty="0" spc="-10"/>
              <a:t>are</a:t>
            </a:r>
            <a:r>
              <a:rPr dirty="0" spc="65"/>
              <a:t> </a:t>
            </a:r>
            <a:r>
              <a:rPr dirty="0" spc="-10"/>
              <a:t>important?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077834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321915"/>
            <a:ext cx="65265" cy="6526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5844" y="1080210"/>
            <a:ext cx="4222115" cy="13500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10">
                <a:latin typeface="Georgia"/>
                <a:cs typeface="Georgia"/>
              </a:rPr>
              <a:t>Generating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an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optimal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target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program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for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given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source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program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is </a:t>
            </a:r>
            <a:r>
              <a:rPr dirty="0" sz="1100" spc="-35" b="1">
                <a:solidFill>
                  <a:srgbClr val="FF0000"/>
                </a:solidFill>
                <a:latin typeface="Georgia"/>
                <a:cs typeface="Georgia"/>
              </a:rPr>
              <a:t>undecidable</a:t>
            </a:r>
            <a:r>
              <a:rPr dirty="0" sz="1100" spc="-35">
                <a:latin typeface="Georgia"/>
                <a:cs typeface="Georgia"/>
              </a:rPr>
              <a:t>.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Many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subprogroblems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encountered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in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code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generation </a:t>
            </a:r>
            <a:r>
              <a:rPr dirty="0" sz="1100">
                <a:latin typeface="Georgia"/>
                <a:cs typeface="Georgia"/>
              </a:rPr>
              <a:t>are </a:t>
            </a:r>
            <a:r>
              <a:rPr dirty="0" sz="1100" spc="-10">
                <a:latin typeface="Georgia"/>
                <a:cs typeface="Georgia"/>
              </a:rPr>
              <a:t>computationally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10" b="1">
                <a:solidFill>
                  <a:srgbClr val="FF0000"/>
                </a:solidFill>
                <a:latin typeface="Georgia"/>
                <a:cs typeface="Georgia"/>
              </a:rPr>
              <a:t>intractable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Georgia"/>
              <a:cs typeface="Georgia"/>
            </a:endParaRPr>
          </a:p>
          <a:p>
            <a:pPr marL="289560" marR="1385570">
              <a:lnSpc>
                <a:spcPct val="145600"/>
              </a:lnSpc>
            </a:pPr>
            <a:r>
              <a:rPr dirty="0" sz="1100" spc="-10">
                <a:latin typeface="Georgia"/>
                <a:cs typeface="Georgia"/>
              </a:rPr>
              <a:t>there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are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heuristics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to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generate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good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code optimization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on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IR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helps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0" y="3333699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01"/>
                </a:lnTo>
                <a:lnTo>
                  <a:pt x="2303996" y="122301"/>
                </a:lnTo>
                <a:lnTo>
                  <a:pt x="4607992" y="122301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Code</a:t>
            </a:r>
            <a:r>
              <a:rPr dirty="0" spc="114"/>
              <a:t> </a:t>
            </a:r>
            <a:r>
              <a:rPr dirty="0" spc="-25"/>
              <a:t>Generator:</a:t>
            </a:r>
            <a:r>
              <a:rPr dirty="0" spc="285"/>
              <a:t> </a:t>
            </a:r>
            <a:r>
              <a:rPr dirty="0" spc="-20"/>
              <a:t>Input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372879"/>
            <a:ext cx="114214" cy="1142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45770" y="1359502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2932" y="1318754"/>
            <a:ext cx="32651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latin typeface="Georgia"/>
                <a:cs typeface="Georgia"/>
              </a:rPr>
              <a:t>Three-</a:t>
            </a:r>
            <a:r>
              <a:rPr dirty="0" sz="1100" spc="-10">
                <a:latin typeface="Georgia"/>
                <a:cs typeface="Georgia"/>
              </a:rPr>
              <a:t>address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presentations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(quadruples,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triples,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.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.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.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582912"/>
            <a:ext cx="114214" cy="11421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45770" y="1569534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2932" y="1528786"/>
            <a:ext cx="37426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Virtual</a:t>
            </a:r>
            <a:r>
              <a:rPr dirty="0" sz="1100" spc="3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30">
                <a:solidFill>
                  <a:srgbClr val="D8D8D8"/>
                </a:solidFill>
                <a:latin typeface="Georgia"/>
                <a:cs typeface="Georgia"/>
              </a:rPr>
              <a:t>machine</a:t>
            </a:r>
            <a:r>
              <a:rPr dirty="0" sz="1100" spc="7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solidFill>
                  <a:srgbClr val="D8D8D8"/>
                </a:solidFill>
                <a:latin typeface="Georgia"/>
                <a:cs typeface="Georgia"/>
              </a:rPr>
              <a:t>presentations</a:t>
            </a:r>
            <a:r>
              <a:rPr dirty="0" sz="1100" spc="7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(bytecode,</a:t>
            </a:r>
            <a:r>
              <a:rPr dirty="0" sz="1100" spc="7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solidFill>
                  <a:srgbClr val="D8D8D8"/>
                </a:solidFill>
                <a:latin typeface="Georgia"/>
                <a:cs typeface="Georgia"/>
              </a:rPr>
              <a:t>stack-</a:t>
            </a:r>
            <a:r>
              <a:rPr dirty="0" sz="1100" spc="-30">
                <a:solidFill>
                  <a:srgbClr val="D8D8D8"/>
                </a:solidFill>
                <a:latin typeface="Georgia"/>
                <a:cs typeface="Georgia"/>
              </a:rPr>
              <a:t>machine,</a:t>
            </a:r>
            <a:r>
              <a:rPr dirty="0" sz="1100" spc="7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.</a:t>
            </a:r>
            <a:r>
              <a:rPr dirty="0" sz="1100" spc="-8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.</a:t>
            </a:r>
            <a:r>
              <a:rPr dirty="0" sz="1100" spc="-8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.</a:t>
            </a:r>
            <a:r>
              <a:rPr dirty="0" sz="1100" spc="-8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50">
                <a:solidFill>
                  <a:srgbClr val="D8D8D8"/>
                </a:solidFill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792944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45770" y="1779567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02932" y="1676061"/>
            <a:ext cx="3013075" cy="4648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794385">
              <a:lnSpc>
                <a:spcPts val="465"/>
              </a:lnSpc>
              <a:spcBef>
                <a:spcPts val="135"/>
              </a:spcBef>
            </a:pPr>
            <a:r>
              <a:rPr dirty="0" sz="400" spc="-20" b="1">
                <a:solidFill>
                  <a:srgbClr val="FF2600"/>
                </a:solidFill>
                <a:latin typeface="Georgia"/>
                <a:cs typeface="Georgia"/>
              </a:rPr>
              <a:t>Text</a:t>
            </a:r>
            <a:endParaRPr sz="400">
              <a:latin typeface="Georgia"/>
              <a:cs typeface="Georgia"/>
            </a:endParaRPr>
          </a:p>
          <a:p>
            <a:pPr marL="12700">
              <a:lnSpc>
                <a:spcPts val="1305"/>
              </a:lnSpc>
            </a:pP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Linear</a:t>
            </a:r>
            <a:r>
              <a:rPr dirty="0" sz="1100" spc="-25">
                <a:solidFill>
                  <a:srgbClr val="D8D8D8"/>
                </a:solidFill>
                <a:latin typeface="Georgia"/>
                <a:cs typeface="Georgia"/>
              </a:rPr>
              <a:t> presentation</a:t>
            </a:r>
            <a:r>
              <a:rPr dirty="0" sz="1100" spc="5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(postfix,</a:t>
            </a:r>
            <a:r>
              <a:rPr dirty="0" sz="1100" spc="4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.</a:t>
            </a:r>
            <a:r>
              <a:rPr dirty="0" sz="1100" spc="-8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.</a:t>
            </a:r>
            <a:r>
              <a:rPr dirty="0" sz="1100" spc="-8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.</a:t>
            </a:r>
            <a:r>
              <a:rPr dirty="0" sz="1100" spc="-8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50">
                <a:solidFill>
                  <a:srgbClr val="D8D8D8"/>
                </a:solidFill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Graphical</a:t>
            </a:r>
            <a:r>
              <a:rPr dirty="0" sz="1100" spc="1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solidFill>
                  <a:srgbClr val="D8D8D8"/>
                </a:solidFill>
                <a:latin typeface="Georgia"/>
                <a:cs typeface="Georgia"/>
              </a:rPr>
              <a:t>presentation</a:t>
            </a:r>
            <a:r>
              <a:rPr dirty="0" sz="1100" spc="6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(syntax</a:t>
            </a:r>
            <a:r>
              <a:rPr dirty="0" sz="1100" spc="6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trees,</a:t>
            </a:r>
            <a:r>
              <a:rPr dirty="0" sz="1100" spc="6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DAGs,</a:t>
            </a:r>
            <a:r>
              <a:rPr dirty="0" sz="1100" spc="6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.</a:t>
            </a:r>
            <a:r>
              <a:rPr dirty="0" sz="1100" spc="-8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.</a:t>
            </a:r>
            <a:r>
              <a:rPr dirty="0" sz="1100" spc="-8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.</a:t>
            </a:r>
            <a:r>
              <a:rPr dirty="0" sz="1100" spc="-8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50">
                <a:solidFill>
                  <a:srgbClr val="D8D8D8"/>
                </a:solidFill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002977"/>
            <a:ext cx="114214" cy="11421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245770" y="1989599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2771571" y="341355"/>
            <a:ext cx="1367155" cy="704850"/>
            <a:chOff x="2771571" y="341355"/>
            <a:chExt cx="1367155" cy="704850"/>
          </a:xfrm>
        </p:grpSpPr>
        <p:sp>
          <p:nvSpPr>
            <p:cNvPr id="18" name="object 18" descr=""/>
            <p:cNvSpPr/>
            <p:nvPr/>
          </p:nvSpPr>
          <p:spPr>
            <a:xfrm>
              <a:off x="2777920" y="710167"/>
              <a:ext cx="328295" cy="105410"/>
            </a:xfrm>
            <a:custGeom>
              <a:avLst/>
              <a:gdLst/>
              <a:ahLst/>
              <a:cxnLst/>
              <a:rect l="l" t="t" r="r" b="b"/>
              <a:pathLst>
                <a:path w="328294" h="105409">
                  <a:moveTo>
                    <a:pt x="0" y="105163"/>
                  </a:moveTo>
                  <a:lnTo>
                    <a:pt x="46821" y="90140"/>
                  </a:lnTo>
                  <a:lnTo>
                    <a:pt x="93643" y="75116"/>
                  </a:lnTo>
                  <a:lnTo>
                    <a:pt x="140465" y="60093"/>
                  </a:lnTo>
                  <a:lnTo>
                    <a:pt x="187287" y="45070"/>
                  </a:lnTo>
                  <a:lnTo>
                    <a:pt x="234108" y="30047"/>
                  </a:lnTo>
                  <a:lnTo>
                    <a:pt x="280930" y="15023"/>
                  </a:lnTo>
                  <a:lnTo>
                    <a:pt x="327751" y="0"/>
                  </a:lnTo>
                </a:path>
              </a:pathLst>
            </a:custGeom>
            <a:ln w="126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02458" y="664000"/>
              <a:ext cx="210220" cy="153904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3062558" y="347705"/>
              <a:ext cx="692150" cy="692150"/>
            </a:xfrm>
            <a:custGeom>
              <a:avLst/>
              <a:gdLst/>
              <a:ahLst/>
              <a:cxnLst/>
              <a:rect l="l" t="t" r="r" b="b"/>
              <a:pathLst>
                <a:path w="692150" h="692150">
                  <a:moveTo>
                    <a:pt x="0" y="146239"/>
                  </a:moveTo>
                  <a:lnTo>
                    <a:pt x="146239" y="692013"/>
                  </a:lnTo>
                  <a:lnTo>
                    <a:pt x="692013" y="545773"/>
                  </a:lnTo>
                  <a:lnTo>
                    <a:pt x="545773" y="0"/>
                  </a:lnTo>
                  <a:lnTo>
                    <a:pt x="0" y="146239"/>
                  </a:lnTo>
                  <a:close/>
                </a:path>
              </a:pathLst>
            </a:custGeom>
            <a:ln w="126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91574" y="669531"/>
              <a:ext cx="163183" cy="132917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17928" y="394513"/>
              <a:ext cx="220738" cy="220963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3715016" y="482280"/>
              <a:ext cx="299085" cy="62865"/>
            </a:xfrm>
            <a:custGeom>
              <a:avLst/>
              <a:gdLst/>
              <a:ahLst/>
              <a:cxnLst/>
              <a:rect l="l" t="t" r="r" b="b"/>
              <a:pathLst>
                <a:path w="299085" h="62865">
                  <a:moveTo>
                    <a:pt x="-2" y="62424"/>
                  </a:moveTo>
                  <a:lnTo>
                    <a:pt x="87306" y="55148"/>
                  </a:lnTo>
                  <a:lnTo>
                    <a:pt x="159609" y="46620"/>
                  </a:lnTo>
                  <a:lnTo>
                    <a:pt x="216907" y="36841"/>
                  </a:lnTo>
                  <a:lnTo>
                    <a:pt x="259201" y="25811"/>
                  </a:lnTo>
                  <a:lnTo>
                    <a:pt x="286489" y="13530"/>
                  </a:lnTo>
                  <a:lnTo>
                    <a:pt x="298772" y="-1"/>
                  </a:lnTo>
                </a:path>
              </a:pathLst>
            </a:custGeom>
            <a:ln w="127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25" name="object 25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Code</a:t>
            </a:r>
            <a:r>
              <a:rPr dirty="0" spc="114"/>
              <a:t> </a:t>
            </a:r>
            <a:r>
              <a:rPr dirty="0" spc="-25"/>
              <a:t>Generator:</a:t>
            </a:r>
            <a:r>
              <a:rPr dirty="0" spc="285"/>
              <a:t> </a:t>
            </a:r>
            <a:r>
              <a:rPr dirty="0" spc="-20"/>
              <a:t>Input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372879"/>
            <a:ext cx="114214" cy="1142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45770" y="1359502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015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pc="-35"/>
              <a:t>Three-</a:t>
            </a:r>
            <a:r>
              <a:rPr dirty="0" spc="-10"/>
              <a:t>address</a:t>
            </a:r>
            <a:r>
              <a:rPr dirty="0" spc="20"/>
              <a:t> </a:t>
            </a:r>
            <a:r>
              <a:rPr dirty="0" spc="-25"/>
              <a:t>presentations</a:t>
            </a:r>
            <a:r>
              <a:rPr dirty="0" spc="65"/>
              <a:t> </a:t>
            </a:r>
            <a:r>
              <a:rPr dirty="0" spc="-25"/>
              <a:t>(quadruples,</a:t>
            </a:r>
            <a:r>
              <a:rPr dirty="0" spc="65"/>
              <a:t> </a:t>
            </a:r>
            <a:r>
              <a:rPr dirty="0" spc="-10"/>
              <a:t>triples,</a:t>
            </a:r>
            <a:r>
              <a:rPr dirty="0" spc="6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 spc="-50"/>
              <a:t>)</a:t>
            </a:r>
          </a:p>
          <a:p>
            <a:pPr marL="12700" marR="5080">
              <a:lnSpc>
                <a:spcPct val="125299"/>
              </a:lnSpc>
            </a:pPr>
            <a:r>
              <a:rPr dirty="0"/>
              <a:t>Virtual</a:t>
            </a:r>
            <a:r>
              <a:rPr dirty="0" spc="30"/>
              <a:t> </a:t>
            </a:r>
            <a:r>
              <a:rPr dirty="0" spc="-30"/>
              <a:t>machine</a:t>
            </a:r>
            <a:r>
              <a:rPr dirty="0" spc="70"/>
              <a:t> </a:t>
            </a:r>
            <a:r>
              <a:rPr dirty="0" spc="-25"/>
              <a:t>presentations</a:t>
            </a:r>
            <a:r>
              <a:rPr dirty="0" spc="70"/>
              <a:t> </a:t>
            </a:r>
            <a:r>
              <a:rPr dirty="0" spc="-10"/>
              <a:t>(</a:t>
            </a:r>
            <a:r>
              <a:rPr dirty="0" u="sng" spc="-10">
                <a:uFill>
                  <a:solidFill>
                    <a:srgbClr val="FF2600"/>
                  </a:solidFill>
                </a:uFill>
              </a:rPr>
              <a:t>bytecod</a:t>
            </a:r>
            <a:r>
              <a:rPr dirty="0" spc="-10"/>
              <a:t>e,</a:t>
            </a:r>
            <a:r>
              <a:rPr dirty="0" spc="70"/>
              <a:t> </a:t>
            </a:r>
            <a:r>
              <a:rPr dirty="0" spc="-25"/>
              <a:t>stack-</a:t>
            </a:r>
            <a:r>
              <a:rPr dirty="0" spc="-30"/>
              <a:t>machine,</a:t>
            </a:r>
            <a:r>
              <a:rPr dirty="0" spc="70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 spc="-50"/>
              <a:t>) </a:t>
            </a:r>
            <a:r>
              <a:rPr dirty="0" spc="-10">
                <a:solidFill>
                  <a:srgbClr val="D8D8D8"/>
                </a:solidFill>
              </a:rPr>
              <a:t>Linear</a:t>
            </a:r>
            <a:r>
              <a:rPr dirty="0" spc="-25">
                <a:solidFill>
                  <a:srgbClr val="D8D8D8"/>
                </a:solidFill>
              </a:rPr>
              <a:t> presentation</a:t>
            </a:r>
            <a:r>
              <a:rPr dirty="0" spc="5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(postfix,</a:t>
            </a:r>
            <a:r>
              <a:rPr dirty="0" spc="4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.</a:t>
            </a:r>
            <a:r>
              <a:rPr dirty="0" spc="-8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.</a:t>
            </a:r>
            <a:r>
              <a:rPr dirty="0" spc="-8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.</a:t>
            </a:r>
            <a:r>
              <a:rPr dirty="0" spc="-85">
                <a:solidFill>
                  <a:srgbClr val="D8D8D8"/>
                </a:solidFill>
              </a:rPr>
              <a:t> </a:t>
            </a:r>
            <a:r>
              <a:rPr dirty="0" spc="-50">
                <a:solidFill>
                  <a:srgbClr val="D8D8D8"/>
                </a:solidFill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>
                <a:solidFill>
                  <a:srgbClr val="D8D8D8"/>
                </a:solidFill>
              </a:rPr>
              <a:t>Graphical</a:t>
            </a:r>
            <a:r>
              <a:rPr dirty="0" spc="10">
                <a:solidFill>
                  <a:srgbClr val="D8D8D8"/>
                </a:solidFill>
              </a:rPr>
              <a:t> </a:t>
            </a:r>
            <a:r>
              <a:rPr dirty="0" spc="-25">
                <a:solidFill>
                  <a:srgbClr val="D8D8D8"/>
                </a:solidFill>
              </a:rPr>
              <a:t>presentation</a:t>
            </a:r>
            <a:r>
              <a:rPr dirty="0" spc="6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(syntax</a:t>
            </a:r>
            <a:r>
              <a:rPr dirty="0" spc="60">
                <a:solidFill>
                  <a:srgbClr val="D8D8D8"/>
                </a:solidFill>
              </a:rPr>
              <a:t> </a:t>
            </a:r>
            <a:r>
              <a:rPr dirty="0" spc="-10">
                <a:solidFill>
                  <a:srgbClr val="D8D8D8"/>
                </a:solidFill>
              </a:rPr>
              <a:t>trees,</a:t>
            </a:r>
            <a:r>
              <a:rPr dirty="0" spc="6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DAGs,</a:t>
            </a:r>
            <a:r>
              <a:rPr dirty="0" spc="6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.</a:t>
            </a:r>
            <a:r>
              <a:rPr dirty="0" spc="-8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.</a:t>
            </a:r>
            <a:r>
              <a:rPr dirty="0" spc="-8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.</a:t>
            </a:r>
            <a:r>
              <a:rPr dirty="0" spc="-85">
                <a:solidFill>
                  <a:srgbClr val="D8D8D8"/>
                </a:solidFill>
              </a:rPr>
              <a:t> </a:t>
            </a:r>
            <a:r>
              <a:rPr dirty="0" spc="-50">
                <a:solidFill>
                  <a:srgbClr val="D8D8D8"/>
                </a:solidFill>
              </a:rPr>
              <a:t>)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582912"/>
            <a:ext cx="114214" cy="11421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45770" y="1569534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792944"/>
            <a:ext cx="114214" cy="11421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45770" y="1779567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002977"/>
            <a:ext cx="114214" cy="114214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245770" y="1989599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3041938" y="1171695"/>
            <a:ext cx="247015" cy="232410"/>
          </a:xfrm>
          <a:custGeom>
            <a:avLst/>
            <a:gdLst/>
            <a:ahLst/>
            <a:cxnLst/>
            <a:rect l="l" t="t" r="r" b="b"/>
            <a:pathLst>
              <a:path w="247014" h="232409">
                <a:moveTo>
                  <a:pt x="3" y="81554"/>
                </a:moveTo>
                <a:lnTo>
                  <a:pt x="5030" y="132766"/>
                </a:lnTo>
                <a:lnTo>
                  <a:pt x="12881" y="173432"/>
                </a:lnTo>
                <a:lnTo>
                  <a:pt x="37058" y="223123"/>
                </a:lnTo>
                <a:lnTo>
                  <a:pt x="53384" y="232147"/>
                </a:lnTo>
                <a:lnTo>
                  <a:pt x="72534" y="230625"/>
                </a:lnTo>
                <a:lnTo>
                  <a:pt x="119309" y="195939"/>
                </a:lnTo>
                <a:lnTo>
                  <a:pt x="146934" y="162775"/>
                </a:lnTo>
                <a:lnTo>
                  <a:pt x="177383" y="119065"/>
                </a:lnTo>
                <a:lnTo>
                  <a:pt x="210657" y="64807"/>
                </a:lnTo>
                <a:lnTo>
                  <a:pt x="246756" y="3"/>
                </a:lnTo>
              </a:path>
            </a:pathLst>
          </a:custGeom>
          <a:ln w="12699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2513114" y="1134405"/>
            <a:ext cx="330200" cy="231140"/>
            <a:chOff x="2513114" y="1134405"/>
            <a:chExt cx="330200" cy="231140"/>
          </a:xfrm>
        </p:grpSpPr>
        <p:sp>
          <p:nvSpPr>
            <p:cNvPr id="17" name="object 17" descr=""/>
            <p:cNvSpPr/>
            <p:nvPr/>
          </p:nvSpPr>
          <p:spPr>
            <a:xfrm>
              <a:off x="2513114" y="1303020"/>
              <a:ext cx="70485" cy="62865"/>
            </a:xfrm>
            <a:custGeom>
              <a:avLst/>
              <a:gdLst/>
              <a:ahLst/>
              <a:cxnLst/>
              <a:rect l="l" t="t" r="r" b="b"/>
              <a:pathLst>
                <a:path w="70485" h="62865">
                  <a:moveTo>
                    <a:pt x="34080" y="0"/>
                  </a:moveTo>
                  <a:lnTo>
                    <a:pt x="0" y="62280"/>
                  </a:lnTo>
                  <a:lnTo>
                    <a:pt x="70273" y="52176"/>
                  </a:lnTo>
                  <a:lnTo>
                    <a:pt x="3408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562166" y="1140755"/>
              <a:ext cx="274955" cy="191135"/>
            </a:xfrm>
            <a:custGeom>
              <a:avLst/>
              <a:gdLst/>
              <a:ahLst/>
              <a:cxnLst/>
              <a:rect l="l" t="t" r="r" b="b"/>
              <a:pathLst>
                <a:path w="274955" h="191134">
                  <a:moveTo>
                    <a:pt x="-3" y="190521"/>
                  </a:moveTo>
                  <a:lnTo>
                    <a:pt x="8172" y="184850"/>
                  </a:lnTo>
                  <a:lnTo>
                    <a:pt x="16345" y="179180"/>
                  </a:lnTo>
                  <a:lnTo>
                    <a:pt x="24520" y="173509"/>
                  </a:lnTo>
                  <a:lnTo>
                    <a:pt x="32695" y="167839"/>
                  </a:lnTo>
                  <a:lnTo>
                    <a:pt x="40871" y="162169"/>
                  </a:lnTo>
                  <a:lnTo>
                    <a:pt x="49046" y="156499"/>
                  </a:lnTo>
                  <a:lnTo>
                    <a:pt x="57221" y="150828"/>
                  </a:lnTo>
                  <a:lnTo>
                    <a:pt x="65394" y="145158"/>
                  </a:lnTo>
                  <a:lnTo>
                    <a:pt x="73570" y="139487"/>
                  </a:lnTo>
                  <a:lnTo>
                    <a:pt x="81745" y="133816"/>
                  </a:lnTo>
                  <a:lnTo>
                    <a:pt x="89920" y="128146"/>
                  </a:lnTo>
                  <a:lnTo>
                    <a:pt x="98095" y="122475"/>
                  </a:lnTo>
                  <a:lnTo>
                    <a:pt x="106270" y="116805"/>
                  </a:lnTo>
                  <a:lnTo>
                    <a:pt x="114444" y="111134"/>
                  </a:lnTo>
                  <a:lnTo>
                    <a:pt x="122619" y="105464"/>
                  </a:lnTo>
                  <a:lnTo>
                    <a:pt x="130794" y="99793"/>
                  </a:lnTo>
                  <a:lnTo>
                    <a:pt x="138969" y="94124"/>
                  </a:lnTo>
                  <a:lnTo>
                    <a:pt x="147144" y="88453"/>
                  </a:lnTo>
                  <a:lnTo>
                    <a:pt x="155318" y="82783"/>
                  </a:lnTo>
                  <a:lnTo>
                    <a:pt x="163493" y="77112"/>
                  </a:lnTo>
                  <a:lnTo>
                    <a:pt x="171668" y="71441"/>
                  </a:lnTo>
                  <a:lnTo>
                    <a:pt x="179843" y="65771"/>
                  </a:lnTo>
                  <a:lnTo>
                    <a:pt x="188018" y="60100"/>
                  </a:lnTo>
                  <a:lnTo>
                    <a:pt x="196193" y="54430"/>
                  </a:lnTo>
                  <a:lnTo>
                    <a:pt x="204367" y="48759"/>
                  </a:lnTo>
                  <a:lnTo>
                    <a:pt x="212542" y="43089"/>
                  </a:lnTo>
                  <a:lnTo>
                    <a:pt x="220717" y="37418"/>
                  </a:lnTo>
                  <a:lnTo>
                    <a:pt x="228892" y="31747"/>
                  </a:lnTo>
                  <a:lnTo>
                    <a:pt x="237067" y="26077"/>
                  </a:lnTo>
                  <a:lnTo>
                    <a:pt x="245242" y="20408"/>
                  </a:lnTo>
                  <a:lnTo>
                    <a:pt x="253416" y="14737"/>
                  </a:lnTo>
                  <a:lnTo>
                    <a:pt x="261591" y="9066"/>
                  </a:lnTo>
                  <a:lnTo>
                    <a:pt x="269766" y="3396"/>
                  </a:lnTo>
                  <a:lnTo>
                    <a:pt x="274671" y="-6"/>
                  </a:lnTo>
                </a:path>
              </a:pathLst>
            </a:custGeom>
            <a:ln w="127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Code</a:t>
            </a:r>
            <a:r>
              <a:rPr dirty="0" spc="114"/>
              <a:t> </a:t>
            </a:r>
            <a:r>
              <a:rPr dirty="0" spc="-25"/>
              <a:t>Generator:</a:t>
            </a:r>
            <a:r>
              <a:rPr dirty="0" spc="285"/>
              <a:t> </a:t>
            </a:r>
            <a:r>
              <a:rPr dirty="0" spc="-20"/>
              <a:t>Input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372879"/>
            <a:ext cx="114214" cy="1142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45770" y="1359502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015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pc="-35"/>
              <a:t>Three-</a:t>
            </a:r>
            <a:r>
              <a:rPr dirty="0" spc="-10"/>
              <a:t>address</a:t>
            </a:r>
            <a:r>
              <a:rPr dirty="0" spc="20"/>
              <a:t> </a:t>
            </a:r>
            <a:r>
              <a:rPr dirty="0" spc="-25"/>
              <a:t>presentations</a:t>
            </a:r>
            <a:r>
              <a:rPr dirty="0" spc="65"/>
              <a:t> </a:t>
            </a:r>
            <a:r>
              <a:rPr dirty="0" spc="-25"/>
              <a:t>(quadruples,</a:t>
            </a:r>
            <a:r>
              <a:rPr dirty="0" spc="65"/>
              <a:t> </a:t>
            </a:r>
            <a:r>
              <a:rPr dirty="0" spc="-10"/>
              <a:t>triples,</a:t>
            </a:r>
            <a:r>
              <a:rPr dirty="0" spc="6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 spc="-50"/>
              <a:t>)</a:t>
            </a:r>
          </a:p>
          <a:p>
            <a:pPr marL="12700" marR="5080">
              <a:lnSpc>
                <a:spcPct val="125299"/>
              </a:lnSpc>
            </a:pPr>
            <a:r>
              <a:rPr dirty="0"/>
              <a:t>Virtual</a:t>
            </a:r>
            <a:r>
              <a:rPr dirty="0" spc="35"/>
              <a:t> </a:t>
            </a:r>
            <a:r>
              <a:rPr dirty="0" spc="-30"/>
              <a:t>machine</a:t>
            </a:r>
            <a:r>
              <a:rPr dirty="0" spc="75"/>
              <a:t> </a:t>
            </a:r>
            <a:r>
              <a:rPr dirty="0" spc="-25"/>
              <a:t>presentations</a:t>
            </a:r>
            <a:r>
              <a:rPr dirty="0" spc="70"/>
              <a:t> </a:t>
            </a:r>
            <a:r>
              <a:rPr dirty="0" spc="-10"/>
              <a:t>(bytecode,</a:t>
            </a:r>
            <a:r>
              <a:rPr dirty="0" spc="75"/>
              <a:t> </a:t>
            </a:r>
            <a:r>
              <a:rPr dirty="0" spc="-25"/>
              <a:t>stack-</a:t>
            </a:r>
            <a:r>
              <a:rPr dirty="0" spc="-30"/>
              <a:t>machine,</a:t>
            </a:r>
            <a:r>
              <a:rPr dirty="0" spc="70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 spc="-50"/>
              <a:t>) </a:t>
            </a:r>
            <a:r>
              <a:rPr dirty="0" spc="-10"/>
              <a:t>Linear</a:t>
            </a:r>
            <a:r>
              <a:rPr dirty="0" spc="-25"/>
              <a:t> presentation</a:t>
            </a:r>
            <a:r>
              <a:rPr dirty="0" spc="50"/>
              <a:t> </a:t>
            </a:r>
            <a:r>
              <a:rPr dirty="0"/>
              <a:t>(postfix,</a:t>
            </a:r>
            <a:r>
              <a:rPr dirty="0" spc="4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 spc="-50"/>
              <a:t>)</a:t>
            </a: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>
                <a:solidFill>
                  <a:srgbClr val="D8D8D8"/>
                </a:solidFill>
              </a:rPr>
              <a:t>Graphical</a:t>
            </a:r>
            <a:r>
              <a:rPr dirty="0" spc="10">
                <a:solidFill>
                  <a:srgbClr val="D8D8D8"/>
                </a:solidFill>
              </a:rPr>
              <a:t> </a:t>
            </a:r>
            <a:r>
              <a:rPr dirty="0" spc="-25">
                <a:solidFill>
                  <a:srgbClr val="D8D8D8"/>
                </a:solidFill>
              </a:rPr>
              <a:t>presentation</a:t>
            </a:r>
            <a:r>
              <a:rPr dirty="0" spc="6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(syntax</a:t>
            </a:r>
            <a:r>
              <a:rPr dirty="0" spc="60">
                <a:solidFill>
                  <a:srgbClr val="D8D8D8"/>
                </a:solidFill>
              </a:rPr>
              <a:t> </a:t>
            </a:r>
            <a:r>
              <a:rPr dirty="0" spc="-10">
                <a:solidFill>
                  <a:srgbClr val="D8D8D8"/>
                </a:solidFill>
              </a:rPr>
              <a:t>trees,</a:t>
            </a:r>
            <a:r>
              <a:rPr dirty="0" spc="6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DAGs,</a:t>
            </a:r>
            <a:r>
              <a:rPr dirty="0" spc="6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.</a:t>
            </a:r>
            <a:r>
              <a:rPr dirty="0" spc="-8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.</a:t>
            </a:r>
            <a:r>
              <a:rPr dirty="0" spc="-85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.</a:t>
            </a:r>
            <a:r>
              <a:rPr dirty="0" spc="-85">
                <a:solidFill>
                  <a:srgbClr val="D8D8D8"/>
                </a:solidFill>
              </a:rPr>
              <a:t> </a:t>
            </a:r>
            <a:r>
              <a:rPr dirty="0" spc="-50">
                <a:solidFill>
                  <a:srgbClr val="D8D8D8"/>
                </a:solidFill>
              </a:rPr>
              <a:t>)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582912"/>
            <a:ext cx="114214" cy="11421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45770" y="1569534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792944"/>
            <a:ext cx="114214" cy="11421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45770" y="1779567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002977"/>
            <a:ext cx="114214" cy="114214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245770" y="1989599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Code</a:t>
            </a:r>
            <a:r>
              <a:rPr dirty="0" spc="114"/>
              <a:t> </a:t>
            </a:r>
            <a:r>
              <a:rPr dirty="0" spc="-25"/>
              <a:t>Generator:</a:t>
            </a:r>
            <a:r>
              <a:rPr dirty="0" spc="285"/>
              <a:t> </a:t>
            </a:r>
            <a:r>
              <a:rPr dirty="0" spc="-20"/>
              <a:t>Input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372879"/>
            <a:ext cx="114214" cy="1142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45770" y="1359502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582912"/>
            <a:ext cx="114214" cy="11421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45770" y="1569534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792944"/>
            <a:ext cx="114214" cy="11421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45770" y="1779567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002977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45770" y="1989599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015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pc="-35"/>
              <a:t>Three-</a:t>
            </a:r>
            <a:r>
              <a:rPr dirty="0" spc="-10"/>
              <a:t>address</a:t>
            </a:r>
            <a:r>
              <a:rPr dirty="0" spc="20"/>
              <a:t> </a:t>
            </a:r>
            <a:r>
              <a:rPr dirty="0" spc="-25"/>
              <a:t>presentations</a:t>
            </a:r>
            <a:r>
              <a:rPr dirty="0" spc="65"/>
              <a:t> </a:t>
            </a:r>
            <a:r>
              <a:rPr dirty="0" spc="-25"/>
              <a:t>(quadruples,</a:t>
            </a:r>
            <a:r>
              <a:rPr dirty="0" spc="65"/>
              <a:t> </a:t>
            </a:r>
            <a:r>
              <a:rPr dirty="0" spc="-10"/>
              <a:t>triples,</a:t>
            </a:r>
            <a:r>
              <a:rPr dirty="0" spc="6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 spc="-50"/>
              <a:t>)</a:t>
            </a:r>
          </a:p>
          <a:p>
            <a:pPr marL="12700" marR="5080">
              <a:lnSpc>
                <a:spcPct val="125299"/>
              </a:lnSpc>
            </a:pPr>
            <a:r>
              <a:rPr dirty="0"/>
              <a:t>Virtual</a:t>
            </a:r>
            <a:r>
              <a:rPr dirty="0" spc="35"/>
              <a:t> </a:t>
            </a:r>
            <a:r>
              <a:rPr dirty="0" spc="-30"/>
              <a:t>machine</a:t>
            </a:r>
            <a:r>
              <a:rPr dirty="0" spc="75"/>
              <a:t> </a:t>
            </a:r>
            <a:r>
              <a:rPr dirty="0" spc="-25"/>
              <a:t>presentations</a:t>
            </a:r>
            <a:r>
              <a:rPr dirty="0" spc="70"/>
              <a:t> </a:t>
            </a:r>
            <a:r>
              <a:rPr dirty="0" spc="-10"/>
              <a:t>(bytecode,</a:t>
            </a:r>
            <a:r>
              <a:rPr dirty="0" spc="75"/>
              <a:t> </a:t>
            </a:r>
            <a:r>
              <a:rPr dirty="0" spc="-25"/>
              <a:t>stack-</a:t>
            </a:r>
            <a:r>
              <a:rPr dirty="0" spc="-30"/>
              <a:t>machine,</a:t>
            </a:r>
            <a:r>
              <a:rPr dirty="0" spc="70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 spc="-50"/>
              <a:t>) </a:t>
            </a:r>
            <a:r>
              <a:rPr dirty="0" spc="-10"/>
              <a:t>Linear</a:t>
            </a:r>
            <a:r>
              <a:rPr dirty="0" spc="-25"/>
              <a:t> presentation</a:t>
            </a:r>
            <a:r>
              <a:rPr dirty="0" spc="50"/>
              <a:t> </a:t>
            </a:r>
            <a:r>
              <a:rPr dirty="0"/>
              <a:t>(postfix,</a:t>
            </a:r>
            <a:r>
              <a:rPr dirty="0" spc="4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 spc="-50"/>
              <a:t>)</a:t>
            </a: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/>
              <a:t>Graphical</a:t>
            </a:r>
            <a:r>
              <a:rPr dirty="0" spc="10"/>
              <a:t> </a:t>
            </a:r>
            <a:r>
              <a:rPr dirty="0" spc="-25"/>
              <a:t>presentation</a:t>
            </a:r>
            <a:r>
              <a:rPr dirty="0" spc="60"/>
              <a:t> </a:t>
            </a:r>
            <a:r>
              <a:rPr dirty="0"/>
              <a:t>(syntax</a:t>
            </a:r>
            <a:r>
              <a:rPr dirty="0" spc="60"/>
              <a:t> </a:t>
            </a:r>
            <a:r>
              <a:rPr dirty="0" spc="-10"/>
              <a:t>trees,</a:t>
            </a:r>
            <a:r>
              <a:rPr dirty="0" spc="60"/>
              <a:t> </a:t>
            </a:r>
            <a:r>
              <a:rPr dirty="0"/>
              <a:t>DAGs,</a:t>
            </a:r>
            <a:r>
              <a:rPr dirty="0" spc="6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/>
              <a:t>.</a:t>
            </a:r>
            <a:r>
              <a:rPr dirty="0" spc="-85"/>
              <a:t> </a:t>
            </a:r>
            <a:r>
              <a:rPr dirty="0" spc="-50"/>
              <a:t>)</a:t>
            </a:r>
          </a:p>
        </p:txBody>
      </p:sp>
      <p:sp>
        <p:nvSpPr>
          <p:cNvPr id="14" name="object 14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80521" y="1187278"/>
            <a:ext cx="240665" cy="985519"/>
          </a:xfrm>
          <a:custGeom>
            <a:avLst/>
            <a:gdLst/>
            <a:ahLst/>
            <a:cxnLst/>
            <a:rect l="l" t="t" r="r" b="b"/>
            <a:pathLst>
              <a:path w="240665" h="985519">
                <a:moveTo>
                  <a:pt x="28638" y="0"/>
                </a:moveTo>
                <a:lnTo>
                  <a:pt x="25191" y="44775"/>
                </a:lnTo>
                <a:lnTo>
                  <a:pt x="19243" y="97841"/>
                </a:lnTo>
                <a:lnTo>
                  <a:pt x="17389" y="114386"/>
                </a:lnTo>
                <a:lnTo>
                  <a:pt x="11413" y="170055"/>
                </a:lnTo>
                <a:lnTo>
                  <a:pt x="7798" y="209190"/>
                </a:lnTo>
                <a:lnTo>
                  <a:pt x="4758" y="248599"/>
                </a:lnTo>
                <a:lnTo>
                  <a:pt x="1784" y="304060"/>
                </a:lnTo>
                <a:lnTo>
                  <a:pt x="415" y="354277"/>
                </a:lnTo>
                <a:lnTo>
                  <a:pt x="57" y="399677"/>
                </a:lnTo>
                <a:lnTo>
                  <a:pt x="0" y="428410"/>
                </a:lnTo>
                <a:lnTo>
                  <a:pt x="0" y="442453"/>
                </a:lnTo>
                <a:lnTo>
                  <a:pt x="0" y="456421"/>
                </a:lnTo>
                <a:lnTo>
                  <a:pt x="0" y="752799"/>
                </a:lnTo>
                <a:lnTo>
                  <a:pt x="6" y="762082"/>
                </a:lnTo>
                <a:lnTo>
                  <a:pt x="280" y="802768"/>
                </a:lnTo>
                <a:lnTo>
                  <a:pt x="426" y="808931"/>
                </a:lnTo>
                <a:lnTo>
                  <a:pt x="571" y="815095"/>
                </a:lnTo>
                <a:lnTo>
                  <a:pt x="788" y="820372"/>
                </a:lnTo>
                <a:lnTo>
                  <a:pt x="1076" y="824761"/>
                </a:lnTo>
                <a:lnTo>
                  <a:pt x="1364" y="829151"/>
                </a:lnTo>
                <a:lnTo>
                  <a:pt x="1761" y="832951"/>
                </a:lnTo>
                <a:lnTo>
                  <a:pt x="2269" y="836161"/>
                </a:lnTo>
                <a:lnTo>
                  <a:pt x="2777" y="839372"/>
                </a:lnTo>
                <a:lnTo>
                  <a:pt x="3922" y="842554"/>
                </a:lnTo>
                <a:lnTo>
                  <a:pt x="5705" y="845708"/>
                </a:lnTo>
                <a:lnTo>
                  <a:pt x="7488" y="848861"/>
                </a:lnTo>
                <a:lnTo>
                  <a:pt x="10420" y="852137"/>
                </a:lnTo>
                <a:lnTo>
                  <a:pt x="14503" y="855534"/>
                </a:lnTo>
                <a:lnTo>
                  <a:pt x="18585" y="858931"/>
                </a:lnTo>
                <a:lnTo>
                  <a:pt x="51451" y="878947"/>
                </a:lnTo>
                <a:lnTo>
                  <a:pt x="59067" y="883387"/>
                </a:lnTo>
                <a:lnTo>
                  <a:pt x="67133" y="888122"/>
                </a:lnTo>
                <a:lnTo>
                  <a:pt x="102606" y="909841"/>
                </a:lnTo>
                <a:lnTo>
                  <a:pt x="138731" y="933104"/>
                </a:lnTo>
                <a:lnTo>
                  <a:pt x="170101" y="953972"/>
                </a:lnTo>
                <a:lnTo>
                  <a:pt x="176790" y="958436"/>
                </a:lnTo>
                <a:lnTo>
                  <a:pt x="206175" y="977487"/>
                </a:lnTo>
                <a:lnTo>
                  <a:pt x="210737" y="980274"/>
                </a:lnTo>
                <a:lnTo>
                  <a:pt x="214746" y="982307"/>
                </a:lnTo>
                <a:lnTo>
                  <a:pt x="218204" y="983583"/>
                </a:lnTo>
                <a:lnTo>
                  <a:pt x="221661" y="984860"/>
                </a:lnTo>
                <a:lnTo>
                  <a:pt x="224803" y="985391"/>
                </a:lnTo>
                <a:lnTo>
                  <a:pt x="227630" y="985174"/>
                </a:lnTo>
                <a:lnTo>
                  <a:pt x="230457" y="984957"/>
                </a:lnTo>
                <a:lnTo>
                  <a:pt x="233286" y="984220"/>
                </a:lnTo>
                <a:lnTo>
                  <a:pt x="236116" y="982963"/>
                </a:lnTo>
                <a:lnTo>
                  <a:pt x="240362" y="981077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99540" y="1003065"/>
            <a:ext cx="376555" cy="90170"/>
          </a:xfrm>
          <a:custGeom>
            <a:avLst/>
            <a:gdLst/>
            <a:ahLst/>
            <a:cxnLst/>
            <a:rect l="l" t="t" r="r" b="b"/>
            <a:pathLst>
              <a:path w="376555" h="90169">
                <a:moveTo>
                  <a:pt x="0" y="86698"/>
                </a:moveTo>
                <a:lnTo>
                  <a:pt x="50272" y="89778"/>
                </a:lnTo>
                <a:lnTo>
                  <a:pt x="99628" y="88882"/>
                </a:lnTo>
                <a:lnTo>
                  <a:pt x="148069" y="84009"/>
                </a:lnTo>
                <a:lnTo>
                  <a:pt x="195595" y="75160"/>
                </a:lnTo>
                <a:lnTo>
                  <a:pt x="242205" y="62333"/>
                </a:lnTo>
                <a:lnTo>
                  <a:pt x="287899" y="45531"/>
                </a:lnTo>
                <a:lnTo>
                  <a:pt x="332678" y="24751"/>
                </a:lnTo>
                <a:lnTo>
                  <a:pt x="376541" y="-4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312102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Code</a:t>
            </a:r>
            <a:r>
              <a:rPr dirty="0" spc="105"/>
              <a:t> </a:t>
            </a:r>
            <a:r>
              <a:rPr dirty="0" spc="-20"/>
              <a:t>Generator</a:t>
            </a:r>
            <a:r>
              <a:rPr dirty="0" spc="110"/>
              <a:t> </a:t>
            </a:r>
            <a:r>
              <a:rPr dirty="0"/>
              <a:t>:</a:t>
            </a:r>
            <a:r>
              <a:rPr dirty="0" spc="260"/>
              <a:t> </a:t>
            </a:r>
            <a:r>
              <a:rPr dirty="0"/>
              <a:t>Target</a:t>
            </a:r>
            <a:r>
              <a:rPr dirty="0" spc="110"/>
              <a:t> </a:t>
            </a:r>
            <a:r>
              <a:rPr dirty="0" spc="-10"/>
              <a:t>Program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721064"/>
            <a:ext cx="114214" cy="1142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45770" y="707687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2932" y="597850"/>
            <a:ext cx="4080510" cy="187325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00" spc="-10">
                <a:latin typeface="Georgia"/>
                <a:cs typeface="Georgia"/>
              </a:rPr>
              <a:t>Instruction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set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architecture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(RISC,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CISC)</a:t>
            </a:r>
            <a:endParaRPr sz="1100">
              <a:latin typeface="Georgia"/>
              <a:cs typeface="Georgia"/>
            </a:endParaRPr>
          </a:p>
          <a:p>
            <a:pPr marL="801370" marR="48895" indent="-448945">
              <a:lnSpc>
                <a:spcPct val="102600"/>
              </a:lnSpc>
              <a:spcBef>
                <a:spcPts val="495"/>
              </a:spcBef>
            </a:pPr>
            <a:r>
              <a:rPr dirty="0" sz="1100" b="1">
                <a:solidFill>
                  <a:srgbClr val="00688A"/>
                </a:solidFill>
                <a:latin typeface="Georgia"/>
                <a:cs typeface="Georgia"/>
              </a:rPr>
              <a:t>CISC</a:t>
            </a:r>
            <a:r>
              <a:rPr dirty="0" sz="1100" spc="409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MANY,</a:t>
            </a:r>
            <a:r>
              <a:rPr dirty="0" sz="1100" spc="19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SPECIALIZED</a:t>
            </a:r>
            <a:r>
              <a:rPr dirty="0" sz="1100" spc="20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instructions,</a:t>
            </a:r>
            <a:r>
              <a:rPr dirty="0" sz="1100" spc="19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FEW</a:t>
            </a:r>
            <a:r>
              <a:rPr dirty="0" sz="1100" spc="20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registers, </a:t>
            </a:r>
            <a:r>
              <a:rPr dirty="0" sz="1100">
                <a:latin typeface="Georgia"/>
                <a:cs typeface="Georgia"/>
              </a:rPr>
              <a:t>variety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addressing-</a:t>
            </a:r>
            <a:r>
              <a:rPr dirty="0" sz="1100" spc="-25">
                <a:latin typeface="Georgia"/>
                <a:cs typeface="Georgia"/>
              </a:rPr>
              <a:t>modes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(CISC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requires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micro </a:t>
            </a:r>
            <a:r>
              <a:rPr dirty="0" sz="1100" spc="-10">
                <a:latin typeface="Georgia"/>
                <a:cs typeface="Georgia"/>
              </a:rPr>
              <a:t>code)</a:t>
            </a:r>
            <a:endParaRPr sz="1100">
              <a:latin typeface="Georgia"/>
              <a:cs typeface="Georgia"/>
            </a:endParaRPr>
          </a:p>
          <a:p>
            <a:pPr marL="801370" marR="268605" indent="-453390">
              <a:lnSpc>
                <a:spcPct val="102600"/>
              </a:lnSpc>
              <a:spcBef>
                <a:spcPts val="5"/>
              </a:spcBef>
            </a:pPr>
            <a:r>
              <a:rPr dirty="0" sz="1100" b="1">
                <a:solidFill>
                  <a:srgbClr val="D8E8ED"/>
                </a:solidFill>
                <a:latin typeface="Georgia"/>
                <a:cs typeface="Georgia"/>
              </a:rPr>
              <a:t>RISC</a:t>
            </a:r>
            <a:r>
              <a:rPr dirty="0" sz="1100" spc="405" b="1">
                <a:solidFill>
                  <a:srgbClr val="D8E8ED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FEW,</a:t>
            </a:r>
            <a:r>
              <a:rPr dirty="0" sz="1100" spc="19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SIMPLE,</a:t>
            </a:r>
            <a:r>
              <a:rPr dirty="0" sz="1100" spc="19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ORTHOGONAL</a:t>
            </a:r>
            <a:r>
              <a:rPr dirty="0" sz="1100" spc="19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instructions,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MANY</a:t>
            </a:r>
            <a:r>
              <a:rPr dirty="0" sz="1100" spc="10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0">
                <a:solidFill>
                  <a:srgbClr val="D8D8D8"/>
                </a:solidFill>
                <a:latin typeface="Georgia"/>
                <a:cs typeface="Georgia"/>
              </a:rPr>
              <a:t>registers,</a:t>
            </a:r>
            <a:r>
              <a:rPr dirty="0" sz="1100" spc="10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solidFill>
                  <a:srgbClr val="D8D8D8"/>
                </a:solidFill>
                <a:latin typeface="Georgia"/>
                <a:cs typeface="Georgia"/>
              </a:rPr>
              <a:t>simple</a:t>
            </a:r>
            <a:r>
              <a:rPr dirty="0" sz="1100" spc="10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45">
                <a:solidFill>
                  <a:srgbClr val="D8D8D8"/>
                </a:solidFill>
                <a:latin typeface="Georgia"/>
                <a:cs typeface="Georgia"/>
              </a:rPr>
              <a:t>addressing-</a:t>
            </a:r>
            <a:r>
              <a:rPr dirty="0" sz="1100" spc="-25">
                <a:solidFill>
                  <a:srgbClr val="D8D8D8"/>
                </a:solidFill>
                <a:latin typeface="Georgia"/>
                <a:cs typeface="Georgia"/>
              </a:rPr>
              <a:t>modes</a:t>
            </a:r>
            <a:r>
              <a:rPr dirty="0" sz="1100" spc="10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(RISK </a:t>
            </a:r>
            <a:r>
              <a:rPr dirty="0" sz="1100" spc="-20">
                <a:solidFill>
                  <a:srgbClr val="D8D8D8"/>
                </a:solidFill>
                <a:latin typeface="Georgia"/>
                <a:cs typeface="Georgia"/>
              </a:rPr>
              <a:t>drives</a:t>
            </a:r>
            <a:r>
              <a:rPr dirty="0" sz="1100" spc="2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solidFill>
                  <a:srgbClr val="D8D8D8"/>
                </a:solidFill>
                <a:latin typeface="Georgia"/>
                <a:cs typeface="Georgia"/>
              </a:rPr>
              <a:t>hardware</a:t>
            </a:r>
            <a:r>
              <a:rPr dirty="0" sz="1100" spc="3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directly)</a:t>
            </a:r>
            <a:endParaRPr sz="1100">
              <a:latin typeface="Georgia"/>
              <a:cs typeface="Georgia"/>
            </a:endParaRPr>
          </a:p>
          <a:p>
            <a:pPr marL="801370" marR="5080" indent="-789305">
              <a:lnSpc>
                <a:spcPct val="102600"/>
              </a:lnSpc>
            </a:pPr>
            <a:r>
              <a:rPr dirty="0" sz="1100" b="1">
                <a:solidFill>
                  <a:srgbClr val="D8E8ED"/>
                </a:solidFill>
                <a:latin typeface="Georgia"/>
                <a:cs typeface="Georgia"/>
              </a:rPr>
              <a:t>Stack</a:t>
            </a:r>
            <a:r>
              <a:rPr dirty="0" sz="1100" spc="40" b="1">
                <a:solidFill>
                  <a:srgbClr val="D8E8ED"/>
                </a:solidFill>
                <a:latin typeface="Georgia"/>
                <a:cs typeface="Georgia"/>
              </a:rPr>
              <a:t> </a:t>
            </a:r>
            <a:r>
              <a:rPr dirty="0" sz="1100" spc="-20" b="1">
                <a:solidFill>
                  <a:srgbClr val="D8E8ED"/>
                </a:solidFill>
                <a:latin typeface="Georgia"/>
                <a:cs typeface="Georgia"/>
              </a:rPr>
              <a:t>Machine</a:t>
            </a:r>
            <a:r>
              <a:rPr dirty="0" sz="1100" spc="145" b="1">
                <a:solidFill>
                  <a:srgbClr val="D8E8ED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Instruction</a:t>
            </a:r>
            <a:r>
              <a:rPr dirty="0" sz="1100" spc="1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set</a:t>
            </a:r>
            <a:r>
              <a:rPr dirty="0" sz="1100" spc="2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is</a:t>
            </a:r>
            <a:r>
              <a:rPr dirty="0" sz="1100" spc="1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solidFill>
                  <a:srgbClr val="D8D8D8"/>
                </a:solidFill>
                <a:latin typeface="Georgia"/>
                <a:cs typeface="Georgia"/>
              </a:rPr>
              <a:t>organized</a:t>
            </a:r>
            <a:r>
              <a:rPr dirty="0" sz="1100" spc="1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with</a:t>
            </a:r>
            <a:r>
              <a:rPr dirty="0" sz="1100" spc="1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solidFill>
                  <a:srgbClr val="D8D8D8"/>
                </a:solidFill>
                <a:latin typeface="Georgia"/>
                <a:cs typeface="Georgia"/>
              </a:rPr>
              <a:t>NO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REGISTERS,</a:t>
            </a:r>
            <a:r>
              <a:rPr dirty="0" sz="1100" spc="5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all</a:t>
            </a:r>
            <a:r>
              <a:rPr dirty="0" sz="1100" spc="6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0">
                <a:solidFill>
                  <a:srgbClr val="D8D8D8"/>
                </a:solidFill>
                <a:latin typeface="Georgia"/>
                <a:cs typeface="Georgia"/>
              </a:rPr>
              <a:t>operations</a:t>
            </a:r>
            <a:r>
              <a:rPr dirty="0" sz="1100" spc="5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solidFill>
                  <a:srgbClr val="D8D8D8"/>
                </a:solidFill>
                <a:latin typeface="Georgia"/>
                <a:cs typeface="Georgia"/>
              </a:rPr>
              <a:t>done</a:t>
            </a:r>
            <a:r>
              <a:rPr dirty="0" sz="1100" spc="6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on</a:t>
            </a:r>
            <a:r>
              <a:rPr dirty="0" sz="1100" spc="6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stack</a:t>
            </a:r>
            <a:r>
              <a:rPr dirty="0" sz="1100" spc="5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(e.g.</a:t>
            </a:r>
            <a:r>
              <a:rPr dirty="0" sz="1100" spc="17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solidFill>
                  <a:srgbClr val="D8D8D8"/>
                </a:solidFill>
                <a:latin typeface="Georgia"/>
                <a:cs typeface="Georgia"/>
              </a:rPr>
              <a:t>ADD </a:t>
            </a:r>
            <a:r>
              <a:rPr dirty="0" sz="1100" spc="-20">
                <a:solidFill>
                  <a:srgbClr val="D8D8D8"/>
                </a:solidFill>
                <a:latin typeface="Georgia"/>
                <a:cs typeface="Georgia"/>
              </a:rPr>
              <a:t>instuctions</a:t>
            </a:r>
            <a:r>
              <a:rPr dirty="0" sz="1100" spc="2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30">
                <a:solidFill>
                  <a:srgbClr val="D8D8D8"/>
                </a:solidFill>
                <a:latin typeface="Georgia"/>
                <a:cs typeface="Georgia"/>
              </a:rPr>
              <a:t>whence</a:t>
            </a:r>
            <a:r>
              <a:rPr dirty="0" sz="1100" spc="2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no</a:t>
            </a:r>
            <a:r>
              <a:rPr dirty="0" sz="1100" spc="2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arguments..)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2568330"/>
            <a:ext cx="114214" cy="11421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45770" y="2554953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2932" y="2470439"/>
            <a:ext cx="3026410" cy="655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 sz="1100" spc="-10">
                <a:solidFill>
                  <a:srgbClr val="F9F9F9"/>
                </a:solidFill>
                <a:latin typeface="Georgia"/>
                <a:cs typeface="Georgia"/>
              </a:rPr>
              <a:t>Producing</a:t>
            </a:r>
            <a:r>
              <a:rPr dirty="0" sz="1100" spc="40">
                <a:solidFill>
                  <a:srgbClr val="F9F9F9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F9F9F9"/>
                </a:solidFill>
                <a:latin typeface="Georgia"/>
                <a:cs typeface="Georgia"/>
              </a:rPr>
              <a:t>absolute</a:t>
            </a:r>
            <a:r>
              <a:rPr dirty="0" sz="1100" spc="50">
                <a:solidFill>
                  <a:srgbClr val="F9F9F9"/>
                </a:solidFill>
                <a:latin typeface="Georgia"/>
                <a:cs typeface="Georgia"/>
              </a:rPr>
              <a:t> </a:t>
            </a:r>
            <a:r>
              <a:rPr dirty="0" sz="1100" spc="-50">
                <a:solidFill>
                  <a:srgbClr val="F9F9F9"/>
                </a:solidFill>
                <a:latin typeface="Georgia"/>
                <a:cs typeface="Georgia"/>
              </a:rPr>
              <a:t>machine-</a:t>
            </a:r>
            <a:r>
              <a:rPr dirty="0" sz="1100" spc="-20">
                <a:solidFill>
                  <a:srgbClr val="F9F9F9"/>
                </a:solidFill>
                <a:latin typeface="Georgia"/>
                <a:cs typeface="Georgia"/>
              </a:rPr>
              <a:t>language</a:t>
            </a:r>
            <a:r>
              <a:rPr dirty="0" sz="1100" spc="50">
                <a:solidFill>
                  <a:srgbClr val="F9F9F9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F9F9F9"/>
                </a:solidFill>
                <a:latin typeface="Georgia"/>
                <a:cs typeface="Georgia"/>
              </a:rPr>
              <a:t>program Producing</a:t>
            </a:r>
            <a:r>
              <a:rPr dirty="0" sz="1100" spc="60">
                <a:solidFill>
                  <a:srgbClr val="F9F9F9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F9F9F9"/>
                </a:solidFill>
                <a:latin typeface="Georgia"/>
                <a:cs typeface="Georgia"/>
              </a:rPr>
              <a:t>relocatable</a:t>
            </a:r>
            <a:r>
              <a:rPr dirty="0" sz="1100" spc="60">
                <a:solidFill>
                  <a:srgbClr val="F9F9F9"/>
                </a:solidFill>
                <a:latin typeface="Georgia"/>
                <a:cs typeface="Georgia"/>
              </a:rPr>
              <a:t> </a:t>
            </a:r>
            <a:r>
              <a:rPr dirty="0" sz="1100" spc="-45">
                <a:solidFill>
                  <a:srgbClr val="F9F9F9"/>
                </a:solidFill>
                <a:latin typeface="Georgia"/>
                <a:cs typeface="Georgia"/>
              </a:rPr>
              <a:t>machine-</a:t>
            </a:r>
            <a:r>
              <a:rPr dirty="0" sz="1100" spc="-25">
                <a:solidFill>
                  <a:srgbClr val="F9F9F9"/>
                </a:solidFill>
                <a:latin typeface="Georgia"/>
                <a:cs typeface="Georgia"/>
              </a:rPr>
              <a:t>language</a:t>
            </a:r>
            <a:r>
              <a:rPr dirty="0" sz="1100" spc="65">
                <a:solidFill>
                  <a:srgbClr val="F9F9F9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solidFill>
                  <a:srgbClr val="F9F9F9"/>
                </a:solidFill>
                <a:latin typeface="Georgia"/>
                <a:cs typeface="Georgia"/>
              </a:rPr>
              <a:t>program </a:t>
            </a:r>
            <a:r>
              <a:rPr dirty="0" sz="1100" spc="-10">
                <a:solidFill>
                  <a:srgbClr val="F9F9F9"/>
                </a:solidFill>
                <a:latin typeface="Georgia"/>
                <a:cs typeface="Georgia"/>
              </a:rPr>
              <a:t>Producing</a:t>
            </a:r>
            <a:r>
              <a:rPr dirty="0" sz="1100" spc="20">
                <a:solidFill>
                  <a:srgbClr val="F9F9F9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solidFill>
                  <a:srgbClr val="F9F9F9"/>
                </a:solidFill>
                <a:latin typeface="Georgia"/>
                <a:cs typeface="Georgia"/>
              </a:rPr>
              <a:t>assembly</a:t>
            </a:r>
            <a:r>
              <a:rPr dirty="0" sz="1100" spc="20">
                <a:solidFill>
                  <a:srgbClr val="F9F9F9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F9F9F9"/>
                </a:solidFill>
                <a:latin typeface="Georgia"/>
                <a:cs typeface="Georgia"/>
              </a:rPr>
              <a:t>language</a:t>
            </a:r>
            <a:r>
              <a:rPr dirty="0" sz="1100" spc="20">
                <a:solidFill>
                  <a:srgbClr val="F9F9F9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F9F9F9"/>
                </a:solidFill>
                <a:latin typeface="Georgia"/>
                <a:cs typeface="Georgia"/>
              </a:rPr>
              <a:t>programs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2778363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45770" y="2764985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988395"/>
            <a:ext cx="114214" cy="11421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245770" y="2975018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0" y="3333699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01"/>
                </a:lnTo>
                <a:lnTo>
                  <a:pt x="2303996" y="122301"/>
                </a:lnTo>
                <a:lnTo>
                  <a:pt x="4607992" y="122301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312102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Code</a:t>
            </a:r>
            <a:r>
              <a:rPr dirty="0" spc="105"/>
              <a:t> </a:t>
            </a:r>
            <a:r>
              <a:rPr dirty="0" spc="-20"/>
              <a:t>Generator</a:t>
            </a:r>
            <a:r>
              <a:rPr dirty="0" spc="110"/>
              <a:t> </a:t>
            </a:r>
            <a:r>
              <a:rPr dirty="0"/>
              <a:t>:</a:t>
            </a:r>
            <a:r>
              <a:rPr dirty="0" spc="260"/>
              <a:t> </a:t>
            </a:r>
            <a:r>
              <a:rPr dirty="0"/>
              <a:t>Target</a:t>
            </a:r>
            <a:r>
              <a:rPr dirty="0" spc="110"/>
              <a:t> </a:t>
            </a:r>
            <a:r>
              <a:rPr dirty="0" spc="-10"/>
              <a:t>Program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721064"/>
            <a:ext cx="114214" cy="1142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45770" y="707687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2932" y="597850"/>
            <a:ext cx="4036695" cy="49657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00" spc="-10">
                <a:latin typeface="Georgia"/>
                <a:cs typeface="Georgia"/>
              </a:rPr>
              <a:t>Instruction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</a:t>
            </a:r>
            <a:r>
              <a:rPr dirty="0" u="sng" sz="1100">
                <a:uFill>
                  <a:solidFill>
                    <a:srgbClr val="FF2600"/>
                  </a:solidFill>
                </a:uFill>
                <a:latin typeface="Georgia"/>
                <a:cs typeface="Georgia"/>
              </a:rPr>
              <a:t>et</a:t>
            </a:r>
            <a:r>
              <a:rPr dirty="0" u="sng" sz="1100" spc="50">
                <a:uFill>
                  <a:solidFill>
                    <a:srgbClr val="FF26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10">
                <a:uFill>
                  <a:solidFill>
                    <a:srgbClr val="FF2600"/>
                  </a:solidFill>
                </a:uFill>
                <a:latin typeface="Georgia"/>
                <a:cs typeface="Georgia"/>
              </a:rPr>
              <a:t>architectu</a:t>
            </a:r>
            <a:r>
              <a:rPr dirty="0" sz="1100" spc="-10">
                <a:latin typeface="Georgia"/>
                <a:cs typeface="Georgia"/>
              </a:rPr>
              <a:t>re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(RISC,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CISC)</a:t>
            </a:r>
            <a:endParaRPr sz="1100">
              <a:latin typeface="Georgia"/>
              <a:cs typeface="Georgia"/>
            </a:endParaRPr>
          </a:p>
          <a:p>
            <a:pPr marL="353060">
              <a:lnSpc>
                <a:spcPct val="100000"/>
              </a:lnSpc>
              <a:spcBef>
                <a:spcPts val="530"/>
              </a:spcBef>
            </a:pPr>
            <a:r>
              <a:rPr dirty="0" sz="1100" b="1">
                <a:solidFill>
                  <a:srgbClr val="00688A"/>
                </a:solidFill>
                <a:latin typeface="Georgia"/>
                <a:cs typeface="Georgia"/>
              </a:rPr>
              <a:t>CISC</a:t>
            </a:r>
            <a:r>
              <a:rPr dirty="0" sz="1100" spc="409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MANY,</a:t>
            </a:r>
            <a:r>
              <a:rPr dirty="0" sz="1100" spc="19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SPECIALIZED</a:t>
            </a:r>
            <a:r>
              <a:rPr dirty="0" sz="1100" spc="20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instructions,</a:t>
            </a:r>
            <a:r>
              <a:rPr dirty="0" sz="1100" spc="19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FEW</a:t>
            </a:r>
            <a:r>
              <a:rPr dirty="0" sz="1100" spc="20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registers,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2932" y="1074355"/>
            <a:ext cx="4080510" cy="13963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801370" marR="26035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Georgia"/>
                <a:cs typeface="Georgia"/>
              </a:rPr>
              <a:t>variety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addressing-</a:t>
            </a:r>
            <a:r>
              <a:rPr dirty="0" sz="1100" spc="-25">
                <a:latin typeface="Georgia"/>
                <a:cs typeface="Georgia"/>
              </a:rPr>
              <a:t>modes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(CISC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requires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micro </a:t>
            </a:r>
            <a:r>
              <a:rPr dirty="0" sz="1100" spc="-10">
                <a:latin typeface="Georgia"/>
                <a:cs typeface="Georgia"/>
              </a:rPr>
              <a:t>code)</a:t>
            </a:r>
            <a:endParaRPr sz="1100">
              <a:latin typeface="Georgia"/>
              <a:cs typeface="Georgia"/>
            </a:endParaRPr>
          </a:p>
          <a:p>
            <a:pPr marL="801370" marR="268605" indent="-453390">
              <a:lnSpc>
                <a:spcPct val="102600"/>
              </a:lnSpc>
            </a:pPr>
            <a:r>
              <a:rPr dirty="0" sz="1100" b="1">
                <a:solidFill>
                  <a:srgbClr val="00688A"/>
                </a:solidFill>
                <a:latin typeface="Georgia"/>
                <a:cs typeface="Georgia"/>
              </a:rPr>
              <a:t>RISC</a:t>
            </a:r>
            <a:r>
              <a:rPr dirty="0" sz="1100" spc="40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FEW,</a:t>
            </a:r>
            <a:r>
              <a:rPr dirty="0" sz="1100" spc="19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SIMPLE,</a:t>
            </a:r>
            <a:r>
              <a:rPr dirty="0" sz="1100" spc="19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ORTHOGONAL</a:t>
            </a:r>
            <a:r>
              <a:rPr dirty="0" sz="1100" spc="19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instructions, </a:t>
            </a:r>
            <a:r>
              <a:rPr dirty="0" sz="1100">
                <a:latin typeface="Georgia"/>
                <a:cs typeface="Georgia"/>
              </a:rPr>
              <a:t>MANY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registers,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simple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addressing-</a:t>
            </a:r>
            <a:r>
              <a:rPr dirty="0" sz="1100" spc="-25">
                <a:latin typeface="Georgia"/>
                <a:cs typeface="Georgia"/>
              </a:rPr>
              <a:t>modes</a:t>
            </a:r>
            <a:r>
              <a:rPr dirty="0" sz="1100" spc="10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(RISK </a:t>
            </a:r>
            <a:r>
              <a:rPr dirty="0" sz="1100" spc="-20">
                <a:latin typeface="Georgia"/>
                <a:cs typeface="Georgia"/>
              </a:rPr>
              <a:t>drives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hardware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directly)</a:t>
            </a:r>
            <a:endParaRPr sz="1100">
              <a:latin typeface="Georgia"/>
              <a:cs typeface="Georgia"/>
            </a:endParaRPr>
          </a:p>
          <a:p>
            <a:pPr marL="801370" marR="5080" indent="-789305">
              <a:lnSpc>
                <a:spcPct val="102600"/>
              </a:lnSpc>
            </a:pPr>
            <a:r>
              <a:rPr dirty="0" sz="1100" b="1">
                <a:solidFill>
                  <a:srgbClr val="00688A"/>
                </a:solidFill>
                <a:latin typeface="Georgia"/>
                <a:cs typeface="Georgia"/>
              </a:rPr>
              <a:t>Stack</a:t>
            </a:r>
            <a:r>
              <a:rPr dirty="0" sz="1100" spc="40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-20" b="1">
                <a:solidFill>
                  <a:srgbClr val="00688A"/>
                </a:solidFill>
                <a:latin typeface="Georgia"/>
                <a:cs typeface="Georgia"/>
              </a:rPr>
              <a:t>Machine</a:t>
            </a:r>
            <a:r>
              <a:rPr dirty="0" sz="1100" spc="14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set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is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organized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with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NO </a:t>
            </a:r>
            <a:r>
              <a:rPr dirty="0" sz="1100">
                <a:latin typeface="Georgia"/>
                <a:cs typeface="Georgia"/>
              </a:rPr>
              <a:t>REGISTERS,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all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operations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done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on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stack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(e.g.</a:t>
            </a:r>
            <a:r>
              <a:rPr dirty="0" sz="1100" spc="17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ADD </a:t>
            </a:r>
            <a:r>
              <a:rPr dirty="0" sz="1100" spc="-20">
                <a:latin typeface="Georgia"/>
                <a:cs typeface="Georgia"/>
              </a:rPr>
              <a:t>instuctions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whence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no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arguments..)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2568330"/>
            <a:ext cx="114214" cy="11421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2778363"/>
            <a:ext cx="114214" cy="11421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988395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/>
          <p:nvPr/>
        </p:nvSpPr>
        <p:spPr>
          <a:xfrm>
            <a:off x="0" y="3333699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01"/>
                </a:lnTo>
                <a:lnTo>
                  <a:pt x="2303996" y="122301"/>
                </a:lnTo>
                <a:lnTo>
                  <a:pt x="4607992" y="122301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539166" y="1398065"/>
            <a:ext cx="601980" cy="233679"/>
            <a:chOff x="539166" y="1398065"/>
            <a:chExt cx="601980" cy="233679"/>
          </a:xfrm>
        </p:grpSpPr>
        <p:sp>
          <p:nvSpPr>
            <p:cNvPr id="14" name="object 14" descr=""/>
            <p:cNvSpPr/>
            <p:nvPr/>
          </p:nvSpPr>
          <p:spPr>
            <a:xfrm>
              <a:off x="783122" y="1625263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40" h="0">
                  <a:moveTo>
                    <a:pt x="0" y="-6"/>
                  </a:moveTo>
                  <a:lnTo>
                    <a:pt x="0" y="-6"/>
                  </a:lnTo>
                  <a:lnTo>
                    <a:pt x="306777" y="-6"/>
                  </a:lnTo>
                  <a:lnTo>
                    <a:pt x="357907" y="-6"/>
                  </a:lnTo>
                </a:path>
              </a:pathLst>
            </a:custGeom>
            <a:ln w="127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45516" y="1404415"/>
              <a:ext cx="327660" cy="215265"/>
            </a:xfrm>
            <a:custGeom>
              <a:avLst/>
              <a:gdLst/>
              <a:ahLst/>
              <a:cxnLst/>
              <a:rect l="l" t="t" r="r" b="b"/>
              <a:pathLst>
                <a:path w="327659" h="215265">
                  <a:moveTo>
                    <a:pt x="3283" y="100032"/>
                  </a:moveTo>
                  <a:lnTo>
                    <a:pt x="0" y="138421"/>
                  </a:lnTo>
                  <a:lnTo>
                    <a:pt x="1416" y="169130"/>
                  </a:lnTo>
                  <a:lnTo>
                    <a:pt x="7534" y="192158"/>
                  </a:lnTo>
                  <a:lnTo>
                    <a:pt x="18354" y="207506"/>
                  </a:lnTo>
                  <a:lnTo>
                    <a:pt x="33874" y="215172"/>
                  </a:lnTo>
                  <a:lnTo>
                    <a:pt x="54095" y="215158"/>
                  </a:lnTo>
                  <a:lnTo>
                    <a:pt x="108642" y="192088"/>
                  </a:lnTo>
                  <a:lnTo>
                    <a:pt x="142967" y="169032"/>
                  </a:lnTo>
                  <a:lnTo>
                    <a:pt x="181993" y="138296"/>
                  </a:lnTo>
                  <a:lnTo>
                    <a:pt x="225720" y="99878"/>
                  </a:lnTo>
                  <a:lnTo>
                    <a:pt x="274149" y="53780"/>
                  </a:lnTo>
                  <a:lnTo>
                    <a:pt x="327278" y="1"/>
                  </a:lnTo>
                </a:path>
              </a:pathLst>
            </a:custGeom>
            <a:ln w="127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583382" y="853926"/>
            <a:ext cx="528320" cy="272415"/>
            <a:chOff x="583382" y="853926"/>
            <a:chExt cx="528320" cy="272415"/>
          </a:xfrm>
        </p:grpSpPr>
        <p:sp>
          <p:nvSpPr>
            <p:cNvPr id="17" name="object 17" descr=""/>
            <p:cNvSpPr/>
            <p:nvPr/>
          </p:nvSpPr>
          <p:spPr>
            <a:xfrm>
              <a:off x="790298" y="1119558"/>
              <a:ext cx="321310" cy="0"/>
            </a:xfrm>
            <a:custGeom>
              <a:avLst/>
              <a:gdLst/>
              <a:ahLst/>
              <a:cxnLst/>
              <a:rect l="l" t="t" r="r" b="b"/>
              <a:pathLst>
                <a:path w="321309" h="0">
                  <a:moveTo>
                    <a:pt x="0" y="-2"/>
                  </a:moveTo>
                  <a:lnTo>
                    <a:pt x="0" y="-2"/>
                  </a:lnTo>
                  <a:lnTo>
                    <a:pt x="267757" y="-2"/>
                  </a:lnTo>
                  <a:lnTo>
                    <a:pt x="321308" y="-2"/>
                  </a:lnTo>
                </a:path>
              </a:pathLst>
            </a:custGeom>
            <a:ln w="127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89732" y="860276"/>
              <a:ext cx="234950" cy="246379"/>
            </a:xfrm>
            <a:custGeom>
              <a:avLst/>
              <a:gdLst/>
              <a:ahLst/>
              <a:cxnLst/>
              <a:rect l="l" t="t" r="r" b="b"/>
              <a:pathLst>
                <a:path w="234950" h="246380">
                  <a:moveTo>
                    <a:pt x="13597" y="163375"/>
                  </a:moveTo>
                  <a:lnTo>
                    <a:pt x="3813" y="199315"/>
                  </a:lnTo>
                  <a:lnTo>
                    <a:pt x="0" y="225097"/>
                  </a:lnTo>
                  <a:lnTo>
                    <a:pt x="2158" y="240720"/>
                  </a:lnTo>
                  <a:lnTo>
                    <a:pt x="10287" y="246184"/>
                  </a:lnTo>
                  <a:lnTo>
                    <a:pt x="24387" y="241490"/>
                  </a:lnTo>
                  <a:lnTo>
                    <a:pt x="70501" y="201626"/>
                  </a:lnTo>
                  <a:lnTo>
                    <a:pt x="102514" y="166456"/>
                  </a:lnTo>
                  <a:lnTo>
                    <a:pt x="140499" y="121127"/>
                  </a:lnTo>
                  <a:lnTo>
                    <a:pt x="184455" y="65640"/>
                  </a:lnTo>
                  <a:lnTo>
                    <a:pt x="234382" y="-4"/>
                  </a:lnTo>
                </a:path>
              </a:pathLst>
            </a:custGeom>
            <a:ln w="127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/>
          <p:nvPr/>
        </p:nvSpPr>
        <p:spPr>
          <a:xfrm>
            <a:off x="903336" y="629465"/>
            <a:ext cx="419100" cy="105410"/>
          </a:xfrm>
          <a:custGeom>
            <a:avLst/>
            <a:gdLst/>
            <a:ahLst/>
            <a:cxnLst/>
            <a:rect l="l" t="t" r="r" b="b"/>
            <a:pathLst>
              <a:path w="419100" h="105409">
                <a:moveTo>
                  <a:pt x="0" y="8006"/>
                </a:moveTo>
                <a:lnTo>
                  <a:pt x="0" y="8006"/>
                </a:lnTo>
                <a:lnTo>
                  <a:pt x="0" y="69015"/>
                </a:lnTo>
                <a:lnTo>
                  <a:pt x="147" y="72426"/>
                </a:lnTo>
                <a:lnTo>
                  <a:pt x="442" y="75681"/>
                </a:lnTo>
                <a:lnTo>
                  <a:pt x="736" y="78936"/>
                </a:lnTo>
                <a:lnTo>
                  <a:pt x="1193" y="82113"/>
                </a:lnTo>
                <a:lnTo>
                  <a:pt x="13312" y="104974"/>
                </a:lnTo>
                <a:lnTo>
                  <a:pt x="17798" y="104816"/>
                </a:lnTo>
                <a:lnTo>
                  <a:pt x="60540" y="93300"/>
                </a:lnTo>
                <a:lnTo>
                  <a:pt x="70242" y="90107"/>
                </a:lnTo>
                <a:lnTo>
                  <a:pt x="80989" y="86596"/>
                </a:lnTo>
                <a:lnTo>
                  <a:pt x="120019" y="74405"/>
                </a:lnTo>
                <a:lnTo>
                  <a:pt x="167158" y="60459"/>
                </a:lnTo>
                <a:lnTo>
                  <a:pt x="218546" y="45936"/>
                </a:lnTo>
                <a:lnTo>
                  <a:pt x="268027" y="32404"/>
                </a:lnTo>
                <a:lnTo>
                  <a:pt x="310569" y="21285"/>
                </a:lnTo>
                <a:lnTo>
                  <a:pt x="354034" y="10776"/>
                </a:lnTo>
                <a:lnTo>
                  <a:pt x="391453" y="3028"/>
                </a:lnTo>
                <a:lnTo>
                  <a:pt x="414306" y="229"/>
                </a:lnTo>
                <a:lnTo>
                  <a:pt x="418911" y="0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402932" y="2548854"/>
            <a:ext cx="3026410" cy="584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40"/>
              </a:lnSpc>
            </a:pPr>
            <a:r>
              <a:rPr dirty="0" sz="1100" spc="-10">
                <a:latin typeface="Georgia"/>
                <a:cs typeface="Georgia"/>
              </a:rPr>
              <a:t>Producing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absolute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machine-</a:t>
            </a:r>
            <a:r>
              <a:rPr dirty="0" sz="1100" spc="-20">
                <a:latin typeface="Georgia"/>
                <a:cs typeface="Georgia"/>
              </a:rPr>
              <a:t>language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program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25299"/>
              </a:lnSpc>
            </a:pP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Producing</a:t>
            </a:r>
            <a:r>
              <a:rPr dirty="0" sz="1100" spc="6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relocatable</a:t>
            </a:r>
            <a:r>
              <a:rPr dirty="0" sz="1100" spc="6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45">
                <a:solidFill>
                  <a:srgbClr val="D8D8D8"/>
                </a:solidFill>
                <a:latin typeface="Georgia"/>
                <a:cs typeface="Georgia"/>
              </a:rPr>
              <a:t>machine-</a:t>
            </a:r>
            <a:r>
              <a:rPr dirty="0" sz="1100" spc="-25">
                <a:solidFill>
                  <a:srgbClr val="D8D8D8"/>
                </a:solidFill>
                <a:latin typeface="Georgia"/>
                <a:cs typeface="Georgia"/>
              </a:rPr>
              <a:t>language</a:t>
            </a:r>
            <a:r>
              <a:rPr dirty="0" sz="1100" spc="6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solidFill>
                  <a:srgbClr val="D8D8D8"/>
                </a:solidFill>
                <a:latin typeface="Georgia"/>
                <a:cs typeface="Georgia"/>
              </a:rPr>
              <a:t>program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Producing</a:t>
            </a:r>
            <a:r>
              <a:rPr dirty="0" sz="1100" spc="2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solidFill>
                  <a:srgbClr val="D8D8D8"/>
                </a:solidFill>
                <a:latin typeface="Georgia"/>
                <a:cs typeface="Georgia"/>
              </a:rPr>
              <a:t>assembly</a:t>
            </a:r>
            <a:r>
              <a:rPr dirty="0" sz="1100" spc="2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language</a:t>
            </a:r>
            <a:r>
              <a:rPr dirty="0" sz="1100" spc="2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programs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45770" y="2573704"/>
            <a:ext cx="781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45770" y="2783736"/>
            <a:ext cx="781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45770" y="2993769"/>
            <a:ext cx="781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25" name="object 25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312102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Code</a:t>
            </a:r>
            <a:r>
              <a:rPr dirty="0" spc="105"/>
              <a:t> </a:t>
            </a:r>
            <a:r>
              <a:rPr dirty="0" spc="-20"/>
              <a:t>Generator</a:t>
            </a:r>
            <a:r>
              <a:rPr dirty="0" spc="110"/>
              <a:t> </a:t>
            </a:r>
            <a:r>
              <a:rPr dirty="0"/>
              <a:t>:</a:t>
            </a:r>
            <a:r>
              <a:rPr dirty="0" spc="260"/>
              <a:t> </a:t>
            </a:r>
            <a:r>
              <a:rPr dirty="0"/>
              <a:t>Target</a:t>
            </a:r>
            <a:r>
              <a:rPr dirty="0" spc="110"/>
              <a:t> </a:t>
            </a:r>
            <a:r>
              <a:rPr dirty="0" spc="-10"/>
              <a:t>Program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721064"/>
            <a:ext cx="114214" cy="1142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45770" y="707687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2932" y="597850"/>
            <a:ext cx="4080510" cy="187325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00" spc="-10">
                <a:latin typeface="Georgia"/>
                <a:cs typeface="Georgia"/>
              </a:rPr>
              <a:t>Instruction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set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architecture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(RISC,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CISC)</a:t>
            </a:r>
            <a:endParaRPr sz="1100">
              <a:latin typeface="Georgia"/>
              <a:cs typeface="Georgia"/>
            </a:endParaRPr>
          </a:p>
          <a:p>
            <a:pPr marL="801370" marR="48895" indent="-448945">
              <a:lnSpc>
                <a:spcPct val="102600"/>
              </a:lnSpc>
              <a:spcBef>
                <a:spcPts val="495"/>
              </a:spcBef>
            </a:pPr>
            <a:r>
              <a:rPr dirty="0" sz="1100" b="1">
                <a:solidFill>
                  <a:srgbClr val="00688A"/>
                </a:solidFill>
                <a:latin typeface="Georgia"/>
                <a:cs typeface="Georgia"/>
              </a:rPr>
              <a:t>CISC</a:t>
            </a:r>
            <a:r>
              <a:rPr dirty="0" sz="1100" spc="409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MANY,</a:t>
            </a:r>
            <a:r>
              <a:rPr dirty="0" sz="1100" spc="19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SPECIALIZED</a:t>
            </a:r>
            <a:r>
              <a:rPr dirty="0" sz="1100" spc="20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instructions,</a:t>
            </a:r>
            <a:r>
              <a:rPr dirty="0" sz="1100" spc="19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FEW</a:t>
            </a:r>
            <a:r>
              <a:rPr dirty="0" sz="1100" spc="20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registers, </a:t>
            </a:r>
            <a:r>
              <a:rPr dirty="0" sz="1100">
                <a:latin typeface="Georgia"/>
                <a:cs typeface="Georgia"/>
              </a:rPr>
              <a:t>variety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addressing-</a:t>
            </a:r>
            <a:r>
              <a:rPr dirty="0" sz="1100" spc="-25">
                <a:latin typeface="Georgia"/>
                <a:cs typeface="Georgia"/>
              </a:rPr>
              <a:t>modes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(CISC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requires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micro </a:t>
            </a:r>
            <a:r>
              <a:rPr dirty="0" sz="1100" spc="-10">
                <a:latin typeface="Georgia"/>
                <a:cs typeface="Georgia"/>
              </a:rPr>
              <a:t>code)</a:t>
            </a:r>
            <a:endParaRPr sz="1100">
              <a:latin typeface="Georgia"/>
              <a:cs typeface="Georgia"/>
            </a:endParaRPr>
          </a:p>
          <a:p>
            <a:pPr marL="801370" marR="268605" indent="-453390">
              <a:lnSpc>
                <a:spcPct val="102600"/>
              </a:lnSpc>
              <a:spcBef>
                <a:spcPts val="5"/>
              </a:spcBef>
            </a:pPr>
            <a:r>
              <a:rPr dirty="0" sz="1100" b="1">
                <a:solidFill>
                  <a:srgbClr val="00688A"/>
                </a:solidFill>
                <a:latin typeface="Georgia"/>
                <a:cs typeface="Georgia"/>
              </a:rPr>
              <a:t>RISC</a:t>
            </a:r>
            <a:r>
              <a:rPr dirty="0" sz="1100" spc="40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FEW,</a:t>
            </a:r>
            <a:r>
              <a:rPr dirty="0" sz="1100" spc="19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SIMPLE,</a:t>
            </a:r>
            <a:r>
              <a:rPr dirty="0" sz="1100" spc="19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ORTHOGONAL</a:t>
            </a:r>
            <a:r>
              <a:rPr dirty="0" sz="1100" spc="19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instructions, </a:t>
            </a:r>
            <a:r>
              <a:rPr dirty="0" sz="1100">
                <a:latin typeface="Georgia"/>
                <a:cs typeface="Georgia"/>
              </a:rPr>
              <a:t>MANY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registers,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simple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addressing-</a:t>
            </a:r>
            <a:r>
              <a:rPr dirty="0" sz="1100" spc="-25">
                <a:latin typeface="Georgia"/>
                <a:cs typeface="Georgia"/>
              </a:rPr>
              <a:t>modes</a:t>
            </a:r>
            <a:r>
              <a:rPr dirty="0" sz="1100" spc="10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(RISK </a:t>
            </a:r>
            <a:r>
              <a:rPr dirty="0" sz="1100" spc="-20">
                <a:latin typeface="Georgia"/>
                <a:cs typeface="Georgia"/>
              </a:rPr>
              <a:t>drives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hardware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directly)</a:t>
            </a:r>
            <a:endParaRPr sz="1100">
              <a:latin typeface="Georgia"/>
              <a:cs typeface="Georgia"/>
            </a:endParaRPr>
          </a:p>
          <a:p>
            <a:pPr marL="801370" marR="5080" indent="-789305">
              <a:lnSpc>
                <a:spcPct val="102600"/>
              </a:lnSpc>
            </a:pPr>
            <a:r>
              <a:rPr dirty="0" sz="1100" b="1">
                <a:solidFill>
                  <a:srgbClr val="00688A"/>
                </a:solidFill>
                <a:latin typeface="Georgia"/>
                <a:cs typeface="Georgia"/>
              </a:rPr>
              <a:t>Stack</a:t>
            </a:r>
            <a:r>
              <a:rPr dirty="0" sz="1100" spc="40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-20" b="1">
                <a:solidFill>
                  <a:srgbClr val="00688A"/>
                </a:solidFill>
                <a:latin typeface="Georgia"/>
                <a:cs typeface="Georgia"/>
              </a:rPr>
              <a:t>Machine</a:t>
            </a:r>
            <a:r>
              <a:rPr dirty="0" sz="1100" spc="14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set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is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organized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with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NO </a:t>
            </a:r>
            <a:r>
              <a:rPr dirty="0" sz="1100">
                <a:latin typeface="Georgia"/>
                <a:cs typeface="Georgia"/>
              </a:rPr>
              <a:t>REGISTERS,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all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operations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done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on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stack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(e.g.</a:t>
            </a:r>
            <a:r>
              <a:rPr dirty="0" sz="1100" spc="17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ADD </a:t>
            </a:r>
            <a:r>
              <a:rPr dirty="0" sz="1100" spc="-20">
                <a:latin typeface="Georgia"/>
                <a:cs typeface="Georgia"/>
              </a:rPr>
              <a:t>instuctions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whence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no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arguments..)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2568330"/>
            <a:ext cx="114214" cy="11421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2778363"/>
            <a:ext cx="114214" cy="11421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988395"/>
            <a:ext cx="114214" cy="114214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0" y="3333699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01"/>
                </a:lnTo>
                <a:lnTo>
                  <a:pt x="2303996" y="122301"/>
                </a:lnTo>
                <a:lnTo>
                  <a:pt x="4607992" y="122301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055783" y="2895593"/>
            <a:ext cx="554355" cy="8890"/>
          </a:xfrm>
          <a:custGeom>
            <a:avLst/>
            <a:gdLst/>
            <a:ahLst/>
            <a:cxnLst/>
            <a:rect l="l" t="t" r="r" b="b"/>
            <a:pathLst>
              <a:path w="554355" h="8889">
                <a:moveTo>
                  <a:pt x="0" y="8341"/>
                </a:moveTo>
                <a:lnTo>
                  <a:pt x="50370" y="7583"/>
                </a:lnTo>
                <a:lnTo>
                  <a:pt x="100740" y="6825"/>
                </a:lnTo>
                <a:lnTo>
                  <a:pt x="151111" y="6066"/>
                </a:lnTo>
                <a:lnTo>
                  <a:pt x="201481" y="5308"/>
                </a:lnTo>
                <a:lnTo>
                  <a:pt x="251852" y="4550"/>
                </a:lnTo>
                <a:lnTo>
                  <a:pt x="302222" y="3791"/>
                </a:lnTo>
                <a:lnTo>
                  <a:pt x="352593" y="3033"/>
                </a:lnTo>
                <a:lnTo>
                  <a:pt x="402963" y="2275"/>
                </a:lnTo>
                <a:lnTo>
                  <a:pt x="453334" y="1516"/>
                </a:lnTo>
                <a:lnTo>
                  <a:pt x="503704" y="758"/>
                </a:lnTo>
                <a:lnTo>
                  <a:pt x="554075" y="0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68196" y="2488969"/>
            <a:ext cx="227513" cy="118097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2185955" y="2728458"/>
            <a:ext cx="377190" cy="55244"/>
          </a:xfrm>
          <a:custGeom>
            <a:avLst/>
            <a:gdLst/>
            <a:ahLst/>
            <a:cxnLst/>
            <a:rect l="l" t="t" r="r" b="b"/>
            <a:pathLst>
              <a:path w="377189" h="55244">
                <a:moveTo>
                  <a:pt x="6565" y="0"/>
                </a:moveTo>
                <a:lnTo>
                  <a:pt x="1" y="19821"/>
                </a:lnTo>
                <a:lnTo>
                  <a:pt x="3123" y="35238"/>
                </a:lnTo>
                <a:lnTo>
                  <a:pt x="15930" y="46250"/>
                </a:lnTo>
                <a:lnTo>
                  <a:pt x="38422" y="52857"/>
                </a:lnTo>
                <a:lnTo>
                  <a:pt x="70599" y="55059"/>
                </a:lnTo>
                <a:lnTo>
                  <a:pt x="112462" y="52857"/>
                </a:lnTo>
                <a:lnTo>
                  <a:pt x="164010" y="46250"/>
                </a:lnTo>
                <a:lnTo>
                  <a:pt x="225243" y="35238"/>
                </a:lnTo>
                <a:lnTo>
                  <a:pt x="296161" y="19821"/>
                </a:lnTo>
                <a:lnTo>
                  <a:pt x="376764" y="0"/>
                </a:lnTo>
              </a:path>
            </a:pathLst>
          </a:custGeom>
          <a:ln w="12699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402932" y="2548854"/>
            <a:ext cx="3026410" cy="584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40"/>
              </a:lnSpc>
            </a:pPr>
            <a:r>
              <a:rPr dirty="0" sz="1100" spc="-10">
                <a:latin typeface="Georgia"/>
                <a:cs typeface="Georgia"/>
              </a:rPr>
              <a:t>Producing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u="sng" sz="1100" spc="-10">
                <a:uFill>
                  <a:solidFill>
                    <a:srgbClr val="FF2600"/>
                  </a:solidFill>
                </a:uFill>
                <a:latin typeface="Georgia"/>
                <a:cs typeface="Georgia"/>
              </a:rPr>
              <a:t>absolut</a:t>
            </a:r>
            <a:r>
              <a:rPr dirty="0" sz="1100" spc="-10">
                <a:latin typeface="Georgia"/>
                <a:cs typeface="Georgia"/>
              </a:rPr>
              <a:t>e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machine-</a:t>
            </a:r>
            <a:r>
              <a:rPr dirty="0" sz="1100" spc="-20">
                <a:latin typeface="Georgia"/>
                <a:cs typeface="Georgia"/>
              </a:rPr>
              <a:t>language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program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25299"/>
              </a:lnSpc>
            </a:pPr>
            <a:r>
              <a:rPr dirty="0" sz="1100" spc="-10">
                <a:latin typeface="Georgia"/>
                <a:cs typeface="Georgia"/>
              </a:rPr>
              <a:t>Producing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relocatable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machine-</a:t>
            </a:r>
            <a:r>
              <a:rPr dirty="0" sz="1100" spc="-25">
                <a:latin typeface="Georgia"/>
                <a:cs typeface="Georgia"/>
              </a:rPr>
              <a:t>language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program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Producing</a:t>
            </a:r>
            <a:r>
              <a:rPr dirty="0" sz="1100" spc="2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solidFill>
                  <a:srgbClr val="D8D8D8"/>
                </a:solidFill>
                <a:latin typeface="Georgia"/>
                <a:cs typeface="Georgia"/>
              </a:rPr>
              <a:t>assembly</a:t>
            </a:r>
            <a:r>
              <a:rPr dirty="0" sz="1100" spc="2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language</a:t>
            </a:r>
            <a:r>
              <a:rPr dirty="0" sz="1100" spc="2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programs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45770" y="2573704"/>
            <a:ext cx="781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45770" y="2783736"/>
            <a:ext cx="781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45770" y="2993769"/>
            <a:ext cx="781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40"/>
              <a:t>16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312102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Code</a:t>
            </a:r>
            <a:r>
              <a:rPr dirty="0" spc="105"/>
              <a:t> </a:t>
            </a:r>
            <a:r>
              <a:rPr dirty="0" spc="-20"/>
              <a:t>Generator</a:t>
            </a:r>
            <a:r>
              <a:rPr dirty="0" spc="110"/>
              <a:t> </a:t>
            </a:r>
            <a:r>
              <a:rPr dirty="0"/>
              <a:t>:</a:t>
            </a:r>
            <a:r>
              <a:rPr dirty="0" spc="260"/>
              <a:t> </a:t>
            </a:r>
            <a:r>
              <a:rPr dirty="0"/>
              <a:t>Target</a:t>
            </a:r>
            <a:r>
              <a:rPr dirty="0" spc="110"/>
              <a:t> </a:t>
            </a:r>
            <a:r>
              <a:rPr dirty="0" spc="-10"/>
              <a:t>Program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721064"/>
            <a:ext cx="114214" cy="1142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45770" y="707687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2932" y="597850"/>
            <a:ext cx="4080510" cy="187325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00" spc="-10">
                <a:latin typeface="Georgia"/>
                <a:cs typeface="Georgia"/>
              </a:rPr>
              <a:t>Instruction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set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architecture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(RISC,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CISC)</a:t>
            </a:r>
            <a:endParaRPr sz="1100">
              <a:latin typeface="Georgia"/>
              <a:cs typeface="Georgia"/>
            </a:endParaRPr>
          </a:p>
          <a:p>
            <a:pPr marL="801370" marR="48895" indent="-448945">
              <a:lnSpc>
                <a:spcPct val="102600"/>
              </a:lnSpc>
              <a:spcBef>
                <a:spcPts val="495"/>
              </a:spcBef>
            </a:pPr>
            <a:r>
              <a:rPr dirty="0" sz="1100" b="1">
                <a:solidFill>
                  <a:srgbClr val="00688A"/>
                </a:solidFill>
                <a:latin typeface="Georgia"/>
                <a:cs typeface="Georgia"/>
              </a:rPr>
              <a:t>CISC</a:t>
            </a:r>
            <a:r>
              <a:rPr dirty="0" sz="1100" spc="409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MANY,</a:t>
            </a:r>
            <a:r>
              <a:rPr dirty="0" sz="1100" spc="19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SPECIALIZED</a:t>
            </a:r>
            <a:r>
              <a:rPr dirty="0" sz="1100" spc="20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instructions,</a:t>
            </a:r>
            <a:r>
              <a:rPr dirty="0" sz="1100" spc="19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FEW</a:t>
            </a:r>
            <a:r>
              <a:rPr dirty="0" sz="1100" spc="20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registers, </a:t>
            </a:r>
            <a:r>
              <a:rPr dirty="0" sz="1100">
                <a:latin typeface="Georgia"/>
                <a:cs typeface="Georgia"/>
              </a:rPr>
              <a:t>variety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addressing-</a:t>
            </a:r>
            <a:r>
              <a:rPr dirty="0" sz="1100" spc="-25">
                <a:latin typeface="Georgia"/>
                <a:cs typeface="Georgia"/>
              </a:rPr>
              <a:t>modes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(CISC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requires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micro </a:t>
            </a:r>
            <a:r>
              <a:rPr dirty="0" sz="1100" spc="-10">
                <a:latin typeface="Georgia"/>
                <a:cs typeface="Georgia"/>
              </a:rPr>
              <a:t>code)</a:t>
            </a:r>
            <a:endParaRPr sz="1100">
              <a:latin typeface="Georgia"/>
              <a:cs typeface="Georgia"/>
            </a:endParaRPr>
          </a:p>
          <a:p>
            <a:pPr marL="801370" marR="268605" indent="-453390">
              <a:lnSpc>
                <a:spcPct val="102600"/>
              </a:lnSpc>
              <a:spcBef>
                <a:spcPts val="5"/>
              </a:spcBef>
            </a:pPr>
            <a:r>
              <a:rPr dirty="0" sz="1100" b="1">
                <a:solidFill>
                  <a:srgbClr val="00688A"/>
                </a:solidFill>
                <a:latin typeface="Georgia"/>
                <a:cs typeface="Georgia"/>
              </a:rPr>
              <a:t>RISC</a:t>
            </a:r>
            <a:r>
              <a:rPr dirty="0" sz="1100" spc="40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FEW,</a:t>
            </a:r>
            <a:r>
              <a:rPr dirty="0" sz="1100" spc="19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SIMPLE,</a:t>
            </a:r>
            <a:r>
              <a:rPr dirty="0" sz="1100" spc="19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ORTHOGONAL</a:t>
            </a:r>
            <a:r>
              <a:rPr dirty="0" sz="1100" spc="19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instructions, </a:t>
            </a:r>
            <a:r>
              <a:rPr dirty="0" sz="1100">
                <a:latin typeface="Georgia"/>
                <a:cs typeface="Georgia"/>
              </a:rPr>
              <a:t>MANY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registers,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simple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addressing-</a:t>
            </a:r>
            <a:r>
              <a:rPr dirty="0" sz="1100" spc="-25">
                <a:latin typeface="Georgia"/>
                <a:cs typeface="Georgia"/>
              </a:rPr>
              <a:t>modes</a:t>
            </a:r>
            <a:r>
              <a:rPr dirty="0" sz="1100" spc="10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(RISK </a:t>
            </a:r>
            <a:r>
              <a:rPr dirty="0" sz="1100" spc="-20">
                <a:latin typeface="Georgia"/>
                <a:cs typeface="Georgia"/>
              </a:rPr>
              <a:t>drives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hardware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directly)</a:t>
            </a:r>
            <a:endParaRPr sz="1100">
              <a:latin typeface="Georgia"/>
              <a:cs typeface="Georgia"/>
            </a:endParaRPr>
          </a:p>
          <a:p>
            <a:pPr marL="801370" marR="5080" indent="-789305">
              <a:lnSpc>
                <a:spcPct val="102600"/>
              </a:lnSpc>
            </a:pPr>
            <a:r>
              <a:rPr dirty="0" sz="1100" b="1">
                <a:solidFill>
                  <a:srgbClr val="00688A"/>
                </a:solidFill>
                <a:latin typeface="Georgia"/>
                <a:cs typeface="Georgia"/>
              </a:rPr>
              <a:t>Stack</a:t>
            </a:r>
            <a:r>
              <a:rPr dirty="0" sz="1100" spc="40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-20" b="1">
                <a:solidFill>
                  <a:srgbClr val="00688A"/>
                </a:solidFill>
                <a:latin typeface="Georgia"/>
                <a:cs typeface="Georgia"/>
              </a:rPr>
              <a:t>Machine</a:t>
            </a:r>
            <a:r>
              <a:rPr dirty="0" sz="1100" spc="14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set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is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organized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with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NO </a:t>
            </a:r>
            <a:r>
              <a:rPr dirty="0" sz="1100">
                <a:latin typeface="Georgia"/>
                <a:cs typeface="Georgia"/>
              </a:rPr>
              <a:t>REGISTERS,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all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operations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done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on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stack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(e.g.</a:t>
            </a:r>
            <a:r>
              <a:rPr dirty="0" sz="1100" spc="17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ADD </a:t>
            </a:r>
            <a:r>
              <a:rPr dirty="0" sz="1100" spc="-20">
                <a:latin typeface="Georgia"/>
                <a:cs typeface="Georgia"/>
              </a:rPr>
              <a:t>instuctions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whence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no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arguments..)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2568330"/>
            <a:ext cx="114214" cy="11421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45770" y="2554953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2932" y="2470439"/>
            <a:ext cx="3026410" cy="655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 sz="1100" spc="-10">
                <a:latin typeface="Georgia"/>
                <a:cs typeface="Georgia"/>
              </a:rPr>
              <a:t>Producing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absolute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machine-</a:t>
            </a:r>
            <a:r>
              <a:rPr dirty="0" sz="1100" spc="-20">
                <a:latin typeface="Georgia"/>
                <a:cs typeface="Georgia"/>
              </a:rPr>
              <a:t>language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program Producing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relocatable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machine-</a:t>
            </a:r>
            <a:r>
              <a:rPr dirty="0" sz="1100" spc="-25">
                <a:latin typeface="Georgia"/>
                <a:cs typeface="Georgia"/>
              </a:rPr>
              <a:t>language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program </a:t>
            </a:r>
            <a:r>
              <a:rPr dirty="0" sz="1100" spc="-10">
                <a:latin typeface="Georgia"/>
                <a:cs typeface="Georgia"/>
              </a:rPr>
              <a:t>Producing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assembly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language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programs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2778363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45770" y="2764985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988395"/>
            <a:ext cx="114214" cy="11421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245770" y="2975018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0" y="3333699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01"/>
                </a:lnTo>
                <a:lnTo>
                  <a:pt x="2303996" y="122301"/>
                </a:lnTo>
                <a:lnTo>
                  <a:pt x="4607992" y="122301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115442" y="3141336"/>
            <a:ext cx="1628775" cy="0"/>
          </a:xfrm>
          <a:custGeom>
            <a:avLst/>
            <a:gdLst/>
            <a:ahLst/>
            <a:cxnLst/>
            <a:rect l="l" t="t" r="r" b="b"/>
            <a:pathLst>
              <a:path w="1628775" h="0">
                <a:moveTo>
                  <a:pt x="0" y="0"/>
                </a:moveTo>
                <a:lnTo>
                  <a:pt x="0" y="0"/>
                </a:lnTo>
                <a:lnTo>
                  <a:pt x="1577394" y="0"/>
                </a:lnTo>
                <a:lnTo>
                  <a:pt x="1628278" y="0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279908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Main</a:t>
            </a:r>
            <a:r>
              <a:rPr dirty="0" spc="75"/>
              <a:t> </a:t>
            </a:r>
            <a:r>
              <a:rPr dirty="0" spc="-20"/>
              <a:t>Tasks</a:t>
            </a:r>
            <a:r>
              <a:rPr dirty="0" spc="80"/>
              <a:t> </a:t>
            </a:r>
            <a:r>
              <a:rPr dirty="0"/>
              <a:t>of</a:t>
            </a:r>
            <a:r>
              <a:rPr dirty="0" spc="80"/>
              <a:t> </a:t>
            </a:r>
            <a:r>
              <a:rPr dirty="0"/>
              <a:t>Code</a:t>
            </a:r>
            <a:r>
              <a:rPr dirty="0" spc="75"/>
              <a:t> </a:t>
            </a:r>
            <a:r>
              <a:rPr dirty="0" spc="-10"/>
              <a:t>Generator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25844" y="1210130"/>
            <a:ext cx="4335145" cy="112839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801370" marR="606425" indent="-789305">
              <a:lnSpc>
                <a:spcPct val="102699"/>
              </a:lnSpc>
              <a:spcBef>
                <a:spcPts val="55"/>
              </a:spcBef>
            </a:pPr>
            <a:r>
              <a:rPr dirty="0" sz="1100" spc="-30" b="1">
                <a:solidFill>
                  <a:srgbClr val="00688A"/>
                </a:solidFill>
                <a:latin typeface="Georgia"/>
                <a:cs typeface="Georgia"/>
              </a:rPr>
              <a:t>Instruction</a:t>
            </a:r>
            <a:r>
              <a:rPr dirty="0" sz="1100" spc="5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-25" b="1">
                <a:solidFill>
                  <a:srgbClr val="00688A"/>
                </a:solidFill>
                <a:latin typeface="Georgia"/>
                <a:cs typeface="Georgia"/>
              </a:rPr>
              <a:t>selection</a:t>
            </a:r>
            <a:r>
              <a:rPr dirty="0" sz="1100" spc="150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choosing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appropriate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target-machine instructions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to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implement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IR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statements</a:t>
            </a:r>
            <a:endParaRPr sz="1100">
              <a:latin typeface="Georgia"/>
              <a:cs typeface="Georgia"/>
            </a:endParaRPr>
          </a:p>
          <a:p>
            <a:pPr marL="801370" marR="5080" indent="-789305">
              <a:lnSpc>
                <a:spcPct val="102600"/>
              </a:lnSpc>
              <a:spcBef>
                <a:spcPts val="300"/>
              </a:spcBef>
            </a:pPr>
            <a:r>
              <a:rPr dirty="0" sz="1100" spc="-20" b="1">
                <a:solidFill>
                  <a:srgbClr val="00688A"/>
                </a:solidFill>
                <a:latin typeface="Georgia"/>
                <a:cs typeface="Georgia"/>
              </a:rPr>
              <a:t>Registers</a:t>
            </a:r>
            <a:r>
              <a:rPr dirty="0" sz="1100" spc="5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-30" b="1">
                <a:solidFill>
                  <a:srgbClr val="00688A"/>
                </a:solidFill>
                <a:latin typeface="Georgia"/>
                <a:cs typeface="Georgia"/>
              </a:rPr>
              <a:t>allocation</a:t>
            </a:r>
            <a:r>
              <a:rPr dirty="0" sz="1100" spc="70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-10" b="1">
                <a:solidFill>
                  <a:srgbClr val="00688A"/>
                </a:solidFill>
                <a:latin typeface="Georgia"/>
                <a:cs typeface="Georgia"/>
              </a:rPr>
              <a:t>and</a:t>
            </a:r>
            <a:r>
              <a:rPr dirty="0" sz="1100" spc="6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-35" b="1">
                <a:solidFill>
                  <a:srgbClr val="00688A"/>
                </a:solidFill>
                <a:latin typeface="Georgia"/>
                <a:cs typeface="Georgia"/>
              </a:rPr>
              <a:t>assignment</a:t>
            </a:r>
            <a:r>
              <a:rPr dirty="0" sz="1100" spc="16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deciding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what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values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to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keep </a:t>
            </a:r>
            <a:r>
              <a:rPr dirty="0" sz="1100">
                <a:latin typeface="Georgia"/>
                <a:cs typeface="Georgia"/>
              </a:rPr>
              <a:t>in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which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registers</a:t>
            </a:r>
            <a:endParaRPr sz="1100">
              <a:latin typeface="Georgia"/>
              <a:cs typeface="Georgia"/>
            </a:endParaRPr>
          </a:p>
          <a:p>
            <a:pPr marL="801370" marR="504825" indent="-789305">
              <a:lnSpc>
                <a:spcPct val="102600"/>
              </a:lnSpc>
              <a:spcBef>
                <a:spcPts val="300"/>
              </a:spcBef>
            </a:pPr>
            <a:r>
              <a:rPr dirty="0" sz="1100" spc="-30" b="1">
                <a:solidFill>
                  <a:srgbClr val="00688A"/>
                </a:solidFill>
                <a:latin typeface="Georgia"/>
                <a:cs typeface="Georgia"/>
              </a:rPr>
              <a:t>Instruction</a:t>
            </a:r>
            <a:r>
              <a:rPr dirty="0" sz="1100" spc="70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-35" b="1">
                <a:solidFill>
                  <a:srgbClr val="00688A"/>
                </a:solidFill>
                <a:latin typeface="Georgia"/>
                <a:cs typeface="Georgia"/>
              </a:rPr>
              <a:t>ordering</a:t>
            </a:r>
            <a:r>
              <a:rPr dirty="0" sz="1100" spc="18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deciding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in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what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order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to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schedule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the </a:t>
            </a:r>
            <a:r>
              <a:rPr dirty="0" sz="1100" spc="-20">
                <a:latin typeface="Georgia"/>
                <a:cs typeface="Georgia"/>
              </a:rPr>
              <a:t>execution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250265" y="709464"/>
            <a:ext cx="290830" cy="15557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26670" marR="5080" indent="-14604">
              <a:lnSpc>
                <a:spcPct val="104200"/>
              </a:lnSpc>
              <a:spcBef>
                <a:spcPts val="115"/>
              </a:spcBef>
            </a:pPr>
            <a:r>
              <a:rPr dirty="0" sz="400" b="1">
                <a:solidFill>
                  <a:srgbClr val="FF2600"/>
                </a:solidFill>
                <a:latin typeface="Georgia"/>
                <a:cs typeface="Georgia"/>
              </a:rPr>
              <a:t>t1</a:t>
            </a:r>
            <a:r>
              <a:rPr dirty="0" sz="400" spc="15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b="1">
                <a:solidFill>
                  <a:srgbClr val="FF2600"/>
                </a:solidFill>
                <a:latin typeface="Georgia"/>
                <a:cs typeface="Georgia"/>
              </a:rPr>
              <a:t>=</a:t>
            </a:r>
            <a:r>
              <a:rPr dirty="0" sz="400" spc="2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b="1">
                <a:solidFill>
                  <a:srgbClr val="FF2600"/>
                </a:solidFill>
                <a:latin typeface="Georgia"/>
                <a:cs typeface="Georgia"/>
              </a:rPr>
              <a:t>a</a:t>
            </a:r>
            <a:r>
              <a:rPr dirty="0" sz="400" spc="15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b="1">
                <a:solidFill>
                  <a:srgbClr val="FF2600"/>
                </a:solidFill>
                <a:latin typeface="Georgia"/>
                <a:cs typeface="Georgia"/>
              </a:rPr>
              <a:t>+</a:t>
            </a:r>
            <a:r>
              <a:rPr dirty="0" sz="400" spc="2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spc="-50" b="1">
                <a:solidFill>
                  <a:srgbClr val="FF2600"/>
                </a:solidFill>
                <a:latin typeface="Georgia"/>
                <a:cs typeface="Georgia"/>
              </a:rPr>
              <a:t>b</a:t>
            </a:r>
            <a:r>
              <a:rPr dirty="0" sz="400" spc="50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b="1">
                <a:solidFill>
                  <a:srgbClr val="FF2600"/>
                </a:solidFill>
                <a:latin typeface="Georgia"/>
                <a:cs typeface="Georgia"/>
              </a:rPr>
              <a:t>t2</a:t>
            </a:r>
            <a:r>
              <a:rPr dirty="0" sz="400" spc="3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b="1">
                <a:solidFill>
                  <a:srgbClr val="FF2600"/>
                </a:solidFill>
                <a:latin typeface="Georgia"/>
                <a:cs typeface="Georgia"/>
              </a:rPr>
              <a:t>=</a:t>
            </a:r>
            <a:r>
              <a:rPr dirty="0" sz="400" spc="3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b="1">
                <a:solidFill>
                  <a:srgbClr val="FF2600"/>
                </a:solidFill>
                <a:latin typeface="Georgia"/>
                <a:cs typeface="Georgia"/>
              </a:rPr>
              <a:t>t1</a:t>
            </a:r>
            <a:r>
              <a:rPr dirty="0" sz="400" spc="30" b="1">
                <a:solidFill>
                  <a:srgbClr val="FF2600"/>
                </a:solidFill>
                <a:latin typeface="Georgia"/>
                <a:cs typeface="Georgia"/>
              </a:rPr>
              <a:t> </a:t>
            </a:r>
            <a:r>
              <a:rPr dirty="0" sz="400" b="1">
                <a:solidFill>
                  <a:srgbClr val="FF2600"/>
                </a:solidFill>
                <a:latin typeface="Georgia"/>
                <a:cs typeface="Georgia"/>
              </a:rPr>
              <a:t>-</a:t>
            </a:r>
            <a:r>
              <a:rPr dirty="0" sz="400" spc="-50" b="1">
                <a:solidFill>
                  <a:srgbClr val="FF2600"/>
                </a:solidFill>
                <a:latin typeface="Georgia"/>
                <a:cs typeface="Georgia"/>
              </a:rPr>
              <a:t>c</a:t>
            </a:r>
            <a:endParaRPr sz="400">
              <a:latin typeface="Georgia"/>
              <a:cs typeface="Georgi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8178" y="1253208"/>
            <a:ext cx="340360" cy="165735"/>
          </a:xfrm>
          <a:custGeom>
            <a:avLst/>
            <a:gdLst/>
            <a:ahLst/>
            <a:cxnLst/>
            <a:rect l="l" t="t" r="r" b="b"/>
            <a:pathLst>
              <a:path w="340359" h="165734">
                <a:moveTo>
                  <a:pt x="13670" y="74281"/>
                </a:moveTo>
                <a:lnTo>
                  <a:pt x="3430" y="106430"/>
                </a:lnTo>
                <a:lnTo>
                  <a:pt x="0" y="131608"/>
                </a:lnTo>
                <a:lnTo>
                  <a:pt x="3380" y="149816"/>
                </a:lnTo>
                <a:lnTo>
                  <a:pt x="13570" y="161053"/>
                </a:lnTo>
                <a:lnTo>
                  <a:pt x="30571" y="165319"/>
                </a:lnTo>
                <a:lnTo>
                  <a:pt x="54383" y="162614"/>
                </a:lnTo>
                <a:lnTo>
                  <a:pt x="122437" y="136292"/>
                </a:lnTo>
                <a:lnTo>
                  <a:pt x="166679" y="112675"/>
                </a:lnTo>
                <a:lnTo>
                  <a:pt x="217732" y="82087"/>
                </a:lnTo>
                <a:lnTo>
                  <a:pt x="275596" y="44528"/>
                </a:lnTo>
                <a:lnTo>
                  <a:pt x="340269" y="0"/>
                </a:lnTo>
              </a:path>
            </a:pathLst>
          </a:custGeom>
          <a:ln w="12699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357057" y="90190"/>
            <a:ext cx="1948180" cy="433070"/>
          </a:xfrm>
          <a:custGeom>
            <a:avLst/>
            <a:gdLst/>
            <a:ahLst/>
            <a:cxnLst/>
            <a:rect l="l" t="t" r="r" b="b"/>
            <a:pathLst>
              <a:path w="1948179" h="433070">
                <a:moveTo>
                  <a:pt x="1947962" y="216305"/>
                </a:moveTo>
                <a:lnTo>
                  <a:pt x="1924484" y="168884"/>
                </a:lnTo>
                <a:lnTo>
                  <a:pt x="1884314" y="139231"/>
                </a:lnTo>
                <a:lnTo>
                  <a:pt x="1826287" y="111535"/>
                </a:lnTo>
                <a:lnTo>
                  <a:pt x="1751910" y="86132"/>
                </a:lnTo>
                <a:lnTo>
                  <a:pt x="1709061" y="74395"/>
                </a:lnTo>
                <a:lnTo>
                  <a:pt x="1662690" y="63356"/>
                </a:lnTo>
                <a:lnTo>
                  <a:pt x="1612985" y="53058"/>
                </a:lnTo>
                <a:lnTo>
                  <a:pt x="1560133" y="43542"/>
                </a:lnTo>
                <a:lnTo>
                  <a:pt x="1504324" y="34850"/>
                </a:lnTo>
                <a:lnTo>
                  <a:pt x="1445746" y="27025"/>
                </a:lnTo>
                <a:lnTo>
                  <a:pt x="1384587" y="20107"/>
                </a:lnTo>
                <a:lnTo>
                  <a:pt x="1321036" y="14138"/>
                </a:lnTo>
                <a:lnTo>
                  <a:pt x="1255280" y="9161"/>
                </a:lnTo>
                <a:lnTo>
                  <a:pt x="1187508" y="5217"/>
                </a:lnTo>
                <a:lnTo>
                  <a:pt x="1117909" y="2348"/>
                </a:lnTo>
                <a:lnTo>
                  <a:pt x="1046671" y="596"/>
                </a:lnTo>
                <a:lnTo>
                  <a:pt x="973982" y="3"/>
                </a:lnTo>
                <a:lnTo>
                  <a:pt x="901292" y="596"/>
                </a:lnTo>
                <a:lnTo>
                  <a:pt x="830054" y="2348"/>
                </a:lnTo>
                <a:lnTo>
                  <a:pt x="760455" y="5217"/>
                </a:lnTo>
                <a:lnTo>
                  <a:pt x="692683" y="9161"/>
                </a:lnTo>
                <a:lnTo>
                  <a:pt x="626927" y="14138"/>
                </a:lnTo>
                <a:lnTo>
                  <a:pt x="563376" y="20107"/>
                </a:lnTo>
                <a:lnTo>
                  <a:pt x="502217" y="27025"/>
                </a:lnTo>
                <a:lnTo>
                  <a:pt x="443639" y="34850"/>
                </a:lnTo>
                <a:lnTo>
                  <a:pt x="387830" y="43542"/>
                </a:lnTo>
                <a:lnTo>
                  <a:pt x="334979" y="53058"/>
                </a:lnTo>
                <a:lnTo>
                  <a:pt x="285273" y="63356"/>
                </a:lnTo>
                <a:lnTo>
                  <a:pt x="238902" y="74395"/>
                </a:lnTo>
                <a:lnTo>
                  <a:pt x="196053" y="86132"/>
                </a:lnTo>
                <a:lnTo>
                  <a:pt x="156915" y="98526"/>
                </a:lnTo>
                <a:lnTo>
                  <a:pt x="90525" y="125117"/>
                </a:lnTo>
                <a:lnTo>
                  <a:pt x="41238" y="153834"/>
                </a:lnTo>
                <a:lnTo>
                  <a:pt x="10561" y="184341"/>
                </a:lnTo>
                <a:lnTo>
                  <a:pt x="1" y="216305"/>
                </a:lnTo>
                <a:lnTo>
                  <a:pt x="2672" y="232447"/>
                </a:lnTo>
                <a:lnTo>
                  <a:pt x="41238" y="278775"/>
                </a:lnTo>
                <a:lnTo>
                  <a:pt x="90525" y="307491"/>
                </a:lnTo>
                <a:lnTo>
                  <a:pt x="156915" y="334082"/>
                </a:lnTo>
                <a:lnTo>
                  <a:pt x="196053" y="346476"/>
                </a:lnTo>
                <a:lnTo>
                  <a:pt x="238902" y="358214"/>
                </a:lnTo>
                <a:lnTo>
                  <a:pt x="285273" y="369252"/>
                </a:lnTo>
                <a:lnTo>
                  <a:pt x="334979" y="379550"/>
                </a:lnTo>
                <a:lnTo>
                  <a:pt x="387830" y="389066"/>
                </a:lnTo>
                <a:lnTo>
                  <a:pt x="443639" y="397758"/>
                </a:lnTo>
                <a:lnTo>
                  <a:pt x="502217" y="405583"/>
                </a:lnTo>
                <a:lnTo>
                  <a:pt x="563376" y="412501"/>
                </a:lnTo>
                <a:lnTo>
                  <a:pt x="626927" y="418470"/>
                </a:lnTo>
                <a:lnTo>
                  <a:pt x="692683" y="423447"/>
                </a:lnTo>
                <a:lnTo>
                  <a:pt x="760455" y="427391"/>
                </a:lnTo>
                <a:lnTo>
                  <a:pt x="830054" y="430260"/>
                </a:lnTo>
                <a:lnTo>
                  <a:pt x="901292" y="432012"/>
                </a:lnTo>
                <a:lnTo>
                  <a:pt x="973982" y="432605"/>
                </a:lnTo>
                <a:lnTo>
                  <a:pt x="1046671" y="432012"/>
                </a:lnTo>
                <a:lnTo>
                  <a:pt x="1117909" y="430260"/>
                </a:lnTo>
                <a:lnTo>
                  <a:pt x="1187508" y="427391"/>
                </a:lnTo>
                <a:lnTo>
                  <a:pt x="1255280" y="423447"/>
                </a:lnTo>
                <a:lnTo>
                  <a:pt x="1321036" y="418470"/>
                </a:lnTo>
                <a:lnTo>
                  <a:pt x="1384587" y="412501"/>
                </a:lnTo>
                <a:lnTo>
                  <a:pt x="1445746" y="405583"/>
                </a:lnTo>
                <a:lnTo>
                  <a:pt x="1504324" y="397758"/>
                </a:lnTo>
                <a:lnTo>
                  <a:pt x="1560133" y="389066"/>
                </a:lnTo>
                <a:lnTo>
                  <a:pt x="1612985" y="379550"/>
                </a:lnTo>
                <a:lnTo>
                  <a:pt x="1662690" y="369252"/>
                </a:lnTo>
                <a:lnTo>
                  <a:pt x="1709061" y="358214"/>
                </a:lnTo>
                <a:lnTo>
                  <a:pt x="1751910" y="346476"/>
                </a:lnTo>
                <a:lnTo>
                  <a:pt x="1791048" y="334082"/>
                </a:lnTo>
                <a:lnTo>
                  <a:pt x="1857438" y="307491"/>
                </a:lnTo>
                <a:lnTo>
                  <a:pt x="1906725" y="278775"/>
                </a:lnTo>
                <a:lnTo>
                  <a:pt x="1937402" y="248268"/>
                </a:lnTo>
                <a:lnTo>
                  <a:pt x="1947962" y="216305"/>
                </a:lnTo>
                <a:close/>
              </a:path>
            </a:pathLst>
          </a:custGeom>
          <a:ln w="12699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88722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Instruction</a:t>
            </a:r>
            <a:r>
              <a:rPr dirty="0" spc="95"/>
              <a:t> </a:t>
            </a:r>
            <a:r>
              <a:rPr dirty="0" spc="-35"/>
              <a:t>Selection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25844" y="1219567"/>
            <a:ext cx="4244340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complexity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mapping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IR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program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into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code-</a:t>
            </a:r>
            <a:r>
              <a:rPr dirty="0" sz="1100" spc="-35">
                <a:latin typeface="Georgia"/>
                <a:cs typeface="Georgia"/>
              </a:rPr>
              <a:t>sequence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for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target </a:t>
            </a:r>
            <a:r>
              <a:rPr dirty="0" sz="1100" spc="-35">
                <a:latin typeface="Georgia"/>
                <a:cs typeface="Georgia"/>
              </a:rPr>
              <a:t>machine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depends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on: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655784"/>
            <a:ext cx="114214" cy="114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45770" y="1642407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2932" y="1557894"/>
            <a:ext cx="3075305" cy="65595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Georgia"/>
                <a:cs typeface="Georgia"/>
              </a:rPr>
              <a:t>Level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IR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(high-</a:t>
            </a:r>
            <a:r>
              <a:rPr dirty="0" sz="1100" spc="-10">
                <a:latin typeface="Georgia"/>
                <a:cs typeface="Georgia"/>
              </a:rPr>
              <a:t>level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or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low-</a:t>
            </a:r>
            <a:r>
              <a:rPr dirty="0" sz="1100" spc="-10">
                <a:latin typeface="Georgia"/>
                <a:cs typeface="Georgia"/>
              </a:rPr>
              <a:t>level)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25299"/>
              </a:lnSpc>
            </a:pP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Nature</a:t>
            </a:r>
            <a:r>
              <a:rPr dirty="0" sz="1100" spc="3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of</a:t>
            </a:r>
            <a:r>
              <a:rPr dirty="0" sz="1100" spc="4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instruction</a:t>
            </a:r>
            <a:r>
              <a:rPr dirty="0" sz="1100" spc="4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set</a:t>
            </a:r>
            <a:r>
              <a:rPr dirty="0" sz="1100" spc="4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(data</a:t>
            </a:r>
            <a:r>
              <a:rPr dirty="0" sz="1100" spc="4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type</a:t>
            </a:r>
            <a:r>
              <a:rPr dirty="0" sz="1100" spc="4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support) </a:t>
            </a:r>
            <a:r>
              <a:rPr dirty="0" sz="1100" spc="-20">
                <a:solidFill>
                  <a:srgbClr val="D8D8D8"/>
                </a:solidFill>
                <a:latin typeface="Georgia"/>
                <a:cs typeface="Georgia"/>
              </a:rPr>
              <a:t>Desired</a:t>
            </a:r>
            <a:r>
              <a:rPr dirty="0" sz="1100" spc="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quality</a:t>
            </a:r>
            <a:r>
              <a:rPr dirty="0" sz="1100" spc="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of</a:t>
            </a:r>
            <a:r>
              <a:rPr dirty="0" sz="1100" spc="1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0">
                <a:solidFill>
                  <a:srgbClr val="D8D8D8"/>
                </a:solidFill>
                <a:latin typeface="Georgia"/>
                <a:cs typeface="Georgia"/>
              </a:rPr>
              <a:t>generated</a:t>
            </a:r>
            <a:r>
              <a:rPr dirty="0" sz="1100" spc="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code</a:t>
            </a:r>
            <a:r>
              <a:rPr dirty="0" sz="1100" spc="1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(speed</a:t>
            </a:r>
            <a:r>
              <a:rPr dirty="0" sz="1100" spc="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and</a:t>
            </a:r>
            <a:r>
              <a:rPr dirty="0" sz="1100" spc="1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size)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865817"/>
            <a:ext cx="114214" cy="11421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45770" y="1852439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2075850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45770" y="2062472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39593" y="1610730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 h="0">
                <a:moveTo>
                  <a:pt x="0" y="-2"/>
                </a:moveTo>
                <a:lnTo>
                  <a:pt x="0" y="-2"/>
                </a:lnTo>
                <a:lnTo>
                  <a:pt x="668334" y="-2"/>
                </a:lnTo>
                <a:lnTo>
                  <a:pt x="719744" y="-2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28486" y="1186333"/>
            <a:ext cx="231790" cy="231788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4004906" y="1374719"/>
            <a:ext cx="303530" cy="41910"/>
          </a:xfrm>
          <a:custGeom>
            <a:avLst/>
            <a:gdLst/>
            <a:ahLst/>
            <a:cxnLst/>
            <a:rect l="l" t="t" r="r" b="b"/>
            <a:pathLst>
              <a:path w="303529" h="41909">
                <a:moveTo>
                  <a:pt x="0" y="41314"/>
                </a:moveTo>
                <a:lnTo>
                  <a:pt x="49450" y="26328"/>
                </a:lnTo>
                <a:lnTo>
                  <a:pt x="99338" y="14704"/>
                </a:lnTo>
                <a:lnTo>
                  <a:pt x="149664" y="6441"/>
                </a:lnTo>
                <a:lnTo>
                  <a:pt x="200428" y="1539"/>
                </a:lnTo>
                <a:lnTo>
                  <a:pt x="251629" y="0"/>
                </a:lnTo>
                <a:lnTo>
                  <a:pt x="303268" y="1822"/>
                </a:lnTo>
              </a:path>
            </a:pathLst>
          </a:custGeom>
          <a:ln w="12701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88722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Instruction</a:t>
            </a:r>
            <a:r>
              <a:rPr dirty="0" spc="95"/>
              <a:t> </a:t>
            </a:r>
            <a:r>
              <a:rPr dirty="0" spc="-35"/>
              <a:t>Selection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25844" y="1219567"/>
            <a:ext cx="4244340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complexity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mapping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IR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program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into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code-</a:t>
            </a:r>
            <a:r>
              <a:rPr dirty="0" sz="1100" spc="-35">
                <a:latin typeface="Georgia"/>
                <a:cs typeface="Georgia"/>
              </a:rPr>
              <a:t>sequence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for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target </a:t>
            </a:r>
            <a:r>
              <a:rPr dirty="0" sz="1100" spc="-35">
                <a:latin typeface="Georgia"/>
                <a:cs typeface="Georgia"/>
              </a:rPr>
              <a:t>machine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depends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on: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655784"/>
            <a:ext cx="114214" cy="114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45770" y="1642407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2932" y="1557894"/>
            <a:ext cx="3075305" cy="65595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Georgia"/>
                <a:cs typeface="Georgia"/>
              </a:rPr>
              <a:t>Lev</a:t>
            </a:r>
            <a:r>
              <a:rPr dirty="0" u="sng" sz="1100">
                <a:uFill>
                  <a:solidFill>
                    <a:srgbClr val="FF2600"/>
                  </a:solidFill>
                </a:uFill>
                <a:latin typeface="Georgia"/>
                <a:cs typeface="Georgia"/>
              </a:rPr>
              <a:t>el</a:t>
            </a:r>
            <a:r>
              <a:rPr dirty="0" u="sng" sz="1100" spc="25">
                <a:uFill>
                  <a:solidFill>
                    <a:srgbClr val="FF26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>
                <a:uFill>
                  <a:solidFill>
                    <a:srgbClr val="FF2600"/>
                  </a:solidFill>
                </a:uFill>
                <a:latin typeface="Georgia"/>
                <a:cs typeface="Georgia"/>
              </a:rPr>
              <a:t>of</a:t>
            </a:r>
            <a:r>
              <a:rPr dirty="0" u="sng" sz="1100" spc="30">
                <a:uFill>
                  <a:solidFill>
                    <a:srgbClr val="FF26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>
                <a:uFill>
                  <a:solidFill>
                    <a:srgbClr val="FF2600"/>
                  </a:solidFill>
                </a:uFill>
                <a:latin typeface="Georgia"/>
                <a:cs typeface="Georgia"/>
              </a:rPr>
              <a:t>I</a:t>
            </a:r>
            <a:r>
              <a:rPr dirty="0" sz="1100">
                <a:latin typeface="Georgia"/>
                <a:cs typeface="Georgia"/>
              </a:rPr>
              <a:t>R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(high-</a:t>
            </a:r>
            <a:r>
              <a:rPr dirty="0" sz="1100" spc="-10">
                <a:latin typeface="Georgia"/>
                <a:cs typeface="Georgia"/>
              </a:rPr>
              <a:t>level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or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low-</a:t>
            </a:r>
            <a:r>
              <a:rPr dirty="0" sz="1100" spc="-10">
                <a:latin typeface="Georgia"/>
                <a:cs typeface="Georgia"/>
              </a:rPr>
              <a:t>level)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25299"/>
              </a:lnSpc>
            </a:pPr>
            <a:r>
              <a:rPr dirty="0" sz="1100">
                <a:latin typeface="Georgia"/>
                <a:cs typeface="Georgia"/>
              </a:rPr>
              <a:t>Nature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set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(data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type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support) </a:t>
            </a:r>
            <a:r>
              <a:rPr dirty="0" sz="1100" spc="-20">
                <a:solidFill>
                  <a:srgbClr val="D8D8D8"/>
                </a:solidFill>
                <a:latin typeface="Georgia"/>
                <a:cs typeface="Georgia"/>
              </a:rPr>
              <a:t>Desired</a:t>
            </a:r>
            <a:r>
              <a:rPr dirty="0" sz="1100" spc="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quality</a:t>
            </a:r>
            <a:r>
              <a:rPr dirty="0" sz="1100" spc="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of</a:t>
            </a:r>
            <a:r>
              <a:rPr dirty="0" sz="1100" spc="1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0">
                <a:solidFill>
                  <a:srgbClr val="D8D8D8"/>
                </a:solidFill>
                <a:latin typeface="Georgia"/>
                <a:cs typeface="Georgia"/>
              </a:rPr>
              <a:t>generated</a:t>
            </a:r>
            <a:r>
              <a:rPr dirty="0" sz="1100" spc="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code</a:t>
            </a:r>
            <a:r>
              <a:rPr dirty="0" sz="1100" spc="1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(speed</a:t>
            </a:r>
            <a:r>
              <a:rPr dirty="0" sz="1100" spc="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and</a:t>
            </a:r>
            <a:r>
              <a:rPr dirty="0" sz="1100" spc="1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size)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865817"/>
            <a:ext cx="114214" cy="11421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45770" y="1852439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2075850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45770" y="2062472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88722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Instruction</a:t>
            </a:r>
            <a:r>
              <a:rPr dirty="0" spc="95"/>
              <a:t> </a:t>
            </a:r>
            <a:r>
              <a:rPr dirty="0" spc="-35"/>
              <a:t>Selection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25844" y="1219567"/>
            <a:ext cx="4244340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complexity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mapping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IR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program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into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code-</a:t>
            </a:r>
            <a:r>
              <a:rPr dirty="0" sz="1100" spc="-35">
                <a:latin typeface="Georgia"/>
                <a:cs typeface="Georgia"/>
              </a:rPr>
              <a:t>sequence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for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target </a:t>
            </a:r>
            <a:r>
              <a:rPr dirty="0" sz="1100" spc="-35">
                <a:latin typeface="Georgia"/>
                <a:cs typeface="Georgia"/>
              </a:rPr>
              <a:t>machine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depends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on: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655784"/>
            <a:ext cx="114214" cy="114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45770" y="1642407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2932" y="1557894"/>
            <a:ext cx="3075305" cy="65595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Georgia"/>
                <a:cs typeface="Georgia"/>
              </a:rPr>
              <a:t>Level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IR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(high-</a:t>
            </a:r>
            <a:r>
              <a:rPr dirty="0" sz="1100" spc="-10">
                <a:latin typeface="Georgia"/>
                <a:cs typeface="Georgia"/>
              </a:rPr>
              <a:t>level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or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low-</a:t>
            </a:r>
            <a:r>
              <a:rPr dirty="0" sz="1100" spc="-10">
                <a:latin typeface="Georgia"/>
                <a:cs typeface="Georgia"/>
              </a:rPr>
              <a:t>level)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25299"/>
              </a:lnSpc>
            </a:pPr>
            <a:r>
              <a:rPr dirty="0" sz="1100">
                <a:latin typeface="Georgia"/>
                <a:cs typeface="Georgia"/>
              </a:rPr>
              <a:t>Nature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set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(data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type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support) </a:t>
            </a:r>
            <a:r>
              <a:rPr dirty="0" sz="1100" spc="-20">
                <a:latin typeface="Georgia"/>
                <a:cs typeface="Georgia"/>
              </a:rPr>
              <a:t>Desired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quality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generated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code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(speed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and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size)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865817"/>
            <a:ext cx="114214" cy="11421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45770" y="1852439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2075850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45770" y="2062472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0" y="3333699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01"/>
                </a:lnTo>
                <a:lnTo>
                  <a:pt x="2303996" y="122301"/>
                </a:lnTo>
                <a:lnTo>
                  <a:pt x="4607992" y="122301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88722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Instruction</a:t>
            </a:r>
            <a:r>
              <a:rPr dirty="0" spc="95"/>
              <a:t> </a:t>
            </a:r>
            <a:r>
              <a:rPr dirty="0" spc="-35"/>
              <a:t>Selection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459976"/>
            <a:ext cx="114214" cy="1142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45770" y="1446598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2932" y="1362072"/>
            <a:ext cx="3237865" cy="655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5720">
              <a:lnSpc>
                <a:spcPct val="125299"/>
              </a:lnSpc>
              <a:spcBef>
                <a:spcPts val="100"/>
              </a:spcBef>
            </a:pPr>
            <a:r>
              <a:rPr dirty="0" sz="1100" spc="-35">
                <a:latin typeface="Georgia"/>
                <a:cs typeface="Georgia"/>
              </a:rPr>
              <a:t>How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closely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does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IR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match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target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language? </a:t>
            </a:r>
            <a:r>
              <a:rPr dirty="0" sz="1100" spc="-35">
                <a:solidFill>
                  <a:srgbClr val="D8D8D8"/>
                </a:solidFill>
                <a:latin typeface="Georgia"/>
                <a:cs typeface="Georgia"/>
              </a:rPr>
              <a:t>How</a:t>
            </a:r>
            <a:r>
              <a:rPr dirty="0" sz="1100" spc="1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good</a:t>
            </a:r>
            <a:r>
              <a:rPr dirty="0" sz="1100" spc="1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can</a:t>
            </a:r>
            <a:r>
              <a:rPr dirty="0" sz="1100" spc="1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the</a:t>
            </a:r>
            <a:r>
              <a:rPr dirty="0" sz="1100" spc="1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code</a:t>
            </a:r>
            <a:r>
              <a:rPr dirty="0" sz="1100" spc="1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solidFill>
                  <a:srgbClr val="D8D8D8"/>
                </a:solidFill>
                <a:latin typeface="Georgia"/>
                <a:cs typeface="Georgia"/>
              </a:rPr>
              <a:t>be?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What</a:t>
            </a:r>
            <a:r>
              <a:rPr dirty="0" sz="1100" spc="4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kind</a:t>
            </a:r>
            <a:r>
              <a:rPr dirty="0" sz="1100" spc="4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of</a:t>
            </a:r>
            <a:r>
              <a:rPr dirty="0" sz="1100" spc="4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target</a:t>
            </a:r>
            <a:r>
              <a:rPr dirty="0" sz="1100" spc="4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0">
                <a:solidFill>
                  <a:srgbClr val="D8D8D8"/>
                </a:solidFill>
                <a:latin typeface="Georgia"/>
                <a:cs typeface="Georgia"/>
              </a:rPr>
              <a:t>architecture</a:t>
            </a:r>
            <a:r>
              <a:rPr dirty="0" sz="1100" spc="4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are</a:t>
            </a:r>
            <a:r>
              <a:rPr dirty="0" sz="1100" spc="4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we</a:t>
            </a:r>
            <a:r>
              <a:rPr dirty="0" sz="1100" spc="4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0">
                <a:solidFill>
                  <a:srgbClr val="D8D8D8"/>
                </a:solidFill>
                <a:latin typeface="Georgia"/>
                <a:cs typeface="Georgia"/>
              </a:rPr>
              <a:t>considering?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670008"/>
            <a:ext cx="114214" cy="11421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45770" y="1656631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880041"/>
            <a:ext cx="114214" cy="11421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45770" y="1866663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0" y="3333699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01"/>
                </a:lnTo>
                <a:lnTo>
                  <a:pt x="2303996" y="122301"/>
                </a:lnTo>
                <a:lnTo>
                  <a:pt x="4607992" y="122301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88722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Instruction</a:t>
            </a:r>
            <a:r>
              <a:rPr dirty="0" spc="95"/>
              <a:t> </a:t>
            </a:r>
            <a:r>
              <a:rPr dirty="0" spc="-35"/>
              <a:t>Selection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459976"/>
            <a:ext cx="114214" cy="1142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45770" y="1446598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2932" y="1362072"/>
            <a:ext cx="3237865" cy="655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5720">
              <a:lnSpc>
                <a:spcPct val="125299"/>
              </a:lnSpc>
              <a:spcBef>
                <a:spcPts val="100"/>
              </a:spcBef>
            </a:pPr>
            <a:r>
              <a:rPr dirty="0" sz="1100" spc="-35">
                <a:latin typeface="Georgia"/>
                <a:cs typeface="Georgia"/>
              </a:rPr>
              <a:t>How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closely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does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IR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match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target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language? </a:t>
            </a:r>
            <a:r>
              <a:rPr dirty="0" sz="1100" spc="-35">
                <a:latin typeface="Georgia"/>
                <a:cs typeface="Georgia"/>
              </a:rPr>
              <a:t>How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good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can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code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be?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What</a:t>
            </a:r>
            <a:r>
              <a:rPr dirty="0" sz="1100" spc="4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D8D8D8"/>
                </a:solidFill>
                <a:latin typeface="Georgia"/>
                <a:cs typeface="Georgia"/>
              </a:rPr>
              <a:t>kind</a:t>
            </a:r>
            <a:r>
              <a:rPr dirty="0" sz="1100" spc="4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of</a:t>
            </a:r>
            <a:r>
              <a:rPr dirty="0" sz="1100" spc="4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target</a:t>
            </a:r>
            <a:r>
              <a:rPr dirty="0" sz="1100" spc="4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0">
                <a:solidFill>
                  <a:srgbClr val="D8D8D8"/>
                </a:solidFill>
                <a:latin typeface="Georgia"/>
                <a:cs typeface="Georgia"/>
              </a:rPr>
              <a:t>architecture</a:t>
            </a:r>
            <a:r>
              <a:rPr dirty="0" sz="1100" spc="4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are</a:t>
            </a:r>
            <a:r>
              <a:rPr dirty="0" sz="1100" spc="45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D8D8D8"/>
                </a:solidFill>
                <a:latin typeface="Georgia"/>
                <a:cs typeface="Georgia"/>
              </a:rPr>
              <a:t>we</a:t>
            </a:r>
            <a:r>
              <a:rPr dirty="0" sz="1100" spc="40">
                <a:solidFill>
                  <a:srgbClr val="D8D8D8"/>
                </a:solidFill>
                <a:latin typeface="Georgia"/>
                <a:cs typeface="Georgia"/>
              </a:rPr>
              <a:t> </a:t>
            </a:r>
            <a:r>
              <a:rPr dirty="0" sz="1100" spc="-20">
                <a:solidFill>
                  <a:srgbClr val="D8D8D8"/>
                </a:solidFill>
                <a:latin typeface="Georgia"/>
                <a:cs typeface="Georgia"/>
              </a:rPr>
              <a:t>considering?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670008"/>
            <a:ext cx="114214" cy="11421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45770" y="1656631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880041"/>
            <a:ext cx="114214" cy="11421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45770" y="1866663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0" y="3333699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01"/>
                </a:lnTo>
                <a:lnTo>
                  <a:pt x="2303996" y="122301"/>
                </a:lnTo>
                <a:lnTo>
                  <a:pt x="4607992" y="122301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55774" y="1324474"/>
            <a:ext cx="553720" cy="347345"/>
          </a:xfrm>
          <a:custGeom>
            <a:avLst/>
            <a:gdLst/>
            <a:ahLst/>
            <a:cxnLst/>
            <a:rect l="l" t="t" r="r" b="b"/>
            <a:pathLst>
              <a:path w="553719" h="347344">
                <a:moveTo>
                  <a:pt x="496134" y="0"/>
                </a:moveTo>
                <a:lnTo>
                  <a:pt x="0" y="132938"/>
                </a:lnTo>
                <a:lnTo>
                  <a:pt x="57386" y="347108"/>
                </a:lnTo>
                <a:lnTo>
                  <a:pt x="553521" y="214169"/>
                </a:lnTo>
                <a:lnTo>
                  <a:pt x="496134" y="0"/>
                </a:lnTo>
                <a:close/>
              </a:path>
            </a:pathLst>
          </a:custGeom>
          <a:ln w="12699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88722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Instruction</a:t>
            </a:r>
            <a:r>
              <a:rPr dirty="0" spc="95"/>
              <a:t> </a:t>
            </a:r>
            <a:r>
              <a:rPr dirty="0" spc="-35"/>
              <a:t>Selection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459976"/>
            <a:ext cx="114214" cy="1142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45770" y="1446598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2932" y="1362072"/>
            <a:ext cx="3237865" cy="655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5720">
              <a:lnSpc>
                <a:spcPct val="125299"/>
              </a:lnSpc>
              <a:spcBef>
                <a:spcPts val="100"/>
              </a:spcBef>
            </a:pPr>
            <a:r>
              <a:rPr dirty="0" sz="1100" spc="-35">
                <a:latin typeface="Georgia"/>
                <a:cs typeface="Georgia"/>
              </a:rPr>
              <a:t>How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closely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does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IR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match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target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language? </a:t>
            </a:r>
            <a:r>
              <a:rPr dirty="0" sz="1100" spc="-35">
                <a:latin typeface="Georgia"/>
                <a:cs typeface="Georgia"/>
              </a:rPr>
              <a:t>How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good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can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code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be?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Georgia"/>
                <a:cs typeface="Georgia"/>
              </a:rPr>
              <a:t>What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kind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target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architecture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are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we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considering?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670008"/>
            <a:ext cx="114214" cy="11421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45770" y="1656631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880041"/>
            <a:ext cx="114214" cy="11421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45770" y="1866663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0" y="3333699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01"/>
                </a:lnTo>
                <a:lnTo>
                  <a:pt x="2303996" y="122301"/>
                </a:lnTo>
                <a:lnTo>
                  <a:pt x="4607992" y="122301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Register</a:t>
            </a:r>
            <a:r>
              <a:rPr dirty="0" spc="25"/>
              <a:t> </a:t>
            </a:r>
            <a:r>
              <a:rPr dirty="0" spc="-30"/>
              <a:t>allocation</a:t>
            </a:r>
            <a:r>
              <a:rPr dirty="0" spc="30"/>
              <a:t> </a:t>
            </a:r>
            <a:r>
              <a:rPr dirty="0"/>
              <a:t>and</a:t>
            </a:r>
            <a:r>
              <a:rPr dirty="0" spc="25"/>
              <a:t> </a:t>
            </a:r>
            <a:r>
              <a:rPr dirty="0" spc="-45"/>
              <a:t>assignment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22222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466289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710370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2918955"/>
            <a:ext cx="52590" cy="5259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3142792"/>
            <a:ext cx="52590" cy="5259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25844" y="641361"/>
            <a:ext cx="4306570" cy="25946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 marL="279400" marR="221615">
              <a:lnSpc>
                <a:spcPct val="102600"/>
              </a:lnSpc>
              <a:spcBef>
                <a:spcPts val="55"/>
              </a:spcBef>
            </a:pPr>
            <a:r>
              <a:rPr dirty="0" sz="1100" spc="70">
                <a:latin typeface="Georgia"/>
                <a:cs typeface="Georgia"/>
              </a:rPr>
              <a:t>A</a:t>
            </a:r>
            <a:r>
              <a:rPr dirty="0" sz="1100" spc="12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register</a:t>
            </a:r>
            <a:r>
              <a:rPr dirty="0" sz="1100" spc="1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is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1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FASTEST</a:t>
            </a:r>
            <a:r>
              <a:rPr dirty="0" sz="1100" spc="1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COMPUTATIONAL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UNIT</a:t>
            </a:r>
            <a:r>
              <a:rPr dirty="0" sz="1100" spc="1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on</a:t>
            </a:r>
            <a:r>
              <a:rPr dirty="0" sz="1100" spc="12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the </a:t>
            </a:r>
            <a:r>
              <a:rPr dirty="0" sz="1100">
                <a:latin typeface="Georgia"/>
                <a:cs typeface="Georgia"/>
              </a:rPr>
              <a:t>target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machine.</a:t>
            </a:r>
            <a:r>
              <a:rPr dirty="0" sz="1100" spc="1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When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not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enough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registers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to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hold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all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values,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remaining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values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reside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in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memory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Georgia"/>
              <a:cs typeface="Georgia"/>
            </a:endParaRPr>
          </a:p>
          <a:p>
            <a:pPr marL="801370" marR="5080" indent="-785495">
              <a:lnSpc>
                <a:spcPct val="102600"/>
              </a:lnSpc>
            </a:pPr>
            <a:r>
              <a:rPr dirty="0" sz="1100" spc="-10" b="1">
                <a:solidFill>
                  <a:srgbClr val="00688A"/>
                </a:solidFill>
                <a:latin typeface="Georgia"/>
                <a:cs typeface="Georgia"/>
              </a:rPr>
              <a:t>Allocation</a:t>
            </a:r>
            <a:r>
              <a:rPr dirty="0" sz="1100" spc="17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:</a:t>
            </a:r>
            <a:r>
              <a:rPr dirty="0" sz="1100" spc="1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Selecting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set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variables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that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will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reside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in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registers </a:t>
            </a:r>
            <a:r>
              <a:rPr dirty="0" sz="1100">
                <a:latin typeface="Georgia"/>
                <a:cs typeface="Georgia"/>
              </a:rPr>
              <a:t>at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each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point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in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program</a:t>
            </a:r>
            <a:endParaRPr sz="1100">
              <a:latin typeface="Georgia"/>
              <a:cs typeface="Georgia"/>
            </a:endParaRPr>
          </a:p>
          <a:p>
            <a:pPr marL="801370" marR="52069" indent="-789305">
              <a:lnSpc>
                <a:spcPct val="102600"/>
              </a:lnSpc>
              <a:spcBef>
                <a:spcPts val="150"/>
              </a:spcBef>
            </a:pPr>
            <a:r>
              <a:rPr dirty="0" sz="1100" spc="-25" b="1">
                <a:solidFill>
                  <a:srgbClr val="00688A"/>
                </a:solidFill>
                <a:latin typeface="Georgia"/>
                <a:cs typeface="Georgia"/>
              </a:rPr>
              <a:t>Assignment</a:t>
            </a:r>
            <a:r>
              <a:rPr dirty="0" sz="1100" spc="17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:</a:t>
            </a:r>
            <a:r>
              <a:rPr dirty="0" sz="1100" spc="1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Picking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specific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register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that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variable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will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reside </a:t>
            </a:r>
            <a:r>
              <a:rPr dirty="0" sz="1100" spc="-25">
                <a:latin typeface="Georgia"/>
                <a:cs typeface="Georgia"/>
              </a:rPr>
              <a:t>in</a:t>
            </a:r>
            <a:endParaRPr sz="1100">
              <a:latin typeface="Georgia"/>
              <a:cs typeface="Georgia"/>
            </a:endParaRPr>
          </a:p>
          <a:p>
            <a:pPr marL="289560" marR="2151380">
              <a:lnSpc>
                <a:spcPct val="145600"/>
              </a:lnSpc>
              <a:spcBef>
                <a:spcPts val="275"/>
              </a:spcBef>
            </a:pPr>
            <a:r>
              <a:rPr dirty="0" sz="1100" spc="-10">
                <a:latin typeface="Georgia"/>
                <a:cs typeface="Georgia"/>
              </a:rPr>
              <a:t>Hard!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(NP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complete). </a:t>
            </a:r>
            <a:r>
              <a:rPr dirty="0" sz="1100">
                <a:latin typeface="Georgia"/>
                <a:cs typeface="Georgia"/>
              </a:rPr>
              <a:t>Operating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system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conventions. </a:t>
            </a:r>
            <a:r>
              <a:rPr dirty="0" sz="1100" spc="-30">
                <a:latin typeface="Georgia"/>
                <a:cs typeface="Georgia"/>
              </a:rPr>
              <a:t>Hardware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restrictions:</a:t>
            </a:r>
            <a:endParaRPr sz="1100">
              <a:latin typeface="Georgia"/>
              <a:cs typeface="Georgia"/>
            </a:endParaRPr>
          </a:p>
          <a:p>
            <a:pPr marL="56642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latin typeface="Georgia"/>
                <a:cs typeface="Georgia"/>
              </a:rPr>
              <a:t>Special</a:t>
            </a:r>
            <a:r>
              <a:rPr dirty="0" sz="1000" spc="1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purpose</a:t>
            </a:r>
            <a:r>
              <a:rPr dirty="0" sz="1000" spc="1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registers</a:t>
            </a:r>
            <a:r>
              <a:rPr dirty="0" sz="1000" spc="1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(stack,</a:t>
            </a:r>
            <a:r>
              <a:rPr dirty="0" sz="1000" spc="1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index,</a:t>
            </a:r>
            <a:r>
              <a:rPr dirty="0" sz="1000" spc="1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frame,</a:t>
            </a:r>
            <a:r>
              <a:rPr dirty="0" sz="1000" spc="1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etc.)</a:t>
            </a:r>
            <a:endParaRPr sz="1000">
              <a:latin typeface="Georgia"/>
              <a:cs typeface="Georgia"/>
            </a:endParaRPr>
          </a:p>
          <a:p>
            <a:pPr marL="566420">
              <a:lnSpc>
                <a:spcPct val="100000"/>
              </a:lnSpc>
              <a:spcBef>
                <a:spcPts val="560"/>
              </a:spcBef>
            </a:pPr>
            <a:r>
              <a:rPr dirty="0" sz="1000" spc="-10">
                <a:latin typeface="Georgia"/>
                <a:cs typeface="Georgia"/>
              </a:rPr>
              <a:t>Register</a:t>
            </a:r>
            <a:r>
              <a:rPr dirty="0" sz="1000" spc="1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pair</a:t>
            </a:r>
            <a:r>
              <a:rPr dirty="0" sz="1000" spc="2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(even/odd</a:t>
            </a:r>
            <a:r>
              <a:rPr dirty="0" sz="1000" spc="1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registers)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403893" y="577340"/>
            <a:ext cx="2337435" cy="291465"/>
          </a:xfrm>
          <a:custGeom>
            <a:avLst/>
            <a:gdLst/>
            <a:ahLst/>
            <a:cxnLst/>
            <a:rect l="l" t="t" r="r" b="b"/>
            <a:pathLst>
              <a:path w="2337435" h="291465">
                <a:moveTo>
                  <a:pt x="2" y="291340"/>
                </a:moveTo>
                <a:lnTo>
                  <a:pt x="2337178" y="291340"/>
                </a:lnTo>
                <a:lnTo>
                  <a:pt x="2337178" y="1"/>
                </a:lnTo>
                <a:lnTo>
                  <a:pt x="2" y="1"/>
                </a:lnTo>
                <a:lnTo>
                  <a:pt x="2" y="291340"/>
                </a:lnTo>
                <a:close/>
              </a:path>
            </a:pathLst>
          </a:custGeom>
          <a:ln w="12699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57670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Evaluation</a:t>
            </a:r>
            <a:r>
              <a:rPr dirty="0" spc="80"/>
              <a:t> </a:t>
            </a:r>
            <a:r>
              <a:rPr dirty="0" spc="-20"/>
              <a:t>Order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64437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5790" rIns="0" bIns="0" rtlCol="0" vert="horz">
            <a:spAutoFit/>
          </a:bodyPr>
          <a:lstStyle/>
          <a:p>
            <a:pPr marL="12700" marR="5080">
              <a:lnSpc>
                <a:spcPct val="145600"/>
              </a:lnSpc>
              <a:spcBef>
                <a:spcPts val="100"/>
              </a:spcBef>
            </a:pPr>
            <a:r>
              <a:rPr dirty="0" spc="-10"/>
              <a:t>Selecting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 spc="-20"/>
              <a:t>order</a:t>
            </a:r>
            <a:r>
              <a:rPr dirty="0" spc="25"/>
              <a:t> </a:t>
            </a:r>
            <a:r>
              <a:rPr dirty="0"/>
              <a:t>in</a:t>
            </a:r>
            <a:r>
              <a:rPr dirty="0" spc="25"/>
              <a:t> </a:t>
            </a:r>
            <a:r>
              <a:rPr dirty="0" spc="-20"/>
              <a:t>which</a:t>
            </a:r>
            <a:r>
              <a:rPr dirty="0" spc="25"/>
              <a:t> </a:t>
            </a:r>
            <a:r>
              <a:rPr dirty="0" spc="-20"/>
              <a:t>computations</a:t>
            </a:r>
            <a:r>
              <a:rPr dirty="0" spc="25"/>
              <a:t> </a:t>
            </a:r>
            <a:r>
              <a:rPr dirty="0"/>
              <a:t>are</a:t>
            </a:r>
            <a:r>
              <a:rPr dirty="0" spc="25"/>
              <a:t> </a:t>
            </a:r>
            <a:r>
              <a:rPr dirty="0" spc="-30"/>
              <a:t>performed </a:t>
            </a:r>
            <a:r>
              <a:rPr dirty="0"/>
              <a:t>Affects</a:t>
            </a:r>
            <a:r>
              <a:rPr dirty="0" spc="30"/>
              <a:t> </a:t>
            </a:r>
            <a:r>
              <a:rPr dirty="0"/>
              <a:t>the</a:t>
            </a:r>
            <a:r>
              <a:rPr dirty="0" spc="35"/>
              <a:t> </a:t>
            </a:r>
            <a:r>
              <a:rPr dirty="0" spc="-25"/>
              <a:t>efficiency</a:t>
            </a:r>
            <a:r>
              <a:rPr dirty="0" spc="30"/>
              <a:t> </a:t>
            </a:r>
            <a:r>
              <a:rPr dirty="0"/>
              <a:t>of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/>
              <a:t>target</a:t>
            </a:r>
            <a:r>
              <a:rPr dirty="0" spc="35"/>
              <a:t> </a:t>
            </a:r>
            <a:r>
              <a:rPr dirty="0" spc="-20"/>
              <a:t>code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pc="-10"/>
              <a:t>Picking</a:t>
            </a:r>
            <a:r>
              <a:rPr dirty="0" spc="45"/>
              <a:t> </a:t>
            </a:r>
            <a:r>
              <a:rPr dirty="0"/>
              <a:t>a</a:t>
            </a:r>
            <a:r>
              <a:rPr dirty="0" spc="50"/>
              <a:t> </a:t>
            </a:r>
            <a:r>
              <a:rPr dirty="0"/>
              <a:t>best</a:t>
            </a:r>
            <a:r>
              <a:rPr dirty="0" spc="50"/>
              <a:t> </a:t>
            </a:r>
            <a:r>
              <a:rPr dirty="0" spc="-20"/>
              <a:t>order</a:t>
            </a:r>
            <a:r>
              <a:rPr dirty="0" spc="50"/>
              <a:t> </a:t>
            </a:r>
            <a:r>
              <a:rPr dirty="0"/>
              <a:t>is</a:t>
            </a:r>
            <a:r>
              <a:rPr dirty="0" spc="45"/>
              <a:t> </a:t>
            </a:r>
            <a:r>
              <a:rPr dirty="0" spc="-35"/>
              <a:t>NP-</a:t>
            </a:r>
            <a:r>
              <a:rPr dirty="0" spc="-10"/>
              <a:t>complete</a:t>
            </a: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pc="-25"/>
              <a:t>Some</a:t>
            </a:r>
            <a:r>
              <a:rPr dirty="0" spc="20"/>
              <a:t> </a:t>
            </a:r>
            <a:r>
              <a:rPr dirty="0" spc="-25"/>
              <a:t>orders</a:t>
            </a:r>
            <a:r>
              <a:rPr dirty="0" spc="25"/>
              <a:t> </a:t>
            </a:r>
            <a:r>
              <a:rPr dirty="0" spc="-25"/>
              <a:t>require</a:t>
            </a:r>
            <a:r>
              <a:rPr dirty="0" spc="20"/>
              <a:t> </a:t>
            </a:r>
            <a:r>
              <a:rPr dirty="0" spc="-30"/>
              <a:t>fewer</a:t>
            </a:r>
            <a:r>
              <a:rPr dirty="0" spc="25"/>
              <a:t> </a:t>
            </a:r>
            <a:r>
              <a:rPr dirty="0" spc="-20"/>
              <a:t>registers</a:t>
            </a:r>
            <a:r>
              <a:rPr dirty="0" spc="20"/>
              <a:t> </a:t>
            </a:r>
            <a:r>
              <a:rPr dirty="0"/>
              <a:t>than</a:t>
            </a:r>
            <a:r>
              <a:rPr dirty="0" spc="25"/>
              <a:t> </a:t>
            </a:r>
            <a:r>
              <a:rPr dirty="0" spc="-10"/>
              <a:t>others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08505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52587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096655"/>
            <a:ext cx="65265" cy="65265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823403" y="1744559"/>
            <a:ext cx="878840" cy="273050"/>
          </a:xfrm>
          <a:custGeom>
            <a:avLst/>
            <a:gdLst/>
            <a:ahLst/>
            <a:cxnLst/>
            <a:rect l="l" t="t" r="r" b="b"/>
            <a:pathLst>
              <a:path w="878839" h="273050">
                <a:moveTo>
                  <a:pt x="845463" y="4730"/>
                </a:moveTo>
                <a:lnTo>
                  <a:pt x="845463" y="4730"/>
                </a:lnTo>
                <a:lnTo>
                  <a:pt x="698848" y="4730"/>
                </a:lnTo>
                <a:lnTo>
                  <a:pt x="680470" y="4735"/>
                </a:lnTo>
                <a:lnTo>
                  <a:pt x="642297" y="4774"/>
                </a:lnTo>
                <a:lnTo>
                  <a:pt x="602601" y="4882"/>
                </a:lnTo>
                <a:lnTo>
                  <a:pt x="563583" y="5244"/>
                </a:lnTo>
                <a:lnTo>
                  <a:pt x="507821" y="6420"/>
                </a:lnTo>
                <a:lnTo>
                  <a:pt x="457819" y="8639"/>
                </a:lnTo>
                <a:lnTo>
                  <a:pt x="413441" y="11683"/>
                </a:lnTo>
                <a:lnTo>
                  <a:pt x="374140" y="14937"/>
                </a:lnTo>
                <a:lnTo>
                  <a:pt x="362070" y="15947"/>
                </a:lnTo>
                <a:lnTo>
                  <a:pt x="350651" y="16879"/>
                </a:lnTo>
                <a:lnTo>
                  <a:pt x="306002" y="19786"/>
                </a:lnTo>
                <a:lnTo>
                  <a:pt x="285997" y="20521"/>
                </a:lnTo>
                <a:lnTo>
                  <a:pt x="283953" y="20521"/>
                </a:lnTo>
                <a:lnTo>
                  <a:pt x="281909" y="20521"/>
                </a:lnTo>
                <a:lnTo>
                  <a:pt x="264529" y="21765"/>
                </a:lnTo>
                <a:lnTo>
                  <a:pt x="258269" y="22289"/>
                </a:lnTo>
                <a:lnTo>
                  <a:pt x="250521" y="23037"/>
                </a:lnTo>
                <a:lnTo>
                  <a:pt x="241283" y="24008"/>
                </a:lnTo>
                <a:lnTo>
                  <a:pt x="234147" y="24754"/>
                </a:lnTo>
                <a:lnTo>
                  <a:pt x="192902" y="28869"/>
                </a:lnTo>
                <a:lnTo>
                  <a:pt x="149527" y="32055"/>
                </a:lnTo>
                <a:lnTo>
                  <a:pt x="104696" y="33550"/>
                </a:lnTo>
                <a:lnTo>
                  <a:pt x="91005" y="33640"/>
                </a:lnTo>
                <a:lnTo>
                  <a:pt x="84672" y="33652"/>
                </a:lnTo>
                <a:lnTo>
                  <a:pt x="62447" y="34119"/>
                </a:lnTo>
                <a:lnTo>
                  <a:pt x="59049" y="34405"/>
                </a:lnTo>
                <a:lnTo>
                  <a:pt x="56129" y="35175"/>
                </a:lnTo>
                <a:lnTo>
                  <a:pt x="53686" y="36429"/>
                </a:lnTo>
                <a:lnTo>
                  <a:pt x="51242" y="37682"/>
                </a:lnTo>
                <a:lnTo>
                  <a:pt x="42567" y="49790"/>
                </a:lnTo>
                <a:lnTo>
                  <a:pt x="41065" y="52983"/>
                </a:lnTo>
                <a:lnTo>
                  <a:pt x="29915" y="69690"/>
                </a:lnTo>
                <a:lnTo>
                  <a:pt x="27180" y="72928"/>
                </a:lnTo>
                <a:lnTo>
                  <a:pt x="10061" y="88532"/>
                </a:lnTo>
                <a:lnTo>
                  <a:pt x="7708" y="90940"/>
                </a:lnTo>
                <a:lnTo>
                  <a:pt x="0" y="107347"/>
                </a:lnTo>
                <a:lnTo>
                  <a:pt x="83" y="110552"/>
                </a:lnTo>
                <a:lnTo>
                  <a:pt x="167" y="113757"/>
                </a:lnTo>
                <a:lnTo>
                  <a:pt x="423" y="117132"/>
                </a:lnTo>
                <a:lnTo>
                  <a:pt x="853" y="120677"/>
                </a:lnTo>
                <a:lnTo>
                  <a:pt x="1283" y="124221"/>
                </a:lnTo>
                <a:lnTo>
                  <a:pt x="1961" y="127977"/>
                </a:lnTo>
                <a:lnTo>
                  <a:pt x="2888" y="131944"/>
                </a:lnTo>
                <a:lnTo>
                  <a:pt x="3815" y="135912"/>
                </a:lnTo>
                <a:lnTo>
                  <a:pt x="5023" y="140172"/>
                </a:lnTo>
                <a:lnTo>
                  <a:pt x="6511" y="144727"/>
                </a:lnTo>
                <a:lnTo>
                  <a:pt x="7999" y="149282"/>
                </a:lnTo>
                <a:lnTo>
                  <a:pt x="9727" y="153993"/>
                </a:lnTo>
                <a:lnTo>
                  <a:pt x="11697" y="158861"/>
                </a:lnTo>
                <a:lnTo>
                  <a:pt x="13666" y="163729"/>
                </a:lnTo>
                <a:lnTo>
                  <a:pt x="15843" y="168537"/>
                </a:lnTo>
                <a:lnTo>
                  <a:pt x="18226" y="173288"/>
                </a:lnTo>
                <a:lnTo>
                  <a:pt x="20609" y="178038"/>
                </a:lnTo>
                <a:lnTo>
                  <a:pt x="44698" y="209613"/>
                </a:lnTo>
                <a:lnTo>
                  <a:pt x="54706" y="217964"/>
                </a:lnTo>
                <a:lnTo>
                  <a:pt x="58011" y="220380"/>
                </a:lnTo>
                <a:lnTo>
                  <a:pt x="61219" y="222481"/>
                </a:lnTo>
                <a:lnTo>
                  <a:pt x="64330" y="224266"/>
                </a:lnTo>
                <a:lnTo>
                  <a:pt x="67441" y="226051"/>
                </a:lnTo>
                <a:lnTo>
                  <a:pt x="70598" y="227640"/>
                </a:lnTo>
                <a:lnTo>
                  <a:pt x="73800" y="229034"/>
                </a:lnTo>
                <a:lnTo>
                  <a:pt x="77001" y="230428"/>
                </a:lnTo>
                <a:lnTo>
                  <a:pt x="80786" y="231706"/>
                </a:lnTo>
                <a:lnTo>
                  <a:pt x="85153" y="232867"/>
                </a:lnTo>
                <a:lnTo>
                  <a:pt x="89519" y="234029"/>
                </a:lnTo>
                <a:lnTo>
                  <a:pt x="133151" y="240243"/>
                </a:lnTo>
                <a:lnTo>
                  <a:pt x="142604" y="241340"/>
                </a:lnTo>
                <a:lnTo>
                  <a:pt x="152613" y="242503"/>
                </a:lnTo>
                <a:lnTo>
                  <a:pt x="197102" y="247746"/>
                </a:lnTo>
                <a:lnTo>
                  <a:pt x="241857" y="253436"/>
                </a:lnTo>
                <a:lnTo>
                  <a:pt x="287303" y="259801"/>
                </a:lnTo>
                <a:lnTo>
                  <a:pt x="316675" y="264336"/>
                </a:lnTo>
                <a:lnTo>
                  <a:pt x="322384" y="265263"/>
                </a:lnTo>
                <a:lnTo>
                  <a:pt x="328316" y="265975"/>
                </a:lnTo>
                <a:lnTo>
                  <a:pt x="334471" y="266472"/>
                </a:lnTo>
                <a:lnTo>
                  <a:pt x="340626" y="266970"/>
                </a:lnTo>
                <a:lnTo>
                  <a:pt x="385388" y="267703"/>
                </a:lnTo>
                <a:lnTo>
                  <a:pt x="407746" y="267733"/>
                </a:lnTo>
                <a:lnTo>
                  <a:pt x="419660" y="267775"/>
                </a:lnTo>
                <a:lnTo>
                  <a:pt x="469858" y="268241"/>
                </a:lnTo>
                <a:lnTo>
                  <a:pt x="515753" y="269263"/>
                </a:lnTo>
                <a:lnTo>
                  <a:pt x="558195" y="270985"/>
                </a:lnTo>
                <a:lnTo>
                  <a:pt x="572153" y="271736"/>
                </a:lnTo>
                <a:lnTo>
                  <a:pt x="578677" y="272063"/>
                </a:lnTo>
                <a:lnTo>
                  <a:pt x="583971" y="272290"/>
                </a:lnTo>
                <a:lnTo>
                  <a:pt x="589265" y="272518"/>
                </a:lnTo>
                <a:lnTo>
                  <a:pt x="593860" y="272281"/>
                </a:lnTo>
                <a:lnTo>
                  <a:pt x="597756" y="271582"/>
                </a:lnTo>
                <a:lnTo>
                  <a:pt x="601652" y="270882"/>
                </a:lnTo>
                <a:lnTo>
                  <a:pt x="605474" y="269711"/>
                </a:lnTo>
                <a:lnTo>
                  <a:pt x="609220" y="268068"/>
                </a:lnTo>
                <a:lnTo>
                  <a:pt x="612968" y="266425"/>
                </a:lnTo>
                <a:lnTo>
                  <a:pt x="616628" y="264542"/>
                </a:lnTo>
                <a:lnTo>
                  <a:pt x="620200" y="262418"/>
                </a:lnTo>
                <a:lnTo>
                  <a:pt x="623774" y="260294"/>
                </a:lnTo>
                <a:lnTo>
                  <a:pt x="627485" y="258326"/>
                </a:lnTo>
                <a:lnTo>
                  <a:pt x="631335" y="256513"/>
                </a:lnTo>
                <a:lnTo>
                  <a:pt x="635185" y="254700"/>
                </a:lnTo>
                <a:lnTo>
                  <a:pt x="656145" y="247715"/>
                </a:lnTo>
                <a:lnTo>
                  <a:pt x="660787" y="246397"/>
                </a:lnTo>
                <a:lnTo>
                  <a:pt x="665624" y="245102"/>
                </a:lnTo>
                <a:lnTo>
                  <a:pt x="670657" y="243831"/>
                </a:lnTo>
                <a:lnTo>
                  <a:pt x="675690" y="242559"/>
                </a:lnTo>
                <a:lnTo>
                  <a:pt x="704715" y="235592"/>
                </a:lnTo>
                <a:lnTo>
                  <a:pt x="709036" y="234559"/>
                </a:lnTo>
                <a:lnTo>
                  <a:pt x="743276" y="225225"/>
                </a:lnTo>
                <a:lnTo>
                  <a:pt x="746199" y="224325"/>
                </a:lnTo>
                <a:lnTo>
                  <a:pt x="763991" y="217978"/>
                </a:lnTo>
                <a:lnTo>
                  <a:pt x="767045" y="216922"/>
                </a:lnTo>
                <a:lnTo>
                  <a:pt x="793675" y="212199"/>
                </a:lnTo>
                <a:lnTo>
                  <a:pt x="798579" y="211800"/>
                </a:lnTo>
                <a:lnTo>
                  <a:pt x="841107" y="203349"/>
                </a:lnTo>
                <a:lnTo>
                  <a:pt x="846385" y="201614"/>
                </a:lnTo>
                <a:lnTo>
                  <a:pt x="851662" y="199879"/>
                </a:lnTo>
                <a:lnTo>
                  <a:pt x="856284" y="197978"/>
                </a:lnTo>
                <a:lnTo>
                  <a:pt x="860250" y="195911"/>
                </a:lnTo>
                <a:lnTo>
                  <a:pt x="864215" y="193844"/>
                </a:lnTo>
                <a:lnTo>
                  <a:pt x="867382" y="191566"/>
                </a:lnTo>
                <a:lnTo>
                  <a:pt x="869751" y="189078"/>
                </a:lnTo>
                <a:lnTo>
                  <a:pt x="872120" y="186590"/>
                </a:lnTo>
                <a:lnTo>
                  <a:pt x="873969" y="183480"/>
                </a:lnTo>
                <a:lnTo>
                  <a:pt x="875297" y="179747"/>
                </a:lnTo>
                <a:lnTo>
                  <a:pt x="876625" y="176015"/>
                </a:lnTo>
                <a:lnTo>
                  <a:pt x="877474" y="172187"/>
                </a:lnTo>
                <a:lnTo>
                  <a:pt x="877844" y="168264"/>
                </a:lnTo>
                <a:lnTo>
                  <a:pt x="878213" y="164341"/>
                </a:lnTo>
                <a:lnTo>
                  <a:pt x="878433" y="160408"/>
                </a:lnTo>
                <a:lnTo>
                  <a:pt x="878504" y="156463"/>
                </a:lnTo>
                <a:lnTo>
                  <a:pt x="878575" y="152520"/>
                </a:lnTo>
                <a:lnTo>
                  <a:pt x="878611" y="148922"/>
                </a:lnTo>
                <a:lnTo>
                  <a:pt x="878611" y="145670"/>
                </a:lnTo>
                <a:lnTo>
                  <a:pt x="878611" y="142419"/>
                </a:lnTo>
                <a:lnTo>
                  <a:pt x="866520" y="103871"/>
                </a:lnTo>
                <a:lnTo>
                  <a:pt x="864171" y="100158"/>
                </a:lnTo>
                <a:lnTo>
                  <a:pt x="841042" y="68771"/>
                </a:lnTo>
                <a:lnTo>
                  <a:pt x="821116" y="47182"/>
                </a:lnTo>
                <a:lnTo>
                  <a:pt x="817970" y="44133"/>
                </a:lnTo>
                <a:lnTo>
                  <a:pt x="804639" y="32902"/>
                </a:lnTo>
                <a:lnTo>
                  <a:pt x="802049" y="31076"/>
                </a:lnTo>
                <a:lnTo>
                  <a:pt x="785955" y="25329"/>
                </a:lnTo>
                <a:lnTo>
                  <a:pt x="782524" y="24635"/>
                </a:lnTo>
                <a:lnTo>
                  <a:pt x="779130" y="24198"/>
                </a:lnTo>
                <a:lnTo>
                  <a:pt x="775772" y="24018"/>
                </a:lnTo>
                <a:lnTo>
                  <a:pt x="772413" y="23839"/>
                </a:lnTo>
                <a:lnTo>
                  <a:pt x="769319" y="23749"/>
                </a:lnTo>
                <a:lnTo>
                  <a:pt x="766488" y="23749"/>
                </a:lnTo>
                <a:lnTo>
                  <a:pt x="763658" y="23749"/>
                </a:lnTo>
                <a:lnTo>
                  <a:pt x="690126" y="23749"/>
                </a:lnTo>
                <a:lnTo>
                  <a:pt x="687102" y="23342"/>
                </a:lnTo>
                <a:lnTo>
                  <a:pt x="667777" y="11177"/>
                </a:lnTo>
                <a:lnTo>
                  <a:pt x="665255" y="9215"/>
                </a:lnTo>
                <a:lnTo>
                  <a:pt x="662592" y="7392"/>
                </a:lnTo>
                <a:lnTo>
                  <a:pt x="659928" y="5568"/>
                </a:lnTo>
                <a:lnTo>
                  <a:pt x="657139" y="3880"/>
                </a:lnTo>
                <a:lnTo>
                  <a:pt x="654225" y="2328"/>
                </a:lnTo>
                <a:lnTo>
                  <a:pt x="649854" y="0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641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Design</a:t>
            </a:r>
            <a:r>
              <a:rPr dirty="0" sz="600" spc="3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Issues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Cost?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58289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002358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246426"/>
            <a:ext cx="65265" cy="6526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33286" y="1275015"/>
            <a:ext cx="3942079" cy="10801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1">
                <a:latin typeface="Georgia"/>
                <a:cs typeface="Georgia"/>
              </a:rPr>
              <a:t>Everything</a:t>
            </a:r>
            <a:r>
              <a:rPr dirty="0" sz="1100" spc="45" b="1">
                <a:latin typeface="Georgia"/>
                <a:cs typeface="Georgia"/>
              </a:rPr>
              <a:t> </a:t>
            </a:r>
            <a:r>
              <a:rPr dirty="0" sz="1100" b="1">
                <a:latin typeface="Georgia"/>
                <a:cs typeface="Georgia"/>
              </a:rPr>
              <a:t>is</a:t>
            </a:r>
            <a:r>
              <a:rPr dirty="0" sz="1100" spc="50" b="1">
                <a:latin typeface="Georgia"/>
                <a:cs typeface="Georgia"/>
              </a:rPr>
              <a:t> </a:t>
            </a:r>
            <a:r>
              <a:rPr dirty="0" sz="1100" b="1">
                <a:latin typeface="Georgia"/>
                <a:cs typeface="Georgia"/>
              </a:rPr>
              <a:t>a</a:t>
            </a:r>
            <a:r>
              <a:rPr dirty="0" sz="1100" spc="50" b="1">
                <a:latin typeface="Georgia"/>
                <a:cs typeface="Georgia"/>
              </a:rPr>
              <a:t> </a:t>
            </a:r>
            <a:r>
              <a:rPr dirty="0" sz="1100" spc="-40" b="1">
                <a:latin typeface="Georgia"/>
                <a:cs typeface="Georgia"/>
              </a:rPr>
              <a:t>trade-</a:t>
            </a:r>
            <a:r>
              <a:rPr dirty="0" sz="1100" b="1">
                <a:latin typeface="Georgia"/>
                <a:cs typeface="Georgia"/>
              </a:rPr>
              <a:t>off</a:t>
            </a:r>
            <a:r>
              <a:rPr dirty="0" sz="1100" spc="50" b="1">
                <a:latin typeface="Georgia"/>
                <a:cs typeface="Georgia"/>
              </a:rPr>
              <a:t> </a:t>
            </a:r>
            <a:r>
              <a:rPr dirty="0" sz="1100" spc="-25" b="1">
                <a:latin typeface="Georgia"/>
                <a:cs typeface="Georgia"/>
              </a:rPr>
              <a:t>when</a:t>
            </a:r>
            <a:r>
              <a:rPr dirty="0" sz="1100" spc="50" b="1">
                <a:latin typeface="Georgia"/>
                <a:cs typeface="Georgia"/>
              </a:rPr>
              <a:t> </a:t>
            </a:r>
            <a:r>
              <a:rPr dirty="0" sz="1100" spc="-30" b="1">
                <a:latin typeface="Georgia"/>
                <a:cs typeface="Georgia"/>
              </a:rPr>
              <a:t>generating</a:t>
            </a:r>
            <a:r>
              <a:rPr dirty="0" sz="1100" spc="45" b="1">
                <a:latin typeface="Georgia"/>
                <a:cs typeface="Georgia"/>
              </a:rPr>
              <a:t> </a:t>
            </a:r>
            <a:r>
              <a:rPr dirty="0" sz="1100" spc="-40" b="1">
                <a:latin typeface="Georgia"/>
                <a:cs typeface="Georgia"/>
              </a:rPr>
              <a:t>efficient</a:t>
            </a:r>
            <a:r>
              <a:rPr dirty="0" sz="1100" spc="50" b="1">
                <a:latin typeface="Georgia"/>
                <a:cs typeface="Georgia"/>
              </a:rPr>
              <a:t> </a:t>
            </a:r>
            <a:r>
              <a:rPr dirty="0" sz="1100" spc="-10" b="1">
                <a:latin typeface="Georgia"/>
                <a:cs typeface="Georgia"/>
              </a:rPr>
              <a:t>code.</a:t>
            </a:r>
            <a:endParaRPr sz="1100">
              <a:latin typeface="Georgia"/>
              <a:cs typeface="Georgia"/>
            </a:endParaRPr>
          </a:p>
          <a:p>
            <a:pPr marL="81915" marR="1885314">
              <a:lnSpc>
                <a:spcPct val="145600"/>
              </a:lnSpc>
              <a:spcBef>
                <a:spcPts val="1225"/>
              </a:spcBef>
            </a:pPr>
            <a:r>
              <a:rPr dirty="0" sz="1100" spc="-10">
                <a:latin typeface="Georgia"/>
                <a:cs typeface="Georgia"/>
              </a:rPr>
              <a:t>Instruction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code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size.</a:t>
            </a:r>
            <a:r>
              <a:rPr dirty="0" sz="1100" spc="50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memory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access time. Instruction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execution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time.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118446" y="1880773"/>
            <a:ext cx="521334" cy="0"/>
          </a:xfrm>
          <a:custGeom>
            <a:avLst/>
            <a:gdLst/>
            <a:ahLst/>
            <a:cxnLst/>
            <a:rect l="l" t="t" r="r" b="b"/>
            <a:pathLst>
              <a:path w="521335" h="0">
                <a:moveTo>
                  <a:pt x="0" y="-5"/>
                </a:moveTo>
                <a:lnTo>
                  <a:pt x="0" y="-5"/>
                </a:lnTo>
                <a:lnTo>
                  <a:pt x="469205" y="-5"/>
                </a:lnTo>
                <a:lnTo>
                  <a:pt x="521338" y="-5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129266" y="2157901"/>
            <a:ext cx="1021715" cy="0"/>
          </a:xfrm>
          <a:custGeom>
            <a:avLst/>
            <a:gdLst/>
            <a:ahLst/>
            <a:cxnLst/>
            <a:rect l="l" t="t" r="r" b="b"/>
            <a:pathLst>
              <a:path w="1021714" h="0">
                <a:moveTo>
                  <a:pt x="0" y="-3"/>
                </a:moveTo>
                <a:lnTo>
                  <a:pt x="0" y="-3"/>
                </a:lnTo>
                <a:lnTo>
                  <a:pt x="970078" y="-3"/>
                </a:lnTo>
                <a:lnTo>
                  <a:pt x="1021135" y="-3"/>
                </a:lnTo>
              </a:path>
            </a:pathLst>
          </a:custGeom>
          <a:ln w="12701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282928" y="1185023"/>
            <a:ext cx="844550" cy="332105"/>
          </a:xfrm>
          <a:custGeom>
            <a:avLst/>
            <a:gdLst/>
            <a:ahLst/>
            <a:cxnLst/>
            <a:rect l="l" t="t" r="r" b="b"/>
            <a:pathLst>
              <a:path w="844550" h="332105">
                <a:moveTo>
                  <a:pt x="844499" y="61098"/>
                </a:moveTo>
                <a:lnTo>
                  <a:pt x="806411" y="40548"/>
                </a:lnTo>
                <a:lnTo>
                  <a:pt x="758844" y="29989"/>
                </a:lnTo>
                <a:lnTo>
                  <a:pt x="716892" y="22870"/>
                </a:lnTo>
                <a:lnTo>
                  <a:pt x="666994" y="15765"/>
                </a:lnTo>
                <a:lnTo>
                  <a:pt x="612680" y="9476"/>
                </a:lnTo>
                <a:lnTo>
                  <a:pt x="557721" y="4725"/>
                </a:lnTo>
                <a:lnTo>
                  <a:pt x="505389" y="1835"/>
                </a:lnTo>
                <a:lnTo>
                  <a:pt x="457906" y="455"/>
                </a:lnTo>
                <a:lnTo>
                  <a:pt x="416437" y="28"/>
                </a:lnTo>
                <a:lnTo>
                  <a:pt x="404072" y="0"/>
                </a:lnTo>
                <a:lnTo>
                  <a:pt x="392427" y="0"/>
                </a:lnTo>
                <a:lnTo>
                  <a:pt x="381490" y="0"/>
                </a:lnTo>
                <a:lnTo>
                  <a:pt x="371261" y="0"/>
                </a:lnTo>
                <a:lnTo>
                  <a:pt x="361740" y="0"/>
                </a:lnTo>
                <a:lnTo>
                  <a:pt x="352882" y="5"/>
                </a:lnTo>
                <a:lnTo>
                  <a:pt x="313483" y="303"/>
                </a:lnTo>
                <a:lnTo>
                  <a:pt x="307195" y="569"/>
                </a:lnTo>
                <a:lnTo>
                  <a:pt x="300907" y="836"/>
                </a:lnTo>
                <a:lnTo>
                  <a:pt x="295541" y="1292"/>
                </a:lnTo>
                <a:lnTo>
                  <a:pt x="291096" y="1939"/>
                </a:lnTo>
                <a:lnTo>
                  <a:pt x="286652" y="2585"/>
                </a:lnTo>
                <a:lnTo>
                  <a:pt x="282599" y="3121"/>
                </a:lnTo>
                <a:lnTo>
                  <a:pt x="245993" y="5268"/>
                </a:lnTo>
                <a:lnTo>
                  <a:pt x="239815" y="5557"/>
                </a:lnTo>
                <a:lnTo>
                  <a:pt x="199613" y="10000"/>
                </a:lnTo>
                <a:lnTo>
                  <a:pt x="160297" y="17109"/>
                </a:lnTo>
                <a:lnTo>
                  <a:pt x="120677" y="26409"/>
                </a:lnTo>
                <a:lnTo>
                  <a:pt x="79454" y="38400"/>
                </a:lnTo>
                <a:lnTo>
                  <a:pt x="50941" y="48824"/>
                </a:lnTo>
                <a:lnTo>
                  <a:pt x="44965" y="51303"/>
                </a:lnTo>
                <a:lnTo>
                  <a:pt x="23993" y="64425"/>
                </a:lnTo>
                <a:lnTo>
                  <a:pt x="20847" y="67442"/>
                </a:lnTo>
                <a:lnTo>
                  <a:pt x="5008" y="104400"/>
                </a:lnTo>
                <a:lnTo>
                  <a:pt x="106" y="145234"/>
                </a:lnTo>
                <a:lnTo>
                  <a:pt x="35" y="149185"/>
                </a:lnTo>
                <a:lnTo>
                  <a:pt x="0" y="153120"/>
                </a:lnTo>
                <a:lnTo>
                  <a:pt x="0" y="157039"/>
                </a:lnTo>
                <a:lnTo>
                  <a:pt x="0" y="160958"/>
                </a:lnTo>
                <a:lnTo>
                  <a:pt x="20" y="164655"/>
                </a:lnTo>
                <a:lnTo>
                  <a:pt x="61" y="168130"/>
                </a:lnTo>
                <a:lnTo>
                  <a:pt x="101" y="171605"/>
                </a:lnTo>
                <a:lnTo>
                  <a:pt x="20512" y="207192"/>
                </a:lnTo>
                <a:lnTo>
                  <a:pt x="23934" y="209870"/>
                </a:lnTo>
                <a:lnTo>
                  <a:pt x="48399" y="225936"/>
                </a:lnTo>
                <a:lnTo>
                  <a:pt x="54368" y="229543"/>
                </a:lnTo>
                <a:lnTo>
                  <a:pt x="92919" y="250777"/>
                </a:lnTo>
                <a:lnTo>
                  <a:pt x="131826" y="268669"/>
                </a:lnTo>
                <a:lnTo>
                  <a:pt x="167929" y="282709"/>
                </a:lnTo>
                <a:lnTo>
                  <a:pt x="211990" y="297750"/>
                </a:lnTo>
                <a:lnTo>
                  <a:pt x="254264" y="309793"/>
                </a:lnTo>
                <a:lnTo>
                  <a:pt x="296263" y="315770"/>
                </a:lnTo>
                <a:lnTo>
                  <a:pt x="309138" y="316172"/>
                </a:lnTo>
                <a:lnTo>
                  <a:pt x="317132" y="316097"/>
                </a:lnTo>
                <a:lnTo>
                  <a:pt x="323532" y="316024"/>
                </a:lnTo>
                <a:lnTo>
                  <a:pt x="330738" y="315916"/>
                </a:lnTo>
                <a:lnTo>
                  <a:pt x="338750" y="315774"/>
                </a:lnTo>
                <a:lnTo>
                  <a:pt x="347570" y="315596"/>
                </a:lnTo>
                <a:lnTo>
                  <a:pt x="357301" y="315410"/>
                </a:lnTo>
                <a:lnTo>
                  <a:pt x="368051" y="315239"/>
                </a:lnTo>
                <a:lnTo>
                  <a:pt x="379819" y="315084"/>
                </a:lnTo>
                <a:lnTo>
                  <a:pt x="392606" y="314944"/>
                </a:lnTo>
                <a:lnTo>
                  <a:pt x="406075" y="314865"/>
                </a:lnTo>
                <a:lnTo>
                  <a:pt x="419894" y="314891"/>
                </a:lnTo>
                <a:lnTo>
                  <a:pt x="463138" y="315629"/>
                </a:lnTo>
                <a:lnTo>
                  <a:pt x="505295" y="317666"/>
                </a:lnTo>
                <a:lnTo>
                  <a:pt x="543343" y="320784"/>
                </a:lnTo>
                <a:lnTo>
                  <a:pt x="583876" y="325610"/>
                </a:lnTo>
                <a:lnTo>
                  <a:pt x="615781" y="330372"/>
                </a:lnTo>
                <a:lnTo>
                  <a:pt x="621701" y="331272"/>
                </a:lnTo>
                <a:lnTo>
                  <a:pt x="642889" y="328667"/>
                </a:lnTo>
                <a:lnTo>
                  <a:pt x="646438" y="327334"/>
                </a:lnTo>
                <a:lnTo>
                  <a:pt x="669425" y="309651"/>
                </a:lnTo>
                <a:lnTo>
                  <a:pt x="672164" y="307020"/>
                </a:lnTo>
                <a:lnTo>
                  <a:pt x="675201" y="304290"/>
                </a:lnTo>
                <a:lnTo>
                  <a:pt x="678538" y="301461"/>
                </a:lnTo>
                <a:lnTo>
                  <a:pt x="681874" y="298632"/>
                </a:lnTo>
                <a:lnTo>
                  <a:pt x="685426" y="295705"/>
                </a:lnTo>
                <a:lnTo>
                  <a:pt x="689193" y="292679"/>
                </a:lnTo>
                <a:lnTo>
                  <a:pt x="692959" y="289653"/>
                </a:lnTo>
                <a:lnTo>
                  <a:pt x="711095" y="272313"/>
                </a:lnTo>
                <a:lnTo>
                  <a:pt x="714419" y="268573"/>
                </a:lnTo>
                <a:lnTo>
                  <a:pt x="729900" y="247882"/>
                </a:lnTo>
                <a:lnTo>
                  <a:pt x="732763" y="243801"/>
                </a:lnTo>
                <a:lnTo>
                  <a:pt x="735521" y="239808"/>
                </a:lnTo>
                <a:lnTo>
                  <a:pt x="738176" y="235901"/>
                </a:lnTo>
                <a:lnTo>
                  <a:pt x="740830" y="231994"/>
                </a:lnTo>
                <a:lnTo>
                  <a:pt x="743286" y="228302"/>
                </a:lnTo>
                <a:lnTo>
                  <a:pt x="745541" y="224823"/>
                </a:lnTo>
                <a:lnTo>
                  <a:pt x="747796" y="221344"/>
                </a:lnTo>
                <a:lnTo>
                  <a:pt x="749851" y="218097"/>
                </a:lnTo>
                <a:lnTo>
                  <a:pt x="751707" y="215082"/>
                </a:lnTo>
                <a:lnTo>
                  <a:pt x="753563" y="212067"/>
                </a:lnTo>
                <a:lnTo>
                  <a:pt x="765574" y="189562"/>
                </a:lnTo>
                <a:lnTo>
                  <a:pt x="766904" y="186716"/>
                </a:lnTo>
                <a:lnTo>
                  <a:pt x="773875" y="167146"/>
                </a:lnTo>
                <a:lnTo>
                  <a:pt x="773021" y="164596"/>
                </a:lnTo>
                <a:lnTo>
                  <a:pt x="772167" y="162046"/>
                </a:lnTo>
                <a:lnTo>
                  <a:pt x="770594" y="159592"/>
                </a:lnTo>
                <a:lnTo>
                  <a:pt x="768301" y="157233"/>
                </a:lnTo>
                <a:lnTo>
                  <a:pt x="766009" y="154875"/>
                </a:lnTo>
                <a:lnTo>
                  <a:pt x="763023" y="152587"/>
                </a:lnTo>
                <a:lnTo>
                  <a:pt x="759343" y="150369"/>
                </a:lnTo>
                <a:lnTo>
                  <a:pt x="755664" y="148151"/>
                </a:lnTo>
                <a:lnTo>
                  <a:pt x="752166" y="145817"/>
                </a:lnTo>
                <a:lnTo>
                  <a:pt x="748849" y="143367"/>
                </a:lnTo>
                <a:lnTo>
                  <a:pt x="745532" y="140916"/>
                </a:lnTo>
                <a:lnTo>
                  <a:pt x="742360" y="138307"/>
                </a:lnTo>
                <a:lnTo>
                  <a:pt x="739335" y="135541"/>
                </a:lnTo>
                <a:lnTo>
                  <a:pt x="736309" y="132774"/>
                </a:lnTo>
                <a:lnTo>
                  <a:pt x="733638" y="130012"/>
                </a:lnTo>
                <a:lnTo>
                  <a:pt x="731323" y="127254"/>
                </a:lnTo>
                <a:lnTo>
                  <a:pt x="729007" y="124497"/>
                </a:lnTo>
                <a:lnTo>
                  <a:pt x="727156" y="121686"/>
                </a:lnTo>
                <a:lnTo>
                  <a:pt x="725772" y="118824"/>
                </a:lnTo>
                <a:lnTo>
                  <a:pt x="724386" y="115961"/>
                </a:lnTo>
                <a:lnTo>
                  <a:pt x="721015" y="99904"/>
                </a:lnTo>
                <a:lnTo>
                  <a:pt x="720400" y="96291"/>
                </a:lnTo>
                <a:lnTo>
                  <a:pt x="712824" y="75974"/>
                </a:lnTo>
                <a:lnTo>
                  <a:pt x="710585" y="71696"/>
                </a:lnTo>
                <a:lnTo>
                  <a:pt x="708044" y="67549"/>
                </a:lnTo>
                <a:lnTo>
                  <a:pt x="705201" y="63533"/>
                </a:lnTo>
                <a:lnTo>
                  <a:pt x="702357" y="59516"/>
                </a:lnTo>
                <a:lnTo>
                  <a:pt x="687038" y="44568"/>
                </a:lnTo>
                <a:lnTo>
                  <a:pt x="682302" y="41073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147789" y="2394394"/>
            <a:ext cx="934085" cy="0"/>
          </a:xfrm>
          <a:custGeom>
            <a:avLst/>
            <a:gdLst/>
            <a:ahLst/>
            <a:cxnLst/>
            <a:rect l="l" t="t" r="r" b="b"/>
            <a:pathLst>
              <a:path w="934085" h="0">
                <a:moveTo>
                  <a:pt x="1" y="0"/>
                </a:moveTo>
                <a:lnTo>
                  <a:pt x="1" y="0"/>
                </a:lnTo>
                <a:lnTo>
                  <a:pt x="881794" y="0"/>
                </a:lnTo>
                <a:lnTo>
                  <a:pt x="933665" y="0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7969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Target</a:t>
            </a:r>
            <a:r>
              <a:rPr dirty="0" sz="600" spc="13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5300" y="182179"/>
            <a:ext cx="69469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 b="1">
                <a:solidFill>
                  <a:srgbClr val="00688A"/>
                </a:solidFill>
                <a:latin typeface="Georgia"/>
                <a:cs typeface="Georgia"/>
              </a:rPr>
              <a:t>Outline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30" y="1198905"/>
            <a:ext cx="155092" cy="155092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4675" y="1195144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F9FBFC"/>
                </a:solidFill>
                <a:latin typeface="Comic Sans MS"/>
                <a:cs typeface="Comic Sans MS"/>
              </a:rPr>
              <a:t>1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9890" y="1166963"/>
            <a:ext cx="8312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Design</a:t>
            </a:r>
            <a:r>
              <a:rPr dirty="0" sz="1100" spc="1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Issues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830" y="1725155"/>
            <a:ext cx="155092" cy="15509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4675" y="1721394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E5EFF3"/>
                </a:solidFill>
                <a:latin typeface="Comic Sans MS"/>
                <a:cs typeface="Comic Sans MS"/>
              </a:rPr>
              <a:t>2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89890" y="1693213"/>
            <a:ext cx="10483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  <a:hlinkClick r:id="rId2" action="ppaction://hlinksldjump"/>
              </a:rPr>
              <a:t>Target</a:t>
            </a:r>
            <a:r>
              <a:rPr dirty="0" sz="1100" spc="30"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1100" spc="-10">
                <a:latin typeface="Georgia"/>
                <a:cs typeface="Georgia"/>
                <a:hlinkClick r:id="rId2" action="ppaction://hlinksldjump"/>
              </a:rPr>
              <a:t>Language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30" y="2251405"/>
            <a:ext cx="155092" cy="155092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24675" y="2247644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F9FBFC"/>
                </a:solidFill>
                <a:latin typeface="Comic Sans MS"/>
                <a:cs typeface="Comic Sans MS"/>
              </a:rPr>
              <a:t>3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89890" y="2219463"/>
            <a:ext cx="18859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Basic</a:t>
            </a:r>
            <a:r>
              <a:rPr dirty="0" sz="1100" spc="1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Blocks</a:t>
            </a:r>
            <a:r>
              <a:rPr dirty="0" sz="1100" spc="1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and</a:t>
            </a:r>
            <a:r>
              <a:rPr dirty="0" sz="1100" spc="15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Flow</a:t>
            </a:r>
            <a:r>
              <a:rPr dirty="0" sz="1100" spc="1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Graphs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7969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Target</a:t>
            </a:r>
            <a:r>
              <a:rPr dirty="0" sz="600" spc="13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Simple</a:t>
            </a:r>
            <a:r>
              <a:rPr dirty="0" spc="85"/>
              <a:t> </a:t>
            </a:r>
            <a:r>
              <a:rPr dirty="0" spc="-20"/>
              <a:t>Target-</a:t>
            </a:r>
            <a:r>
              <a:rPr dirty="0" spc="-35"/>
              <a:t>Machine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642975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02932" y="519008"/>
            <a:ext cx="1365250" cy="61150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100" spc="-10">
                <a:latin typeface="Georgia"/>
                <a:cs typeface="Georgia"/>
              </a:rPr>
              <a:t>Load/store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operations</a:t>
            </a:r>
            <a:endParaRPr sz="1100">
              <a:latin typeface="Georgia"/>
              <a:cs typeface="Georgia"/>
            </a:endParaRPr>
          </a:p>
          <a:p>
            <a:pPr marL="289560" marR="289560">
              <a:lnSpc>
                <a:spcPct val="102600"/>
              </a:lnSpc>
              <a:spcBef>
                <a:spcPts val="270"/>
              </a:spcBef>
            </a:pPr>
            <a:r>
              <a:rPr dirty="0" sz="1100" i="1">
                <a:latin typeface="Bookman Old Style"/>
                <a:cs typeface="Bookman Old Style"/>
              </a:rPr>
              <a:t>LD</a:t>
            </a:r>
            <a:r>
              <a:rPr dirty="0" sz="1100" spc="50" i="1">
                <a:latin typeface="Bookman Old Style"/>
                <a:cs typeface="Bookman Old Style"/>
              </a:rPr>
              <a:t> </a:t>
            </a:r>
            <a:r>
              <a:rPr dirty="0" sz="1100" spc="-65" i="1">
                <a:latin typeface="Bookman Old Style"/>
                <a:cs typeface="Bookman Old Style"/>
              </a:rPr>
              <a:t>dst,</a:t>
            </a:r>
            <a:r>
              <a:rPr dirty="0" sz="1100" spc="50" i="1">
                <a:latin typeface="Bookman Old Style"/>
                <a:cs typeface="Bookman Old Style"/>
              </a:rPr>
              <a:t> </a:t>
            </a:r>
            <a:r>
              <a:rPr dirty="0" sz="1100" spc="-100" i="1">
                <a:latin typeface="Bookman Old Style"/>
                <a:cs typeface="Bookman Old Style"/>
              </a:rPr>
              <a:t>addr </a:t>
            </a:r>
            <a:r>
              <a:rPr dirty="0" sz="1100" i="1">
                <a:latin typeface="Bookman Old Style"/>
                <a:cs typeface="Bookman Old Style"/>
              </a:rPr>
              <a:t>ST</a:t>
            </a:r>
            <a:r>
              <a:rPr dirty="0" sz="1100" spc="25" i="1">
                <a:latin typeface="Bookman Old Style"/>
                <a:cs typeface="Bookman Old Style"/>
              </a:rPr>
              <a:t> </a:t>
            </a:r>
            <a:r>
              <a:rPr dirty="0" sz="1100" i="1">
                <a:latin typeface="Bookman Old Style"/>
                <a:cs typeface="Bookman Old Style"/>
              </a:rPr>
              <a:t>x,</a:t>
            </a:r>
            <a:r>
              <a:rPr dirty="0" sz="1100" spc="25" i="1">
                <a:latin typeface="Bookman Old Style"/>
                <a:cs typeface="Bookman Old Style"/>
              </a:rPr>
              <a:t> </a:t>
            </a:r>
            <a:r>
              <a:rPr dirty="0" sz="1100" spc="-50" i="1">
                <a:latin typeface="Bookman Old Style"/>
                <a:cs typeface="Bookman Old Style"/>
              </a:rPr>
              <a:t>r</a:t>
            </a:r>
            <a:endParaRPr sz="1100">
              <a:latin typeface="Bookman Old Style"/>
              <a:cs typeface="Bookman Old Style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356093"/>
            <a:ext cx="65265" cy="6526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02932" y="1239835"/>
            <a:ext cx="1867535" cy="204025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100" spc="-10">
                <a:latin typeface="Georgia"/>
                <a:cs typeface="Georgia"/>
              </a:rPr>
              <a:t>Computation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operations: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245"/>
              </a:spcBef>
            </a:pPr>
            <a:r>
              <a:rPr dirty="0" sz="1100" i="1">
                <a:latin typeface="Bookman Old Style"/>
                <a:cs typeface="Bookman Old Style"/>
              </a:rPr>
              <a:t>OP</a:t>
            </a:r>
            <a:r>
              <a:rPr dirty="0" sz="1100" spc="50" i="1">
                <a:latin typeface="Bookman Old Style"/>
                <a:cs typeface="Bookman Old Style"/>
              </a:rPr>
              <a:t> </a:t>
            </a:r>
            <a:r>
              <a:rPr dirty="0" sz="1100" spc="-65" i="1">
                <a:latin typeface="Bookman Old Style"/>
                <a:cs typeface="Bookman Old Style"/>
              </a:rPr>
              <a:t>dst,</a:t>
            </a:r>
            <a:r>
              <a:rPr dirty="0" sz="1100" spc="50" i="1">
                <a:latin typeface="Bookman Old Style"/>
                <a:cs typeface="Bookman Old Style"/>
              </a:rPr>
              <a:t> </a:t>
            </a:r>
            <a:r>
              <a:rPr dirty="0" sz="1100" spc="-60" i="1">
                <a:latin typeface="Bookman Old Style"/>
                <a:cs typeface="Bookman Old Style"/>
              </a:rPr>
              <a:t>src1,</a:t>
            </a:r>
            <a:r>
              <a:rPr dirty="0" sz="1100" spc="50" i="1">
                <a:latin typeface="Bookman Old Style"/>
                <a:cs typeface="Bookman Old Style"/>
              </a:rPr>
              <a:t> </a:t>
            </a:r>
            <a:r>
              <a:rPr dirty="0" sz="1100" spc="-20" i="1">
                <a:latin typeface="Bookman Old Style"/>
                <a:cs typeface="Bookman Old Style"/>
              </a:rPr>
              <a:t>src2</a:t>
            </a:r>
            <a:endParaRPr sz="11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latin typeface="Georgia"/>
                <a:cs typeface="Georgia"/>
              </a:rPr>
              <a:t>Jump operations: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235"/>
              </a:spcBef>
            </a:pPr>
            <a:r>
              <a:rPr dirty="0" sz="1100" i="1">
                <a:latin typeface="Bookman Old Style"/>
                <a:cs typeface="Bookman Old Style"/>
              </a:rPr>
              <a:t>BR</a:t>
            </a:r>
            <a:r>
              <a:rPr dirty="0" sz="1100" spc="40" i="1">
                <a:latin typeface="Bookman Old Style"/>
                <a:cs typeface="Bookman Old Style"/>
              </a:rPr>
              <a:t> </a:t>
            </a:r>
            <a:r>
              <a:rPr dirty="0" sz="1100" spc="-50" i="1">
                <a:latin typeface="Bookman Old Style"/>
                <a:cs typeface="Bookman Old Style"/>
              </a:rPr>
              <a:t>L</a:t>
            </a:r>
            <a:endParaRPr sz="11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100" spc="-10">
                <a:latin typeface="Georgia"/>
                <a:cs typeface="Georgia"/>
              </a:rPr>
              <a:t>Conditional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jumps: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250"/>
              </a:spcBef>
            </a:pPr>
            <a:r>
              <a:rPr dirty="0" sz="1100" spc="-70" i="1">
                <a:latin typeface="Bookman Old Style"/>
                <a:cs typeface="Bookman Old Style"/>
              </a:rPr>
              <a:t>Bcond</a:t>
            </a:r>
            <a:r>
              <a:rPr dirty="0" sz="1100" spc="50" i="1">
                <a:latin typeface="Bookman Old Style"/>
                <a:cs typeface="Bookman Old Style"/>
              </a:rPr>
              <a:t> </a:t>
            </a:r>
            <a:r>
              <a:rPr dirty="0" sz="1100" i="1">
                <a:latin typeface="Bookman Old Style"/>
                <a:cs typeface="Bookman Old Style"/>
              </a:rPr>
              <a:t>r,</a:t>
            </a:r>
            <a:r>
              <a:rPr dirty="0" sz="1100" spc="55" i="1">
                <a:latin typeface="Bookman Old Style"/>
                <a:cs typeface="Bookman Old Style"/>
              </a:rPr>
              <a:t> </a:t>
            </a:r>
            <a:r>
              <a:rPr dirty="0" sz="1100" spc="-50" i="1">
                <a:latin typeface="Bookman Old Style"/>
                <a:cs typeface="Bookman Old Style"/>
              </a:rPr>
              <a:t>L</a:t>
            </a:r>
            <a:endParaRPr sz="11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Georgia"/>
                <a:cs typeface="Georgia"/>
              </a:rPr>
              <a:t>Byte</a:t>
            </a:r>
            <a:r>
              <a:rPr dirty="0" sz="1100" spc="16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addressable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n</a:t>
            </a:r>
            <a:r>
              <a:rPr dirty="0" sz="1100" spc="-2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25">
                <a:latin typeface="Georgia"/>
                <a:cs typeface="Georgia"/>
              </a:rPr>
              <a:t>registers:</a:t>
            </a:r>
            <a:r>
              <a:rPr dirty="0" sz="1100" spc="190">
                <a:latin typeface="Georgia"/>
                <a:cs typeface="Georgia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100">
                <a:solidFill>
                  <a:srgbClr val="0000CC"/>
                </a:solidFill>
                <a:latin typeface="Georgia"/>
                <a:cs typeface="Georgia"/>
              </a:rPr>
              <a:t>0</a:t>
            </a:r>
            <a:r>
              <a:rPr dirty="0" sz="1100">
                <a:latin typeface="Georgia"/>
                <a:cs typeface="Georgia"/>
              </a:rPr>
              <a:t>,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100">
                <a:solidFill>
                  <a:srgbClr val="0000CC"/>
                </a:solidFill>
                <a:latin typeface="Georgia"/>
                <a:cs typeface="Georgia"/>
              </a:rPr>
              <a:t>1</a:t>
            </a:r>
            <a:r>
              <a:rPr dirty="0" sz="1100">
                <a:latin typeface="Georgia"/>
                <a:cs typeface="Georgia"/>
              </a:rPr>
              <a:t>,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r>
              <a:rPr dirty="0" sz="1100" spc="-15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35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r>
              <a:rPr dirty="0" sz="1100" spc="-15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r>
              <a:rPr dirty="0" sz="1100" spc="2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Rn</a:t>
            </a:r>
            <a:r>
              <a:rPr dirty="0" sz="1100" spc="-9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35">
                <a:solidFill>
                  <a:srgbClr val="0000CC"/>
                </a:solidFill>
                <a:latin typeface="Lucida Sans Unicode"/>
                <a:cs typeface="Lucida Sans Unicode"/>
              </a:rPr>
              <a:t>−</a:t>
            </a:r>
            <a:r>
              <a:rPr dirty="0" sz="1100" spc="-105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15">
                <a:solidFill>
                  <a:srgbClr val="0000CC"/>
                </a:solidFill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89429"/>
            <a:ext cx="65265" cy="652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394293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927642"/>
            <a:ext cx="65265" cy="6526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3171710"/>
            <a:ext cx="65265" cy="65265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70067" y="503790"/>
            <a:ext cx="0" cy="2694305"/>
          </a:xfrm>
          <a:custGeom>
            <a:avLst/>
            <a:gdLst/>
            <a:ahLst/>
            <a:cxnLst/>
            <a:rect l="l" t="t" r="r" b="b"/>
            <a:pathLst>
              <a:path w="0" h="2694305">
                <a:moveTo>
                  <a:pt x="0" y="-11"/>
                </a:moveTo>
                <a:lnTo>
                  <a:pt x="0" y="-11"/>
                </a:lnTo>
                <a:lnTo>
                  <a:pt x="0" y="2643224"/>
                </a:lnTo>
                <a:lnTo>
                  <a:pt x="0" y="2694055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57473" y="504712"/>
            <a:ext cx="274955" cy="0"/>
          </a:xfrm>
          <a:custGeom>
            <a:avLst/>
            <a:gdLst/>
            <a:ahLst/>
            <a:cxnLst/>
            <a:rect l="l" t="t" r="r" b="b"/>
            <a:pathLst>
              <a:path w="274955" h="0">
                <a:moveTo>
                  <a:pt x="0" y="-1"/>
                </a:moveTo>
                <a:lnTo>
                  <a:pt x="54941" y="-1"/>
                </a:lnTo>
                <a:lnTo>
                  <a:pt x="109882" y="-1"/>
                </a:lnTo>
                <a:lnTo>
                  <a:pt x="164823" y="-1"/>
                </a:lnTo>
                <a:lnTo>
                  <a:pt x="219764" y="-1"/>
                </a:lnTo>
                <a:lnTo>
                  <a:pt x="274705" y="-1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2383604" y="432287"/>
            <a:ext cx="875030" cy="128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b="1">
                <a:solidFill>
                  <a:srgbClr val="831100"/>
                </a:solidFill>
                <a:latin typeface="Arial"/>
                <a:cs typeface="Arial"/>
              </a:rPr>
              <a:t>8-bit</a:t>
            </a:r>
            <a:r>
              <a:rPr dirty="0" sz="650" spc="60" b="1">
                <a:solidFill>
                  <a:srgbClr val="831100"/>
                </a:solidFill>
                <a:latin typeface="Arial"/>
                <a:cs typeface="Arial"/>
              </a:rPr>
              <a:t> </a:t>
            </a:r>
            <a:r>
              <a:rPr dirty="0" sz="650" spc="-10" b="1">
                <a:solidFill>
                  <a:srgbClr val="831100"/>
                </a:solidFill>
                <a:latin typeface="Arial"/>
                <a:cs typeface="Arial"/>
              </a:rPr>
              <a:t>Microprocessor</a:t>
            </a:r>
            <a:endParaRPr sz="6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  <p:sp>
        <p:nvSpPr>
          <p:cNvPr id="17" name="object 17" descr=""/>
          <p:cNvSpPr txBox="1"/>
          <p:nvPr/>
        </p:nvSpPr>
        <p:spPr>
          <a:xfrm>
            <a:off x="2633291" y="452649"/>
            <a:ext cx="696595" cy="742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750" marR="5080" indent="-19685">
              <a:lnSpc>
                <a:spcPct val="100000"/>
              </a:lnSpc>
              <a:spcBef>
                <a:spcPts val="95"/>
              </a:spcBef>
            </a:pPr>
            <a:r>
              <a:rPr dirty="0" sz="1500" spc="114">
                <a:solidFill>
                  <a:srgbClr val="FF2600"/>
                </a:solidFill>
                <a:latin typeface="Times New Roman"/>
                <a:cs typeface="Times New Roman"/>
              </a:rPr>
              <a:t>a=1000 </a:t>
            </a:r>
            <a:r>
              <a:rPr dirty="0" sz="1500" spc="105">
                <a:solidFill>
                  <a:srgbClr val="FF2600"/>
                </a:solidFill>
                <a:latin typeface="Times New Roman"/>
                <a:cs typeface="Times New Roman"/>
              </a:rPr>
              <a:t>a[4]=</a:t>
            </a:r>
            <a:endParaRPr sz="1500">
              <a:latin typeface="Times New Roman"/>
              <a:cs typeface="Times New Roman"/>
            </a:endParaRPr>
          </a:p>
          <a:p>
            <a:pPr marL="33020">
              <a:lnSpc>
                <a:spcPct val="100000"/>
              </a:lnSpc>
              <a:spcBef>
                <a:spcPts val="250"/>
              </a:spcBef>
            </a:pPr>
            <a:r>
              <a:rPr dirty="0" sz="1500" spc="75">
                <a:solidFill>
                  <a:srgbClr val="FF2600"/>
                </a:solidFill>
                <a:latin typeface="Times New Roman"/>
                <a:cs typeface="Times New Roman"/>
              </a:rPr>
              <a:t>b=a[i]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7969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Target</a:t>
            </a:r>
            <a:r>
              <a:rPr dirty="0" sz="600" spc="13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Simple</a:t>
            </a:r>
            <a:r>
              <a:rPr dirty="0" spc="85"/>
              <a:t> </a:t>
            </a:r>
            <a:r>
              <a:rPr dirty="0" spc="-20"/>
              <a:t>Target-</a:t>
            </a:r>
            <a:r>
              <a:rPr dirty="0" spc="-35"/>
              <a:t>Machine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57007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01088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45157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89238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00313" y="1111284"/>
            <a:ext cx="438784" cy="290830"/>
          </a:xfrm>
          <a:custGeom>
            <a:avLst/>
            <a:gdLst/>
            <a:ahLst/>
            <a:cxnLst/>
            <a:rect l="l" t="t" r="r" b="b"/>
            <a:pathLst>
              <a:path w="438784" h="290830">
                <a:moveTo>
                  <a:pt x="0" y="290542"/>
                </a:moveTo>
                <a:lnTo>
                  <a:pt x="43861" y="261488"/>
                </a:lnTo>
                <a:lnTo>
                  <a:pt x="87722" y="232434"/>
                </a:lnTo>
                <a:lnTo>
                  <a:pt x="131584" y="203380"/>
                </a:lnTo>
                <a:lnTo>
                  <a:pt x="394754" y="29056"/>
                </a:lnTo>
                <a:lnTo>
                  <a:pt x="438616" y="1"/>
                </a:lnTo>
              </a:path>
            </a:pathLst>
          </a:custGeom>
          <a:ln w="12699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25844" y="751709"/>
            <a:ext cx="4231640" cy="1546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4170">
              <a:lnSpc>
                <a:spcPct val="100000"/>
              </a:lnSpc>
              <a:spcBef>
                <a:spcPts val="95"/>
              </a:spcBef>
            </a:pPr>
            <a:r>
              <a:rPr dirty="0" sz="1500" spc="190">
                <a:solidFill>
                  <a:srgbClr val="FF2600"/>
                </a:solidFill>
                <a:latin typeface="Times New Roman"/>
                <a:cs typeface="Times New Roman"/>
              </a:rPr>
              <a:t>*a(r)</a:t>
            </a:r>
            <a:r>
              <a:rPr dirty="0" sz="1500" spc="15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dirty="0" sz="1500" spc="-110">
                <a:solidFill>
                  <a:srgbClr val="FF2600"/>
                </a:solidFill>
                <a:latin typeface="Times New Roman"/>
                <a:cs typeface="Times New Roman"/>
              </a:rPr>
              <a:t>=</a:t>
            </a:r>
            <a:r>
              <a:rPr dirty="0" sz="1500" spc="15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dirty="0" sz="1500" spc="150">
                <a:solidFill>
                  <a:srgbClr val="FF2600"/>
                </a:solidFill>
                <a:latin typeface="Times New Roman"/>
                <a:cs typeface="Times New Roman"/>
              </a:rPr>
              <a:t>contents(contents(a</a:t>
            </a:r>
            <a:r>
              <a:rPr dirty="0" sz="1500" spc="15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dirty="0" sz="1500" spc="-110">
                <a:solidFill>
                  <a:srgbClr val="FF2600"/>
                </a:solidFill>
                <a:latin typeface="Times New Roman"/>
                <a:cs typeface="Times New Roman"/>
              </a:rPr>
              <a:t>+</a:t>
            </a:r>
            <a:r>
              <a:rPr dirty="0" sz="1500" spc="20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dirty="0" sz="1500" spc="150">
                <a:solidFill>
                  <a:srgbClr val="FF2600"/>
                </a:solidFill>
                <a:latin typeface="Times New Roman"/>
                <a:cs typeface="Times New Roman"/>
              </a:rPr>
              <a:t>contents(r))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100" spc="-25" b="1">
                <a:latin typeface="Georgia"/>
                <a:cs typeface="Georgia"/>
              </a:rPr>
              <a:t>Addressing</a:t>
            </a:r>
            <a:r>
              <a:rPr dirty="0" sz="1100" spc="65" b="1">
                <a:latin typeface="Georgia"/>
                <a:cs typeface="Georgia"/>
              </a:rPr>
              <a:t> </a:t>
            </a:r>
            <a:r>
              <a:rPr dirty="0" sz="1100" spc="-10" b="1">
                <a:latin typeface="Georgia"/>
                <a:cs typeface="Georgia"/>
              </a:rPr>
              <a:t>modes: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 sz="1100" spc="-10">
                <a:latin typeface="Georgia"/>
                <a:cs typeface="Georgia"/>
              </a:rPr>
              <a:t>variable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name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605"/>
              </a:spcBef>
            </a:pPr>
            <a:r>
              <a:rPr dirty="0" sz="1100">
                <a:latin typeface="Georgia"/>
                <a:cs typeface="Georgia"/>
              </a:rPr>
              <a:t>a(r)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means: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-50" i="1">
                <a:latin typeface="Bookman Old Style"/>
                <a:cs typeface="Bookman Old Style"/>
              </a:rPr>
              <a:t>contents(a</a:t>
            </a:r>
            <a:r>
              <a:rPr dirty="0" sz="1100" spc="5" i="1">
                <a:latin typeface="Bookman Old Style"/>
                <a:cs typeface="Bookman Old Style"/>
              </a:rPr>
              <a:t> </a:t>
            </a:r>
            <a:r>
              <a:rPr dirty="0" sz="1100" spc="170" i="1">
                <a:latin typeface="Bookman Old Style"/>
                <a:cs typeface="Bookman Old Style"/>
              </a:rPr>
              <a:t>+</a:t>
            </a:r>
            <a:r>
              <a:rPr dirty="0" sz="1100" spc="5" i="1">
                <a:latin typeface="Bookman Old Style"/>
                <a:cs typeface="Bookman Old Style"/>
              </a:rPr>
              <a:t> </a:t>
            </a:r>
            <a:r>
              <a:rPr dirty="0" sz="1100" spc="-10" i="1">
                <a:latin typeface="Bookman Old Style"/>
                <a:cs typeface="Bookman Old Style"/>
              </a:rPr>
              <a:t>contents(r))</a:t>
            </a:r>
            <a:endParaRPr sz="1100">
              <a:latin typeface="Bookman Old Style"/>
              <a:cs typeface="Bookman Old Style"/>
            </a:endParaRPr>
          </a:p>
          <a:p>
            <a:pPr marL="289560">
              <a:lnSpc>
                <a:spcPct val="100000"/>
              </a:lnSpc>
              <a:spcBef>
                <a:spcPts val="600"/>
              </a:spcBef>
            </a:pPr>
            <a:r>
              <a:rPr dirty="0" sz="1100">
                <a:latin typeface="Georgia"/>
                <a:cs typeface="Georgia"/>
              </a:rPr>
              <a:t>*a(r)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means:</a:t>
            </a:r>
            <a:r>
              <a:rPr dirty="0" sz="1100" spc="180">
                <a:latin typeface="Georgia"/>
                <a:cs typeface="Georgia"/>
              </a:rPr>
              <a:t> </a:t>
            </a:r>
            <a:r>
              <a:rPr dirty="0" sz="1100" spc="-55" i="1">
                <a:latin typeface="Bookman Old Style"/>
                <a:cs typeface="Bookman Old Style"/>
              </a:rPr>
              <a:t>contents(contents(a</a:t>
            </a:r>
            <a:r>
              <a:rPr dirty="0" sz="1100" spc="30" i="1">
                <a:latin typeface="Bookman Old Style"/>
                <a:cs typeface="Bookman Old Style"/>
              </a:rPr>
              <a:t> </a:t>
            </a:r>
            <a:r>
              <a:rPr dirty="0" sz="1100" spc="170" i="1">
                <a:latin typeface="Bookman Old Style"/>
                <a:cs typeface="Bookman Old Style"/>
              </a:rPr>
              <a:t>+</a:t>
            </a:r>
            <a:r>
              <a:rPr dirty="0" sz="1100" spc="35" i="1">
                <a:latin typeface="Bookman Old Style"/>
                <a:cs typeface="Bookman Old Style"/>
              </a:rPr>
              <a:t> </a:t>
            </a:r>
            <a:r>
              <a:rPr dirty="0" sz="1100" spc="-10" i="1">
                <a:latin typeface="Bookman Old Style"/>
                <a:cs typeface="Bookman Old Style"/>
              </a:rPr>
              <a:t>contents(r)))</a:t>
            </a:r>
            <a:endParaRPr sz="1100">
              <a:latin typeface="Bookman Old Style"/>
              <a:cs typeface="Bookman Old Style"/>
            </a:endParaRPr>
          </a:p>
          <a:p>
            <a:pPr marL="289560">
              <a:lnSpc>
                <a:spcPct val="100000"/>
              </a:lnSpc>
              <a:spcBef>
                <a:spcPts val="600"/>
              </a:spcBef>
            </a:pPr>
            <a:r>
              <a:rPr dirty="0" sz="1100" spc="-25">
                <a:latin typeface="Georgia"/>
                <a:cs typeface="Georgia"/>
              </a:rPr>
              <a:t>immediate: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-35" i="1">
                <a:latin typeface="Bookman Old Style"/>
                <a:cs typeface="Bookman Old Style"/>
              </a:rPr>
              <a:t>#constant</a:t>
            </a:r>
            <a:r>
              <a:rPr dirty="0" sz="1100" spc="10" i="1">
                <a:latin typeface="Bookman Old Style"/>
                <a:cs typeface="Bookman Old Style"/>
              </a:rPr>
              <a:t> </a:t>
            </a:r>
            <a:r>
              <a:rPr dirty="0" sz="1100" i="1">
                <a:latin typeface="Bookman Old Style"/>
                <a:cs typeface="Bookman Old Style"/>
              </a:rPr>
              <a:t>(e.g.</a:t>
            </a:r>
            <a:r>
              <a:rPr dirty="0" sz="1100" spc="100" i="1">
                <a:latin typeface="Bookman Old Style"/>
                <a:cs typeface="Bookman Old Style"/>
              </a:rPr>
              <a:t> </a:t>
            </a:r>
            <a:r>
              <a:rPr dirty="0" sz="1100" i="1">
                <a:latin typeface="Bookman Old Style"/>
                <a:cs typeface="Bookman Old Style"/>
              </a:rPr>
              <a:t>LD</a:t>
            </a:r>
            <a:r>
              <a:rPr dirty="0" sz="1100" spc="5" i="1">
                <a:latin typeface="Bookman Old Style"/>
                <a:cs typeface="Bookman Old Style"/>
              </a:rPr>
              <a:t> </a:t>
            </a:r>
            <a:r>
              <a:rPr dirty="0" sz="1100" i="1">
                <a:latin typeface="Bookman Old Style"/>
                <a:cs typeface="Bookman Old Style"/>
              </a:rPr>
              <a:t>R1,</a:t>
            </a:r>
            <a:r>
              <a:rPr dirty="0" sz="1100" spc="10" i="1">
                <a:latin typeface="Bookman Old Style"/>
                <a:cs typeface="Bookman Old Style"/>
              </a:rPr>
              <a:t> </a:t>
            </a:r>
            <a:r>
              <a:rPr dirty="0" sz="1100" spc="-10" i="1">
                <a:latin typeface="Bookman Old Style"/>
                <a:cs typeface="Bookman Old Style"/>
              </a:rPr>
              <a:t>#100)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7969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Target</a:t>
            </a:r>
            <a:r>
              <a:rPr dirty="0" sz="600" spc="13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Cost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64437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02932" y="1203157"/>
            <a:ext cx="2912745" cy="1002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5600"/>
              </a:lnSpc>
              <a:spcBef>
                <a:spcPts val="100"/>
              </a:spcBef>
            </a:pPr>
            <a:r>
              <a:rPr dirty="0" sz="1100">
                <a:latin typeface="Georgia"/>
                <a:cs typeface="Georgia"/>
              </a:rPr>
              <a:t>cost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an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instruction</a:t>
            </a:r>
            <a:r>
              <a:rPr dirty="0" sz="1100" spc="315">
                <a:latin typeface="Georgia"/>
                <a:cs typeface="Georgia"/>
              </a:rPr>
              <a:t> </a:t>
            </a:r>
            <a:r>
              <a:rPr dirty="0" sz="1100" spc="125">
                <a:solidFill>
                  <a:srgbClr val="0000CC"/>
                </a:solidFill>
                <a:latin typeface="Georgia"/>
                <a:cs typeface="Georgia"/>
              </a:rPr>
              <a:t>=</a:t>
            </a:r>
            <a:r>
              <a:rPr dirty="0" sz="1100" spc="310">
                <a:solidFill>
                  <a:srgbClr val="0000CC"/>
                </a:solidFill>
                <a:latin typeface="Georgia"/>
                <a:cs typeface="Georgia"/>
              </a:rPr>
              <a:t> </a:t>
            </a:r>
            <a:r>
              <a:rPr dirty="0" sz="1100" spc="65">
                <a:solidFill>
                  <a:srgbClr val="0000CC"/>
                </a:solidFill>
                <a:latin typeface="Georgia"/>
                <a:cs typeface="Georgia"/>
              </a:rPr>
              <a:t>1</a:t>
            </a:r>
            <a:r>
              <a:rPr dirty="0" sz="1100" spc="260">
                <a:solidFill>
                  <a:srgbClr val="0000CC"/>
                </a:solidFill>
                <a:latin typeface="Georgia"/>
                <a:cs typeface="Georgia"/>
              </a:rPr>
              <a:t> </a:t>
            </a:r>
            <a:r>
              <a:rPr dirty="0" sz="1100" spc="125">
                <a:solidFill>
                  <a:srgbClr val="0000CC"/>
                </a:solidFill>
                <a:latin typeface="Georgia"/>
                <a:cs typeface="Georgia"/>
              </a:rPr>
              <a:t>+</a:t>
            </a:r>
            <a:r>
              <a:rPr dirty="0" sz="1100" spc="265">
                <a:solidFill>
                  <a:srgbClr val="0000CC"/>
                </a:solidFill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cost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operands </a:t>
            </a:r>
            <a:r>
              <a:rPr dirty="0" sz="1100">
                <a:latin typeface="Georgia"/>
                <a:cs typeface="Georgia"/>
              </a:rPr>
              <a:t>cost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register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operand</a:t>
            </a:r>
            <a:r>
              <a:rPr dirty="0" sz="1100" spc="285">
                <a:latin typeface="Georgia"/>
                <a:cs typeface="Georgia"/>
              </a:rPr>
              <a:t> </a:t>
            </a:r>
            <a:r>
              <a:rPr dirty="0" sz="1100" spc="125">
                <a:solidFill>
                  <a:srgbClr val="0000CC"/>
                </a:solidFill>
                <a:latin typeface="Georgia"/>
                <a:cs typeface="Georgia"/>
              </a:rPr>
              <a:t>=</a:t>
            </a:r>
            <a:r>
              <a:rPr dirty="0" sz="1100" spc="280">
                <a:solidFill>
                  <a:srgbClr val="0000CC"/>
                </a:solidFill>
                <a:latin typeface="Georgia"/>
                <a:cs typeface="Georgia"/>
              </a:rPr>
              <a:t> </a:t>
            </a:r>
            <a:r>
              <a:rPr dirty="0" sz="1100" spc="-50">
                <a:solidFill>
                  <a:srgbClr val="0000CC"/>
                </a:solidFill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  <a:p>
            <a:pPr marL="12700" marR="100330">
              <a:lnSpc>
                <a:spcPct val="145600"/>
              </a:lnSpc>
            </a:pPr>
            <a:r>
              <a:rPr dirty="0" sz="1100">
                <a:latin typeface="Georgia"/>
                <a:cs typeface="Georgia"/>
              </a:rPr>
              <a:t>cost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involving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memory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and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constants</a:t>
            </a:r>
            <a:r>
              <a:rPr dirty="0" sz="1100" spc="280">
                <a:latin typeface="Georgia"/>
                <a:cs typeface="Georgia"/>
              </a:rPr>
              <a:t> </a:t>
            </a:r>
            <a:r>
              <a:rPr dirty="0" sz="1100" spc="125">
                <a:solidFill>
                  <a:srgbClr val="0000CC"/>
                </a:solidFill>
                <a:latin typeface="Georgia"/>
                <a:cs typeface="Georgia"/>
              </a:rPr>
              <a:t>=</a:t>
            </a:r>
            <a:r>
              <a:rPr dirty="0" sz="1100" spc="285">
                <a:solidFill>
                  <a:srgbClr val="0000CC"/>
                </a:solidFill>
                <a:latin typeface="Georgia"/>
                <a:cs typeface="Georgia"/>
              </a:rPr>
              <a:t> </a:t>
            </a:r>
            <a:r>
              <a:rPr dirty="0" sz="1100" spc="15">
                <a:solidFill>
                  <a:srgbClr val="0000CC"/>
                </a:solidFill>
                <a:latin typeface="Georgia"/>
                <a:cs typeface="Georgia"/>
              </a:rPr>
              <a:t>1 </a:t>
            </a:r>
            <a:r>
              <a:rPr dirty="0" sz="1100">
                <a:latin typeface="Georgia"/>
                <a:cs typeface="Georgia"/>
              </a:rPr>
              <a:t>cost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program</a:t>
            </a:r>
            <a:r>
              <a:rPr dirty="0" sz="1100" spc="270">
                <a:latin typeface="Georgia"/>
                <a:cs typeface="Georgia"/>
              </a:rPr>
              <a:t> </a:t>
            </a:r>
            <a:r>
              <a:rPr dirty="0" sz="1100" spc="125">
                <a:solidFill>
                  <a:srgbClr val="0000CC"/>
                </a:solidFill>
                <a:latin typeface="Georgia"/>
                <a:cs typeface="Georgia"/>
              </a:rPr>
              <a:t>=</a:t>
            </a:r>
            <a:r>
              <a:rPr dirty="0" sz="1100" spc="275">
                <a:solidFill>
                  <a:srgbClr val="0000CC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sum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costs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08505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52587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096655"/>
            <a:ext cx="65265" cy="65265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7969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Target</a:t>
            </a:r>
            <a:r>
              <a:rPr dirty="0" sz="600" spc="13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5300" y="182179"/>
            <a:ext cx="1964689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 b="1">
                <a:solidFill>
                  <a:srgbClr val="00688A"/>
                </a:solidFill>
                <a:latin typeface="Georgia"/>
                <a:cs typeface="Georgia"/>
              </a:rPr>
              <a:t>Example:</a:t>
            </a:r>
            <a:r>
              <a:rPr dirty="0" sz="1400" spc="30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400" i="1">
                <a:solidFill>
                  <a:srgbClr val="0000CC"/>
                </a:solidFill>
                <a:latin typeface="Bookman Old Style"/>
                <a:cs typeface="Bookman Old Style"/>
              </a:rPr>
              <a:t>x</a:t>
            </a:r>
            <a:r>
              <a:rPr dirty="0" sz="1400" spc="45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400" spc="150">
                <a:solidFill>
                  <a:srgbClr val="0000CC"/>
                </a:solidFill>
                <a:latin typeface="Garamond"/>
                <a:cs typeface="Garamond"/>
              </a:rPr>
              <a:t>=</a:t>
            </a:r>
            <a:r>
              <a:rPr dirty="0" sz="1400" spc="85">
                <a:solidFill>
                  <a:srgbClr val="0000CC"/>
                </a:solidFill>
                <a:latin typeface="Garamond"/>
                <a:cs typeface="Garamond"/>
              </a:rPr>
              <a:t>  </a:t>
            </a:r>
            <a:r>
              <a:rPr dirty="0" sz="1400" i="1">
                <a:solidFill>
                  <a:srgbClr val="0000CC"/>
                </a:solidFill>
                <a:latin typeface="Bookman Old Style"/>
                <a:cs typeface="Bookman Old Style"/>
              </a:rPr>
              <a:t>y</a:t>
            </a:r>
            <a:r>
              <a:rPr dirty="0" sz="1400" spc="42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400">
                <a:solidFill>
                  <a:srgbClr val="0000CC"/>
                </a:solidFill>
                <a:latin typeface="Lucida Sans Unicode"/>
                <a:cs typeface="Lucida Sans Unicode"/>
              </a:rPr>
              <a:t>−</a:t>
            </a:r>
            <a:r>
              <a:rPr dirty="0" sz="1400" spc="345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 i="1">
                <a:solidFill>
                  <a:srgbClr val="0000CC"/>
                </a:solidFill>
                <a:latin typeface="Bookman Old Style"/>
                <a:cs typeface="Bookman Old Style"/>
              </a:rPr>
              <a:t>z</a:t>
            </a:r>
            <a:endParaRPr sz="1400">
              <a:latin typeface="Bookman Old Style"/>
              <a:cs typeface="Bookman Old Style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20496" y="1296104"/>
          <a:ext cx="3443604" cy="915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4565"/>
                <a:gridCol w="1175385"/>
                <a:gridCol w="1222375"/>
              </a:tblGrid>
              <a:tr h="207010">
                <a:tc>
                  <a:txBody>
                    <a:bodyPr/>
                    <a:lstStyle/>
                    <a:p>
                      <a:pPr marL="78105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Georgia"/>
                          <a:cs typeface="Georgia"/>
                        </a:rPr>
                        <a:t>Code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310"/>
                        </a:lnSpc>
                      </a:pPr>
                      <a:r>
                        <a:rPr dirty="0" sz="1100" spc="-10">
                          <a:latin typeface="Georgia"/>
                          <a:cs typeface="Georgia"/>
                        </a:rPr>
                        <a:t>Instructions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310"/>
                        </a:lnSpc>
                      </a:pPr>
                      <a:r>
                        <a:rPr dirty="0" sz="1100" spc="-10">
                          <a:latin typeface="Georgia"/>
                          <a:cs typeface="Georgia"/>
                        </a:rPr>
                        <a:t>Notes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10">
                          <a:latin typeface="Georgia"/>
                          <a:cs typeface="Georgia"/>
                        </a:rPr>
                        <a:t>Effects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8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24460">
                        <a:lnSpc>
                          <a:spcPct val="100000"/>
                        </a:lnSpc>
                      </a:pPr>
                      <a:r>
                        <a:rPr dirty="0" sz="110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dirty="0" sz="1100" spc="29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dirty="0" sz="1100" spc="1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=</a:t>
                      </a:r>
                      <a:r>
                        <a:rPr dirty="0" sz="1100" spc="35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y</a:t>
                      </a:r>
                      <a:r>
                        <a:rPr dirty="0" sz="1100" spc="27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dirty="0" sz="1100">
                          <a:solidFill>
                            <a:srgbClr val="0000CC"/>
                          </a:solidFill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100" spc="225">
                          <a:solidFill>
                            <a:srgbClr val="0000CC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5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z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B="0" marT="958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506730">
                        <a:lnSpc>
                          <a:spcPts val="135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Cambria"/>
                          <a:cs typeface="Cambria"/>
                        </a:rPr>
                        <a:t>LD</a:t>
                      </a:r>
                      <a:r>
                        <a:rPr dirty="0" sz="1100" spc="2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60">
                          <a:latin typeface="Cambria"/>
                          <a:cs typeface="Cambria"/>
                        </a:rPr>
                        <a:t>R1,</a:t>
                      </a:r>
                      <a:r>
                        <a:rPr dirty="0" sz="1100" spc="2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50">
                          <a:latin typeface="Cambria"/>
                          <a:cs typeface="Cambria"/>
                        </a:rPr>
                        <a:t>y</a:t>
                      </a:r>
                      <a:r>
                        <a:rPr dirty="0" sz="1100">
                          <a:latin typeface="Cambria"/>
                          <a:cs typeface="Cambria"/>
                        </a:rPr>
                        <a:t> LD</a:t>
                      </a:r>
                      <a:r>
                        <a:rPr dirty="0" sz="1100" spc="2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60">
                          <a:latin typeface="Cambria"/>
                          <a:cs typeface="Cambria"/>
                        </a:rPr>
                        <a:t>R2,</a:t>
                      </a:r>
                      <a:r>
                        <a:rPr dirty="0" sz="1100" spc="2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20">
                          <a:latin typeface="Cambria"/>
                          <a:cs typeface="Cambria"/>
                        </a:rPr>
                        <a:t>z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78105" marR="70485">
                        <a:lnSpc>
                          <a:spcPts val="1350"/>
                        </a:lnSpc>
                        <a:spcBef>
                          <a:spcPts val="10"/>
                        </a:spcBef>
                      </a:pPr>
                      <a:r>
                        <a:rPr dirty="0" sz="1100" spc="-20">
                          <a:latin typeface="Cambria"/>
                          <a:cs typeface="Cambria"/>
                        </a:rPr>
                        <a:t>SUB</a:t>
                      </a:r>
                      <a:r>
                        <a:rPr dirty="0" sz="1100" spc="2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60">
                          <a:latin typeface="Cambria"/>
                          <a:cs typeface="Cambria"/>
                        </a:rPr>
                        <a:t>R1,</a:t>
                      </a:r>
                      <a:r>
                        <a:rPr dirty="0" sz="1100" spc="2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60">
                          <a:latin typeface="Cambria"/>
                          <a:cs typeface="Cambria"/>
                        </a:rPr>
                        <a:t>R1,</a:t>
                      </a:r>
                      <a:r>
                        <a:rPr dirty="0" sz="1100" spc="2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60">
                          <a:latin typeface="Cambria"/>
                          <a:cs typeface="Cambria"/>
                        </a:rPr>
                        <a:t>R2</a:t>
                      </a:r>
                      <a:r>
                        <a:rPr dirty="0" sz="1100">
                          <a:latin typeface="Cambria"/>
                          <a:cs typeface="Cambria"/>
                        </a:rPr>
                        <a:t> ST</a:t>
                      </a:r>
                      <a:r>
                        <a:rPr dirty="0" sz="1100" spc="2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190">
                          <a:latin typeface="Cambria"/>
                          <a:cs typeface="Cambria"/>
                        </a:rPr>
                        <a:t>x,</a:t>
                      </a:r>
                      <a:r>
                        <a:rPr dirty="0" sz="1100" spc="2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>
                          <a:latin typeface="Cambria"/>
                          <a:cs typeface="Cambria"/>
                        </a:rPr>
                        <a:t>R1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615315">
                        <a:lnSpc>
                          <a:spcPts val="1350"/>
                        </a:lnSpc>
                        <a:spcBef>
                          <a:spcPts val="5"/>
                        </a:spcBef>
                      </a:pPr>
                      <a:r>
                        <a:rPr dirty="0" sz="1100" spc="5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dirty="0" sz="1100" spc="5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1100" spc="40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=</a:t>
                      </a:r>
                      <a:r>
                        <a:rPr dirty="0" sz="1100" spc="40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13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y</a:t>
                      </a:r>
                      <a:r>
                        <a:rPr dirty="0" sz="110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 R</a:t>
                      </a:r>
                      <a:r>
                        <a:rPr dirty="0" sz="110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2</a:t>
                      </a:r>
                      <a:r>
                        <a:rPr dirty="0" sz="1100" spc="38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=</a:t>
                      </a:r>
                      <a:r>
                        <a:rPr dirty="0" sz="1100" spc="39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5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z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  <a:p>
                      <a:pPr marL="78105" marR="70485">
                        <a:lnSpc>
                          <a:spcPts val="1350"/>
                        </a:lnSpc>
                        <a:spcBef>
                          <a:spcPts val="10"/>
                        </a:spcBef>
                      </a:pPr>
                      <a:r>
                        <a:rPr dirty="0" sz="1100" spc="5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dirty="0" sz="1100" spc="5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1100" spc="39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=</a:t>
                      </a:r>
                      <a:r>
                        <a:rPr dirty="0" sz="1100" spc="39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5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dirty="0" sz="1100" spc="5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1100" spc="33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>
                          <a:solidFill>
                            <a:srgbClr val="0000CC"/>
                          </a:solidFill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100" spc="254">
                          <a:solidFill>
                            <a:srgbClr val="0000CC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2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dirty="0" sz="1100" spc="-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2 </a:t>
                      </a:r>
                      <a:r>
                        <a:rPr dirty="0" sz="110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dirty="0" sz="1100" spc="34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dirty="0" sz="1100" spc="1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=</a:t>
                      </a:r>
                      <a:r>
                        <a:rPr dirty="0" sz="1100" spc="40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3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dirty="0" sz="1100" spc="3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17733" y="1746567"/>
            <a:ext cx="1287145" cy="271780"/>
          </a:xfrm>
          <a:custGeom>
            <a:avLst/>
            <a:gdLst/>
            <a:ahLst/>
            <a:cxnLst/>
            <a:rect l="l" t="t" r="r" b="b"/>
            <a:pathLst>
              <a:path w="1287145" h="271780">
                <a:moveTo>
                  <a:pt x="1286753" y="135876"/>
                </a:moveTo>
                <a:lnTo>
                  <a:pt x="1249245" y="90051"/>
                </a:lnTo>
                <a:lnTo>
                  <a:pt x="1186587" y="63034"/>
                </a:lnTo>
                <a:lnTo>
                  <a:pt x="1145411" y="50892"/>
                </a:lnTo>
                <a:lnTo>
                  <a:pt x="1098313" y="39797"/>
                </a:lnTo>
                <a:lnTo>
                  <a:pt x="1045776" y="29850"/>
                </a:lnTo>
                <a:lnTo>
                  <a:pt x="988283" y="21154"/>
                </a:lnTo>
                <a:lnTo>
                  <a:pt x="926318" y="13810"/>
                </a:lnTo>
                <a:lnTo>
                  <a:pt x="860361" y="7921"/>
                </a:lnTo>
                <a:lnTo>
                  <a:pt x="790897" y="3588"/>
                </a:lnTo>
                <a:lnTo>
                  <a:pt x="718408" y="913"/>
                </a:lnTo>
                <a:lnTo>
                  <a:pt x="643377" y="0"/>
                </a:lnTo>
                <a:lnTo>
                  <a:pt x="568345" y="913"/>
                </a:lnTo>
                <a:lnTo>
                  <a:pt x="495856" y="3588"/>
                </a:lnTo>
                <a:lnTo>
                  <a:pt x="426392" y="7921"/>
                </a:lnTo>
                <a:lnTo>
                  <a:pt x="360436" y="13810"/>
                </a:lnTo>
                <a:lnTo>
                  <a:pt x="298470" y="21154"/>
                </a:lnTo>
                <a:lnTo>
                  <a:pt x="240977" y="29850"/>
                </a:lnTo>
                <a:lnTo>
                  <a:pt x="188440" y="39797"/>
                </a:lnTo>
                <a:lnTo>
                  <a:pt x="141342" y="50892"/>
                </a:lnTo>
                <a:lnTo>
                  <a:pt x="100165" y="63034"/>
                </a:lnTo>
                <a:lnTo>
                  <a:pt x="37507" y="90051"/>
                </a:lnTo>
                <a:lnTo>
                  <a:pt x="4328" y="120030"/>
                </a:lnTo>
                <a:lnTo>
                  <a:pt x="0" y="135876"/>
                </a:lnTo>
                <a:lnTo>
                  <a:pt x="4328" y="151722"/>
                </a:lnTo>
                <a:lnTo>
                  <a:pt x="37507" y="181702"/>
                </a:lnTo>
                <a:lnTo>
                  <a:pt x="100165" y="208719"/>
                </a:lnTo>
                <a:lnTo>
                  <a:pt x="141342" y="220861"/>
                </a:lnTo>
                <a:lnTo>
                  <a:pt x="188440" y="231957"/>
                </a:lnTo>
                <a:lnTo>
                  <a:pt x="240977" y="241903"/>
                </a:lnTo>
                <a:lnTo>
                  <a:pt x="298470" y="250600"/>
                </a:lnTo>
                <a:lnTo>
                  <a:pt x="360436" y="257943"/>
                </a:lnTo>
                <a:lnTo>
                  <a:pt x="426392" y="263833"/>
                </a:lnTo>
                <a:lnTo>
                  <a:pt x="495856" y="268166"/>
                </a:lnTo>
                <a:lnTo>
                  <a:pt x="568345" y="270840"/>
                </a:lnTo>
                <a:lnTo>
                  <a:pt x="643377" y="271754"/>
                </a:lnTo>
                <a:lnTo>
                  <a:pt x="718408" y="270840"/>
                </a:lnTo>
                <a:lnTo>
                  <a:pt x="790897" y="268166"/>
                </a:lnTo>
                <a:lnTo>
                  <a:pt x="860361" y="263833"/>
                </a:lnTo>
                <a:lnTo>
                  <a:pt x="926318" y="257943"/>
                </a:lnTo>
                <a:lnTo>
                  <a:pt x="988283" y="250600"/>
                </a:lnTo>
                <a:lnTo>
                  <a:pt x="1045776" y="241903"/>
                </a:lnTo>
                <a:lnTo>
                  <a:pt x="1098313" y="231957"/>
                </a:lnTo>
                <a:lnTo>
                  <a:pt x="1145411" y="220861"/>
                </a:lnTo>
                <a:lnTo>
                  <a:pt x="1186587" y="208719"/>
                </a:lnTo>
                <a:lnTo>
                  <a:pt x="1249245" y="181702"/>
                </a:lnTo>
                <a:lnTo>
                  <a:pt x="1282425" y="151722"/>
                </a:lnTo>
                <a:lnTo>
                  <a:pt x="1286753" y="135876"/>
                </a:lnTo>
                <a:close/>
              </a:path>
            </a:pathLst>
          </a:custGeom>
          <a:ln w="12699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7969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Target</a:t>
            </a:r>
            <a:r>
              <a:rPr dirty="0" sz="600" spc="13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5300" y="182179"/>
            <a:ext cx="165735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 b="1">
                <a:solidFill>
                  <a:srgbClr val="00688A"/>
                </a:solidFill>
                <a:latin typeface="Georgia"/>
                <a:cs typeface="Georgia"/>
              </a:rPr>
              <a:t>Example:</a:t>
            </a:r>
            <a:r>
              <a:rPr dirty="0" sz="1400" spc="23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400" i="1">
                <a:solidFill>
                  <a:srgbClr val="0000CC"/>
                </a:solidFill>
                <a:latin typeface="Bookman Old Style"/>
                <a:cs typeface="Bookman Old Style"/>
              </a:rPr>
              <a:t>b</a:t>
            </a:r>
            <a:r>
              <a:rPr dirty="0" sz="1400" spc="36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400" spc="150">
                <a:solidFill>
                  <a:srgbClr val="0000CC"/>
                </a:solidFill>
                <a:latin typeface="Garamond"/>
                <a:cs typeface="Garamond"/>
              </a:rPr>
              <a:t>=</a:t>
            </a:r>
            <a:r>
              <a:rPr dirty="0" sz="1400" spc="425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400" spc="-20" i="1">
                <a:solidFill>
                  <a:srgbClr val="0000CC"/>
                </a:solidFill>
                <a:latin typeface="Bookman Old Style"/>
                <a:cs typeface="Bookman Old Style"/>
              </a:rPr>
              <a:t>a</a:t>
            </a:r>
            <a:r>
              <a:rPr dirty="0" sz="1400" spc="-20">
                <a:solidFill>
                  <a:srgbClr val="0000CC"/>
                </a:solidFill>
                <a:latin typeface="Garamond"/>
                <a:cs typeface="Garamond"/>
              </a:rPr>
              <a:t>[</a:t>
            </a:r>
            <a:r>
              <a:rPr dirty="0" sz="1400" spc="-20" i="1">
                <a:solidFill>
                  <a:srgbClr val="0000CC"/>
                </a:solidFill>
                <a:latin typeface="Bookman Old Style"/>
                <a:cs typeface="Bookman Old Style"/>
              </a:rPr>
              <a:t>i</a:t>
            </a:r>
            <a:r>
              <a:rPr dirty="0" sz="1400" spc="-20">
                <a:solidFill>
                  <a:srgbClr val="0000CC"/>
                </a:solidFill>
                <a:latin typeface="Garamond"/>
                <a:cs typeface="Garamond"/>
              </a:rPr>
              <a:t>]</a:t>
            </a:r>
            <a:endParaRPr sz="1400">
              <a:latin typeface="Garamond"/>
              <a:cs typeface="Garamond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90766" y="1296104"/>
          <a:ext cx="4302760" cy="915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7870"/>
                <a:gridCol w="1102995"/>
                <a:gridCol w="2381885"/>
              </a:tblGrid>
              <a:tr h="207010">
                <a:tc>
                  <a:txBody>
                    <a:bodyPr/>
                    <a:lstStyle/>
                    <a:p>
                      <a:pPr marL="78105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Georgia"/>
                          <a:cs typeface="Georgia"/>
                        </a:rPr>
                        <a:t>Code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310"/>
                        </a:lnSpc>
                      </a:pPr>
                      <a:r>
                        <a:rPr dirty="0" sz="1100" spc="-10">
                          <a:latin typeface="Georgia"/>
                          <a:cs typeface="Georgia"/>
                        </a:rPr>
                        <a:t>Instructions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310"/>
                        </a:lnSpc>
                      </a:pPr>
                      <a:r>
                        <a:rPr dirty="0" sz="1100" spc="-10">
                          <a:latin typeface="Georgia"/>
                          <a:cs typeface="Georgia"/>
                        </a:rPr>
                        <a:t>Notes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10">
                          <a:latin typeface="Georgia"/>
                          <a:cs typeface="Georgia"/>
                        </a:rPr>
                        <a:t>Effects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8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24460">
                        <a:lnSpc>
                          <a:spcPct val="100000"/>
                        </a:lnSpc>
                      </a:pPr>
                      <a:r>
                        <a:rPr dirty="0" sz="110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dirty="0" sz="1100" spc="229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dirty="0" sz="1100" spc="1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=</a:t>
                      </a:r>
                      <a:r>
                        <a:rPr dirty="0" sz="1100" spc="29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2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dirty="0" sz="1100" spc="-2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[</a:t>
                      </a:r>
                      <a:r>
                        <a:rPr dirty="0" sz="1100" spc="-2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dirty="0" sz="1100" spc="-2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58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310"/>
                        </a:lnSpc>
                      </a:pPr>
                      <a:r>
                        <a:rPr dirty="0" sz="1100">
                          <a:latin typeface="Cambria"/>
                          <a:cs typeface="Cambria"/>
                        </a:rPr>
                        <a:t>LD</a:t>
                      </a:r>
                      <a:r>
                        <a:rPr dirty="0" sz="1100" spc="2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60">
                          <a:latin typeface="Cambria"/>
                          <a:cs typeface="Cambria"/>
                        </a:rPr>
                        <a:t>R1,</a:t>
                      </a:r>
                      <a:r>
                        <a:rPr dirty="0" sz="1100" spc="2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220">
                          <a:latin typeface="Cambria"/>
                          <a:cs typeface="Cambria"/>
                        </a:rPr>
                        <a:t>i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78105" marR="70485">
                        <a:lnSpc>
                          <a:spcPct val="102600"/>
                        </a:lnSpc>
                      </a:pPr>
                      <a:r>
                        <a:rPr dirty="0" sz="1100" spc="-105">
                          <a:latin typeface="Cambria"/>
                          <a:cs typeface="Cambria"/>
                        </a:rPr>
                        <a:t>MUL</a:t>
                      </a:r>
                      <a:r>
                        <a:rPr dirty="0" sz="1100" spc="2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60">
                          <a:latin typeface="Cambria"/>
                          <a:cs typeface="Cambria"/>
                        </a:rPr>
                        <a:t>R1,</a:t>
                      </a:r>
                      <a:r>
                        <a:rPr dirty="0" sz="1100" spc="2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60">
                          <a:latin typeface="Cambria"/>
                          <a:cs typeface="Cambria"/>
                        </a:rPr>
                        <a:t>R1,</a:t>
                      </a:r>
                      <a:r>
                        <a:rPr dirty="0" sz="1100" spc="2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50">
                          <a:latin typeface="Cambria"/>
                          <a:cs typeface="Cambria"/>
                        </a:rPr>
                        <a:t>8</a:t>
                      </a:r>
                      <a:r>
                        <a:rPr dirty="0" sz="1100">
                          <a:latin typeface="Cambria"/>
                          <a:cs typeface="Cambria"/>
                        </a:rPr>
                        <a:t> LD</a:t>
                      </a:r>
                      <a:r>
                        <a:rPr dirty="0" sz="1100" spc="2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60">
                          <a:latin typeface="Cambria"/>
                          <a:cs typeface="Cambria"/>
                        </a:rPr>
                        <a:t>R2,</a:t>
                      </a:r>
                      <a:r>
                        <a:rPr dirty="0" sz="1100" spc="2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>
                          <a:latin typeface="Cambria"/>
                          <a:cs typeface="Cambria"/>
                        </a:rPr>
                        <a:t>a(R1) </a:t>
                      </a:r>
                      <a:r>
                        <a:rPr dirty="0" sz="1100">
                          <a:latin typeface="Cambria"/>
                          <a:cs typeface="Cambria"/>
                        </a:rPr>
                        <a:t>ST</a:t>
                      </a:r>
                      <a:r>
                        <a:rPr dirty="0" sz="1100" spc="2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155">
                          <a:latin typeface="Cambria"/>
                          <a:cs typeface="Cambria"/>
                        </a:rPr>
                        <a:t>b,</a:t>
                      </a:r>
                      <a:r>
                        <a:rPr dirty="0" sz="1100" spc="2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>
                          <a:latin typeface="Cambria"/>
                          <a:cs typeface="Cambria"/>
                        </a:rPr>
                        <a:t>R2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310"/>
                        </a:lnSpc>
                      </a:pPr>
                      <a:r>
                        <a:rPr dirty="0" sz="1100" spc="5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dirty="0" sz="1100" spc="5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1100" spc="40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=</a:t>
                      </a:r>
                      <a:r>
                        <a:rPr dirty="0" sz="1100" spc="40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i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 spc="5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dirty="0" sz="1100" spc="5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1100" spc="40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=</a:t>
                      </a:r>
                      <a:r>
                        <a:rPr dirty="0" sz="1100" spc="40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5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dirty="0" sz="1100" spc="5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1100" spc="34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335">
                          <a:solidFill>
                            <a:srgbClr val="0000CC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dirty="0" sz="1100" spc="265">
                          <a:solidFill>
                            <a:srgbClr val="0000CC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5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8</a:t>
                      </a:r>
                      <a:endParaRPr sz="1100">
                        <a:latin typeface="Georgia"/>
                        <a:cs typeface="Georgia"/>
                      </a:endParaRPr>
                    </a:p>
                    <a:p>
                      <a:pPr marL="78105" marR="70485">
                        <a:lnSpc>
                          <a:spcPct val="102600"/>
                        </a:lnSpc>
                      </a:pPr>
                      <a:r>
                        <a:rPr dirty="0" sz="110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dirty="0" sz="110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2</a:t>
                      </a:r>
                      <a:r>
                        <a:rPr dirty="0" sz="1100" spc="36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=</a:t>
                      </a:r>
                      <a:r>
                        <a:rPr dirty="0" sz="1100" spc="36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3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contents</a:t>
                      </a:r>
                      <a:r>
                        <a:rPr dirty="0" sz="1100" spc="-3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(</a:t>
                      </a:r>
                      <a:r>
                        <a:rPr dirty="0" sz="1100" spc="-3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dirty="0" sz="1100" spc="24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dirty="0" sz="1100" spc="1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+</a:t>
                      </a:r>
                      <a:r>
                        <a:rPr dirty="0" sz="1100" spc="30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1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contents</a:t>
                      </a:r>
                      <a:r>
                        <a:rPr dirty="0" sz="1100" spc="-1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(</a:t>
                      </a:r>
                      <a:r>
                        <a:rPr dirty="0" sz="1100" spc="-1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dirty="0" sz="1100" spc="-1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1)) </a:t>
                      </a:r>
                      <a:r>
                        <a:rPr dirty="0" sz="110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dirty="0" sz="1100" spc="229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dirty="0" sz="1100" spc="1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=</a:t>
                      </a:r>
                      <a:r>
                        <a:rPr dirty="0" sz="1100" spc="29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2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dirty="0" sz="1100" spc="-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457223" y="178963"/>
            <a:ext cx="407670" cy="314325"/>
          </a:xfrm>
          <a:custGeom>
            <a:avLst/>
            <a:gdLst/>
            <a:ahLst/>
            <a:cxnLst/>
            <a:rect l="l" t="t" r="r" b="b"/>
            <a:pathLst>
              <a:path w="407669" h="314325">
                <a:moveTo>
                  <a:pt x="403902" y="103312"/>
                </a:moveTo>
                <a:lnTo>
                  <a:pt x="386206" y="65886"/>
                </a:lnTo>
                <a:lnTo>
                  <a:pt x="356546" y="35943"/>
                </a:lnTo>
                <a:lnTo>
                  <a:pt x="317207" y="14381"/>
                </a:lnTo>
                <a:lnTo>
                  <a:pt x="270477" y="2100"/>
                </a:lnTo>
                <a:lnTo>
                  <a:pt x="218643" y="0"/>
                </a:lnTo>
                <a:lnTo>
                  <a:pt x="163990" y="8978"/>
                </a:lnTo>
                <a:lnTo>
                  <a:pt x="112171" y="28529"/>
                </a:lnTo>
                <a:lnTo>
                  <a:pt x="68331" y="56266"/>
                </a:lnTo>
                <a:lnTo>
                  <a:pt x="34002" y="90266"/>
                </a:lnTo>
                <a:lnTo>
                  <a:pt x="10714" y="128609"/>
                </a:lnTo>
                <a:lnTo>
                  <a:pt x="0" y="169370"/>
                </a:lnTo>
                <a:lnTo>
                  <a:pt x="3388" y="210630"/>
                </a:lnTo>
                <a:lnTo>
                  <a:pt x="21083" y="248055"/>
                </a:lnTo>
                <a:lnTo>
                  <a:pt x="50743" y="277998"/>
                </a:lnTo>
                <a:lnTo>
                  <a:pt x="90081" y="299560"/>
                </a:lnTo>
                <a:lnTo>
                  <a:pt x="136811" y="311841"/>
                </a:lnTo>
                <a:lnTo>
                  <a:pt x="188646" y="313942"/>
                </a:lnTo>
                <a:lnTo>
                  <a:pt x="243299" y="304964"/>
                </a:lnTo>
                <a:lnTo>
                  <a:pt x="295118" y="285413"/>
                </a:lnTo>
                <a:lnTo>
                  <a:pt x="338958" y="257676"/>
                </a:lnTo>
                <a:lnTo>
                  <a:pt x="373287" y="223675"/>
                </a:lnTo>
                <a:lnTo>
                  <a:pt x="396575" y="185332"/>
                </a:lnTo>
                <a:lnTo>
                  <a:pt x="407290" y="144571"/>
                </a:lnTo>
                <a:lnTo>
                  <a:pt x="403902" y="103312"/>
                </a:lnTo>
                <a:close/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2085323" y="574261"/>
            <a:ext cx="178435" cy="128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-20" b="1">
                <a:solidFill>
                  <a:srgbClr val="831100"/>
                </a:solidFill>
                <a:latin typeface="Arial"/>
                <a:cs typeface="Arial"/>
              </a:rPr>
              <a:t>a[4]</a:t>
            </a:r>
            <a:endParaRPr sz="6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7969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Target</a:t>
            </a:r>
            <a:r>
              <a:rPr dirty="0" sz="600" spc="13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5300" y="182179"/>
            <a:ext cx="159956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365250" algn="l"/>
              </a:tabLst>
            </a:pPr>
            <a:r>
              <a:rPr dirty="0" sz="1400" b="1">
                <a:solidFill>
                  <a:srgbClr val="00688A"/>
                </a:solidFill>
                <a:latin typeface="Georgia"/>
                <a:cs typeface="Georgia"/>
              </a:rPr>
              <a:t>Example:</a:t>
            </a:r>
            <a:r>
              <a:rPr dirty="0" sz="1400" i="1">
                <a:solidFill>
                  <a:srgbClr val="0000CC"/>
                </a:solidFill>
                <a:latin typeface="Bookman Old Style"/>
                <a:cs typeface="Bookman Old Style"/>
              </a:rPr>
              <a:t>x</a:t>
            </a:r>
            <a:r>
              <a:rPr dirty="0" sz="1400" spc="29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400" spc="100">
                <a:solidFill>
                  <a:srgbClr val="0000CC"/>
                </a:solidFill>
                <a:latin typeface="Garamond"/>
                <a:cs typeface="Garamond"/>
              </a:rPr>
              <a:t>=</a:t>
            </a:r>
            <a:r>
              <a:rPr dirty="0" sz="1400">
                <a:solidFill>
                  <a:srgbClr val="0000CC"/>
                </a:solidFill>
                <a:latin typeface="Garamond"/>
                <a:cs typeface="Garamond"/>
              </a:rPr>
              <a:t>	</a:t>
            </a:r>
            <a:r>
              <a:rPr dirty="0" sz="1400" spc="-405">
                <a:solidFill>
                  <a:srgbClr val="0000CC"/>
                </a:solidFill>
                <a:latin typeface="Lucida Sans Unicode"/>
                <a:cs typeface="Lucida Sans Unicode"/>
              </a:rPr>
              <a:t>∗</a:t>
            </a:r>
            <a:r>
              <a:rPr dirty="0" sz="1400" spc="-125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75" i="1">
                <a:solidFill>
                  <a:srgbClr val="0000CC"/>
                </a:solidFill>
                <a:latin typeface="Bookman Old Style"/>
                <a:cs typeface="Bookman Old Style"/>
              </a:rPr>
              <a:t>p</a:t>
            </a:r>
            <a:endParaRPr sz="1400">
              <a:latin typeface="Bookman Old Style"/>
              <a:cs typeface="Bookman Old Style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217944" y="1364926"/>
          <a:ext cx="4248785" cy="74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0095"/>
                <a:gridCol w="1029969"/>
                <a:gridCol w="2377440"/>
              </a:tblGrid>
              <a:tr h="207010">
                <a:tc>
                  <a:txBody>
                    <a:bodyPr/>
                    <a:lstStyle/>
                    <a:p>
                      <a:pPr marL="78105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Georgia"/>
                          <a:cs typeface="Georgia"/>
                        </a:rPr>
                        <a:t>Code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310"/>
                        </a:lnSpc>
                      </a:pPr>
                      <a:r>
                        <a:rPr dirty="0" sz="1100" spc="-10">
                          <a:latin typeface="Georgia"/>
                          <a:cs typeface="Georgia"/>
                        </a:rPr>
                        <a:t>Instructions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310"/>
                        </a:lnSpc>
                      </a:pPr>
                      <a:r>
                        <a:rPr dirty="0" sz="1100" spc="-10">
                          <a:latin typeface="Georgia"/>
                          <a:cs typeface="Georgia"/>
                        </a:rPr>
                        <a:t>Notes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10">
                          <a:latin typeface="Georgia"/>
                          <a:cs typeface="Georgia"/>
                        </a:rPr>
                        <a:t>Effects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24460">
                        <a:lnSpc>
                          <a:spcPct val="100000"/>
                        </a:lnSpc>
                      </a:pPr>
                      <a:r>
                        <a:rPr dirty="0" sz="110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dirty="0" sz="1100" spc="33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dirty="0" sz="1100" spc="1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=</a:t>
                      </a:r>
                      <a:r>
                        <a:rPr dirty="0" sz="1100" spc="19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 </a:t>
                      </a:r>
                      <a:r>
                        <a:rPr dirty="0" sz="1100" spc="-335">
                          <a:solidFill>
                            <a:srgbClr val="0000CC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dirty="0" sz="1100" spc="-100">
                          <a:solidFill>
                            <a:srgbClr val="0000CC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5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p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B="0" marT="95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310"/>
                        </a:lnSpc>
                      </a:pPr>
                      <a:r>
                        <a:rPr dirty="0" sz="1100">
                          <a:latin typeface="Cambria"/>
                          <a:cs typeface="Cambria"/>
                        </a:rPr>
                        <a:t>LD</a:t>
                      </a:r>
                      <a:r>
                        <a:rPr dirty="0" sz="1100" spc="2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60">
                          <a:latin typeface="Cambria"/>
                          <a:cs typeface="Cambria"/>
                        </a:rPr>
                        <a:t>R1,</a:t>
                      </a:r>
                      <a:r>
                        <a:rPr dirty="0" sz="1100" spc="2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50">
                          <a:latin typeface="Cambria"/>
                          <a:cs typeface="Cambria"/>
                        </a:rPr>
                        <a:t>p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78105" marR="70485">
                        <a:lnSpc>
                          <a:spcPct val="102600"/>
                        </a:lnSpc>
                      </a:pPr>
                      <a:r>
                        <a:rPr dirty="0" sz="1100">
                          <a:latin typeface="Cambria"/>
                          <a:cs typeface="Cambria"/>
                        </a:rPr>
                        <a:t>LD</a:t>
                      </a:r>
                      <a:r>
                        <a:rPr dirty="0" sz="1100" spc="2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60">
                          <a:latin typeface="Cambria"/>
                          <a:cs typeface="Cambria"/>
                        </a:rPr>
                        <a:t>R2,</a:t>
                      </a:r>
                      <a:r>
                        <a:rPr dirty="0" sz="1100" spc="2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>
                          <a:latin typeface="Cambria"/>
                          <a:cs typeface="Cambria"/>
                        </a:rPr>
                        <a:t>0(R1) </a:t>
                      </a:r>
                      <a:r>
                        <a:rPr dirty="0" sz="1100">
                          <a:latin typeface="Cambria"/>
                          <a:cs typeface="Cambria"/>
                        </a:rPr>
                        <a:t>ST</a:t>
                      </a:r>
                      <a:r>
                        <a:rPr dirty="0" sz="1100" spc="2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190">
                          <a:latin typeface="Cambria"/>
                          <a:cs typeface="Cambria"/>
                        </a:rPr>
                        <a:t>x,</a:t>
                      </a:r>
                      <a:r>
                        <a:rPr dirty="0" sz="1100" spc="2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>
                          <a:latin typeface="Cambria"/>
                          <a:cs typeface="Cambria"/>
                        </a:rPr>
                        <a:t>R2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310"/>
                        </a:lnSpc>
                      </a:pPr>
                      <a:r>
                        <a:rPr dirty="0" sz="1100" spc="5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dirty="0" sz="1100" spc="5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1100" spc="40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=</a:t>
                      </a:r>
                      <a:r>
                        <a:rPr dirty="0" sz="1100" spc="40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5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p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  <a:p>
                      <a:pPr marL="78105" marR="70485">
                        <a:lnSpc>
                          <a:spcPct val="102600"/>
                        </a:lnSpc>
                      </a:pPr>
                      <a:r>
                        <a:rPr dirty="0" sz="110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dirty="0" sz="110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2</a:t>
                      </a:r>
                      <a:r>
                        <a:rPr dirty="0" sz="1100" spc="35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=</a:t>
                      </a:r>
                      <a:r>
                        <a:rPr dirty="0" sz="1100" spc="36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3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contents</a:t>
                      </a:r>
                      <a:r>
                        <a:rPr dirty="0" sz="1100" spc="-3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(0</a:t>
                      </a:r>
                      <a:r>
                        <a:rPr dirty="0" sz="1100" spc="30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+</a:t>
                      </a:r>
                      <a:r>
                        <a:rPr dirty="0" sz="1100" spc="30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1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contents</a:t>
                      </a:r>
                      <a:r>
                        <a:rPr dirty="0" sz="1100" spc="-1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(</a:t>
                      </a:r>
                      <a:r>
                        <a:rPr dirty="0" sz="1100" spc="-1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dirty="0" sz="1100" spc="-10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1)) </a:t>
                      </a:r>
                      <a:r>
                        <a:rPr dirty="0" sz="110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dirty="0" sz="1100" spc="340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dirty="0" sz="1100" spc="1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=</a:t>
                      </a:r>
                      <a:r>
                        <a:rPr dirty="0" sz="1100" spc="40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2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dirty="0" sz="1100" spc="-25">
                          <a:solidFill>
                            <a:srgbClr val="0000CC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12145" y="1936408"/>
            <a:ext cx="62865" cy="13335"/>
          </a:xfrm>
          <a:custGeom>
            <a:avLst/>
            <a:gdLst/>
            <a:ahLst/>
            <a:cxnLst/>
            <a:rect l="l" t="t" r="r" b="b"/>
            <a:pathLst>
              <a:path w="62865" h="13335">
                <a:moveTo>
                  <a:pt x="0" y="0"/>
                </a:moveTo>
                <a:lnTo>
                  <a:pt x="0" y="0"/>
                </a:lnTo>
                <a:lnTo>
                  <a:pt x="40478" y="0"/>
                </a:lnTo>
                <a:lnTo>
                  <a:pt x="43681" y="57"/>
                </a:lnTo>
                <a:lnTo>
                  <a:pt x="53195" y="635"/>
                </a:lnTo>
                <a:lnTo>
                  <a:pt x="52859" y="750"/>
                </a:lnTo>
                <a:lnTo>
                  <a:pt x="51554" y="865"/>
                </a:lnTo>
                <a:lnTo>
                  <a:pt x="50249" y="981"/>
                </a:lnTo>
                <a:lnTo>
                  <a:pt x="47605" y="1038"/>
                </a:lnTo>
                <a:lnTo>
                  <a:pt x="43622" y="1038"/>
                </a:lnTo>
                <a:lnTo>
                  <a:pt x="39638" y="1038"/>
                </a:lnTo>
                <a:lnTo>
                  <a:pt x="37257" y="1090"/>
                </a:lnTo>
                <a:lnTo>
                  <a:pt x="36475" y="1193"/>
                </a:lnTo>
                <a:lnTo>
                  <a:pt x="35694" y="1296"/>
                </a:lnTo>
                <a:lnTo>
                  <a:pt x="36017" y="1452"/>
                </a:lnTo>
                <a:lnTo>
                  <a:pt x="37445" y="1662"/>
                </a:lnTo>
                <a:lnTo>
                  <a:pt x="38872" y="1871"/>
                </a:lnTo>
                <a:lnTo>
                  <a:pt x="41545" y="2187"/>
                </a:lnTo>
                <a:lnTo>
                  <a:pt x="45462" y="2610"/>
                </a:lnTo>
                <a:lnTo>
                  <a:pt x="49379" y="3033"/>
                </a:lnTo>
                <a:lnTo>
                  <a:pt x="62690" y="5268"/>
                </a:lnTo>
                <a:lnTo>
                  <a:pt x="62400" y="5396"/>
                </a:lnTo>
                <a:lnTo>
                  <a:pt x="61159" y="5351"/>
                </a:lnTo>
                <a:lnTo>
                  <a:pt x="59917" y="5307"/>
                </a:lnTo>
                <a:lnTo>
                  <a:pt x="57659" y="5150"/>
                </a:lnTo>
                <a:lnTo>
                  <a:pt x="54383" y="4880"/>
                </a:lnTo>
                <a:lnTo>
                  <a:pt x="51106" y="4610"/>
                </a:lnTo>
                <a:lnTo>
                  <a:pt x="48011" y="4349"/>
                </a:lnTo>
                <a:lnTo>
                  <a:pt x="45097" y="4096"/>
                </a:lnTo>
                <a:lnTo>
                  <a:pt x="42183" y="3844"/>
                </a:lnTo>
                <a:lnTo>
                  <a:pt x="27142" y="3199"/>
                </a:lnTo>
                <a:lnTo>
                  <a:pt x="24091" y="3094"/>
                </a:lnTo>
                <a:lnTo>
                  <a:pt x="21068" y="2910"/>
                </a:lnTo>
                <a:lnTo>
                  <a:pt x="18072" y="2648"/>
                </a:lnTo>
                <a:lnTo>
                  <a:pt x="15076" y="2385"/>
                </a:lnTo>
                <a:lnTo>
                  <a:pt x="13140" y="2403"/>
                </a:lnTo>
                <a:lnTo>
                  <a:pt x="12263" y="2704"/>
                </a:lnTo>
                <a:lnTo>
                  <a:pt x="11386" y="3004"/>
                </a:lnTo>
                <a:lnTo>
                  <a:pt x="11583" y="3487"/>
                </a:lnTo>
                <a:lnTo>
                  <a:pt x="12854" y="4153"/>
                </a:lnTo>
                <a:lnTo>
                  <a:pt x="14126" y="4819"/>
                </a:lnTo>
                <a:lnTo>
                  <a:pt x="16365" y="5642"/>
                </a:lnTo>
                <a:lnTo>
                  <a:pt x="19572" y="6622"/>
                </a:lnTo>
                <a:lnTo>
                  <a:pt x="22779" y="7602"/>
                </a:lnTo>
                <a:lnTo>
                  <a:pt x="26003" y="8388"/>
                </a:lnTo>
                <a:lnTo>
                  <a:pt x="29243" y="8979"/>
                </a:lnTo>
                <a:lnTo>
                  <a:pt x="32484" y="9571"/>
                </a:lnTo>
                <a:lnTo>
                  <a:pt x="35604" y="10120"/>
                </a:lnTo>
                <a:lnTo>
                  <a:pt x="38603" y="10626"/>
                </a:lnTo>
                <a:lnTo>
                  <a:pt x="41603" y="11132"/>
                </a:lnTo>
                <a:lnTo>
                  <a:pt x="44548" y="11648"/>
                </a:lnTo>
                <a:lnTo>
                  <a:pt x="47441" y="12173"/>
                </a:lnTo>
                <a:lnTo>
                  <a:pt x="51780" y="12962"/>
                </a:lnTo>
              </a:path>
            </a:pathLst>
          </a:custGeom>
          <a:ln w="12701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583449" y="1896195"/>
            <a:ext cx="288925" cy="18415"/>
          </a:xfrm>
          <a:custGeom>
            <a:avLst/>
            <a:gdLst/>
            <a:ahLst/>
            <a:cxnLst/>
            <a:rect l="l" t="t" r="r" b="b"/>
            <a:pathLst>
              <a:path w="288925" h="18414">
                <a:moveTo>
                  <a:pt x="1" y="18136"/>
                </a:moveTo>
                <a:lnTo>
                  <a:pt x="80243" y="8060"/>
                </a:lnTo>
                <a:lnTo>
                  <a:pt x="147627" y="2014"/>
                </a:lnTo>
                <a:lnTo>
                  <a:pt x="202154" y="0"/>
                </a:lnTo>
                <a:lnTo>
                  <a:pt x="243824" y="2014"/>
                </a:lnTo>
                <a:lnTo>
                  <a:pt x="272636" y="8060"/>
                </a:lnTo>
                <a:lnTo>
                  <a:pt x="288591" y="18136"/>
                </a:lnTo>
              </a:path>
            </a:pathLst>
          </a:custGeom>
          <a:ln w="12700">
            <a:solidFill>
              <a:srgbClr val="77BB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14357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Basic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Blocks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Flow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Graphs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69469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Outline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30" y="1198905"/>
            <a:ext cx="155092" cy="155092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4675" y="1195144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F9FBFC"/>
                </a:solidFill>
                <a:latin typeface="Comic Sans MS"/>
                <a:cs typeface="Comic Sans MS"/>
              </a:rPr>
              <a:t>1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9890" y="1166963"/>
            <a:ext cx="8312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Design</a:t>
            </a:r>
            <a:r>
              <a:rPr dirty="0" sz="1100" spc="1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Issues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830" y="1725155"/>
            <a:ext cx="155092" cy="15509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4675" y="1721394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F9FBFC"/>
                </a:solidFill>
                <a:latin typeface="Comic Sans MS"/>
                <a:cs typeface="Comic Sans MS"/>
              </a:rPr>
              <a:t>2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89890" y="1693213"/>
            <a:ext cx="10483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CCCCCC"/>
                </a:solidFill>
                <a:latin typeface="Georgia"/>
                <a:cs typeface="Georgia"/>
                <a:hlinkClick r:id="rId6" action="ppaction://hlinksldjump"/>
              </a:rPr>
              <a:t>Target</a:t>
            </a:r>
            <a:r>
              <a:rPr dirty="0" sz="1100" spc="30">
                <a:solidFill>
                  <a:srgbClr val="CCCCCC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Georgia"/>
                <a:cs typeface="Georgia"/>
                <a:hlinkClick r:id="rId6" action="ppaction://hlinksldjump"/>
              </a:rPr>
              <a:t>Language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830" y="2251405"/>
            <a:ext cx="155092" cy="155092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24675" y="2247644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E5EFF3"/>
                </a:solidFill>
                <a:latin typeface="Comic Sans MS"/>
                <a:cs typeface="Comic Sans MS"/>
              </a:rPr>
              <a:t>3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89890" y="2219463"/>
            <a:ext cx="18859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  <a:hlinkClick r:id="rId2" action="ppaction://hlinksldjump"/>
              </a:rPr>
              <a:t>Basic</a:t>
            </a:r>
            <a:r>
              <a:rPr dirty="0" sz="1100" spc="10"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1100">
                <a:latin typeface="Georgia"/>
                <a:cs typeface="Georgia"/>
                <a:hlinkClick r:id="rId2" action="ppaction://hlinksldjump"/>
              </a:rPr>
              <a:t>Blocks</a:t>
            </a:r>
            <a:r>
              <a:rPr dirty="0" sz="1100" spc="10"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1100"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1100" spc="15"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1100">
                <a:latin typeface="Georgia"/>
                <a:cs typeface="Georgia"/>
                <a:hlinkClick r:id="rId2" action="ppaction://hlinksldjump"/>
              </a:rPr>
              <a:t>Flow</a:t>
            </a:r>
            <a:r>
              <a:rPr dirty="0" sz="1100" spc="10"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1100" spc="-10">
                <a:latin typeface="Georgia"/>
                <a:cs typeface="Georgia"/>
                <a:hlinkClick r:id="rId2" action="ppaction://hlinksldjump"/>
              </a:rPr>
              <a:t>Graphs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14357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Basic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Blocks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Flow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Graphs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40957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Idea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413328"/>
            <a:ext cx="114214" cy="1142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45770" y="1399951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538" y="1821020"/>
            <a:ext cx="91371" cy="9137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1538" y="1972848"/>
            <a:ext cx="91371" cy="9137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02932" y="1359216"/>
            <a:ext cx="3218815" cy="72834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10" b="1">
                <a:solidFill>
                  <a:srgbClr val="00688A"/>
                </a:solidFill>
                <a:latin typeface="Georgia"/>
                <a:cs typeface="Georgia"/>
              </a:rPr>
              <a:t>Basic</a:t>
            </a:r>
            <a:r>
              <a:rPr dirty="0" sz="1100" spc="40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-20" b="1">
                <a:solidFill>
                  <a:srgbClr val="00688A"/>
                </a:solidFill>
                <a:latin typeface="Georgia"/>
                <a:cs typeface="Georgia"/>
              </a:rPr>
              <a:t>Blocks</a:t>
            </a:r>
            <a:r>
              <a:rPr dirty="0" sz="1100" spc="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are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maximal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sequences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consecutive </a:t>
            </a:r>
            <a:r>
              <a:rPr dirty="0" sz="1100" spc="-35">
                <a:latin typeface="Georgia"/>
                <a:cs typeface="Georgia"/>
              </a:rPr>
              <a:t>three-</a:t>
            </a:r>
            <a:r>
              <a:rPr dirty="0" sz="1100" spc="-20">
                <a:latin typeface="Georgia"/>
                <a:cs typeface="Georgia"/>
              </a:rPr>
              <a:t>address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instructions,</a:t>
            </a:r>
            <a:endParaRPr sz="1100">
              <a:latin typeface="Georgia"/>
              <a:cs typeface="Georgia"/>
            </a:endParaRPr>
          </a:p>
          <a:p>
            <a:pPr marL="137795">
              <a:lnSpc>
                <a:spcPts val="1200"/>
              </a:lnSpc>
              <a:spcBef>
                <a:spcPts val="475"/>
              </a:spcBef>
            </a:pPr>
            <a:r>
              <a:rPr dirty="0" baseline="4629" sz="900" spc="165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dirty="0" baseline="4629" sz="900" spc="70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control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flow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can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only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enter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through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first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instruction,</a:t>
            </a:r>
            <a:endParaRPr sz="1000">
              <a:latin typeface="Georgia"/>
              <a:cs typeface="Georgia"/>
            </a:endParaRPr>
          </a:p>
          <a:p>
            <a:pPr marL="137795">
              <a:lnSpc>
                <a:spcPts val="1200"/>
              </a:lnSpc>
            </a:pPr>
            <a:r>
              <a:rPr dirty="0" baseline="4629" sz="90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dirty="0" baseline="4629" sz="900" spc="742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control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flow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can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only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leave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from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last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instruction.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14357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Basic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Blocks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Flow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Graphs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Basic</a:t>
            </a:r>
            <a:r>
              <a:rPr dirty="0" spc="20"/>
              <a:t> </a:t>
            </a:r>
            <a:r>
              <a:rPr dirty="0" spc="-25"/>
              <a:t>Blocks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3082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374889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618957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035111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2262873"/>
            <a:ext cx="52590" cy="5259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865" y="2486710"/>
            <a:ext cx="52590" cy="5259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402932" y="969554"/>
            <a:ext cx="2630170" cy="1610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8419">
              <a:lnSpc>
                <a:spcPct val="145600"/>
              </a:lnSpc>
              <a:spcBef>
                <a:spcPts val="100"/>
              </a:spcBef>
            </a:pPr>
            <a:r>
              <a:rPr dirty="0" sz="1100">
                <a:latin typeface="Georgia"/>
                <a:cs typeface="Georgia"/>
              </a:rPr>
              <a:t>Graph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presentation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intermediate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code Nodes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graph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are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called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basic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blocks</a:t>
            </a:r>
            <a:endParaRPr sz="1100">
              <a:latin typeface="Georgia"/>
              <a:cs typeface="Georgia"/>
            </a:endParaRPr>
          </a:p>
          <a:p>
            <a:pPr marL="12700" marR="116839">
              <a:lnSpc>
                <a:spcPct val="102600"/>
              </a:lnSpc>
              <a:spcBef>
                <a:spcPts val="570"/>
              </a:spcBef>
            </a:pPr>
            <a:r>
              <a:rPr dirty="0" sz="1100" spc="-10">
                <a:latin typeface="Georgia"/>
                <a:cs typeface="Georgia"/>
              </a:rPr>
              <a:t>Edges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indicate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which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block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follows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which </a:t>
            </a:r>
            <a:r>
              <a:rPr dirty="0" sz="1100">
                <a:latin typeface="Georgia"/>
                <a:cs typeface="Georgia"/>
              </a:rPr>
              <a:t>other</a:t>
            </a:r>
            <a:r>
              <a:rPr dirty="0" sz="1100" spc="-10">
                <a:latin typeface="Georgia"/>
                <a:cs typeface="Georgia"/>
              </a:rPr>
              <a:t> block.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graph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is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useful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for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doing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better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job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in:</a:t>
            </a:r>
            <a:endParaRPr sz="1100">
              <a:latin typeface="Georgia"/>
              <a:cs typeface="Georgia"/>
            </a:endParaRPr>
          </a:p>
          <a:p>
            <a:pPr marL="289560" marR="1209040">
              <a:lnSpc>
                <a:spcPts val="1760"/>
              </a:lnSpc>
              <a:spcBef>
                <a:spcPts val="15"/>
              </a:spcBef>
            </a:pPr>
            <a:r>
              <a:rPr dirty="0" sz="1000" spc="-10">
                <a:latin typeface="Georgia"/>
                <a:cs typeface="Georgia"/>
              </a:rPr>
              <a:t>Register</a:t>
            </a:r>
            <a:r>
              <a:rPr dirty="0" sz="1000" spc="2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allocation Instruction</a:t>
            </a:r>
            <a:r>
              <a:rPr dirty="0" sz="1000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selection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14357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Basic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Blocks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Flow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Graphs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Algorithm:</a:t>
            </a:r>
            <a:r>
              <a:rPr dirty="0" spc="150"/>
              <a:t> </a:t>
            </a:r>
            <a:r>
              <a:rPr dirty="0" spc="-30"/>
              <a:t>Determine</a:t>
            </a:r>
            <a:r>
              <a:rPr dirty="0" spc="20"/>
              <a:t> </a:t>
            </a:r>
            <a:r>
              <a:rPr dirty="0"/>
              <a:t>Basic</a:t>
            </a:r>
            <a:r>
              <a:rPr dirty="0" spc="25"/>
              <a:t> </a:t>
            </a:r>
            <a:r>
              <a:rPr dirty="0" spc="-10"/>
              <a:t>Blocks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254241" y="829650"/>
            <a:ext cx="4227830" cy="655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9385">
              <a:lnSpc>
                <a:spcPct val="125299"/>
              </a:lnSpc>
              <a:spcBef>
                <a:spcPts val="100"/>
              </a:spcBef>
            </a:pPr>
            <a:r>
              <a:rPr dirty="0" sz="1100" b="1">
                <a:solidFill>
                  <a:srgbClr val="00688A"/>
                </a:solidFill>
                <a:latin typeface="Georgia"/>
                <a:cs typeface="Georgia"/>
              </a:rPr>
              <a:t>Input:</a:t>
            </a:r>
            <a:r>
              <a:rPr dirty="0" sz="1100" spc="160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A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(numbered)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sequence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three-</a:t>
            </a:r>
            <a:r>
              <a:rPr dirty="0" sz="1100" spc="-25">
                <a:latin typeface="Georgia"/>
                <a:cs typeface="Georgia"/>
              </a:rPr>
              <a:t>address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instructions. </a:t>
            </a:r>
            <a:r>
              <a:rPr dirty="0" sz="1100" b="1">
                <a:solidFill>
                  <a:srgbClr val="00688A"/>
                </a:solidFill>
                <a:latin typeface="Georgia"/>
                <a:cs typeface="Georgia"/>
              </a:rPr>
              <a:t>Output:</a:t>
            </a:r>
            <a:r>
              <a:rPr dirty="0" sz="1100" spc="165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A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mapping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from</a:t>
            </a:r>
            <a:r>
              <a:rPr dirty="0" sz="1100">
                <a:latin typeface="Georgia"/>
                <a:cs typeface="Georgia"/>
              </a:rPr>
              <a:t> the </a:t>
            </a:r>
            <a:r>
              <a:rPr dirty="0" sz="1100" spc="-10">
                <a:latin typeface="Georgia"/>
                <a:cs typeface="Georgia"/>
              </a:rPr>
              <a:t>instruction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(numbers)</a:t>
            </a:r>
            <a:r>
              <a:rPr dirty="0" sz="1100">
                <a:latin typeface="Georgia"/>
                <a:cs typeface="Georgia"/>
              </a:rPr>
              <a:t> to basic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blocks. </a:t>
            </a:r>
            <a:r>
              <a:rPr dirty="0" sz="1100" b="1">
                <a:solidFill>
                  <a:srgbClr val="00688A"/>
                </a:solidFill>
                <a:latin typeface="Georgia"/>
                <a:cs typeface="Georgia"/>
              </a:rPr>
              <a:t>Method:</a:t>
            </a:r>
            <a:r>
              <a:rPr dirty="0" sz="1100" spc="150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Generate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set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leaders.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952" y="1582950"/>
            <a:ext cx="114214" cy="114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035037" y="1569572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92212" y="1528837"/>
            <a:ext cx="3007995" cy="7080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7747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25" b="1">
                <a:latin typeface="Georgia"/>
                <a:cs typeface="Georgia"/>
              </a:rPr>
              <a:t>first</a:t>
            </a:r>
            <a:r>
              <a:rPr dirty="0" sz="1100" spc="20" b="1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in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sequence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is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Georgia"/>
                <a:cs typeface="Georgia"/>
              </a:rPr>
              <a:t>leader</a:t>
            </a:r>
            <a:r>
              <a:rPr dirty="0" sz="1100" spc="-10">
                <a:latin typeface="Georgia"/>
                <a:cs typeface="Georgia"/>
              </a:rPr>
              <a:t>. </a:t>
            </a:r>
            <a:r>
              <a:rPr dirty="0" sz="1100">
                <a:latin typeface="Georgia"/>
                <a:cs typeface="Georgia"/>
              </a:rPr>
              <a:t>Any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that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is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target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branch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is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a </a:t>
            </a:r>
            <a:r>
              <a:rPr dirty="0" sz="1100" spc="-10">
                <a:solidFill>
                  <a:srgbClr val="FF0000"/>
                </a:solidFill>
                <a:latin typeface="Georgia"/>
                <a:cs typeface="Georgia"/>
              </a:rPr>
              <a:t>leader</a:t>
            </a:r>
            <a:r>
              <a:rPr dirty="0" sz="1100" spc="-1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Georgia"/>
                <a:cs typeface="Georgia"/>
              </a:rPr>
              <a:t>Any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instruction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that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follows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branch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is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Georgia"/>
                <a:cs typeface="Georgia"/>
              </a:rPr>
              <a:t>leader</a:t>
            </a:r>
            <a:r>
              <a:rPr dirty="0" sz="1100" spc="-1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6952" y="1755022"/>
            <a:ext cx="114214" cy="11421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035037" y="1741645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6952" y="2099179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035037" y="2085802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15123" y="2280398"/>
            <a:ext cx="3338829" cy="535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Georgia"/>
                <a:cs typeface="Georgia"/>
              </a:rPr>
              <a:t>Now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create a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basic block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per </a:t>
            </a:r>
            <a:r>
              <a:rPr dirty="0" sz="1100" spc="-10">
                <a:latin typeface="Georgia"/>
                <a:cs typeface="Georgia"/>
              </a:rPr>
              <a:t>leader,</a:t>
            </a:r>
            <a:r>
              <a:rPr dirty="0" sz="1100">
                <a:latin typeface="Georgia"/>
                <a:cs typeface="Georgia"/>
              </a:rPr>
              <a:t> and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associate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the </a:t>
            </a:r>
            <a:r>
              <a:rPr dirty="0" sz="1100" spc="-10">
                <a:latin typeface="Georgia"/>
                <a:cs typeface="Georgia"/>
              </a:rPr>
              <a:t>leader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with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it.</a:t>
            </a:r>
            <a:r>
              <a:rPr dirty="0" sz="1100" spc="1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Associate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all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non-</a:t>
            </a:r>
            <a:r>
              <a:rPr dirty="0" sz="1100" spc="-20">
                <a:latin typeface="Georgia"/>
                <a:cs typeface="Georgia"/>
              </a:rPr>
              <a:t>leaders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with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basic </a:t>
            </a:r>
            <a:r>
              <a:rPr dirty="0" sz="1100">
                <a:latin typeface="Georgia"/>
                <a:cs typeface="Georgia"/>
              </a:rPr>
              <a:t>block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nearest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proceeding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leader.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14357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Basic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Blocks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Flow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Graphs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Example:</a:t>
            </a:r>
            <a:r>
              <a:rPr dirty="0" spc="305"/>
              <a:t> </a:t>
            </a:r>
            <a:r>
              <a:rPr dirty="0" b="0">
                <a:solidFill>
                  <a:srgbClr val="0000CC"/>
                </a:solidFill>
                <a:latin typeface="Garamond"/>
                <a:cs typeface="Garamond"/>
              </a:rPr>
              <a:t>10</a:t>
            </a:r>
            <a:r>
              <a:rPr dirty="0" spc="450" b="0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b="0">
                <a:solidFill>
                  <a:srgbClr val="0000CC"/>
                </a:solidFill>
                <a:latin typeface="Lucida Sans Unicode"/>
                <a:cs typeface="Lucida Sans Unicode"/>
              </a:rPr>
              <a:t>×</a:t>
            </a:r>
            <a:r>
              <a:rPr dirty="0" spc="350" b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dirty="0" b="0">
                <a:solidFill>
                  <a:srgbClr val="0000CC"/>
                </a:solidFill>
                <a:latin typeface="Garamond"/>
                <a:cs typeface="Garamond"/>
              </a:rPr>
              <a:t>10</a:t>
            </a:r>
            <a:r>
              <a:rPr dirty="0" spc="150" b="0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/>
              <a:t>Identity</a:t>
            </a:r>
            <a:r>
              <a:rPr dirty="0" spc="140"/>
              <a:t> </a:t>
            </a:r>
            <a:r>
              <a:rPr dirty="0" spc="-10"/>
              <a:t>Matrix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714713" y="1475649"/>
            <a:ext cx="10756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a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-120">
                <a:latin typeface="Georgia"/>
                <a:cs typeface="Georgia"/>
              </a:rPr>
              <a:t>[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</a:t>
            </a:r>
            <a:r>
              <a:rPr dirty="0" sz="1100" spc="114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,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j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434">
                <a:latin typeface="Georgia"/>
                <a:cs typeface="Georgia"/>
              </a:rPr>
              <a:t> </a:t>
            </a:r>
            <a:r>
              <a:rPr dirty="0" sz="1100" spc="125">
                <a:latin typeface="Georgia"/>
                <a:cs typeface="Georgia"/>
              </a:rPr>
              <a:t>=</a:t>
            </a:r>
            <a:r>
              <a:rPr dirty="0" sz="1100" spc="445">
                <a:latin typeface="Georgia"/>
                <a:cs typeface="Georgia"/>
              </a:rPr>
              <a:t> </a:t>
            </a:r>
            <a:r>
              <a:rPr dirty="0" sz="1100" spc="-135">
                <a:latin typeface="Georgia"/>
                <a:cs typeface="Georgia"/>
              </a:rPr>
              <a:t>0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.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135">
                <a:latin typeface="Georgia"/>
                <a:cs typeface="Georgia"/>
              </a:rPr>
              <a:t>0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;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-6692" y="959432"/>
            <a:ext cx="1979930" cy="1396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90"/>
              </a:spcBef>
              <a:buFont typeface="Georgia"/>
              <a:buAutoNum type="arabicPlain"/>
              <a:tabLst>
                <a:tab pos="241935" algn="l"/>
              </a:tabLst>
            </a:pPr>
            <a:r>
              <a:rPr dirty="0" sz="1100" b="1">
                <a:latin typeface="Georgia"/>
                <a:cs typeface="Georgia"/>
              </a:rPr>
              <a:t>for</a:t>
            </a:r>
            <a:r>
              <a:rPr dirty="0" sz="1100" spc="190" b="1">
                <a:latin typeface="Georgia"/>
                <a:cs typeface="Georgia"/>
              </a:rPr>
              <a:t>  </a:t>
            </a:r>
            <a:r>
              <a:rPr dirty="0" sz="1100">
                <a:latin typeface="Georgia"/>
                <a:cs typeface="Georgia"/>
              </a:rPr>
              <a:t>i</a:t>
            </a:r>
            <a:r>
              <a:rPr dirty="0" sz="1100" spc="195">
                <a:latin typeface="Georgia"/>
                <a:cs typeface="Georgia"/>
              </a:rPr>
              <a:t>  </a:t>
            </a:r>
            <a:r>
              <a:rPr dirty="0" sz="1100">
                <a:latin typeface="Georgia"/>
                <a:cs typeface="Georgia"/>
              </a:rPr>
              <a:t>from</a:t>
            </a:r>
            <a:r>
              <a:rPr dirty="0" sz="1100" spc="130">
                <a:latin typeface="Georgia"/>
                <a:cs typeface="Georgia"/>
              </a:rPr>
              <a:t>  </a:t>
            </a:r>
            <a:r>
              <a:rPr dirty="0" sz="1100" spc="65">
                <a:latin typeface="Georgia"/>
                <a:cs typeface="Georgia"/>
              </a:rPr>
              <a:t>1</a:t>
            </a:r>
            <a:r>
              <a:rPr dirty="0" sz="1100" spc="150">
                <a:latin typeface="Georgia"/>
                <a:cs typeface="Georgia"/>
              </a:rPr>
              <a:t>  </a:t>
            </a:r>
            <a:r>
              <a:rPr dirty="0" sz="1100" spc="50">
                <a:latin typeface="Georgia"/>
                <a:cs typeface="Georgia"/>
              </a:rPr>
              <a:t>to</a:t>
            </a:r>
            <a:r>
              <a:rPr dirty="0" sz="1100" spc="155">
                <a:latin typeface="Georgia"/>
                <a:cs typeface="Georgia"/>
              </a:rPr>
              <a:t>  </a:t>
            </a:r>
            <a:r>
              <a:rPr dirty="0" sz="1100">
                <a:latin typeface="Georgia"/>
                <a:cs typeface="Georgia"/>
              </a:rPr>
              <a:t>10</a:t>
            </a:r>
            <a:r>
              <a:rPr dirty="0" sz="1100" spc="130">
                <a:latin typeface="Georgia"/>
                <a:cs typeface="Georgia"/>
              </a:rPr>
              <a:t>  </a:t>
            </a:r>
            <a:r>
              <a:rPr dirty="0" sz="1100" spc="130">
                <a:latin typeface="Lucida Sans Unicode"/>
                <a:cs typeface="Lucida Sans Unicode"/>
              </a:rPr>
              <a:t>{</a:t>
            </a:r>
            <a:endParaRPr sz="1100">
              <a:latin typeface="Lucida Sans Unicode"/>
              <a:cs typeface="Lucida Sans Unicode"/>
            </a:endParaRPr>
          </a:p>
          <a:p>
            <a:pPr marL="325120" indent="-312420">
              <a:lnSpc>
                <a:spcPct val="100000"/>
              </a:lnSpc>
              <a:spcBef>
                <a:spcPts val="35"/>
              </a:spcBef>
              <a:buFont typeface="Georgia"/>
              <a:buAutoNum type="arabicPlain"/>
              <a:tabLst>
                <a:tab pos="325120" algn="l"/>
              </a:tabLst>
            </a:pPr>
            <a:r>
              <a:rPr dirty="0" sz="1100" b="1">
                <a:latin typeface="Georgia"/>
                <a:cs typeface="Georgia"/>
              </a:rPr>
              <a:t>for</a:t>
            </a:r>
            <a:r>
              <a:rPr dirty="0" sz="1100" spc="185" b="1">
                <a:latin typeface="Georgia"/>
                <a:cs typeface="Georgia"/>
              </a:rPr>
              <a:t>  </a:t>
            </a:r>
            <a:r>
              <a:rPr dirty="0" sz="1100">
                <a:latin typeface="Georgia"/>
                <a:cs typeface="Georgia"/>
              </a:rPr>
              <a:t>j</a:t>
            </a:r>
            <a:r>
              <a:rPr dirty="0" sz="1100" spc="190">
                <a:latin typeface="Georgia"/>
                <a:cs typeface="Georgia"/>
              </a:rPr>
              <a:t>  </a:t>
            </a:r>
            <a:r>
              <a:rPr dirty="0" sz="1100">
                <a:latin typeface="Georgia"/>
                <a:cs typeface="Georgia"/>
              </a:rPr>
              <a:t>from</a:t>
            </a:r>
            <a:r>
              <a:rPr dirty="0" sz="1100" spc="135">
                <a:latin typeface="Georgia"/>
                <a:cs typeface="Georgia"/>
              </a:rPr>
              <a:t>  </a:t>
            </a:r>
            <a:r>
              <a:rPr dirty="0" sz="1100" spc="65">
                <a:latin typeface="Georgia"/>
                <a:cs typeface="Georgia"/>
              </a:rPr>
              <a:t>1</a:t>
            </a:r>
            <a:r>
              <a:rPr dirty="0" sz="1100" spc="150">
                <a:latin typeface="Georgia"/>
                <a:cs typeface="Georgia"/>
              </a:rPr>
              <a:t>  </a:t>
            </a:r>
            <a:r>
              <a:rPr dirty="0" sz="1100" spc="50">
                <a:latin typeface="Georgia"/>
                <a:cs typeface="Georgia"/>
              </a:rPr>
              <a:t>to</a:t>
            </a:r>
            <a:r>
              <a:rPr dirty="0" sz="1100" spc="160">
                <a:latin typeface="Georgia"/>
                <a:cs typeface="Georgia"/>
              </a:rPr>
              <a:t>  </a:t>
            </a:r>
            <a:r>
              <a:rPr dirty="0" sz="1100">
                <a:latin typeface="Georgia"/>
                <a:cs typeface="Georgia"/>
              </a:rPr>
              <a:t>10</a:t>
            </a:r>
            <a:r>
              <a:rPr dirty="0" sz="1100" spc="130">
                <a:latin typeface="Georgia"/>
                <a:cs typeface="Georgia"/>
              </a:rPr>
              <a:t>  </a:t>
            </a:r>
            <a:r>
              <a:rPr dirty="0" sz="1100" spc="130">
                <a:latin typeface="Lucida Sans Unicode"/>
                <a:cs typeface="Lucida Sans Unicode"/>
              </a:rPr>
              <a:t>{</a:t>
            </a:r>
            <a:endParaRPr sz="1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5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5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  <a:p>
            <a:pPr marL="234950" indent="-222250">
              <a:lnSpc>
                <a:spcPct val="100000"/>
              </a:lnSpc>
              <a:spcBef>
                <a:spcPts val="35"/>
              </a:spcBef>
              <a:buFont typeface="Georgia"/>
              <a:buAutoNum type="arabicPlain" startAt="5"/>
              <a:tabLst>
                <a:tab pos="234950" algn="l"/>
              </a:tabLst>
            </a:pPr>
            <a:r>
              <a:rPr dirty="0" sz="1100" spc="180">
                <a:latin typeface="Lucida Sans Unicode"/>
                <a:cs typeface="Lucida Sans Unicode"/>
              </a:rPr>
              <a:t>}</a:t>
            </a:r>
            <a:r>
              <a:rPr dirty="0" sz="1100" spc="415">
                <a:latin typeface="Lucida Sans Unicode"/>
                <a:cs typeface="Lucida Sans Unicode"/>
              </a:rPr>
              <a:t> </a:t>
            </a:r>
            <a:r>
              <a:rPr dirty="0" sz="1100" spc="13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 marL="325120" indent="-312420">
              <a:lnSpc>
                <a:spcPct val="100000"/>
              </a:lnSpc>
              <a:spcBef>
                <a:spcPts val="35"/>
              </a:spcBef>
              <a:buFont typeface="Georgia"/>
              <a:buAutoNum type="arabicPlain" startAt="5"/>
              <a:tabLst>
                <a:tab pos="325120" algn="l"/>
              </a:tabLst>
            </a:pPr>
            <a:r>
              <a:rPr dirty="0" sz="1100" spc="-25" b="1">
                <a:latin typeface="Georgia"/>
                <a:cs typeface="Georgia"/>
              </a:rPr>
              <a:t>for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50">
                <a:latin typeface="Georgia"/>
                <a:cs typeface="Georgia"/>
              </a:rPr>
              <a:t>7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50">
                <a:latin typeface="Georgia"/>
                <a:cs typeface="Georgia"/>
              </a:rPr>
              <a:t>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46937" y="1819794"/>
            <a:ext cx="1409700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i</a:t>
            </a:r>
            <a:r>
              <a:rPr dirty="0" sz="1100" spc="190">
                <a:latin typeface="Georgia"/>
                <a:cs typeface="Georgia"/>
              </a:rPr>
              <a:t>  </a:t>
            </a:r>
            <a:r>
              <a:rPr dirty="0" sz="1100">
                <a:latin typeface="Georgia"/>
                <a:cs typeface="Georgia"/>
              </a:rPr>
              <a:t>from</a:t>
            </a:r>
            <a:r>
              <a:rPr dirty="0" sz="1100" spc="135">
                <a:latin typeface="Georgia"/>
                <a:cs typeface="Georgia"/>
              </a:rPr>
              <a:t>  </a:t>
            </a:r>
            <a:r>
              <a:rPr dirty="0" sz="1100" spc="65">
                <a:latin typeface="Georgia"/>
                <a:cs typeface="Georgia"/>
              </a:rPr>
              <a:t>1</a:t>
            </a:r>
            <a:r>
              <a:rPr dirty="0" sz="1100" spc="145">
                <a:latin typeface="Georgia"/>
                <a:cs typeface="Georgia"/>
              </a:rPr>
              <a:t>  </a:t>
            </a:r>
            <a:r>
              <a:rPr dirty="0" sz="1100" spc="50">
                <a:latin typeface="Georgia"/>
                <a:cs typeface="Georgia"/>
              </a:rPr>
              <a:t>to</a:t>
            </a:r>
            <a:r>
              <a:rPr dirty="0" sz="1100" spc="160">
                <a:latin typeface="Georgia"/>
                <a:cs typeface="Georgia"/>
              </a:rPr>
              <a:t>  </a:t>
            </a:r>
            <a:r>
              <a:rPr dirty="0" sz="1100">
                <a:latin typeface="Georgia"/>
                <a:cs typeface="Georgia"/>
              </a:rPr>
              <a:t>10</a:t>
            </a:r>
            <a:r>
              <a:rPr dirty="0" sz="1100" spc="125">
                <a:latin typeface="Georgia"/>
                <a:cs typeface="Georgia"/>
              </a:rPr>
              <a:t>  </a:t>
            </a:r>
            <a:r>
              <a:rPr dirty="0" sz="1100" spc="130">
                <a:latin typeface="Lucida Sans Unicode"/>
                <a:cs typeface="Lucida Sans Unicode"/>
              </a:rPr>
              <a:t>{</a:t>
            </a:r>
            <a:endParaRPr sz="1100">
              <a:latin typeface="Lucida Sans Unicode"/>
              <a:cs typeface="Lucida Sans Unicode"/>
            </a:endParaRPr>
          </a:p>
          <a:p>
            <a:pPr marL="163195">
              <a:lnSpc>
                <a:spcPct val="100000"/>
              </a:lnSpc>
              <a:spcBef>
                <a:spcPts val="1390"/>
              </a:spcBef>
            </a:pPr>
            <a:r>
              <a:rPr dirty="0" sz="1100">
                <a:latin typeface="Georgia"/>
                <a:cs typeface="Georgia"/>
              </a:rPr>
              <a:t>a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-120">
                <a:latin typeface="Georgia"/>
                <a:cs typeface="Georgia"/>
              </a:rPr>
              <a:t>[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,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425">
                <a:latin typeface="Georgia"/>
                <a:cs typeface="Georgia"/>
              </a:rPr>
              <a:t> </a:t>
            </a:r>
            <a:r>
              <a:rPr dirty="0" sz="1100" spc="125">
                <a:latin typeface="Georgia"/>
                <a:cs typeface="Georgia"/>
              </a:rPr>
              <a:t>=</a:t>
            </a:r>
            <a:r>
              <a:rPr dirty="0" sz="1100" spc="440">
                <a:latin typeface="Georgia"/>
                <a:cs typeface="Georgia"/>
              </a:rPr>
              <a:t> </a:t>
            </a:r>
            <a:r>
              <a:rPr dirty="0" sz="1100" spc="65">
                <a:latin typeface="Georgia"/>
                <a:cs typeface="Georgia"/>
              </a:rPr>
              <a:t>1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.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135">
                <a:latin typeface="Georgia"/>
                <a:cs typeface="Georgia"/>
              </a:rPr>
              <a:t>0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;</a:t>
            </a:r>
            <a:r>
              <a:rPr dirty="0" sz="1100" spc="155">
                <a:latin typeface="Georgia"/>
                <a:cs typeface="Georgia"/>
              </a:rPr>
              <a:t>  </a:t>
            </a:r>
            <a:r>
              <a:rPr dirty="0" sz="1100" spc="13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571305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02932" y="2487852"/>
            <a:ext cx="2307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Numbers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are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doubles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(of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size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8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bytes)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2268057" y="862887"/>
            <a:ext cx="1121410" cy="815975"/>
            <a:chOff x="2268057" y="862887"/>
            <a:chExt cx="1121410" cy="815975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6093" y="1021901"/>
              <a:ext cx="88240" cy="8824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72162" y="1434277"/>
              <a:ext cx="104109" cy="9632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96535" y="978777"/>
              <a:ext cx="142571" cy="105879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2925678" y="1209248"/>
              <a:ext cx="13335" cy="117475"/>
            </a:xfrm>
            <a:custGeom>
              <a:avLst/>
              <a:gdLst/>
              <a:ahLst/>
              <a:cxnLst/>
              <a:rect l="l" t="t" r="r" b="b"/>
              <a:pathLst>
                <a:path w="13335" h="117475">
                  <a:moveTo>
                    <a:pt x="1444" y="6"/>
                  </a:moveTo>
                  <a:lnTo>
                    <a:pt x="-3" y="29750"/>
                  </a:lnTo>
                  <a:lnTo>
                    <a:pt x="1447" y="59207"/>
                  </a:lnTo>
                  <a:lnTo>
                    <a:pt x="5796" y="88378"/>
                  </a:lnTo>
                  <a:lnTo>
                    <a:pt x="13044" y="117261"/>
                  </a:lnTo>
                </a:path>
              </a:pathLst>
            </a:custGeom>
            <a:ln w="12700">
              <a:solidFill>
                <a:srgbClr val="77BB4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14695" y="1439873"/>
              <a:ext cx="161681" cy="104944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2274407" y="907201"/>
              <a:ext cx="1028065" cy="698500"/>
            </a:xfrm>
            <a:custGeom>
              <a:avLst/>
              <a:gdLst/>
              <a:ahLst/>
              <a:cxnLst/>
              <a:rect l="l" t="t" r="r" b="b"/>
              <a:pathLst>
                <a:path w="1028064" h="698500">
                  <a:moveTo>
                    <a:pt x="5" y="4"/>
                  </a:moveTo>
                  <a:lnTo>
                    <a:pt x="42839" y="29103"/>
                  </a:lnTo>
                  <a:lnTo>
                    <a:pt x="85674" y="58201"/>
                  </a:lnTo>
                  <a:lnTo>
                    <a:pt x="128509" y="87299"/>
                  </a:lnTo>
                  <a:lnTo>
                    <a:pt x="171344" y="116398"/>
                  </a:lnTo>
                  <a:lnTo>
                    <a:pt x="214179" y="145496"/>
                  </a:lnTo>
                  <a:lnTo>
                    <a:pt x="257014" y="174594"/>
                  </a:lnTo>
                  <a:lnTo>
                    <a:pt x="299849" y="203693"/>
                  </a:lnTo>
                  <a:lnTo>
                    <a:pt x="342684" y="232791"/>
                  </a:lnTo>
                  <a:lnTo>
                    <a:pt x="385519" y="261889"/>
                  </a:lnTo>
                  <a:lnTo>
                    <a:pt x="428354" y="290988"/>
                  </a:lnTo>
                  <a:lnTo>
                    <a:pt x="471188" y="320086"/>
                  </a:lnTo>
                  <a:lnTo>
                    <a:pt x="514023" y="349184"/>
                  </a:lnTo>
                  <a:lnTo>
                    <a:pt x="556858" y="378282"/>
                  </a:lnTo>
                  <a:lnTo>
                    <a:pt x="599693" y="407381"/>
                  </a:lnTo>
                  <a:lnTo>
                    <a:pt x="642528" y="436479"/>
                  </a:lnTo>
                  <a:lnTo>
                    <a:pt x="685363" y="465577"/>
                  </a:lnTo>
                  <a:lnTo>
                    <a:pt x="728198" y="494676"/>
                  </a:lnTo>
                  <a:lnTo>
                    <a:pt x="771033" y="523774"/>
                  </a:lnTo>
                  <a:lnTo>
                    <a:pt x="813867" y="552872"/>
                  </a:lnTo>
                  <a:lnTo>
                    <a:pt x="856702" y="581971"/>
                  </a:lnTo>
                  <a:lnTo>
                    <a:pt x="899537" y="611069"/>
                  </a:lnTo>
                  <a:lnTo>
                    <a:pt x="942372" y="640167"/>
                  </a:lnTo>
                  <a:lnTo>
                    <a:pt x="985207" y="669266"/>
                  </a:lnTo>
                  <a:lnTo>
                    <a:pt x="1028042" y="698364"/>
                  </a:lnTo>
                </a:path>
              </a:pathLst>
            </a:custGeom>
            <a:ln w="12699">
              <a:solidFill>
                <a:srgbClr val="77BB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552477" y="897723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w="0" h="166369">
                  <a:moveTo>
                    <a:pt x="0" y="0"/>
                  </a:moveTo>
                  <a:lnTo>
                    <a:pt x="0" y="41545"/>
                  </a:lnTo>
                  <a:lnTo>
                    <a:pt x="0" y="83091"/>
                  </a:lnTo>
                  <a:lnTo>
                    <a:pt x="0" y="124636"/>
                  </a:lnTo>
                  <a:lnTo>
                    <a:pt x="0" y="166182"/>
                  </a:lnTo>
                </a:path>
              </a:pathLst>
            </a:custGeom>
            <a:ln w="12697">
              <a:solidFill>
                <a:srgbClr val="77BB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750722" y="1047126"/>
              <a:ext cx="0" cy="219710"/>
            </a:xfrm>
            <a:custGeom>
              <a:avLst/>
              <a:gdLst/>
              <a:ahLst/>
              <a:cxnLst/>
              <a:rect l="l" t="t" r="r" b="b"/>
              <a:pathLst>
                <a:path w="0" h="219709">
                  <a:moveTo>
                    <a:pt x="-3" y="0"/>
                  </a:moveTo>
                  <a:lnTo>
                    <a:pt x="-3" y="54838"/>
                  </a:lnTo>
                  <a:lnTo>
                    <a:pt x="-3" y="109677"/>
                  </a:lnTo>
                  <a:lnTo>
                    <a:pt x="-3" y="164516"/>
                  </a:lnTo>
                  <a:lnTo>
                    <a:pt x="-3" y="219355"/>
                  </a:lnTo>
                </a:path>
              </a:pathLst>
            </a:custGeom>
            <a:ln w="12700">
              <a:solidFill>
                <a:srgbClr val="77BB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93555" y="869237"/>
              <a:ext cx="289560" cy="803275"/>
            </a:xfrm>
            <a:custGeom>
              <a:avLst/>
              <a:gdLst/>
              <a:ahLst/>
              <a:cxnLst/>
              <a:rect l="l" t="t" r="r" b="b"/>
              <a:pathLst>
                <a:path w="289560" h="803275">
                  <a:moveTo>
                    <a:pt x="0" y="30341"/>
                  </a:moveTo>
                  <a:lnTo>
                    <a:pt x="33979" y="20643"/>
                  </a:lnTo>
                  <a:lnTo>
                    <a:pt x="41233" y="18565"/>
                  </a:lnTo>
                  <a:lnTo>
                    <a:pt x="48985" y="16378"/>
                  </a:lnTo>
                  <a:lnTo>
                    <a:pt x="56738" y="14192"/>
                  </a:lnTo>
                  <a:lnTo>
                    <a:pt x="64543" y="12210"/>
                  </a:lnTo>
                  <a:lnTo>
                    <a:pt x="72400" y="10432"/>
                  </a:lnTo>
                  <a:lnTo>
                    <a:pt x="80257" y="8654"/>
                  </a:lnTo>
                  <a:lnTo>
                    <a:pt x="87820" y="7149"/>
                  </a:lnTo>
                  <a:lnTo>
                    <a:pt x="95091" y="5917"/>
                  </a:lnTo>
                  <a:lnTo>
                    <a:pt x="102362" y="4684"/>
                  </a:lnTo>
                  <a:lnTo>
                    <a:pt x="143484" y="358"/>
                  </a:lnTo>
                  <a:lnTo>
                    <a:pt x="151982" y="0"/>
                  </a:lnTo>
                  <a:lnTo>
                    <a:pt x="155453" y="329"/>
                  </a:lnTo>
                  <a:lnTo>
                    <a:pt x="158147" y="1166"/>
                  </a:lnTo>
                  <a:lnTo>
                    <a:pt x="160841" y="2003"/>
                  </a:lnTo>
                  <a:lnTo>
                    <a:pt x="167201" y="44577"/>
                  </a:lnTo>
                  <a:lnTo>
                    <a:pt x="167320" y="62087"/>
                  </a:lnTo>
                  <a:lnTo>
                    <a:pt x="167320" y="71665"/>
                  </a:lnTo>
                  <a:lnTo>
                    <a:pt x="167320" y="81606"/>
                  </a:lnTo>
                  <a:lnTo>
                    <a:pt x="167320" y="91908"/>
                  </a:lnTo>
                  <a:lnTo>
                    <a:pt x="167320" y="102573"/>
                  </a:lnTo>
                  <a:lnTo>
                    <a:pt x="167351" y="113629"/>
                  </a:lnTo>
                  <a:lnTo>
                    <a:pt x="168159" y="162042"/>
                  </a:lnTo>
                  <a:lnTo>
                    <a:pt x="170557" y="202675"/>
                  </a:lnTo>
                  <a:lnTo>
                    <a:pt x="175414" y="244930"/>
                  </a:lnTo>
                  <a:lnTo>
                    <a:pt x="182945" y="285734"/>
                  </a:lnTo>
                  <a:lnTo>
                    <a:pt x="195500" y="332382"/>
                  </a:lnTo>
                  <a:lnTo>
                    <a:pt x="207973" y="368515"/>
                  </a:lnTo>
                  <a:lnTo>
                    <a:pt x="223084" y="407159"/>
                  </a:lnTo>
                  <a:lnTo>
                    <a:pt x="225967" y="414289"/>
                  </a:lnTo>
                  <a:lnTo>
                    <a:pt x="228594" y="420864"/>
                  </a:lnTo>
                  <a:lnTo>
                    <a:pt x="230964" y="426885"/>
                  </a:lnTo>
                  <a:lnTo>
                    <a:pt x="233335" y="432905"/>
                  </a:lnTo>
                  <a:lnTo>
                    <a:pt x="235398" y="438321"/>
                  </a:lnTo>
                  <a:lnTo>
                    <a:pt x="237155" y="443132"/>
                  </a:lnTo>
                  <a:lnTo>
                    <a:pt x="238911" y="447944"/>
                  </a:lnTo>
                  <a:lnTo>
                    <a:pt x="240335" y="452419"/>
                  </a:lnTo>
                  <a:lnTo>
                    <a:pt x="244803" y="494858"/>
                  </a:lnTo>
                  <a:lnTo>
                    <a:pt x="245125" y="531449"/>
                  </a:lnTo>
                  <a:lnTo>
                    <a:pt x="245212" y="542441"/>
                  </a:lnTo>
                  <a:lnTo>
                    <a:pt x="246139" y="589423"/>
                  </a:lnTo>
                  <a:lnTo>
                    <a:pt x="248506" y="634879"/>
                  </a:lnTo>
                  <a:lnTo>
                    <a:pt x="252490" y="674195"/>
                  </a:lnTo>
                  <a:lnTo>
                    <a:pt x="258797" y="713377"/>
                  </a:lnTo>
                  <a:lnTo>
                    <a:pt x="269026" y="751954"/>
                  </a:lnTo>
                  <a:lnTo>
                    <a:pt x="273215" y="761010"/>
                  </a:lnTo>
                  <a:lnTo>
                    <a:pt x="275356" y="765162"/>
                  </a:lnTo>
                  <a:lnTo>
                    <a:pt x="285581" y="780447"/>
                  </a:lnTo>
                  <a:lnTo>
                    <a:pt x="287537" y="782955"/>
                  </a:lnTo>
                  <a:lnTo>
                    <a:pt x="288714" y="784673"/>
                  </a:lnTo>
                  <a:lnTo>
                    <a:pt x="289111" y="785602"/>
                  </a:lnTo>
                  <a:lnTo>
                    <a:pt x="289508" y="786532"/>
                  </a:lnTo>
                  <a:lnTo>
                    <a:pt x="288899" y="787069"/>
                  </a:lnTo>
                  <a:lnTo>
                    <a:pt x="287283" y="787215"/>
                  </a:lnTo>
                  <a:lnTo>
                    <a:pt x="285667" y="787360"/>
                  </a:lnTo>
                  <a:lnTo>
                    <a:pt x="282800" y="787167"/>
                  </a:lnTo>
                  <a:lnTo>
                    <a:pt x="278680" y="786634"/>
                  </a:lnTo>
                  <a:lnTo>
                    <a:pt x="274559" y="786102"/>
                  </a:lnTo>
                  <a:lnTo>
                    <a:pt x="269860" y="785809"/>
                  </a:lnTo>
                  <a:lnTo>
                    <a:pt x="264582" y="785755"/>
                  </a:lnTo>
                  <a:lnTo>
                    <a:pt x="259303" y="785702"/>
                  </a:lnTo>
                  <a:lnTo>
                    <a:pt x="253840" y="785675"/>
                  </a:lnTo>
                  <a:lnTo>
                    <a:pt x="248191" y="785675"/>
                  </a:lnTo>
                  <a:lnTo>
                    <a:pt x="242543" y="785675"/>
                  </a:lnTo>
                  <a:lnTo>
                    <a:pt x="216761" y="786760"/>
                  </a:lnTo>
                  <a:lnTo>
                    <a:pt x="212104" y="787225"/>
                  </a:lnTo>
                  <a:lnTo>
                    <a:pt x="191963" y="792089"/>
                  </a:lnTo>
                  <a:lnTo>
                    <a:pt x="188134" y="793348"/>
                  </a:lnTo>
                  <a:lnTo>
                    <a:pt x="184259" y="794633"/>
                  </a:lnTo>
                  <a:lnTo>
                    <a:pt x="180336" y="795943"/>
                  </a:lnTo>
                  <a:lnTo>
                    <a:pt x="176413" y="797255"/>
                  </a:lnTo>
                  <a:lnTo>
                    <a:pt x="172442" y="798421"/>
                  </a:lnTo>
                  <a:lnTo>
                    <a:pt x="168421" y="799442"/>
                  </a:lnTo>
                  <a:lnTo>
                    <a:pt x="164399" y="800463"/>
                  </a:lnTo>
                  <a:lnTo>
                    <a:pt x="160479" y="801249"/>
                  </a:lnTo>
                  <a:lnTo>
                    <a:pt x="156658" y="801800"/>
                  </a:lnTo>
                  <a:lnTo>
                    <a:pt x="152838" y="802351"/>
                  </a:lnTo>
                  <a:lnTo>
                    <a:pt x="149173" y="802707"/>
                  </a:lnTo>
                  <a:lnTo>
                    <a:pt x="145664" y="802869"/>
                  </a:lnTo>
                  <a:lnTo>
                    <a:pt x="142155" y="803032"/>
                  </a:lnTo>
                  <a:lnTo>
                    <a:pt x="138757" y="803115"/>
                  </a:lnTo>
                  <a:lnTo>
                    <a:pt x="135471" y="803118"/>
                  </a:lnTo>
                  <a:lnTo>
                    <a:pt x="130542" y="803123"/>
                  </a:lnTo>
                </a:path>
              </a:pathLst>
            </a:custGeom>
            <a:ln w="12699">
              <a:solidFill>
                <a:srgbClr val="77BB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463724" y="908953"/>
              <a:ext cx="150495" cy="728980"/>
            </a:xfrm>
            <a:custGeom>
              <a:avLst/>
              <a:gdLst/>
              <a:ahLst/>
              <a:cxnLst/>
              <a:rect l="l" t="t" r="r" b="b"/>
              <a:pathLst>
                <a:path w="150494" h="728980">
                  <a:moveTo>
                    <a:pt x="0" y="0"/>
                  </a:moveTo>
                  <a:lnTo>
                    <a:pt x="0" y="0"/>
                  </a:lnTo>
                  <a:lnTo>
                    <a:pt x="0" y="106451"/>
                  </a:lnTo>
                  <a:lnTo>
                    <a:pt x="3" y="127892"/>
                  </a:lnTo>
                  <a:lnTo>
                    <a:pt x="28" y="176487"/>
                  </a:lnTo>
                  <a:lnTo>
                    <a:pt x="126" y="232088"/>
                  </a:lnTo>
                  <a:lnTo>
                    <a:pt x="581" y="291005"/>
                  </a:lnTo>
                  <a:lnTo>
                    <a:pt x="1509" y="351965"/>
                  </a:lnTo>
                  <a:lnTo>
                    <a:pt x="3307" y="411014"/>
                  </a:lnTo>
                  <a:lnTo>
                    <a:pt x="6032" y="467020"/>
                  </a:lnTo>
                  <a:lnTo>
                    <a:pt x="9629" y="517127"/>
                  </a:lnTo>
                  <a:lnTo>
                    <a:pt x="14006" y="560792"/>
                  </a:lnTo>
                  <a:lnTo>
                    <a:pt x="21077" y="613407"/>
                  </a:lnTo>
                  <a:lnTo>
                    <a:pt x="27842" y="652492"/>
                  </a:lnTo>
                  <a:lnTo>
                    <a:pt x="36483" y="694794"/>
                  </a:lnTo>
                  <a:lnTo>
                    <a:pt x="41114" y="714259"/>
                  </a:lnTo>
                  <a:lnTo>
                    <a:pt x="42396" y="719140"/>
                  </a:lnTo>
                  <a:lnTo>
                    <a:pt x="44258" y="722622"/>
                  </a:lnTo>
                  <a:lnTo>
                    <a:pt x="46698" y="724704"/>
                  </a:lnTo>
                  <a:lnTo>
                    <a:pt x="49139" y="726787"/>
                  </a:lnTo>
                  <a:lnTo>
                    <a:pt x="52674" y="728007"/>
                  </a:lnTo>
                  <a:lnTo>
                    <a:pt x="57304" y="728365"/>
                  </a:lnTo>
                  <a:lnTo>
                    <a:pt x="61934" y="728723"/>
                  </a:lnTo>
                  <a:lnTo>
                    <a:pt x="67674" y="728437"/>
                  </a:lnTo>
                  <a:lnTo>
                    <a:pt x="74522" y="727507"/>
                  </a:lnTo>
                  <a:lnTo>
                    <a:pt x="81370" y="726576"/>
                  </a:lnTo>
                  <a:lnTo>
                    <a:pt x="88409" y="725646"/>
                  </a:lnTo>
                  <a:lnTo>
                    <a:pt x="127560" y="721997"/>
                  </a:lnTo>
                  <a:lnTo>
                    <a:pt x="132299" y="721905"/>
                  </a:lnTo>
                  <a:lnTo>
                    <a:pt x="137038" y="721812"/>
                  </a:lnTo>
                  <a:lnTo>
                    <a:pt x="141204" y="721767"/>
                  </a:lnTo>
                  <a:lnTo>
                    <a:pt x="144798" y="721767"/>
                  </a:lnTo>
                  <a:lnTo>
                    <a:pt x="150189" y="721767"/>
                  </a:lnTo>
                </a:path>
              </a:pathLst>
            </a:custGeom>
            <a:ln w="12700">
              <a:solidFill>
                <a:srgbClr val="77BB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028819" y="1291958"/>
              <a:ext cx="0" cy="137160"/>
            </a:xfrm>
            <a:custGeom>
              <a:avLst/>
              <a:gdLst/>
              <a:ahLst/>
              <a:cxnLst/>
              <a:rect l="l" t="t" r="r" b="b"/>
              <a:pathLst>
                <a:path w="0" h="137159">
                  <a:moveTo>
                    <a:pt x="3" y="-1"/>
                  </a:moveTo>
                  <a:lnTo>
                    <a:pt x="3" y="34149"/>
                  </a:lnTo>
                  <a:lnTo>
                    <a:pt x="3" y="68300"/>
                  </a:lnTo>
                  <a:lnTo>
                    <a:pt x="3" y="102450"/>
                  </a:lnTo>
                  <a:lnTo>
                    <a:pt x="3" y="136600"/>
                  </a:lnTo>
                </a:path>
              </a:pathLst>
            </a:custGeom>
            <a:ln w="12700">
              <a:solidFill>
                <a:srgbClr val="77BB4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24" name="object 24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14357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Basic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Blocks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Flow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Graphs</a:t>
            </a:r>
            <a:endParaRPr sz="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-12"/>
            <a:ext cx="4608195" cy="3173095"/>
            <a:chOff x="0" y="-12"/>
            <a:chExt cx="4608195" cy="3173095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-12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5">
                  <a:moveTo>
                    <a:pt x="2303995" y="0"/>
                  </a:moveTo>
                  <a:lnTo>
                    <a:pt x="0" y="0"/>
                  </a:lnTo>
                  <a:lnTo>
                    <a:pt x="0" y="122313"/>
                  </a:lnTo>
                  <a:lnTo>
                    <a:pt x="2303995" y="12231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68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22313"/>
              <a:ext cx="4608195" cy="3050540"/>
            </a:xfrm>
            <a:custGeom>
              <a:avLst/>
              <a:gdLst/>
              <a:ahLst/>
              <a:cxnLst/>
              <a:rect l="l" t="t" r="r" b="b"/>
              <a:pathLst>
                <a:path w="4608195" h="3050540">
                  <a:moveTo>
                    <a:pt x="4608004" y="2752382"/>
                  </a:moveTo>
                  <a:lnTo>
                    <a:pt x="0" y="2752382"/>
                  </a:lnTo>
                  <a:lnTo>
                    <a:pt x="0" y="3050171"/>
                  </a:lnTo>
                  <a:lnTo>
                    <a:pt x="4608004" y="3050171"/>
                  </a:lnTo>
                  <a:lnTo>
                    <a:pt x="4608004" y="2752382"/>
                  </a:lnTo>
                  <a:close/>
                </a:path>
                <a:path w="4608195" h="3050540">
                  <a:moveTo>
                    <a:pt x="4608004" y="0"/>
                  </a:moveTo>
                  <a:lnTo>
                    <a:pt x="0" y="0"/>
                  </a:lnTo>
                  <a:lnTo>
                    <a:pt x="0" y="386346"/>
                  </a:lnTo>
                  <a:lnTo>
                    <a:pt x="4608004" y="38634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82054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Three-</a:t>
            </a:r>
            <a:r>
              <a:rPr dirty="0" spc="-20"/>
              <a:t>address</a:t>
            </a:r>
            <a:r>
              <a:rPr dirty="0" spc="65"/>
              <a:t> </a:t>
            </a:r>
            <a:r>
              <a:rPr dirty="0" spc="-25"/>
              <a:t>code: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-2540" y="465632"/>
            <a:ext cx="4613275" cy="2409190"/>
            <a:chOff x="-2540" y="465632"/>
            <a:chExt cx="4613275" cy="2409190"/>
          </a:xfrm>
        </p:grpSpPr>
        <p:sp>
          <p:nvSpPr>
            <p:cNvPr id="8" name="object 8" descr=""/>
            <p:cNvSpPr/>
            <p:nvPr/>
          </p:nvSpPr>
          <p:spPr>
            <a:xfrm>
              <a:off x="0" y="465645"/>
              <a:ext cx="4608195" cy="43180"/>
            </a:xfrm>
            <a:custGeom>
              <a:avLst/>
              <a:gdLst/>
              <a:ahLst/>
              <a:cxnLst/>
              <a:rect l="l" t="t" r="r" b="b"/>
              <a:pathLst>
                <a:path w="4608195" h="43179">
                  <a:moveTo>
                    <a:pt x="4608004" y="0"/>
                  </a:moveTo>
                  <a:lnTo>
                    <a:pt x="0" y="0"/>
                  </a:lnTo>
                  <a:lnTo>
                    <a:pt x="0" y="43014"/>
                  </a:lnTo>
                  <a:lnTo>
                    <a:pt x="4608004" y="43014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468172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 h="0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0068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508660"/>
              <a:ext cx="4608195" cy="2366645"/>
            </a:xfrm>
            <a:custGeom>
              <a:avLst/>
              <a:gdLst/>
              <a:ahLst/>
              <a:cxnLst/>
              <a:rect l="l" t="t" r="r" b="b"/>
              <a:pathLst>
                <a:path w="4608195" h="2366645">
                  <a:moveTo>
                    <a:pt x="4608004" y="0"/>
                  </a:moveTo>
                  <a:lnTo>
                    <a:pt x="0" y="0"/>
                  </a:lnTo>
                  <a:lnTo>
                    <a:pt x="0" y="139179"/>
                  </a:lnTo>
                  <a:lnTo>
                    <a:pt x="0" y="278358"/>
                  </a:lnTo>
                  <a:lnTo>
                    <a:pt x="0" y="2366035"/>
                  </a:lnTo>
                  <a:lnTo>
                    <a:pt x="4608004" y="2366035"/>
                  </a:lnTo>
                  <a:lnTo>
                    <a:pt x="4608004" y="139179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-12700" y="479508"/>
            <a:ext cx="3672204" cy="23895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2729" indent="-240029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52729" algn="l"/>
              </a:tabLst>
            </a:pPr>
            <a:r>
              <a:rPr dirty="0" sz="900" spc="220">
                <a:solidFill>
                  <a:srgbClr val="00688A"/>
                </a:solidFill>
                <a:latin typeface="Cambria"/>
                <a:cs typeface="Cambria"/>
              </a:rPr>
              <a:t>i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=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-50">
                <a:solidFill>
                  <a:srgbClr val="00688A"/>
                </a:solidFill>
                <a:latin typeface="Cambria"/>
                <a:cs typeface="Cambria"/>
              </a:rPr>
              <a:t>1</a:t>
            </a:r>
            <a:endParaRPr sz="900">
              <a:latin typeface="Cambria"/>
              <a:cs typeface="Cambria"/>
            </a:endParaRPr>
          </a:p>
          <a:p>
            <a:pPr marL="252729" indent="-240029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252729" algn="l"/>
              </a:tabLst>
            </a:pPr>
            <a:r>
              <a:rPr dirty="0" sz="900" spc="229">
                <a:solidFill>
                  <a:srgbClr val="00688A"/>
                </a:solidFill>
                <a:latin typeface="Cambria"/>
                <a:cs typeface="Cambria"/>
              </a:rPr>
              <a:t>j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=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-50">
                <a:solidFill>
                  <a:srgbClr val="00688A"/>
                </a:solidFill>
                <a:latin typeface="Cambria"/>
                <a:cs typeface="Cambria"/>
              </a:rPr>
              <a:t>1</a:t>
            </a:r>
            <a:endParaRPr sz="900">
              <a:latin typeface="Cambria"/>
              <a:cs typeface="Cambria"/>
            </a:endParaRPr>
          </a:p>
          <a:p>
            <a:pPr marL="252729" indent="-240029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252729" algn="l"/>
              </a:tabLst>
            </a:pPr>
            <a:r>
              <a:rPr dirty="0" sz="900" spc="65">
                <a:solidFill>
                  <a:srgbClr val="00688A"/>
                </a:solidFill>
                <a:latin typeface="Cambria"/>
                <a:cs typeface="Cambria"/>
              </a:rPr>
              <a:t>t1</a:t>
            </a:r>
            <a:r>
              <a:rPr dirty="0" sz="900" spc="24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=</a:t>
            </a:r>
            <a:r>
              <a:rPr dirty="0" sz="900" spc="25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10</a:t>
            </a:r>
            <a:r>
              <a:rPr dirty="0" sz="900" spc="25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80">
                <a:solidFill>
                  <a:srgbClr val="00688A"/>
                </a:solidFill>
                <a:latin typeface="Cambria"/>
                <a:cs typeface="Cambria"/>
              </a:rPr>
              <a:t>*</a:t>
            </a:r>
            <a:r>
              <a:rPr dirty="0" sz="900" spc="25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170">
                <a:solidFill>
                  <a:srgbClr val="00688A"/>
                </a:solidFill>
                <a:latin typeface="Cambria"/>
                <a:cs typeface="Cambria"/>
              </a:rPr>
              <a:t>i</a:t>
            </a:r>
            <a:endParaRPr sz="900">
              <a:latin typeface="Cambria"/>
              <a:cs typeface="Cambria"/>
            </a:endParaRPr>
          </a:p>
          <a:p>
            <a:pPr marL="252729" indent="-240029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252729" algn="l"/>
              </a:tabLst>
            </a:pPr>
            <a:r>
              <a:rPr dirty="0" sz="900" spc="65">
                <a:solidFill>
                  <a:srgbClr val="00688A"/>
                </a:solidFill>
                <a:latin typeface="Cambria"/>
                <a:cs typeface="Cambria"/>
              </a:rPr>
              <a:t>t2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=</a:t>
            </a:r>
            <a:r>
              <a:rPr dirty="0" sz="900" spc="26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65">
                <a:solidFill>
                  <a:srgbClr val="00688A"/>
                </a:solidFill>
                <a:latin typeface="Cambria"/>
                <a:cs typeface="Cambria"/>
              </a:rPr>
              <a:t>t1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+</a:t>
            </a:r>
            <a:r>
              <a:rPr dirty="0" sz="900" spc="26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180">
                <a:solidFill>
                  <a:srgbClr val="00688A"/>
                </a:solidFill>
                <a:latin typeface="Cambria"/>
                <a:cs typeface="Cambria"/>
              </a:rPr>
              <a:t>j</a:t>
            </a:r>
            <a:endParaRPr sz="900">
              <a:latin typeface="Cambria"/>
              <a:cs typeface="Cambria"/>
            </a:endParaRPr>
          </a:p>
          <a:p>
            <a:pPr marL="252729" indent="-240029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252729" algn="l"/>
              </a:tabLst>
            </a:pPr>
            <a:r>
              <a:rPr dirty="0" sz="900" spc="65">
                <a:solidFill>
                  <a:srgbClr val="00688A"/>
                </a:solidFill>
                <a:latin typeface="Cambria"/>
                <a:cs typeface="Cambria"/>
              </a:rPr>
              <a:t>t3</a:t>
            </a:r>
            <a:r>
              <a:rPr dirty="0" sz="900" spc="30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=</a:t>
            </a:r>
            <a:r>
              <a:rPr dirty="0" sz="900" spc="30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8</a:t>
            </a:r>
            <a:r>
              <a:rPr dirty="0" sz="900" spc="30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80">
                <a:solidFill>
                  <a:srgbClr val="00688A"/>
                </a:solidFill>
                <a:latin typeface="Cambria"/>
                <a:cs typeface="Cambria"/>
              </a:rPr>
              <a:t>*</a:t>
            </a:r>
            <a:r>
              <a:rPr dirty="0" sz="900" spc="30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65">
                <a:solidFill>
                  <a:srgbClr val="00688A"/>
                </a:solidFill>
                <a:latin typeface="Cambria"/>
                <a:cs typeface="Cambria"/>
              </a:rPr>
              <a:t>t2</a:t>
            </a:r>
            <a:r>
              <a:rPr dirty="0" sz="900" spc="30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//</a:t>
            </a:r>
            <a:r>
              <a:rPr dirty="0" sz="900" spc="30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each</a:t>
            </a:r>
            <a:r>
              <a:rPr dirty="0" sz="900" spc="30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element</a:t>
            </a:r>
            <a:r>
              <a:rPr dirty="0" sz="900" spc="30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a</a:t>
            </a:r>
            <a:r>
              <a:rPr dirty="0" sz="900" spc="30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-10">
                <a:solidFill>
                  <a:srgbClr val="00688A"/>
                </a:solidFill>
                <a:latin typeface="Cambria"/>
                <a:cs typeface="Cambria"/>
              </a:rPr>
              <a:t>double</a:t>
            </a:r>
            <a:endParaRPr sz="900">
              <a:latin typeface="Cambria"/>
              <a:cs typeface="Cambria"/>
            </a:endParaRPr>
          </a:p>
          <a:p>
            <a:pPr marL="252729" indent="-240029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252729" algn="l"/>
              </a:tabLst>
            </a:pPr>
            <a:r>
              <a:rPr dirty="0" sz="900" spc="65">
                <a:solidFill>
                  <a:srgbClr val="00688A"/>
                </a:solidFill>
                <a:latin typeface="Cambria"/>
                <a:cs typeface="Cambria"/>
              </a:rPr>
              <a:t>t4</a:t>
            </a:r>
            <a:r>
              <a:rPr dirty="0" sz="900" spc="30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=</a:t>
            </a:r>
            <a:r>
              <a:rPr dirty="0" sz="900" spc="30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65">
                <a:solidFill>
                  <a:srgbClr val="00688A"/>
                </a:solidFill>
                <a:latin typeface="Cambria"/>
                <a:cs typeface="Cambria"/>
              </a:rPr>
              <a:t>t3</a:t>
            </a:r>
            <a:r>
              <a:rPr dirty="0" sz="900" spc="30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165">
                <a:solidFill>
                  <a:srgbClr val="00688A"/>
                </a:solidFill>
                <a:latin typeface="Cambria"/>
                <a:cs typeface="Cambria"/>
              </a:rPr>
              <a:t>-</a:t>
            </a:r>
            <a:r>
              <a:rPr dirty="0" sz="900" spc="30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88</a:t>
            </a:r>
            <a:r>
              <a:rPr dirty="0" sz="900" spc="30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//</a:t>
            </a:r>
            <a:r>
              <a:rPr dirty="0" sz="900" spc="30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unused,</a:t>
            </a:r>
            <a:r>
              <a:rPr dirty="0" sz="900" spc="30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80">
                <a:solidFill>
                  <a:srgbClr val="00688A"/>
                </a:solidFill>
                <a:latin typeface="Cambria"/>
                <a:cs typeface="Cambria"/>
              </a:rPr>
              <a:t>allocated</a:t>
            </a:r>
            <a:r>
              <a:rPr dirty="0" sz="900" spc="30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75">
                <a:solidFill>
                  <a:srgbClr val="00688A"/>
                </a:solidFill>
                <a:latin typeface="Cambria"/>
                <a:cs typeface="Cambria"/>
              </a:rPr>
              <a:t>space,</a:t>
            </a:r>
            <a:r>
              <a:rPr dirty="0" sz="900" spc="30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-20">
                <a:solidFill>
                  <a:srgbClr val="00688A"/>
                </a:solidFill>
                <a:latin typeface="Cambria"/>
                <a:cs typeface="Cambria"/>
              </a:rPr>
              <a:t>used</a:t>
            </a:r>
            <a:endParaRPr sz="900">
              <a:latin typeface="Cambria"/>
              <a:cs typeface="Cambria"/>
            </a:endParaRPr>
          </a:p>
          <a:p>
            <a:pPr marL="252729" indent="-240029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252729" algn="l"/>
              </a:tabLst>
            </a:pPr>
            <a:r>
              <a:rPr dirty="0" sz="900" spc="95">
                <a:solidFill>
                  <a:srgbClr val="00688A"/>
                </a:solidFill>
                <a:latin typeface="Cambria"/>
                <a:cs typeface="Cambria"/>
              </a:rPr>
              <a:t>a[t4]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=</a:t>
            </a:r>
            <a:r>
              <a:rPr dirty="0" sz="900" spc="26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45">
                <a:solidFill>
                  <a:srgbClr val="00688A"/>
                </a:solidFill>
                <a:latin typeface="Cambria"/>
                <a:cs typeface="Cambria"/>
              </a:rPr>
              <a:t>0.0</a:t>
            </a:r>
            <a:endParaRPr sz="900">
              <a:latin typeface="Cambria"/>
              <a:cs typeface="Cambria"/>
            </a:endParaRPr>
          </a:p>
          <a:p>
            <a:pPr marL="252729" indent="-240029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252729" algn="l"/>
              </a:tabLst>
            </a:pPr>
            <a:r>
              <a:rPr dirty="0" sz="900" spc="229">
                <a:solidFill>
                  <a:srgbClr val="00688A"/>
                </a:solidFill>
                <a:latin typeface="Cambria"/>
                <a:cs typeface="Cambria"/>
              </a:rPr>
              <a:t>j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=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229">
                <a:solidFill>
                  <a:srgbClr val="00688A"/>
                </a:solidFill>
                <a:latin typeface="Cambria"/>
                <a:cs typeface="Cambria"/>
              </a:rPr>
              <a:t>j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+</a:t>
            </a:r>
            <a:r>
              <a:rPr dirty="0" sz="900" spc="26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-50">
                <a:solidFill>
                  <a:srgbClr val="00688A"/>
                </a:solidFill>
                <a:latin typeface="Cambria"/>
                <a:cs typeface="Cambria"/>
              </a:rPr>
              <a:t>1</a:t>
            </a:r>
            <a:endParaRPr sz="900">
              <a:latin typeface="Cambria"/>
              <a:cs typeface="Cambria"/>
            </a:endParaRPr>
          </a:p>
          <a:p>
            <a:pPr marL="252729" indent="-240029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252729" algn="l"/>
              </a:tabLst>
            </a:pPr>
            <a:r>
              <a:rPr dirty="0" sz="900" spc="204">
                <a:solidFill>
                  <a:srgbClr val="00688A"/>
                </a:solidFill>
                <a:latin typeface="Cambria"/>
                <a:cs typeface="Cambria"/>
              </a:rPr>
              <a:t>if</a:t>
            </a:r>
            <a:r>
              <a:rPr dirty="0" sz="900" spc="28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229">
                <a:solidFill>
                  <a:srgbClr val="00688A"/>
                </a:solidFill>
                <a:latin typeface="Cambria"/>
                <a:cs typeface="Cambria"/>
              </a:rPr>
              <a:t>j</a:t>
            </a:r>
            <a:r>
              <a:rPr dirty="0" sz="900" spc="28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&lt;=</a:t>
            </a:r>
            <a:r>
              <a:rPr dirty="0" sz="900" spc="28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10</a:t>
            </a:r>
            <a:r>
              <a:rPr dirty="0" sz="900" spc="28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goto</a:t>
            </a:r>
            <a:r>
              <a:rPr dirty="0" sz="900" spc="28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-50">
                <a:solidFill>
                  <a:srgbClr val="00688A"/>
                </a:solidFill>
                <a:latin typeface="Cambria"/>
                <a:cs typeface="Cambria"/>
              </a:rPr>
              <a:t>3</a:t>
            </a:r>
            <a:endParaRPr sz="900">
              <a:latin typeface="Cambria"/>
              <a:cs typeface="Cambria"/>
            </a:endParaRPr>
          </a:p>
          <a:p>
            <a:pPr marL="312420" indent="-29972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312420" algn="l"/>
              </a:tabLst>
            </a:pPr>
            <a:r>
              <a:rPr dirty="0" sz="900" spc="220">
                <a:solidFill>
                  <a:srgbClr val="00688A"/>
                </a:solidFill>
                <a:latin typeface="Cambria"/>
                <a:cs typeface="Cambria"/>
              </a:rPr>
              <a:t>i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=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220">
                <a:solidFill>
                  <a:srgbClr val="00688A"/>
                </a:solidFill>
                <a:latin typeface="Cambria"/>
                <a:cs typeface="Cambria"/>
              </a:rPr>
              <a:t>i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+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-50">
                <a:solidFill>
                  <a:srgbClr val="00688A"/>
                </a:solidFill>
                <a:latin typeface="Cambria"/>
                <a:cs typeface="Cambria"/>
              </a:rPr>
              <a:t>1</a:t>
            </a:r>
            <a:endParaRPr sz="900">
              <a:latin typeface="Cambria"/>
              <a:cs typeface="Cambria"/>
            </a:endParaRPr>
          </a:p>
          <a:p>
            <a:pPr marL="312420" indent="-299720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312420" algn="l"/>
              </a:tabLst>
            </a:pPr>
            <a:r>
              <a:rPr dirty="0" sz="900" spc="204">
                <a:solidFill>
                  <a:srgbClr val="00688A"/>
                </a:solidFill>
                <a:latin typeface="Cambria"/>
                <a:cs typeface="Cambria"/>
              </a:rPr>
              <a:t>if</a:t>
            </a:r>
            <a:r>
              <a:rPr dirty="0" sz="900" spc="28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220">
                <a:solidFill>
                  <a:srgbClr val="00688A"/>
                </a:solidFill>
                <a:latin typeface="Cambria"/>
                <a:cs typeface="Cambria"/>
              </a:rPr>
              <a:t>i</a:t>
            </a:r>
            <a:r>
              <a:rPr dirty="0" sz="900" spc="28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&lt;=</a:t>
            </a:r>
            <a:r>
              <a:rPr dirty="0" sz="900" spc="28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10</a:t>
            </a:r>
            <a:r>
              <a:rPr dirty="0" sz="900" spc="28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goto</a:t>
            </a:r>
            <a:r>
              <a:rPr dirty="0" sz="900" spc="28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-50">
                <a:solidFill>
                  <a:srgbClr val="00688A"/>
                </a:solidFill>
                <a:latin typeface="Cambria"/>
                <a:cs typeface="Cambria"/>
              </a:rPr>
              <a:t>2</a:t>
            </a:r>
            <a:endParaRPr sz="900">
              <a:latin typeface="Cambria"/>
              <a:cs typeface="Cambria"/>
            </a:endParaRPr>
          </a:p>
          <a:p>
            <a:pPr marL="312420" indent="-299720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312420" algn="l"/>
              </a:tabLst>
            </a:pPr>
            <a:r>
              <a:rPr dirty="0" sz="900" spc="220">
                <a:solidFill>
                  <a:srgbClr val="00688A"/>
                </a:solidFill>
                <a:latin typeface="Cambria"/>
                <a:cs typeface="Cambria"/>
              </a:rPr>
              <a:t>i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=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-50">
                <a:solidFill>
                  <a:srgbClr val="00688A"/>
                </a:solidFill>
                <a:latin typeface="Cambria"/>
                <a:cs typeface="Cambria"/>
              </a:rPr>
              <a:t>1</a:t>
            </a:r>
            <a:endParaRPr sz="900">
              <a:latin typeface="Cambria"/>
              <a:cs typeface="Cambria"/>
            </a:endParaRPr>
          </a:p>
          <a:p>
            <a:pPr marL="312420" indent="-299720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312420" algn="l"/>
              </a:tabLst>
            </a:pPr>
            <a:r>
              <a:rPr dirty="0" sz="900" spc="65">
                <a:solidFill>
                  <a:srgbClr val="00688A"/>
                </a:solidFill>
                <a:latin typeface="Cambria"/>
                <a:cs typeface="Cambria"/>
              </a:rPr>
              <a:t>t5</a:t>
            </a:r>
            <a:r>
              <a:rPr dirty="0" sz="900" spc="26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=</a:t>
            </a:r>
            <a:r>
              <a:rPr dirty="0" sz="900" spc="26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220">
                <a:solidFill>
                  <a:srgbClr val="00688A"/>
                </a:solidFill>
                <a:latin typeface="Cambria"/>
                <a:cs typeface="Cambria"/>
              </a:rPr>
              <a:t>i</a:t>
            </a:r>
            <a:r>
              <a:rPr dirty="0" sz="900" spc="26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165">
                <a:solidFill>
                  <a:srgbClr val="00688A"/>
                </a:solidFill>
                <a:latin typeface="Cambria"/>
                <a:cs typeface="Cambria"/>
              </a:rPr>
              <a:t>-</a:t>
            </a:r>
            <a:r>
              <a:rPr dirty="0" sz="900" spc="26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-50">
                <a:solidFill>
                  <a:srgbClr val="00688A"/>
                </a:solidFill>
                <a:latin typeface="Cambria"/>
                <a:cs typeface="Cambria"/>
              </a:rPr>
              <a:t>1</a:t>
            </a:r>
            <a:endParaRPr sz="900">
              <a:latin typeface="Cambria"/>
              <a:cs typeface="Cambria"/>
            </a:endParaRPr>
          </a:p>
          <a:p>
            <a:pPr marL="312420" indent="-299720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312420" algn="l"/>
              </a:tabLst>
            </a:pPr>
            <a:r>
              <a:rPr dirty="0" sz="900" spc="65">
                <a:solidFill>
                  <a:srgbClr val="00688A"/>
                </a:solidFill>
                <a:latin typeface="Cambria"/>
                <a:cs typeface="Cambria"/>
              </a:rPr>
              <a:t>t6</a:t>
            </a:r>
            <a:r>
              <a:rPr dirty="0" sz="900" spc="27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=</a:t>
            </a:r>
            <a:r>
              <a:rPr dirty="0" sz="900" spc="27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88</a:t>
            </a:r>
            <a:r>
              <a:rPr dirty="0" sz="900" spc="27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80">
                <a:solidFill>
                  <a:srgbClr val="00688A"/>
                </a:solidFill>
                <a:latin typeface="Cambria"/>
                <a:cs typeface="Cambria"/>
              </a:rPr>
              <a:t>*</a:t>
            </a:r>
            <a:r>
              <a:rPr dirty="0" sz="900" spc="27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65">
                <a:solidFill>
                  <a:srgbClr val="00688A"/>
                </a:solidFill>
                <a:latin typeface="Cambria"/>
                <a:cs typeface="Cambria"/>
              </a:rPr>
              <a:t>t5</a:t>
            </a:r>
            <a:r>
              <a:rPr dirty="0" sz="900" spc="27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//</a:t>
            </a:r>
            <a:r>
              <a:rPr dirty="0" sz="900" spc="27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60">
                <a:solidFill>
                  <a:srgbClr val="00688A"/>
                </a:solidFill>
                <a:latin typeface="Cambria"/>
                <a:cs typeface="Cambria"/>
              </a:rPr>
              <a:t>strength</a:t>
            </a:r>
            <a:r>
              <a:rPr dirty="0" sz="900" spc="27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50">
                <a:solidFill>
                  <a:srgbClr val="00688A"/>
                </a:solidFill>
                <a:latin typeface="Cambria"/>
                <a:cs typeface="Cambria"/>
              </a:rPr>
              <a:t>reduction</a:t>
            </a:r>
            <a:r>
              <a:rPr dirty="0" sz="900" spc="27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50">
                <a:solidFill>
                  <a:srgbClr val="00688A"/>
                </a:solidFill>
                <a:latin typeface="Cambria"/>
                <a:cs typeface="Cambria"/>
              </a:rPr>
              <a:t>(reducing</a:t>
            </a:r>
            <a:r>
              <a:rPr dirty="0" sz="900" spc="275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40">
                <a:solidFill>
                  <a:srgbClr val="00688A"/>
                </a:solidFill>
                <a:latin typeface="Cambria"/>
                <a:cs typeface="Cambria"/>
              </a:rPr>
              <a:t>complexity)</a:t>
            </a:r>
            <a:endParaRPr sz="900">
              <a:latin typeface="Cambria"/>
              <a:cs typeface="Cambria"/>
            </a:endParaRPr>
          </a:p>
          <a:p>
            <a:pPr marL="312420" indent="-29972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312420" algn="l"/>
              </a:tabLst>
            </a:pPr>
            <a:r>
              <a:rPr dirty="0" sz="900" spc="95">
                <a:solidFill>
                  <a:srgbClr val="00688A"/>
                </a:solidFill>
                <a:latin typeface="Cambria"/>
                <a:cs typeface="Cambria"/>
              </a:rPr>
              <a:t>a[t6]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=</a:t>
            </a:r>
            <a:r>
              <a:rPr dirty="0" sz="900" spc="26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45">
                <a:solidFill>
                  <a:srgbClr val="00688A"/>
                </a:solidFill>
                <a:latin typeface="Cambria"/>
                <a:cs typeface="Cambria"/>
              </a:rPr>
              <a:t>1.0</a:t>
            </a:r>
            <a:endParaRPr sz="900">
              <a:latin typeface="Cambria"/>
              <a:cs typeface="Cambria"/>
            </a:endParaRPr>
          </a:p>
          <a:p>
            <a:pPr marL="312420" indent="-299720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312420" algn="l"/>
              </a:tabLst>
            </a:pPr>
            <a:r>
              <a:rPr dirty="0" sz="900" spc="220">
                <a:solidFill>
                  <a:srgbClr val="00688A"/>
                </a:solidFill>
                <a:latin typeface="Cambria"/>
                <a:cs typeface="Cambria"/>
              </a:rPr>
              <a:t>i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=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220">
                <a:solidFill>
                  <a:srgbClr val="00688A"/>
                </a:solidFill>
                <a:latin typeface="Cambria"/>
                <a:cs typeface="Cambria"/>
              </a:rPr>
              <a:t>i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+</a:t>
            </a:r>
            <a:r>
              <a:rPr dirty="0" sz="900" spc="254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-50">
                <a:solidFill>
                  <a:srgbClr val="00688A"/>
                </a:solidFill>
                <a:latin typeface="Cambria"/>
                <a:cs typeface="Cambria"/>
              </a:rPr>
              <a:t>1</a:t>
            </a:r>
            <a:endParaRPr sz="900">
              <a:latin typeface="Cambria"/>
              <a:cs typeface="Cambria"/>
            </a:endParaRPr>
          </a:p>
          <a:p>
            <a:pPr marL="312420" indent="-299720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312420" algn="l"/>
              </a:tabLst>
            </a:pPr>
            <a:r>
              <a:rPr dirty="0" sz="900" spc="204">
                <a:solidFill>
                  <a:srgbClr val="00688A"/>
                </a:solidFill>
                <a:latin typeface="Cambria"/>
                <a:cs typeface="Cambria"/>
              </a:rPr>
              <a:t>if</a:t>
            </a:r>
            <a:r>
              <a:rPr dirty="0" sz="900" spc="28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220">
                <a:solidFill>
                  <a:srgbClr val="00688A"/>
                </a:solidFill>
                <a:latin typeface="Cambria"/>
                <a:cs typeface="Cambria"/>
              </a:rPr>
              <a:t>i</a:t>
            </a:r>
            <a:r>
              <a:rPr dirty="0" sz="900" spc="28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&lt;=</a:t>
            </a:r>
            <a:r>
              <a:rPr dirty="0" sz="900" spc="28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10</a:t>
            </a:r>
            <a:r>
              <a:rPr dirty="0" sz="900" spc="28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00688A"/>
                </a:solidFill>
                <a:latin typeface="Cambria"/>
                <a:cs typeface="Cambria"/>
              </a:rPr>
              <a:t>goto</a:t>
            </a:r>
            <a:r>
              <a:rPr dirty="0" sz="900" spc="280">
                <a:solidFill>
                  <a:srgbClr val="00688A"/>
                </a:solidFill>
                <a:latin typeface="Cambria"/>
                <a:cs typeface="Cambria"/>
              </a:rPr>
              <a:t> </a:t>
            </a:r>
            <a:r>
              <a:rPr dirty="0" sz="900" spc="-25">
                <a:solidFill>
                  <a:srgbClr val="00688A"/>
                </a:solidFill>
                <a:latin typeface="Cambria"/>
                <a:cs typeface="Cambria"/>
              </a:rPr>
              <a:t>13</a:t>
            </a:r>
            <a:endParaRPr sz="900">
              <a:latin typeface="Cambria"/>
              <a:cs typeface="Cambri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0" y="522563"/>
            <a:ext cx="4608195" cy="2395220"/>
            <a:chOff x="0" y="522563"/>
            <a:chExt cx="4608195" cy="2395220"/>
          </a:xfrm>
        </p:grpSpPr>
        <p:sp>
          <p:nvSpPr>
            <p:cNvPr id="13" name="object 13" descr=""/>
            <p:cNvSpPr/>
            <p:nvPr/>
          </p:nvSpPr>
          <p:spPr>
            <a:xfrm>
              <a:off x="0" y="2874695"/>
              <a:ext cx="4608195" cy="43180"/>
            </a:xfrm>
            <a:custGeom>
              <a:avLst/>
              <a:gdLst/>
              <a:ahLst/>
              <a:cxnLst/>
              <a:rect l="l" t="t" r="r" b="b"/>
              <a:pathLst>
                <a:path w="4608195" h="43180">
                  <a:moveTo>
                    <a:pt x="4608004" y="0"/>
                  </a:moveTo>
                  <a:lnTo>
                    <a:pt x="0" y="0"/>
                  </a:lnTo>
                  <a:lnTo>
                    <a:pt x="0" y="43014"/>
                  </a:lnTo>
                  <a:lnTo>
                    <a:pt x="4608004" y="43014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0" y="2915183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 h="0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0068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238" y="522563"/>
              <a:ext cx="207303" cy="91125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54910" y="618885"/>
              <a:ext cx="282575" cy="120650"/>
            </a:xfrm>
            <a:custGeom>
              <a:avLst/>
              <a:gdLst/>
              <a:ahLst/>
              <a:cxnLst/>
              <a:rect l="l" t="t" r="r" b="b"/>
              <a:pathLst>
                <a:path w="282575" h="120650">
                  <a:moveTo>
                    <a:pt x="0" y="66654"/>
                  </a:moveTo>
                  <a:lnTo>
                    <a:pt x="18197" y="95047"/>
                  </a:lnTo>
                  <a:lnTo>
                    <a:pt x="41269" y="112947"/>
                  </a:lnTo>
                  <a:lnTo>
                    <a:pt x="69216" y="120354"/>
                  </a:lnTo>
                  <a:lnTo>
                    <a:pt x="102038" y="117269"/>
                  </a:lnTo>
                  <a:lnTo>
                    <a:pt x="139735" y="103692"/>
                  </a:lnTo>
                  <a:lnTo>
                    <a:pt x="182306" y="79622"/>
                  </a:lnTo>
                  <a:lnTo>
                    <a:pt x="229752" y="45059"/>
                  </a:lnTo>
                  <a:lnTo>
                    <a:pt x="282073" y="5"/>
                  </a:lnTo>
                </a:path>
              </a:pathLst>
            </a:custGeom>
            <a:ln w="12699">
              <a:solidFill>
                <a:srgbClr val="77BB4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784" y="741459"/>
              <a:ext cx="220665" cy="220666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17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14357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Basic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Blocks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Flow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Graphs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25844" y="110234"/>
            <a:ext cx="1368425" cy="29451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180340" algn="l"/>
              </a:tabLst>
            </a:pPr>
            <a:r>
              <a:rPr dirty="0" sz="1100">
                <a:solidFill>
                  <a:srgbClr val="FF0000"/>
                </a:solidFill>
                <a:latin typeface="Georgia"/>
                <a:cs typeface="Georgia"/>
              </a:rPr>
              <a:t>i</a:t>
            </a:r>
            <a:r>
              <a:rPr dirty="0" sz="1100" spc="8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 spc="125">
                <a:solidFill>
                  <a:srgbClr val="FF0000"/>
                </a:solidFill>
                <a:latin typeface="Georgia"/>
                <a:cs typeface="Georgia"/>
              </a:rPr>
              <a:t>=</a:t>
            </a:r>
            <a:r>
              <a:rPr dirty="0" sz="1100" spc="85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 spc="15">
                <a:solidFill>
                  <a:srgbClr val="FF0000"/>
                </a:solidFill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180340" indent="-16764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80340" algn="l"/>
              </a:tabLst>
            </a:pPr>
            <a:r>
              <a:rPr dirty="0" sz="1100">
                <a:solidFill>
                  <a:srgbClr val="FF0000"/>
                </a:solidFill>
                <a:latin typeface="Georgia"/>
                <a:cs typeface="Georgia"/>
              </a:rPr>
              <a:t>j</a:t>
            </a:r>
            <a:r>
              <a:rPr dirty="0" sz="1100" spc="95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 spc="125">
                <a:solidFill>
                  <a:srgbClr val="FF0000"/>
                </a:solidFill>
                <a:latin typeface="Georgia"/>
                <a:cs typeface="Georgia"/>
              </a:rPr>
              <a:t>=</a:t>
            </a:r>
            <a:r>
              <a:rPr dirty="0" sz="1100" spc="10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 spc="5">
                <a:solidFill>
                  <a:srgbClr val="FF0000"/>
                </a:solidFill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180340" indent="-16764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80340" algn="l"/>
              </a:tabLst>
            </a:pPr>
            <a:r>
              <a:rPr dirty="0" sz="1100" spc="55">
                <a:solidFill>
                  <a:srgbClr val="FF0000"/>
                </a:solidFill>
                <a:latin typeface="Georgia"/>
                <a:cs typeface="Georgia"/>
              </a:rPr>
              <a:t>t1</a:t>
            </a:r>
            <a:r>
              <a:rPr dirty="0" sz="1100" spc="8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 spc="125">
                <a:solidFill>
                  <a:srgbClr val="FF0000"/>
                </a:solidFill>
                <a:latin typeface="Georgia"/>
                <a:cs typeface="Georgia"/>
              </a:rPr>
              <a:t>=</a:t>
            </a:r>
            <a:r>
              <a:rPr dirty="0" sz="1100" spc="85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FF0000"/>
                </a:solidFill>
                <a:latin typeface="Georgia"/>
                <a:cs typeface="Georgia"/>
              </a:rPr>
              <a:t>10</a:t>
            </a:r>
            <a:r>
              <a:rPr dirty="0" sz="1100" spc="8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FF0000"/>
                </a:solidFill>
                <a:latin typeface="Georgia"/>
                <a:cs typeface="Georgia"/>
              </a:rPr>
              <a:t>*</a:t>
            </a:r>
            <a:r>
              <a:rPr dirty="0" sz="1100" spc="85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 spc="-50">
                <a:solidFill>
                  <a:srgbClr val="FF0000"/>
                </a:solidFill>
                <a:latin typeface="Georgia"/>
                <a:cs typeface="Georgia"/>
              </a:rPr>
              <a:t>i</a:t>
            </a:r>
            <a:endParaRPr sz="1100">
              <a:latin typeface="Georgia"/>
              <a:cs typeface="Georgia"/>
            </a:endParaRPr>
          </a:p>
          <a:p>
            <a:pPr marL="180340" indent="-16764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80340" algn="l"/>
              </a:tabLst>
            </a:pPr>
            <a:r>
              <a:rPr dirty="0" sz="1100">
                <a:latin typeface="Georgia"/>
                <a:cs typeface="Georgia"/>
              </a:rPr>
              <a:t>t2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125">
                <a:latin typeface="Georgia"/>
                <a:cs typeface="Georgia"/>
              </a:rPr>
              <a:t>=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55">
                <a:latin typeface="Georgia"/>
                <a:cs typeface="Georgia"/>
              </a:rPr>
              <a:t>t1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125">
                <a:latin typeface="Georgia"/>
                <a:cs typeface="Georgia"/>
              </a:rPr>
              <a:t>+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j</a:t>
            </a:r>
            <a:endParaRPr sz="1100">
              <a:latin typeface="Georgia"/>
              <a:cs typeface="Georgia"/>
            </a:endParaRPr>
          </a:p>
          <a:p>
            <a:pPr marL="180340" indent="-16764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80340" algn="l"/>
              </a:tabLst>
            </a:pPr>
            <a:r>
              <a:rPr dirty="0" sz="1100">
                <a:latin typeface="Georgia"/>
                <a:cs typeface="Georgia"/>
              </a:rPr>
              <a:t>t3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125">
                <a:latin typeface="Georgia"/>
                <a:cs typeface="Georgia"/>
              </a:rPr>
              <a:t>=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8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*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t2</a:t>
            </a:r>
            <a:endParaRPr sz="1100">
              <a:latin typeface="Georgia"/>
              <a:cs typeface="Georgia"/>
            </a:endParaRPr>
          </a:p>
          <a:p>
            <a:pPr marL="180340" indent="-16764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80340" algn="l"/>
              </a:tabLst>
            </a:pPr>
            <a:r>
              <a:rPr dirty="0" sz="1100">
                <a:latin typeface="Georgia"/>
                <a:cs typeface="Georgia"/>
              </a:rPr>
              <a:t>t4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125">
                <a:latin typeface="Georgia"/>
                <a:cs typeface="Georgia"/>
              </a:rPr>
              <a:t>=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t3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-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88</a:t>
            </a:r>
            <a:endParaRPr sz="1100">
              <a:latin typeface="Georgia"/>
              <a:cs typeface="Georgia"/>
            </a:endParaRPr>
          </a:p>
          <a:p>
            <a:pPr marL="180340" indent="-16764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80340" algn="l"/>
              </a:tabLst>
            </a:pPr>
            <a:r>
              <a:rPr dirty="0" sz="1100" spc="-35">
                <a:latin typeface="Georgia"/>
                <a:cs typeface="Georgia"/>
              </a:rPr>
              <a:t>a[t4]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125">
                <a:latin typeface="Georgia"/>
                <a:cs typeface="Georgia"/>
              </a:rPr>
              <a:t>=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0.0</a:t>
            </a:r>
            <a:endParaRPr sz="1100">
              <a:latin typeface="Georgia"/>
              <a:cs typeface="Georgia"/>
            </a:endParaRPr>
          </a:p>
          <a:p>
            <a:pPr marL="180340" indent="-16764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80340" algn="l"/>
              </a:tabLst>
            </a:pPr>
            <a:r>
              <a:rPr dirty="0" sz="1100">
                <a:latin typeface="Georgia"/>
                <a:cs typeface="Georgia"/>
              </a:rPr>
              <a:t>j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125">
                <a:latin typeface="Georgia"/>
                <a:cs typeface="Georgia"/>
              </a:rPr>
              <a:t>=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j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125">
                <a:latin typeface="Georgia"/>
                <a:cs typeface="Georgia"/>
              </a:rPr>
              <a:t>+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180340" indent="-16764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80340" algn="l"/>
              </a:tabLst>
            </a:pPr>
            <a:r>
              <a:rPr dirty="0" sz="1100">
                <a:latin typeface="Georgia"/>
                <a:cs typeface="Georgia"/>
              </a:rPr>
              <a:t>if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j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¡=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10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goto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  <a:p>
            <a:pPr marL="249554" indent="-236854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249554" algn="l"/>
              </a:tabLst>
            </a:pPr>
            <a:r>
              <a:rPr dirty="0" sz="1100">
                <a:solidFill>
                  <a:srgbClr val="FF0000"/>
                </a:solidFill>
                <a:latin typeface="Georgia"/>
                <a:cs typeface="Georgia"/>
              </a:rPr>
              <a:t>i</a:t>
            </a:r>
            <a:r>
              <a:rPr dirty="0" sz="1100" spc="8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 spc="125">
                <a:solidFill>
                  <a:srgbClr val="FF0000"/>
                </a:solidFill>
                <a:latin typeface="Georgia"/>
                <a:cs typeface="Georgia"/>
              </a:rPr>
              <a:t>=</a:t>
            </a:r>
            <a:r>
              <a:rPr dirty="0" sz="1100" spc="85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FF0000"/>
                </a:solidFill>
                <a:latin typeface="Georgia"/>
                <a:cs typeface="Georgia"/>
              </a:rPr>
              <a:t>i</a:t>
            </a:r>
            <a:r>
              <a:rPr dirty="0" sz="1100" spc="85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 spc="125">
                <a:solidFill>
                  <a:srgbClr val="FF0000"/>
                </a:solidFill>
                <a:latin typeface="Georgia"/>
                <a:cs typeface="Georgia"/>
              </a:rPr>
              <a:t>+</a:t>
            </a:r>
            <a:r>
              <a:rPr dirty="0" sz="1100" spc="8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 spc="15">
                <a:solidFill>
                  <a:srgbClr val="FF0000"/>
                </a:solidFill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249554" indent="-236854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249554" algn="l"/>
              </a:tabLst>
            </a:pPr>
            <a:r>
              <a:rPr dirty="0" sz="1100">
                <a:latin typeface="Georgia"/>
                <a:cs typeface="Georgia"/>
              </a:rPr>
              <a:t>if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¡=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10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goto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  <a:p>
            <a:pPr marL="249554" indent="-236854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249554" algn="l"/>
              </a:tabLst>
            </a:pPr>
            <a:r>
              <a:rPr dirty="0" sz="1100">
                <a:solidFill>
                  <a:srgbClr val="FF0000"/>
                </a:solidFill>
                <a:latin typeface="Georgia"/>
                <a:cs typeface="Georgia"/>
              </a:rPr>
              <a:t>i</a:t>
            </a:r>
            <a:r>
              <a:rPr dirty="0" sz="1100" spc="8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 spc="125">
                <a:solidFill>
                  <a:srgbClr val="FF0000"/>
                </a:solidFill>
                <a:latin typeface="Georgia"/>
                <a:cs typeface="Georgia"/>
              </a:rPr>
              <a:t>=</a:t>
            </a:r>
            <a:r>
              <a:rPr dirty="0" sz="1100" spc="85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 spc="15">
                <a:solidFill>
                  <a:srgbClr val="FF0000"/>
                </a:solidFill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249554" indent="-236854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249554" algn="l"/>
              </a:tabLst>
            </a:pPr>
            <a:r>
              <a:rPr dirty="0" sz="1100">
                <a:solidFill>
                  <a:srgbClr val="FF0000"/>
                </a:solidFill>
                <a:latin typeface="Georgia"/>
                <a:cs typeface="Georgia"/>
              </a:rPr>
              <a:t>t5</a:t>
            </a:r>
            <a:r>
              <a:rPr dirty="0" sz="1100" spc="75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 spc="125">
                <a:solidFill>
                  <a:srgbClr val="FF0000"/>
                </a:solidFill>
                <a:latin typeface="Georgia"/>
                <a:cs typeface="Georgia"/>
              </a:rPr>
              <a:t>=</a:t>
            </a:r>
            <a:r>
              <a:rPr dirty="0" sz="1100" spc="8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FF0000"/>
                </a:solidFill>
                <a:latin typeface="Georgia"/>
                <a:cs typeface="Georgia"/>
              </a:rPr>
              <a:t>i</a:t>
            </a:r>
            <a:r>
              <a:rPr dirty="0" sz="1100" spc="8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FF0000"/>
                </a:solidFill>
                <a:latin typeface="Georgia"/>
                <a:cs typeface="Georgia"/>
              </a:rPr>
              <a:t>-</a:t>
            </a:r>
            <a:r>
              <a:rPr dirty="0" sz="1100" spc="8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100" spc="15">
                <a:solidFill>
                  <a:srgbClr val="FF0000"/>
                </a:solidFill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249554" indent="-236854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249554" algn="l"/>
              </a:tabLst>
            </a:pPr>
            <a:r>
              <a:rPr dirty="0" sz="1100">
                <a:latin typeface="Georgia"/>
                <a:cs typeface="Georgia"/>
              </a:rPr>
              <a:t>t6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125">
                <a:latin typeface="Georgia"/>
                <a:cs typeface="Georgia"/>
              </a:rPr>
              <a:t>=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65">
                <a:latin typeface="Georgia"/>
                <a:cs typeface="Georgia"/>
              </a:rPr>
              <a:t>88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*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t5</a:t>
            </a:r>
            <a:endParaRPr sz="1100">
              <a:latin typeface="Georgia"/>
              <a:cs typeface="Georgia"/>
            </a:endParaRPr>
          </a:p>
          <a:p>
            <a:pPr marL="249554" indent="-236854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249554" algn="l"/>
              </a:tabLst>
            </a:pPr>
            <a:r>
              <a:rPr dirty="0" sz="1100" spc="-35">
                <a:latin typeface="Georgia"/>
                <a:cs typeface="Georgia"/>
              </a:rPr>
              <a:t>a[t6]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125">
                <a:latin typeface="Georgia"/>
                <a:cs typeface="Georgia"/>
              </a:rPr>
              <a:t>=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1.0</a:t>
            </a:r>
            <a:endParaRPr sz="1100">
              <a:latin typeface="Georgia"/>
              <a:cs typeface="Georgia"/>
            </a:endParaRPr>
          </a:p>
          <a:p>
            <a:pPr marL="249554" indent="-236854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249554" algn="l"/>
              </a:tabLst>
            </a:pPr>
            <a:r>
              <a:rPr dirty="0" sz="1100">
                <a:latin typeface="Georgia"/>
                <a:cs typeface="Georgia"/>
              </a:rPr>
              <a:t>i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100" spc="125">
                <a:latin typeface="Georgia"/>
                <a:cs typeface="Georgia"/>
              </a:rPr>
              <a:t>=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100" spc="125">
                <a:latin typeface="Georgia"/>
                <a:cs typeface="Georgia"/>
              </a:rPr>
              <a:t>+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249554" indent="-236854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249554" algn="l"/>
              </a:tabLst>
            </a:pPr>
            <a:r>
              <a:rPr dirty="0" sz="1100">
                <a:latin typeface="Georgia"/>
                <a:cs typeface="Georgia"/>
              </a:rPr>
              <a:t>if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150" i="1">
                <a:solidFill>
                  <a:srgbClr val="0000CC"/>
                </a:solidFill>
                <a:latin typeface="Bookman Old Style"/>
                <a:cs typeface="Bookman Old Style"/>
              </a:rPr>
              <a:t>&lt;</a:t>
            </a:r>
            <a:r>
              <a:rPr dirty="0" sz="1100" spc="150">
                <a:solidFill>
                  <a:srgbClr val="0000CC"/>
                </a:solidFill>
                <a:latin typeface="Georgia"/>
                <a:cs typeface="Georgia"/>
              </a:rPr>
              <a:t>=</a:t>
            </a:r>
            <a:r>
              <a:rPr dirty="0" sz="1100" spc="55">
                <a:solidFill>
                  <a:srgbClr val="0000CC"/>
                </a:solidFill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10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goto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13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44" y="492993"/>
            <a:ext cx="182472" cy="135221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40"/>
              <a:t>41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14357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Basic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Blocks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Flow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Graphs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552359" y="381444"/>
            <a:ext cx="1616710" cy="2644775"/>
            <a:chOff x="1552359" y="381444"/>
            <a:chExt cx="1616710" cy="264477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2359" y="381444"/>
              <a:ext cx="1616659" cy="26444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74430" y="1081291"/>
              <a:ext cx="213995" cy="600075"/>
            </a:xfrm>
            <a:custGeom>
              <a:avLst/>
              <a:gdLst/>
              <a:ahLst/>
              <a:cxnLst/>
              <a:rect l="l" t="t" r="r" b="b"/>
              <a:pathLst>
                <a:path w="213994" h="600075">
                  <a:moveTo>
                    <a:pt x="115066" y="0"/>
                  </a:moveTo>
                  <a:lnTo>
                    <a:pt x="75531" y="11061"/>
                  </a:lnTo>
                  <a:lnTo>
                    <a:pt x="57807" y="21210"/>
                  </a:lnTo>
                  <a:lnTo>
                    <a:pt x="55241" y="23371"/>
                  </a:lnTo>
                  <a:lnTo>
                    <a:pt x="46290" y="40398"/>
                  </a:lnTo>
                  <a:lnTo>
                    <a:pt x="44954" y="44698"/>
                  </a:lnTo>
                  <a:lnTo>
                    <a:pt x="38371" y="73020"/>
                  </a:lnTo>
                  <a:lnTo>
                    <a:pt x="37216" y="79266"/>
                  </a:lnTo>
                  <a:lnTo>
                    <a:pt x="33972" y="109127"/>
                  </a:lnTo>
                  <a:lnTo>
                    <a:pt x="33650" y="114519"/>
                  </a:lnTo>
                  <a:lnTo>
                    <a:pt x="33447" y="119253"/>
                  </a:lnTo>
                  <a:lnTo>
                    <a:pt x="33362" y="123329"/>
                  </a:lnTo>
                  <a:lnTo>
                    <a:pt x="33276" y="127405"/>
                  </a:lnTo>
                  <a:lnTo>
                    <a:pt x="33234" y="131322"/>
                  </a:lnTo>
                  <a:lnTo>
                    <a:pt x="33234" y="135080"/>
                  </a:lnTo>
                  <a:lnTo>
                    <a:pt x="33234" y="138838"/>
                  </a:lnTo>
                  <a:lnTo>
                    <a:pt x="33234" y="165625"/>
                  </a:lnTo>
                  <a:lnTo>
                    <a:pt x="33269" y="170142"/>
                  </a:lnTo>
                  <a:lnTo>
                    <a:pt x="33342" y="174484"/>
                  </a:lnTo>
                  <a:lnTo>
                    <a:pt x="33414" y="178827"/>
                  </a:lnTo>
                  <a:lnTo>
                    <a:pt x="33522" y="182966"/>
                  </a:lnTo>
                  <a:lnTo>
                    <a:pt x="33666" y="186901"/>
                  </a:lnTo>
                  <a:lnTo>
                    <a:pt x="33809" y="190837"/>
                  </a:lnTo>
                  <a:lnTo>
                    <a:pt x="33953" y="194980"/>
                  </a:lnTo>
                  <a:lnTo>
                    <a:pt x="34097" y="199331"/>
                  </a:lnTo>
                  <a:lnTo>
                    <a:pt x="34241" y="203681"/>
                  </a:lnTo>
                  <a:lnTo>
                    <a:pt x="34349" y="208356"/>
                  </a:lnTo>
                  <a:lnTo>
                    <a:pt x="34421" y="213357"/>
                  </a:lnTo>
                  <a:lnTo>
                    <a:pt x="34493" y="218357"/>
                  </a:lnTo>
                  <a:lnTo>
                    <a:pt x="34529" y="223554"/>
                  </a:lnTo>
                  <a:lnTo>
                    <a:pt x="34529" y="289084"/>
                  </a:lnTo>
                  <a:lnTo>
                    <a:pt x="34444" y="292889"/>
                  </a:lnTo>
                  <a:lnTo>
                    <a:pt x="34273" y="296705"/>
                  </a:lnTo>
                  <a:lnTo>
                    <a:pt x="34102" y="300520"/>
                  </a:lnTo>
                  <a:lnTo>
                    <a:pt x="33558" y="304491"/>
                  </a:lnTo>
                  <a:lnTo>
                    <a:pt x="22685" y="342122"/>
                  </a:lnTo>
                  <a:lnTo>
                    <a:pt x="20872" y="348129"/>
                  </a:lnTo>
                  <a:lnTo>
                    <a:pt x="11650" y="388298"/>
                  </a:lnTo>
                  <a:lnTo>
                    <a:pt x="5389" y="428347"/>
                  </a:lnTo>
                  <a:lnTo>
                    <a:pt x="1587" y="466952"/>
                  </a:lnTo>
                  <a:lnTo>
                    <a:pt x="28" y="508487"/>
                  </a:lnTo>
                  <a:lnTo>
                    <a:pt x="0" y="515141"/>
                  </a:lnTo>
                  <a:lnTo>
                    <a:pt x="18" y="520700"/>
                  </a:lnTo>
                  <a:lnTo>
                    <a:pt x="83" y="525165"/>
                  </a:lnTo>
                  <a:lnTo>
                    <a:pt x="148" y="529629"/>
                  </a:lnTo>
                  <a:lnTo>
                    <a:pt x="570" y="533251"/>
                  </a:lnTo>
                  <a:lnTo>
                    <a:pt x="1349" y="536030"/>
                  </a:lnTo>
                  <a:lnTo>
                    <a:pt x="2127" y="538809"/>
                  </a:lnTo>
                  <a:lnTo>
                    <a:pt x="10711" y="548913"/>
                  </a:lnTo>
                  <a:lnTo>
                    <a:pt x="13025" y="550572"/>
                  </a:lnTo>
                  <a:lnTo>
                    <a:pt x="15469" y="552168"/>
                  </a:lnTo>
                  <a:lnTo>
                    <a:pt x="18043" y="553699"/>
                  </a:lnTo>
                  <a:lnTo>
                    <a:pt x="20617" y="555231"/>
                  </a:lnTo>
                  <a:lnTo>
                    <a:pt x="23344" y="557014"/>
                  </a:lnTo>
                  <a:lnTo>
                    <a:pt x="26223" y="559050"/>
                  </a:lnTo>
                  <a:lnTo>
                    <a:pt x="29102" y="561086"/>
                  </a:lnTo>
                  <a:lnTo>
                    <a:pt x="46441" y="575004"/>
                  </a:lnTo>
                  <a:lnTo>
                    <a:pt x="49392" y="577298"/>
                  </a:lnTo>
                  <a:lnTo>
                    <a:pt x="52231" y="579313"/>
                  </a:lnTo>
                  <a:lnTo>
                    <a:pt x="55069" y="581329"/>
                  </a:lnTo>
                  <a:lnTo>
                    <a:pt x="58086" y="583255"/>
                  </a:lnTo>
                  <a:lnTo>
                    <a:pt x="61282" y="585094"/>
                  </a:lnTo>
                  <a:lnTo>
                    <a:pt x="64477" y="586932"/>
                  </a:lnTo>
                  <a:lnTo>
                    <a:pt x="67644" y="588469"/>
                  </a:lnTo>
                  <a:lnTo>
                    <a:pt x="70783" y="589706"/>
                  </a:lnTo>
                  <a:lnTo>
                    <a:pt x="73921" y="590943"/>
                  </a:lnTo>
                  <a:lnTo>
                    <a:pt x="77260" y="592117"/>
                  </a:lnTo>
                  <a:lnTo>
                    <a:pt x="80799" y="593226"/>
                  </a:lnTo>
                  <a:lnTo>
                    <a:pt x="84337" y="594336"/>
                  </a:lnTo>
                  <a:lnTo>
                    <a:pt x="87939" y="595330"/>
                  </a:lnTo>
                  <a:lnTo>
                    <a:pt x="91603" y="596207"/>
                  </a:lnTo>
                  <a:lnTo>
                    <a:pt x="95267" y="597084"/>
                  </a:lnTo>
                  <a:lnTo>
                    <a:pt x="112144" y="599537"/>
                  </a:lnTo>
                  <a:lnTo>
                    <a:pt x="115237" y="599781"/>
                  </a:lnTo>
                  <a:lnTo>
                    <a:pt x="118238" y="599928"/>
                  </a:lnTo>
                  <a:lnTo>
                    <a:pt x="121148" y="599976"/>
                  </a:lnTo>
                  <a:lnTo>
                    <a:pt x="124057" y="600024"/>
                  </a:lnTo>
                  <a:lnTo>
                    <a:pt x="127034" y="600049"/>
                  </a:lnTo>
                  <a:lnTo>
                    <a:pt x="130078" y="600049"/>
                  </a:lnTo>
                  <a:lnTo>
                    <a:pt x="133123" y="600049"/>
                  </a:lnTo>
                  <a:lnTo>
                    <a:pt x="136497" y="599934"/>
                  </a:lnTo>
                  <a:lnTo>
                    <a:pt x="140200" y="599705"/>
                  </a:lnTo>
                  <a:lnTo>
                    <a:pt x="143902" y="599476"/>
                  </a:lnTo>
                  <a:lnTo>
                    <a:pt x="167269" y="595368"/>
                  </a:lnTo>
                  <a:lnTo>
                    <a:pt x="172430" y="594146"/>
                  </a:lnTo>
                  <a:lnTo>
                    <a:pt x="177433" y="592847"/>
                  </a:lnTo>
                  <a:lnTo>
                    <a:pt x="182279" y="591471"/>
                  </a:lnTo>
                  <a:lnTo>
                    <a:pt x="187125" y="590095"/>
                  </a:lnTo>
                  <a:lnTo>
                    <a:pt x="191670" y="588788"/>
                  </a:lnTo>
                  <a:lnTo>
                    <a:pt x="195915" y="587549"/>
                  </a:lnTo>
                  <a:lnTo>
                    <a:pt x="200160" y="586310"/>
                  </a:lnTo>
                  <a:lnTo>
                    <a:pt x="204165" y="585146"/>
                  </a:lnTo>
                  <a:lnTo>
                    <a:pt x="207929" y="584056"/>
                  </a:lnTo>
                  <a:lnTo>
                    <a:pt x="213576" y="582422"/>
                  </a:lnTo>
                </a:path>
              </a:pathLst>
            </a:custGeom>
            <a:ln w="12699">
              <a:solidFill>
                <a:srgbClr val="77BB4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40"/>
              <a:t>41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14357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Basic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Blocks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Flow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Graphs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11950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Flow</a:t>
            </a:r>
            <a:r>
              <a:rPr dirty="0" spc="35"/>
              <a:t> </a:t>
            </a:r>
            <a:r>
              <a:rPr dirty="0" spc="-40"/>
              <a:t>graphs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57109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02932" y="973657"/>
            <a:ext cx="3780154" cy="10242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b="1">
                <a:solidFill>
                  <a:srgbClr val="00688A"/>
                </a:solidFill>
                <a:latin typeface="Georgia"/>
                <a:cs typeface="Georgia"/>
              </a:rPr>
              <a:t>Flow</a:t>
            </a:r>
            <a:r>
              <a:rPr dirty="0" sz="1100" spc="40" b="1">
                <a:solidFill>
                  <a:srgbClr val="00688A"/>
                </a:solidFill>
                <a:latin typeface="Georgia"/>
                <a:cs typeface="Georgia"/>
              </a:rPr>
              <a:t> </a:t>
            </a:r>
            <a:r>
              <a:rPr dirty="0" sz="1100" b="1">
                <a:solidFill>
                  <a:srgbClr val="00688A"/>
                </a:solidFill>
                <a:latin typeface="Georgia"/>
                <a:cs typeface="Georgia"/>
              </a:rPr>
              <a:t>Graph </a:t>
            </a:r>
            <a:r>
              <a:rPr dirty="0" sz="1100">
                <a:latin typeface="Georgia"/>
                <a:cs typeface="Georgia"/>
              </a:rPr>
              <a:t>is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graph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with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basic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blocks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as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nodes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and branches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as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directed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edges</a:t>
            </a:r>
            <a:endParaRPr sz="1100">
              <a:latin typeface="Georgia"/>
              <a:cs typeface="Georgia"/>
            </a:endParaRPr>
          </a:p>
          <a:p>
            <a:pPr marL="12700" marR="434340">
              <a:lnSpc>
                <a:spcPct val="102600"/>
              </a:lnSpc>
              <a:spcBef>
                <a:spcPts val="570"/>
              </a:spcBef>
            </a:pPr>
            <a:r>
              <a:rPr dirty="0" sz="1100">
                <a:latin typeface="Georgia"/>
                <a:cs typeface="Georgia"/>
              </a:rPr>
              <a:t>Picture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basic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blocks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with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arrows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for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possible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control flows.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100" spc="70">
                <a:latin typeface="Georgia"/>
                <a:cs typeface="Georgia"/>
              </a:rPr>
              <a:t>A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loop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is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sequence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distinct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basic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blocks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where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73263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89404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0108" y="2078643"/>
            <a:ext cx="114214" cy="11421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28193" y="2065266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80034" y="2033072"/>
            <a:ext cx="3705225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Georgia"/>
                <a:cs typeface="Georgia"/>
              </a:rPr>
              <a:t>Entry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to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first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block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is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loop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entry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is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only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label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where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control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comes from</a:t>
            </a:r>
            <a:r>
              <a:rPr dirty="0" sz="1000" spc="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basic</a:t>
            </a:r>
            <a:r>
              <a:rPr dirty="0" sz="1000" spc="1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blocks</a:t>
            </a:r>
            <a:r>
              <a:rPr dirty="0" sz="1000" spc="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outside</a:t>
            </a:r>
            <a:r>
              <a:rPr dirty="0" sz="1000" spc="1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the</a:t>
            </a:r>
            <a:r>
              <a:rPr dirty="0" sz="1000" spc="1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sequence.</a:t>
            </a:r>
            <a:endParaRPr sz="1000">
              <a:latin typeface="Georgia"/>
              <a:cs typeface="Georgia"/>
            </a:endParaRPr>
          </a:p>
          <a:p>
            <a:pPr marL="12700" marR="433705">
              <a:lnSpc>
                <a:spcPts val="1200"/>
              </a:lnSpc>
              <a:spcBef>
                <a:spcPts val="30"/>
              </a:spcBef>
            </a:pPr>
            <a:r>
              <a:rPr dirty="0" sz="1000">
                <a:latin typeface="Georgia"/>
                <a:cs typeface="Georgia"/>
              </a:rPr>
              <a:t>It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is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possible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to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reach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the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loop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entry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from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any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block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in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the </a:t>
            </a:r>
            <a:r>
              <a:rPr dirty="0" sz="1000" spc="-10">
                <a:latin typeface="Georgia"/>
                <a:cs typeface="Georgia"/>
              </a:rPr>
              <a:t>sequence.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0108" y="2382301"/>
            <a:ext cx="114214" cy="114214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528193" y="2368923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40"/>
              <a:t>41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14357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Basic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Blocks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Flow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Graphs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232" y="277418"/>
            <a:ext cx="3874008" cy="2734056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40"/>
              <a:t>41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14357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Basic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Blocks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Flow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Graphs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880" y="276199"/>
            <a:ext cx="3319272" cy="269748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40"/>
              <a:t>41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14357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Basic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Blocks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Flow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Graphs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4992" y="1134516"/>
            <a:ext cx="1703831" cy="643128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40"/>
              <a:t>41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14357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Basic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Blocks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Flow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Graphs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6348" y="694975"/>
            <a:ext cx="2905125" cy="361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0">
                <a:solidFill>
                  <a:srgbClr val="3325E7"/>
                </a:solidFill>
                <a:latin typeface="Comic Sans MS"/>
                <a:cs typeface="Comic Sans MS"/>
              </a:rPr>
              <a:t>Dead</a:t>
            </a:r>
            <a:r>
              <a:rPr dirty="0" sz="2200" spc="-25" b="0">
                <a:solidFill>
                  <a:srgbClr val="3325E7"/>
                </a:solidFill>
                <a:latin typeface="Comic Sans MS"/>
                <a:cs typeface="Comic Sans MS"/>
              </a:rPr>
              <a:t> </a:t>
            </a:r>
            <a:r>
              <a:rPr dirty="0" sz="2200" b="0">
                <a:solidFill>
                  <a:srgbClr val="3325E7"/>
                </a:solidFill>
                <a:latin typeface="Comic Sans MS"/>
                <a:cs typeface="Comic Sans MS"/>
              </a:rPr>
              <a:t>Code</a:t>
            </a:r>
            <a:r>
              <a:rPr dirty="0" sz="2200" spc="-5" b="0">
                <a:solidFill>
                  <a:srgbClr val="3325E7"/>
                </a:solidFill>
                <a:latin typeface="Comic Sans MS"/>
                <a:cs typeface="Comic Sans MS"/>
              </a:rPr>
              <a:t> </a:t>
            </a:r>
            <a:r>
              <a:rPr dirty="0" sz="2200" spc="-10" b="0">
                <a:solidFill>
                  <a:srgbClr val="3325E7"/>
                </a:solidFill>
                <a:latin typeface="Comic Sans MS"/>
                <a:cs typeface="Comic Sans MS"/>
              </a:rPr>
              <a:t>Elimination</a:t>
            </a:r>
            <a:endParaRPr sz="2200">
              <a:latin typeface="Comic Sans MS"/>
              <a:cs typeface="Comic Sans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84403" y="1218006"/>
            <a:ext cx="3777615" cy="11474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600">
                <a:latin typeface="Comic Sans MS"/>
                <a:cs typeface="Comic Sans MS"/>
              </a:rPr>
              <a:t>From</a:t>
            </a:r>
            <a:r>
              <a:rPr dirty="0" sz="1600" spc="-15">
                <a:latin typeface="Comic Sans MS"/>
                <a:cs typeface="Comic Sans MS"/>
              </a:rPr>
              <a:t> </a:t>
            </a:r>
            <a:r>
              <a:rPr dirty="0" sz="1600">
                <a:latin typeface="Comic Sans MS"/>
                <a:cs typeface="Comic Sans MS"/>
              </a:rPr>
              <a:t>the</a:t>
            </a:r>
            <a:r>
              <a:rPr dirty="0" sz="1600" spc="-20">
                <a:latin typeface="Comic Sans MS"/>
                <a:cs typeface="Comic Sans MS"/>
              </a:rPr>
              <a:t> </a:t>
            </a:r>
            <a:r>
              <a:rPr dirty="0" sz="1600">
                <a:latin typeface="Comic Sans MS"/>
                <a:cs typeface="Comic Sans MS"/>
              </a:rPr>
              <a:t>basic</a:t>
            </a:r>
            <a:r>
              <a:rPr dirty="0" sz="1600" spc="-10">
                <a:latin typeface="Comic Sans MS"/>
                <a:cs typeface="Comic Sans MS"/>
              </a:rPr>
              <a:t> </a:t>
            </a:r>
            <a:r>
              <a:rPr dirty="0" sz="1600">
                <a:latin typeface="Comic Sans MS"/>
                <a:cs typeface="Comic Sans MS"/>
              </a:rPr>
              <a:t>block</a:t>
            </a:r>
            <a:r>
              <a:rPr dirty="0" sz="1600" spc="-10">
                <a:latin typeface="Comic Sans MS"/>
                <a:cs typeface="Comic Sans MS"/>
              </a:rPr>
              <a:t> </a:t>
            </a:r>
            <a:r>
              <a:rPr dirty="0" sz="1600" spc="-20">
                <a:latin typeface="Comic Sans MS"/>
                <a:cs typeface="Comic Sans MS"/>
              </a:rPr>
              <a:t>DAG:</a:t>
            </a:r>
            <a:endParaRPr sz="1600">
              <a:latin typeface="Comic Sans MS"/>
              <a:cs typeface="Comic Sans MS"/>
            </a:endParaRPr>
          </a:p>
          <a:p>
            <a:pPr marL="184150" marR="5080" indent="-171450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184150" algn="l"/>
                <a:tab pos="185420" algn="l"/>
              </a:tabLst>
            </a:pPr>
            <a:r>
              <a:rPr dirty="0" sz="1600">
                <a:latin typeface="Comic Sans MS"/>
                <a:cs typeface="Comic Sans MS"/>
              </a:rPr>
              <a:t>	Remove</a:t>
            </a:r>
            <a:r>
              <a:rPr dirty="0" sz="1600" spc="-10">
                <a:latin typeface="Comic Sans MS"/>
                <a:cs typeface="Comic Sans MS"/>
              </a:rPr>
              <a:t> </a:t>
            </a:r>
            <a:r>
              <a:rPr dirty="0" sz="1600">
                <a:latin typeface="Comic Sans MS"/>
                <a:cs typeface="Comic Sans MS"/>
              </a:rPr>
              <a:t>any</a:t>
            </a:r>
            <a:r>
              <a:rPr dirty="0" sz="1600" spc="-10">
                <a:latin typeface="Comic Sans MS"/>
                <a:cs typeface="Comic Sans MS"/>
              </a:rPr>
              <a:t> </a:t>
            </a:r>
            <a:r>
              <a:rPr dirty="0" sz="1600">
                <a:latin typeface="Comic Sans MS"/>
                <a:cs typeface="Comic Sans MS"/>
              </a:rPr>
              <a:t>root node</a:t>
            </a:r>
            <a:r>
              <a:rPr dirty="0" sz="1600" spc="-10">
                <a:latin typeface="Comic Sans MS"/>
                <a:cs typeface="Comic Sans MS"/>
              </a:rPr>
              <a:t> </a:t>
            </a:r>
            <a:r>
              <a:rPr dirty="0" sz="1600">
                <a:latin typeface="Comic Sans MS"/>
                <a:cs typeface="Comic Sans MS"/>
              </a:rPr>
              <a:t>that</a:t>
            </a:r>
            <a:r>
              <a:rPr dirty="0" sz="1600" spc="-5">
                <a:latin typeface="Comic Sans MS"/>
                <a:cs typeface="Comic Sans MS"/>
              </a:rPr>
              <a:t> </a:t>
            </a:r>
            <a:r>
              <a:rPr dirty="0" sz="1600">
                <a:latin typeface="Comic Sans MS"/>
                <a:cs typeface="Comic Sans MS"/>
              </a:rPr>
              <a:t>has</a:t>
            </a:r>
            <a:r>
              <a:rPr dirty="0" sz="1600" spc="-10">
                <a:latin typeface="Comic Sans MS"/>
                <a:cs typeface="Comic Sans MS"/>
              </a:rPr>
              <a:t> </a:t>
            </a:r>
            <a:r>
              <a:rPr dirty="0" sz="1600">
                <a:latin typeface="Comic Sans MS"/>
                <a:cs typeface="Comic Sans MS"/>
              </a:rPr>
              <a:t>no</a:t>
            </a:r>
            <a:r>
              <a:rPr dirty="0" sz="1600" spc="-5">
                <a:latin typeface="Comic Sans MS"/>
                <a:cs typeface="Comic Sans MS"/>
              </a:rPr>
              <a:t> </a:t>
            </a:r>
            <a:r>
              <a:rPr dirty="0" sz="1600" spc="-20">
                <a:latin typeface="Comic Sans MS"/>
                <a:cs typeface="Comic Sans MS"/>
              </a:rPr>
              <a:t>live </a:t>
            </a:r>
            <a:r>
              <a:rPr dirty="0" sz="1600" spc="-10">
                <a:latin typeface="Comic Sans MS"/>
                <a:cs typeface="Comic Sans MS"/>
              </a:rPr>
              <a:t>variables</a:t>
            </a:r>
            <a:endParaRPr sz="1600">
              <a:latin typeface="Comic Sans MS"/>
              <a:cs typeface="Comic Sans MS"/>
            </a:endParaRPr>
          </a:p>
          <a:p>
            <a:pPr marL="184785" indent="-17208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1600">
                <a:latin typeface="Comic Sans MS"/>
                <a:cs typeface="Comic Sans MS"/>
              </a:rPr>
              <a:t>Repeat</a:t>
            </a:r>
            <a:r>
              <a:rPr dirty="0" sz="1600" spc="-25">
                <a:latin typeface="Comic Sans MS"/>
                <a:cs typeface="Comic Sans MS"/>
              </a:rPr>
              <a:t> </a:t>
            </a:r>
            <a:r>
              <a:rPr dirty="0" sz="1600">
                <a:latin typeface="Comic Sans MS"/>
                <a:cs typeface="Comic Sans MS"/>
              </a:rPr>
              <a:t>until</a:t>
            </a:r>
            <a:r>
              <a:rPr dirty="0" sz="1600" spc="-10">
                <a:latin typeface="Comic Sans MS"/>
                <a:cs typeface="Comic Sans MS"/>
              </a:rPr>
              <a:t> </a:t>
            </a:r>
            <a:r>
              <a:rPr dirty="0" sz="1600">
                <a:latin typeface="Comic Sans MS"/>
                <a:cs typeface="Comic Sans MS"/>
              </a:rPr>
              <a:t>no</a:t>
            </a:r>
            <a:r>
              <a:rPr dirty="0" sz="1600" spc="-10">
                <a:latin typeface="Comic Sans MS"/>
                <a:cs typeface="Comic Sans MS"/>
              </a:rPr>
              <a:t> </a:t>
            </a:r>
            <a:r>
              <a:rPr dirty="0" sz="1600">
                <a:latin typeface="Comic Sans MS"/>
                <a:cs typeface="Comic Sans MS"/>
              </a:rPr>
              <a:t>nodes</a:t>
            </a:r>
            <a:r>
              <a:rPr dirty="0" sz="1600" spc="-20">
                <a:latin typeface="Comic Sans MS"/>
                <a:cs typeface="Comic Sans MS"/>
              </a:rPr>
              <a:t> </a:t>
            </a:r>
            <a:r>
              <a:rPr dirty="0" sz="1600">
                <a:latin typeface="Comic Sans MS"/>
                <a:cs typeface="Comic Sans MS"/>
              </a:rPr>
              <a:t>can</a:t>
            </a:r>
            <a:r>
              <a:rPr dirty="0" sz="1600" spc="-10">
                <a:latin typeface="Comic Sans MS"/>
                <a:cs typeface="Comic Sans MS"/>
              </a:rPr>
              <a:t> </a:t>
            </a:r>
            <a:r>
              <a:rPr dirty="0" sz="1600">
                <a:latin typeface="Comic Sans MS"/>
                <a:cs typeface="Comic Sans MS"/>
              </a:rPr>
              <a:t>be</a:t>
            </a:r>
            <a:r>
              <a:rPr dirty="0" sz="1600" spc="-10">
                <a:latin typeface="Comic Sans MS"/>
                <a:cs typeface="Comic Sans MS"/>
              </a:rPr>
              <a:t> removed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40"/>
              <a:t>41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873" y="-4262"/>
            <a:ext cx="14357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Basic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Blocks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Flow</a:t>
            </a:r>
            <a:r>
              <a:rPr dirty="0" sz="600" spc="2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Graphs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-12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872" y="1205839"/>
            <a:ext cx="3096768" cy="893063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0" y="3333686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313"/>
                </a:lnTo>
                <a:lnTo>
                  <a:pt x="2303996" y="122313"/>
                </a:lnTo>
                <a:lnTo>
                  <a:pt x="4607992" y="122313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15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1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170"/>
              <a:t>  </a:t>
            </a:r>
            <a:r>
              <a:rPr dirty="0" spc="105" b="1">
                <a:latin typeface="Georgia"/>
                <a:cs typeface="Georgia"/>
              </a:rPr>
              <a:t>C</a:t>
            </a:r>
            <a:r>
              <a:rPr dirty="0" cap="small" spc="105" b="1">
                <a:latin typeface="Georgia"/>
                <a:cs typeface="Georgia"/>
              </a:rPr>
              <a:t>s</a:t>
            </a:r>
            <a:r>
              <a:rPr dirty="0" spc="105" b="1">
                <a:latin typeface="Georgia"/>
                <a:cs typeface="Georgia"/>
              </a:rPr>
              <a:t>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55" b="1">
                <a:latin typeface="Georgia"/>
                <a:cs typeface="Georgia"/>
              </a:rPr>
              <a:t>CU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399296" y="3348403"/>
            <a:ext cx="6978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</a:t>
            </a:r>
            <a:r>
              <a:rPr dirty="0" cap="small" sz="60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ode</a:t>
            </a:r>
            <a:r>
              <a:rPr dirty="0" sz="600" spc="-3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G</a:t>
            </a:r>
            <a:r>
              <a:rPr dirty="0" cap="small" sz="600" spc="-2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eneration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40"/>
              <a:t>41</a:t>
            </a:fld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Rokan Uddin Faruqui </dc:creator>
  <dc:title>Code Generation - Lecture 20 Section 8.1 - 8.4</dc:title>
  <dcterms:created xsi:type="dcterms:W3CDTF">2025-12-02T08:52:28Z</dcterms:created>
  <dcterms:modified xsi:type="dcterms:W3CDTF">2025-12-02T08:52:28Z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2019-07-29T00:00:00Z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2025-12-02T00:00:00Z</vt:filetime>
  </property>
  <property fmtid="{D5CDD505-2E9C-101B-9397-08002B2CF9AE}" pid="5" name="PTEX.Fullbanner">
    <vt:lpwstr>This is pdfTeX, Version 3.14159265-2.6-1.40.19 (TeX Live 2018) kpathsea version 6.3.0</vt:lpwstr>
  </property>
  <property fmtid="{D5CDD505-2E9C-101B-9397-08002B2CF9AE}" pid="6" name="Producer">
    <vt:lpwstr>3-Heights(TM) PDF Security Shell 4.8.25.2 (http://www.pdf-tools.com)</vt:lpwstr>
  </property>
</Properties>
</file>